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24528"/>
            <a:ext cx="12191695" cy="45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PROPOSAL · ODOO 20 ERP + GMP + AX AGENTS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GMP 공장 디지털 전환 제안서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2697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C9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20 ERP  ·  GMP 데이터 무결성 레이어  ·  AX(AI Transformation) 에이전트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3383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방글라데시 국영 제약사 (Essential Drugs Company Ltd. 추정) 귀중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44348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2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원료 입고에서 배치 출하까지 — 하나의 원장, 변조 불가 기록, 사람이 승인하는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  ·  에이에스씨(ASC) · AX 플랫폼 사업팀  ·  odooaierp.com  ·  asclhg@gmail.com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6355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F8A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제안(개략) · 세부 범위·일정·비용은 요구사항 분석 후 확정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1325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요약 · 고객 이해 (방글라데시 제약산업 · 국영 제약사)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1874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배경 — GMP 공장이 지금 디지털 전환을 해야 하는 이유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2423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2423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GMP 규제 요건 → ERP 요건 (WHO · EU Annex 11 · 21 CFR Part 11 · ALCOA+)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2971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2971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 제조 프로세스와 시스템 역할 (ERP · MES/eBR · LIMS · QMS)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94360" y="3520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3444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20 — 신기능과 제약·GMP 적용 모듈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94360" y="4069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23444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GMP 갭 분석 · GMP 레이어 설계 · CSV 밸리데이션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94360" y="4617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34440" y="4617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아키텍처 — 에이전트 포트폴리오 · Odoo 20 연결 방안 · 온톨로지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94360" y="5166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234440" y="5166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벤치마킹 (Odoo 제약 사례 · 글로벌 eBR · 국영/개도국 교훈)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94360" y="5715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5715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234440" y="5715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정의 · 현지화/인프라 · 로드맵 · 리스크 · KPI · 추진체계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한눈에 — Odoo 20 코어 + GMP 레이어 + AX 에이전트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귀사의 GMP 공장 운영(원료→생산→QC/QA→출하)을 Odoo 20 단일 원장 위에 통합하고, 규제가 요구하는 데이터 무결성(ALCOA+)·감사추적·전자서명·밸리데이션을 'GMP 레이어'로 보강하며, 그 위에 사람이 승인하는 AX 에이전트를 얹어 결품·편차·출하 지연을 구조적으로 줄입니다.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10312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03120"/>
            <a:ext cx="73152" cy="23317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1945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Odoo 20 ERP 코어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" y="2560320"/>
            <a:ext cx="333756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 정식 출시 · 2029-09 표준지원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구매·재고(로트/유효기한/FEFO)·제조·품질·보전·PLM·회계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Lot 자동생성·통합 추적성 리포트·리콜 추적(신)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 모드 — 정전·망 불안정 현장 대응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103120"/>
            <a:ext cx="73152" cy="2331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21945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GMP 데이터 무결성 레이어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07408" y="2560320"/>
            <a:ext cx="333756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필드단위 변조불가 감사추적 + 사유 강제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레코드 전자서명·재인증(Part 11 / Annex 11 §14)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eBMR/BPR · 편차/CAPA/변경관리 QMS · SOP/교육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CSV(GAMP 5 · IQ/OQ/PQ) 패키지 — WBS 1급 산출물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01000" y="210312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2103120"/>
            <a:ext cx="73152" cy="233172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18" name="Text 16"/>
          <p:cNvSpPr/>
          <p:nvPr/>
        </p:nvSpPr>
        <p:spPr>
          <a:xfrm>
            <a:off x="8165592" y="21945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AX 에이전트 (사람이 승인)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10728" y="2560320"/>
            <a:ext cx="333756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20 네이티브 MCP · JSON-2 API로 연결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수요·생산계획 / 원료보충 / 품질편차 / 설비예지 / 배치릴리즈 / 감사대응 에이전트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카드 → 승인함 → 사람 승인 → Odoo 반영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숫자는 그래프가 계산, LLM은 서술만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4617720"/>
            <a:ext cx="2640330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727448"/>
            <a:ext cx="26403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−30~50%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5800" y="5257800"/>
            <a:ext cx="245745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 출하 사이클타임</a:t>
            </a:r>
            <a:endParaRPr lang="en-US" sz="10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(업계 12~18일 → 3~5일 베스트)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71850" y="4617720"/>
            <a:ext cx="2640330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1850" y="4727448"/>
            <a:ext cx="26403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−80%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463290" y="5257800"/>
            <a:ext cx="245745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배치기록 문서 오류</a:t>
            </a:r>
            <a:endParaRPr lang="en-US" sz="10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(eBR 벤치마크 기준)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49340" y="4617720"/>
            <a:ext cx="2640330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9340" y="4727448"/>
            <a:ext cx="26403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≥99%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40780" y="5257800"/>
            <a:ext cx="245745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정확도 ·</a:t>
            </a:r>
            <a:endParaRPr lang="en-US" sz="10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FEFO 준수 100%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926830" y="4617720"/>
            <a:ext cx="2640330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26830" y="4727448"/>
            <a:ext cx="26403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018270" y="5257800"/>
            <a:ext cx="245745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 전 감사추적 검토 ·</a:t>
            </a:r>
            <a:endParaRPr lang="en-US" sz="10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공유계정 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603504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목표치는 글로벌 eBR/ERP 벤치마크 기반 예시이며, 착수 시 베이스라인 측정 후 6/12개월 목표로 확정합니다.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CLIENT UNDERSTANDING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방글라데시 제약산업 — 자급 98%의 성장 시장, 규제 성숙도의 전환기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US$ 3.3B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내수 시장 규모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(MAT Q2 2026, +10.6%)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16352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07792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의약품 자급률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(API는 ~85% 수입)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38344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8344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US$ 238M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129784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수출 FY2025-26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(130여 개국)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60336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0336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ML2 → ML3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351776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DGDA WHO 규제 성숙도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(ML3 목표 2027-05)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482328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82328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2026-11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573768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LDC 졸업 →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TRIPS 의약품 유예 종료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83464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212080"/>
                <a:gridCol w="4389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현황 (조사 기준)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제안 시사점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시장 구조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Top 10 ≈ 75% — Square 17%, Incepta 12.6%, Beximco 9.8%, Renata 5.7%, Eskayef 4.9%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민간 선도사는 SAP(Incepta 2021)·Oracle EBS(Beximco) 도입 — 국영사도 동급 통제 필요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Drugs &amp; Cosmetics Act 2023 · National Drug Policy 2016(WHO 인증·PIC/S 가입 목표) · DGDA WHO GMP 기반 실사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WHO GMP + PIC/S PI 041 데이터 무결성 기준으로 설계하면 ML3·국제인증 지원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GMP 집행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2014-16 84개사 평가 → 20~34개사 생산중단, 2009-23 45개사 면허취소(페니실린·세팔로·항암·호르몬)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배치기록 신뢰성·교차오염·QC 역량이 반복 지적 영역 → eBMR·QC·격리통제 우선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인프라·정책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산업벨트 일 3~4h 정전(2026) · 데이터보호령 2025(국내 호스팅) · 국가 소버린 클라우드(NDC Tier-IV) · e-GP 전면 의무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오프라인 내성·온프렘/소버린 클라우드·e-GP 연계가 필수 요건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시리얼라이제이션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DGDA 의무화 규정 미확인 · Renata 자발 도입 · 인도·파키스탄 2026~ 의무화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GS1 배치/시리얼 데이터모델을 선반영 — 중기 규제 대비 차별점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94360" y="603504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IQVIA(2차 인용)·EPB·DGDA·TBS·Daily Star 등 (부록 참조). 수치는 제안 확정 전 원문 재확인 권장.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CLIENT UNDERSTANDING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프로필 — Essential Drugs Company Ltd.(EDCL) 기준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방글라데시 유일의 국영 제약 제조사는 보건가족복지부 산하 100% 국영 EDCL입니다(1962 정부제약연구소 → 1983 EDCL). 귀사가 EDCL이 아닐 경우에도 동일 규제·인프라 조건이 적용되므로 본 제안의 설계는 유효합니다.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965960"/>
            <a:ext cx="73152" cy="2011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0574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조직·사업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" y="2423160"/>
            <a:ext cx="51663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Tejgaon(다카) 본공장 · Bogura · Gopalganj(3공장, Tk 800 crore) · Khulna 라텍스 공장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140개 품목 — IV 수액·철분제·호르몬·페니실린계·피임제·항생제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공공병원 의약품 수요의 약 80% 공급(입찰 없는 의무구매) · 정부수요 충당 70%→90% 목표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신경영진(2025-01) — 입찰 투명성·인력 효율화·33품목 최대 50% 가격 인하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965960"/>
            <a:ext cx="73152" cy="201168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20574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GMP·거버넌스 현안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1928" y="2423160"/>
            <a:ext cx="51663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 설비 → cGMP 미준수 → WHO 등 국제기관 인증 철회 이력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CAG 감사(2019-21) 32건 부정·Tk 477 crore 손실 → 고등법원·ACC 조사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입찰 분쟁으로 항생제 생산 장기 중단 사례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내부통제·조달 투명성·감사추적이 ERP의 1순위 가치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11480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114800"/>
            <a:ext cx="73152" cy="182880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42062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중인 투자·조달 (★ 제안 타이밍)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" y="4572000"/>
            <a:ext cx="51663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2026-05 EDCL 'ERP 설계·개발·구축' EOI 공고(QCBS·자체자금·국내 컨설팅사 대상; 재무·HR·조달·계획·재고·판매·QC·제조·PM)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ADB US$336.5M 백신·치료제 제조 및 규제강화 프로젝트(2023-11) — WHO GMP 백신공장(2032 목표) + DGDA ML3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Tejgaon → Manikganj 이전(ECNEC Tk 1,905 crore) / Munshiganj 통합단지 구상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411480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4114800"/>
            <a:ext cx="73152" cy="182880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22" name="Text 20"/>
          <p:cNvSpPr/>
          <p:nvPr/>
        </p:nvSpPr>
        <p:spPr>
          <a:xfrm>
            <a:off x="6336792" y="42062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포지셔닝 3축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81928" y="4572000"/>
            <a:ext cx="51663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진행 중 ERP의 GMP 계층(감사추적·eBMR·QMS·시리얼) 보완 파트너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ADB 백신공장 디지털 GMP(MES/eBR·LIMS·QMS) 공급자 — 국제경쟁 트랙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DGDA ML3·WHO GMP 재인증 지원(데이터 무결성 패키지)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603504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EOI 낙찰 결과·귀사 정확한 규모/제품은 미확인 — 착수 전 확인 리스트(마지막 장) 참조.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BACKGROUND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배경 — GMP 공장이 지금 디지털 전환을 해야 하는 다섯 가지 이유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502920" cy="822960"/>
          </a:xfrm>
          <a:prstGeom prst="roundRect">
            <a:avLst>
              <a:gd name="adj" fmla="val 10909"/>
            </a:avLst>
          </a:prstGeom>
          <a:solidFill>
            <a:srgbClr val="B03A2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1280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GMP 재인증·ML3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03320" y="1280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배치기록·분산 데이터로는 WHO/PIC/S 데이터 무결성 요구(ALCOA+)를 입증하기 어려움 → 변조 불가 전자기록이 인증의 전제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194560"/>
            <a:ext cx="502920" cy="822960"/>
          </a:xfrm>
          <a:prstGeom prst="roundRect">
            <a:avLst>
              <a:gd name="adj" fmla="val 10909"/>
            </a:avLst>
          </a:prstGeom>
          <a:solidFill>
            <a:srgbClr val="C07F1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945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중 ERP 조달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03320" y="2194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2026-05 ERP EOI — 재무·조달·재고·QC·제조를 한 번에 요구. 일반 ERP는 GMP 통제(감사추적·전자서명·CSV)가 비어 있음 → 보완 설계 필요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108960"/>
            <a:ext cx="502920" cy="822960"/>
          </a:xfrm>
          <a:prstGeom prst="roundRect">
            <a:avLst>
              <a:gd name="adj" fmla="val 10909"/>
            </a:avLst>
          </a:prstGeom>
          <a:solidFill>
            <a:srgbClr val="0E8F8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08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3108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ADB 백신공장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03320" y="3108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 GMP 신공장(2032)은 설계 단계부터 eBR·LIMS·QMS·시리얼라이제이션을 전제 — 기존 공장과 동일 데이터 모델로 확장 가능해야 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023360"/>
            <a:ext cx="502920" cy="822960"/>
          </a:xfrm>
          <a:prstGeom prst="roundRect">
            <a:avLst>
              <a:gd name="adj" fmla="val 10909"/>
            </a:avLst>
          </a:prstGeom>
          <a:solidFill>
            <a:srgbClr val="1F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0233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34440" y="4023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거버넌스·투명성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703320" y="4023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 지적(Tk 477 crore)·입찰 분쟁 → 승인 Workflow·e-GP 연계·변경 불가 로그로 '사람이 아니라 구조가 규칙을 지키는' 체계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4937760"/>
            <a:ext cx="502920" cy="822960"/>
          </a:xfrm>
          <a:prstGeom prst="roundRect">
            <a:avLst>
              <a:gd name="adj" fmla="val 10909"/>
            </a:avLst>
          </a:prstGeom>
          <a:solidFill>
            <a:srgbClr val="714B67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9377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34440" y="4937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LDC 졸업·수출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703320" y="4937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2026-11 TRIPS 유예 종료 → 특허만료 필수약·수출 경쟁력은 원가·품질·추적성 데이터로 결정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5897880"/>
            <a:ext cx="10972800" cy="411480"/>
          </a:xfrm>
          <a:prstGeom prst="roundRect">
            <a:avLst>
              <a:gd name="adj" fmla="val 13333"/>
            </a:avLst>
          </a:prstGeom>
          <a:solidFill>
            <a:srgbClr val="E4F3E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결론: 'ERP 도입'이 아니라 'GMP 데이터 무결성 + 통제 + 지능'을 하나의 플랫폼으로 — 그것이 재인증과 수익성을 동시에 여는 길입니다.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GMP 규제 요건 → ERP 요건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 · EU GMP Annex 11/15 · FDA 21 CFR Part 11 · PIC/S PI 041 · GAMP 5 · ALCOA+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GMP → ERP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 프레임워크가 ERP에 요구하는 것 — 데이터 무결성과 밸리데이션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389120"/>
                <a:gridCol w="384048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요구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 설계 요건 (본 제안 반영)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WHO GMP TRS 986 Annex 2 · TRS 1033 Annex 4(데이터 무결성, 2021)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배치제조/포장기록(이론·실제수량·수율 reconciliation·일시·책임자) · 컴퓨터화 시스템의 적절한 관리·밸리데이션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BMR/BPR 자동 생성 · 수율 reconciliation · 단계별 서명 · 시스템 밸리데이션 문서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 GMP Annex 11 (2011 → 2025.7 개정초안 5→19쪽)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§9 감사추적(누가·무엇·전/후 값·언제·왜 자동 기록) · §12 보안(RBAC) · §14 전자서명(기록 영구결합) · §15 배치출하(QP만)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필드단위 old/new 로그 + 사유 강제 · 개인계정·MFA · 서명 재인증 · QA 전용 출하 권한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 GMP Annex 15 · GAMP 5 (2nd ed.)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위험기반 밸리데이션, VMP·URS·IQ/OQ/PQ, 상용 구성형=Cat.4, 커스텀=Cat.5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CSV 패키지를 WBS 1급 산출물로 · 커스텀 최소화로 Cat.5 범위 축소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FDA 21 CFR Part 11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§11.10 폐쇄형 시스템 11개 통제(밸리데이션·정확한 사본·감사추적·권한·교육·서명책임) · Subpart C 전자서명(2요소·고유)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감사추적은 사용자 독립·비활성화 불가 · 전자서명 ID+PW 재인증 · 교육 기록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PIC/S PI 041-1 (2021) · ALCOA+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거버넌스 · Attributable/Legible/Contemporaneous/Original/Accurate + Complete/Consistent/Enduring/Available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장의 ALCOA+ 통제 매핑 적용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 GMP Ch.1/4/8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PQS·CAPA · 배치문서 보존(유효기한+1년 또는 QP인증+5년 중 긴 기간) · 불만·회수·CAPA 효과성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편차/CAPA/변경관리 QMS · 보존정책·아카이빙 · 회수 영향범위 즉시 산출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94360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중요 고지: Odoo는 Part 11/Annex 11 '준수 인증' 제품이 아닙니다. 준수는 구성 + GMP 레이어 + CSV + SOP·교육으로 달성되며, 본 제안은 이를 범위에 포함합니다.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GMP → ERP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ALCOA+ 데이터 무결성 → ERP 통제 매핑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475488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ERP·GMP 레이어 통제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 방법(CSV)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Attributable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누가·언제 수행했는가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개인계정(공유 금지)·전자서명·감사추적 사용자 귀속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OQ: 계정별 로그 확인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Legible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영구적으로 판독 가능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가독 리포트·아카이브 판독성·업그레이드 후 가독성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PQ: 과거 배치 조회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Contemporaneous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수행 시점에 기록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타임스탬프(NTP 단일 시간원)·현장 태블릿 입력·사후입력 사유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OQ: 시각 동기 검증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Original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원본 또는 인증 사본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원천 시스템 기록·전사 최소화(LIMS·저울 연계)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IQ/OQ: 인터페이스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Accurate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오류 없음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허용범위·단위·필수값 검증·수정 시 old/new·이중확인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OQ: 경계값 테스트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Complete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재시험 포함 전부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실패 검사 보존·삭제 금지·append-only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OQ: 삭제 시도 차단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Consistent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시간순 일관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 전이 통제(격리→시험→출하)·워크플로우 강제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OQ: 상태 우회 차단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Enduring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보존기간 지속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백업/복원 테스트·보존정책(유효기한+1년)·마이그레이션 검증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PQ: 복원 리허설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Available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 시 접근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검색·리포트·사찰관 조회 권한·오프라인 큐 동기화 검증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PQ: 사찰 시나리오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PIC/S PI 041-1, WHO TRS 1033 Annex 4, TGA ALCOA↔Annex 11 매핑. 통제·검증은 본 제안의 GMP 레이어·CSV 범위.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 제조 프로세스와 시스템 역할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원료 입고에서 배치 출하까지 — 어떤 기록이 어디에 남는가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PROCESS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 제조 프로세스 11단계 — GMP 포인트와 Odoo 매핑 (OSD 기준)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0E7C6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입고·로트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4703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1863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1601863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격리·QC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72205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9365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0E7C6B"/>
          </a:solidFill>
          <a:ln/>
        </p:spPr>
      </p:sp>
      <p:sp>
        <p:nvSpPr>
          <p:cNvPr id="14" name="Text 12"/>
          <p:cNvSpPr/>
          <p:nvPr/>
        </p:nvSpPr>
        <p:spPr>
          <a:xfrm>
            <a:off x="2609365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원료출하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9708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16868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3616868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칭량·분출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7210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24370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0E7C6B"/>
          </a:solidFill>
          <a:ln/>
        </p:spPr>
      </p:sp>
      <p:sp>
        <p:nvSpPr>
          <p:cNvPr id="20" name="Text 18"/>
          <p:cNvSpPr/>
          <p:nvPr/>
        </p:nvSpPr>
        <p:spPr>
          <a:xfrm>
            <a:off x="4624370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과립·혼합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94713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31873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1F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5631873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타정·코팅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02215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39375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0E7C6B"/>
          </a:solidFill>
          <a:ln/>
        </p:spPr>
      </p:sp>
      <p:sp>
        <p:nvSpPr>
          <p:cNvPr id="26" name="Text 24"/>
          <p:cNvSpPr/>
          <p:nvPr/>
        </p:nvSpPr>
        <p:spPr>
          <a:xfrm>
            <a:off x="6639375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포장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09718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46878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1F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7646878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⑧ 완제QC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17220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654380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0E7C6B"/>
          </a:solidFill>
          <a:ln/>
        </p:spPr>
      </p:sp>
      <p:sp>
        <p:nvSpPr>
          <p:cNvPr id="32" name="Text 30"/>
          <p:cNvSpPr/>
          <p:nvPr/>
        </p:nvSpPr>
        <p:spPr>
          <a:xfrm>
            <a:off x="8654380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⑨ QA출하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524723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661883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1F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9661883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⑩ 창고·유통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32225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669385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0E7C6B"/>
          </a:solidFill>
          <a:ln/>
        </p:spPr>
      </p:sp>
      <p:sp>
        <p:nvSpPr>
          <p:cNvPr id="38" name="Text 36"/>
          <p:cNvSpPr/>
          <p:nvPr/>
        </p:nvSpPr>
        <p:spPr>
          <a:xfrm>
            <a:off x="10669385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⑪ 사후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5740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931920"/>
                <a:gridCol w="56692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GMP 요구 포인트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Odoo 20 + GMP 레이어 매핑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①~③ 원료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승인공급자만 발주·즉시 격리·사양별 QC·QC/QA만 상태 변경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승인공급자 체크 발주 · 로트/제조일/유효기한/재시험일 필수 · 격리 Location 자동 · 수입검사 QCP · 상태전환 전자서명 · 공급사 품질률(신)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칭량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 포뮬러·FEFO·교정 저울·이중확인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 생성 시 BOM 확정 · FEFO 로트 예약 · 저울 ID·작업자/확인자 기록 · 교정 만료 설비 차단(레이어)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⑤~⑥ 제조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파라미터·라인 클리어런스·IPC·수율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작업지시 체크리스트·측정형 품질검사(범위 이탈 경고) · 연속 생산(신) · 수율 reconciliation · 편차 등록(QMS)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포장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포장지시서·라벨 reconciliation·시리얼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포장 MO/BPR · 라벨 발행/회수 대조 · GS1 마스터 + 시리얼 시스템 인터페이스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⑧~⑨ QC/QA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사양 시험·보관샘플·BMR 검토·편차 종결·감사추적 검토·QP 인증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완제 QCP · LIMS 연계 · 출하 체크리스트 + 전자서명 · QA 전용 권한 · 통합 추적성 리포트(신)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⑩~⑪ 유통·사후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FEFO 출고·유통기록·불만/회수·PQR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FEFO 강제 · Lot→출고라인 리콜 추적(신) · 불만→조사→CAPA · PQR 데이터 추출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40" name="Text 37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관점: '무엇이 투입되고·일어나고·측정되고·넘어가고·잔량은 어디로 갔는가'를 기록해 reconciliation하는 '재료 원장'이 배치기록의 본질입니다.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PROCESS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역할 경계 — ERP · MES/eBR · LIMS · QMS · 시리얼라이제이션 · AX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103120" cy="685800"/>
          </a:xfrm>
          <a:prstGeom prst="roundRect">
            <a:avLst>
              <a:gd name="adj" fmla="val 9333"/>
            </a:avLst>
          </a:prstGeom>
          <a:solidFill>
            <a:srgbClr val="1F3A5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20 ERP (L4)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기록의 주인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2057400"/>
            <a:ext cx="2103120" cy="32004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148840"/>
            <a:ext cx="1965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마스터데이터·BOM/포뮬러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MPS/MRP·구매·재고(로트/상태/FEFO)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제조오더·작업지시·원가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디스포지션·보전·PLM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회계·조달(e-GP)·KPI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811780" y="1280160"/>
            <a:ext cx="2103120" cy="685800"/>
          </a:xfrm>
          <a:prstGeom prst="roundRect">
            <a:avLst>
              <a:gd name="adj" fmla="val 9333"/>
            </a:avLst>
          </a:prstGeom>
          <a:solidFill>
            <a:srgbClr val="0E7C6B"/>
          </a:solidFill>
          <a:ln/>
        </p:spPr>
      </p:sp>
      <p:sp>
        <p:nvSpPr>
          <p:cNvPr id="13" name="Text 11"/>
          <p:cNvSpPr/>
          <p:nvPr/>
        </p:nvSpPr>
        <p:spPr>
          <a:xfrm>
            <a:off x="2811780" y="1280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 / eBR (L3)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1178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기록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11780" y="2057400"/>
            <a:ext cx="2103120" cy="32004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4932" y="2148840"/>
            <a:ext cx="1965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전자 배치기록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데이터·라인 클리어런스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IPC·reconciliation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소규모: Odoo 작업지시+품질검사+eBMR 모듈로 대체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대형/무균: 전용 MES 로드맵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029200" y="1280160"/>
            <a:ext cx="2103120" cy="685800"/>
          </a:xfrm>
          <a:prstGeom prst="roundRect">
            <a:avLst>
              <a:gd name="adj" fmla="val 9333"/>
            </a:avLst>
          </a:prstGeom>
          <a:solidFill>
            <a:srgbClr val="714B6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280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LIMS · QMS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시험·품질시스템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0" y="2057400"/>
            <a:ext cx="2103120" cy="32004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714B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2148840"/>
            <a:ext cx="1965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샘플·시험·OOS·안정성(LIMS)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편차·CAPA·변경·문서·교육(QMS)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표준에 없음 → GMP 레이어 또는 외부 연계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ERP는 합부·CoA·종결 상태 수신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246620" y="1280160"/>
            <a:ext cx="2103120" cy="685800"/>
          </a:xfrm>
          <a:prstGeom prst="roundRect">
            <a:avLst>
              <a:gd name="adj" fmla="val 9333"/>
            </a:avLst>
          </a:prstGeom>
          <a:solidFill>
            <a:srgbClr val="C07F1E"/>
          </a:solidFill>
          <a:ln/>
        </p:spPr>
      </p:sp>
      <p:sp>
        <p:nvSpPr>
          <p:cNvPr id="23" name="Text 21"/>
          <p:cNvSpPr/>
          <p:nvPr/>
        </p:nvSpPr>
        <p:spPr>
          <a:xfrm>
            <a:off x="7246620" y="1280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시리얼라이제이션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4662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추적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46620" y="2057400"/>
            <a:ext cx="2103120" cy="32004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C07F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9772" y="2148840"/>
            <a:ext cx="1965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GTIN+시리얼+로트+유효기한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집합(SSCC)·EPCIS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ERP는 마스터·출고 연계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DGDA 의무화 대비 선반영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9464040" y="1280160"/>
            <a:ext cx="2103120" cy="685800"/>
          </a:xfrm>
          <a:prstGeom prst="roundRect">
            <a:avLst>
              <a:gd name="adj" fmla="val 9333"/>
            </a:avLst>
          </a:prstGeom>
          <a:solidFill>
            <a:srgbClr val="0E8F86"/>
          </a:solidFill>
          <a:ln/>
        </p:spPr>
      </p:sp>
      <p:sp>
        <p:nvSpPr>
          <p:cNvPr id="28" name="Text 26"/>
          <p:cNvSpPr/>
          <p:nvPr/>
        </p:nvSpPr>
        <p:spPr>
          <a:xfrm>
            <a:off x="9464040" y="1280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에이전트 (L5)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6404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지능·판단 보조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464040" y="2057400"/>
            <a:ext cx="2103120" cy="32004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37192" y="2148840"/>
            <a:ext cx="1965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ERP/MES/LIMS 이벤트 → 특징량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지식그래프(온톨로지)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카드 생성 → 사람 승인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쓰기는 승인된 서버액션만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94360" y="5440680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E6EEF3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 </a:t>
            </a:r>
            <a:pPr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기록의 주인은 하나(ERP 원장)  ② GMP 기록은 전자서명·감사추적이 붙는 곳에서만 생성  ③ AI는 읽기 우선, 쓰기는 사람이 승인한 서버액션으로만  ④ 인터페이스(LIMS·저울·라벨·시리얼)는 전사(轉寫)를 없애 Original·Accurate 확보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20 — 신기능과 제약·GMP 적용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 정식 출시 · AI 에이전트 · 네이티브 MCP · 추적성 강화 · 오프라인 모드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ODOO 20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20 (2026-09-24 출시) — 제안에 직접 관련된 주요 신기능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20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19019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2026-09-24 정식 출시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표준지원 ~2029-09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16352" y="128016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07792" y="1920240"/>
            <a:ext cx="19019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네이티브 MCP 서버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(OAuth 2.1 · API키)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38344" y="128016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8344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9784" y="1920240"/>
            <a:ext cx="19019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자동화·스케줄 실행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8종(레코드 생성/수정)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60336" y="128016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0336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JSON-2 API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51776" y="1920240"/>
            <a:ext cx="19019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외부 API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(XML/JSON-RPC deprecated)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482328" y="128016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82328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Offline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73768" y="1920240"/>
            <a:ext cx="19019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 모드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(로컬 큐 → 동기화, 2GB)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743200"/>
          <a:ext cx="10972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486400"/>
                <a:gridCol w="39319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Odoo 20 신규/강화 기능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제약·GMP 가치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· 에이전트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에이전트를 자동화 규칙·스케줄로 호출 · 자동화 채팅 감사 로그 · PDF 지시서 업로드로 레코드 생성 · 자기 개선 · AI 제공자 선택 · IAP 크레딧 과금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편차 초안·감사 질의응답·SOP Q&amp;A 자동화 — 단, 모든 실행 이력은 감사 가능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MCP 서버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/mcp 엔드포인트 · OAuth 2.1 또는 MCP 스코프 API키 · 기본 읽기 툴 5종 · 서버액션을 MCP 툴로 노출 · 사용자 권한 범위 내 동작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AX 에이전트의 공식 연결 통로 — 최소권한 전용 사용자로 통제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제조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연속 생산(일부 수량 완료 시 후속 공정 시작) · 작업지시 Kanban/Gantt · 백오더 자동 계획 · MO 분할 · Shop Floor 단일 'Produce' · WIP 원가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캠페인 생산·라인 밸런싱 · 현장 태블릿 실행 기록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재고·추적성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 종료 시 Lot 항상 자동 생성 · Lot 'Transfers'에 출고 라인 표시(타겟 리콜) · 상류·하류 통합 추적성 리포트 · 재고 에이징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로트 미부여 방지 · 회수 영향범위 즉시 산출 · 계보(genealogy) 입증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품질(Enterprise)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 우회는 품질 관리자만 · 실패 시 '실패 위치'로 격리 이동 · 구매 앱 공급사 품질률(%)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권한 기반 통제 강화 · 부적합품 격리 자동화 · 공급자 적격성 근거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보전·PLM·문서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Maintenance Gantt(설비별 계획) · PLM Compare BoMs · Documents 그룹 권한 · Sign 자동 서명 요청(자동화 규칙)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교정/예방정비 계획 · 포뮬러 변경관리(ECO) · SOP 승인 자동 서명 요청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94360" y="589788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odoo.com 릴리스 노트/문서(검색 발췌) + 파트너 블로그 교차검증. 제약 시나리오(Quality·PLM·Shop Floor·Documents·Sign·Studio·AI/MCP)는 Enterprise 필요. 기술요건 Python ≥3.12 · PostgreSQL ≥16.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ODOO 20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 맞춤 Odoo 모듈 맵 — 표준으로 되는 것 · 레이어로 보강할 것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1F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73152" cy="13258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3533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 (Purchase)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16916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승인공급자·발주 승인 Workflow·공급사 품질률·수입 문서·e-GP 연계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58952" y="2304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표준+설정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128016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1F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280160"/>
            <a:ext cx="73152" cy="13258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13533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(Inventory)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62272" y="16916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로트/시리얼·유효기한 4종 일자·FEFO·격리 Location·추적성 리포트·바코드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462272" y="2304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표준+설정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01000" y="128016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1F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1280160"/>
            <a:ext cx="73152" cy="13258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8165592" y="13533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(MRP)·Shop Floor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65592" y="16916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BOM/포뮬러·MPS·작업지시·태블릿 실행·연속생산·수율·WIP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8165592" y="2304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표준+eBMR 레이어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74320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2743200"/>
            <a:ext cx="73152" cy="132588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28163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(Quality)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" y="31546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QCP(입고/공정/출고)·합부/측정·Quality Alert·실패 위치·관리자 우회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758952" y="37673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표준+QMS 레이어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97680" y="274320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2743200"/>
            <a:ext cx="73152" cy="132588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29" name="Text 27"/>
          <p:cNvSpPr/>
          <p:nvPr/>
        </p:nvSpPr>
        <p:spPr>
          <a:xfrm>
            <a:off x="4462272" y="28163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보전 (Maintenance)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62272" y="31546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예방/시정 보전·Gantt·MTBF/MTTR·교정 주기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462272" y="37673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표준+교정 차단 레이어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01000" y="274320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01000" y="2743200"/>
            <a:ext cx="73152" cy="132588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4" name="Text 32"/>
          <p:cNvSpPr/>
          <p:nvPr/>
        </p:nvSpPr>
        <p:spPr>
          <a:xfrm>
            <a:off x="8165592" y="28163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65592" y="31546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ECO 단계별 승인·BOM 버전·Compare BoMs → 포뮬러 변경관리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8165592" y="37673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표준+변경관리 연계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" y="420624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714B6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4206240"/>
            <a:ext cx="73152" cy="1325880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39" name="Text 37"/>
          <p:cNvSpPr/>
          <p:nvPr/>
        </p:nvSpPr>
        <p:spPr>
          <a:xfrm>
            <a:off x="758952" y="42793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Documents · Sign · Knowledge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58952" y="46177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SOP 버전·그룹 권한·전자서명(SES)·사내 지식 Q&amp;A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758952" y="52303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4B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표준+Part11 서명 레이어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297680" y="420624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714B6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97680" y="4206240"/>
            <a:ext cx="73152" cy="1325880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4" name="Text 42"/>
          <p:cNvSpPr/>
          <p:nvPr/>
        </p:nvSpPr>
        <p:spPr>
          <a:xfrm>
            <a:off x="4462272" y="42793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 (Accounting)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462272" y="46177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청구서 인식·은행 대사·저널 해시 불변성·Mushak VAT·FY 7-6월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4462272" y="52303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4B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표준+현지화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001000" y="420624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C07F1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01000" y="4206240"/>
            <a:ext cx="73152" cy="132588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49" name="Text 47"/>
          <p:cNvSpPr/>
          <p:nvPr/>
        </p:nvSpPr>
        <p:spPr>
          <a:xfrm>
            <a:off x="8165592" y="42793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MCP · Studio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165592" y="46177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에이전트/Skills·AI 필드·MCP 서버·자동화 규칙·웹훅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8165592" y="52303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7F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연결 표면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94360" y="5715000"/>
            <a:ext cx="10972800" cy="548640"/>
          </a:xfrm>
          <a:prstGeom prst="roundRect">
            <a:avLst>
              <a:gd name="adj" fmla="val 10000"/>
            </a:avLst>
          </a:prstGeom>
          <a:solidFill>
            <a:srgbClr val="FBF2E3"/>
          </a:solidFill>
          <a:ln/>
        </p:spPr>
      </p:sp>
      <p:sp>
        <p:nvSpPr>
          <p:cNvPr id="53" name="Text 51"/>
          <p:cNvSpPr/>
          <p:nvPr/>
        </p:nvSpPr>
        <p:spPr>
          <a:xfrm>
            <a:off x="777240" y="5715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에디션·호스팅 권고: Odoo Enterprise(Custom) · 온프레미스 또는 Odoo.sh — SaaS 자동 업그레이드는 재검증 통제가 어려워 규제 환경에 부적합. 현장 작업자는 Light User로 비용 절감 검토.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GMP 갭 분석 · GMP 레이어 · CSV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정직한 갭 → 설계된 보강 → 검증 가능한 증거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GAP ANALYSIS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표준 vs GMP 요구 — 갭과 보강 방안 (정직한 평가)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1828800"/>
                <a:gridCol w="4206240"/>
                <a:gridCol w="8229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갭 (Odoo 표준의 한계)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규제 근거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보강 방안 (GMP 레이어)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감사추적: Chatter는 tracking 필드만, 삭제 시 소실, 사유 강제·검토 워크플로우 없음, 회계만 해시 불변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Annex 11 §9 · Part 11 §11.10(e)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OCA auditlog + 커스텀: 필드단위 old/new·UTC·사용자·사유 강제, append-only, 삭제 금지, 출하 전 검토 워크플로우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Cat.5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전자서명: Sign은 문서용 SES, 레코드 재인증·서명 의미·영구 결합 없음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Annex 11 §14 · Part 11 Subpart C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레코드 전자서명 모듈: ID+PW 재인증, 서명 의미(실행/검토/승인), 메타데이터 봉인, 변경 시 무효화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Cat.5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eBMR/BPR: MO 출력은 구조화 배치기록이 아님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WHO §15.25~30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eBMR 레이어(파트너 모듈 기반): 단계별 공정·IPC·reconciliation·단계 서명·편차 링크·QA 승인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Cat.4/5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QMS: Quality Alert는 티켓 수준 — 편차/CAPA/변경관리 워크플로우 부재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 Ch.1 · Ch.8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QMS 레이어: 편차→분류→RCA→CAPA→효과성 / 변경요청→영향평가→승인→재검증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Cat.5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밸리데이션 패키지 부재 — Odoo는 GxP 인증 제품 아님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Annex 11 §4 · Annex 15 · GAMP 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CSV 프로젝트: VMP·URS·위험평가·FS/CS·IQ/OQ/PQ·추적성 매트릭스 · 공급자(Odoo SA·파트너) 평가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메이저 릴리스·SaaS 자동 업데이트 → 재검증 통제 곤란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Annex 11 §10/§11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온프렘/Odoo.sh · 변경관리 절차 · 릴리스별 영향평가·회귀테스트 · 정기평가(연 1회)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SOP 라이프사이클·재교육 강제·교정 만료 설비 사용 차단 없음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 Ch.2/3/4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Documents+Sign 승인 플로우 · 교육 매트릭스·미이수자 공정 차단 · 교정 만료 차단 규칙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Cat.4/5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시리얼라이제이션(시리얼 생성·집합·EPCIS) 미제공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GS1 · 각국 T&amp;T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시리얼라이제이션 시스템 연계(마스터·출고) · GS1 데이터모델 선반영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인터페이스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89788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Cat.4(구성형)/Cat.5(커스텀)는 GAMP 5 분류 — 커스텀을 최소화해 밸리데이션 비용을 통제합니다. 대형 GMP 완제 공장의 Part 11급 Odoo 공개 사례는 확인되지 않아, 본 레이어·CSV가 성공의 열쇠입니다.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GMP LAYER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GMP 데이터 무결성 레이어 설계 — 6개 구성요소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73152" cy="214884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감사추적 엔진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1737360"/>
            <a:ext cx="333756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GMP 모델(로트·이동·MO·검사·BOM·사양·공급사)의 모든 변경을 old/new·UTC·사용자·사유로 기록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append-only 테이블 · 삭제/비활성화 불가 · 사용자 독립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 전 '감사추적 검토' 체크 · 가독 리포트 · 보존기간 = 기록 보존기간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297680" y="128016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280160"/>
            <a:ext cx="73152" cy="21488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전자서명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07408" y="1737360"/>
            <a:ext cx="333756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서명 시 ID+비밀번호 재인증(2요소) · 서명 의미(실행/검토/승인) · 서명 일시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기록에 영구 결합, 기록 변경 시 서명 무효화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 출하는 QA/QP 역할만 — Annex 11 §15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001000" y="128016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280160"/>
            <a:ext cx="73152" cy="214884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7" name="Text 15"/>
          <p:cNvSpPr/>
          <p:nvPr/>
        </p:nvSpPr>
        <p:spPr>
          <a:xfrm>
            <a:off x="816559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eBMR / BPR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10728" y="1737360"/>
            <a:ext cx="333756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마스터 포뮬러 → 배치별 전자기록 자동 생성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칭량·IPC·공정 파라미터·수율 reconciliation·라인 클리어런스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서명 · 편차 링크 · QA 검토 · 인쇄본=전자본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94360" y="356616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566160"/>
            <a:ext cx="73152" cy="2148840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3657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QMS (편차·CAPA·변경)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" y="4023360"/>
            <a:ext cx="333756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편차 → 분류 → 근본원인 → CAPA → 효과성 확인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변경요청 → 영향평가(재검증 여부) → 승인 → 실행 → 종결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배치·설비·문서·공급사 링크 · 지표(종결기간·재발률)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4297680" y="356616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3566160"/>
            <a:ext cx="73152" cy="214884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25" name="Text 23"/>
          <p:cNvSpPr/>
          <p:nvPr/>
        </p:nvSpPr>
        <p:spPr>
          <a:xfrm>
            <a:off x="4462272" y="3657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상태·FEFO·교정 강제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07408" y="4023360"/>
            <a:ext cx="333756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격리/시험중/합격/불합격 상태 — QC/QA만 변경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격리·만료·재시험 초과 로트의 불출·출고 시스템 차단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교정 만료 설비·저울 사용 차단 · 승인공급자 외 발주 차단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8001000" y="356616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3566160"/>
            <a:ext cx="73152" cy="214884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29" name="Text 27"/>
          <p:cNvSpPr/>
          <p:nvPr/>
        </p:nvSpPr>
        <p:spPr>
          <a:xfrm>
            <a:off x="8165592" y="3657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SOP·교육·보존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10728" y="4023360"/>
            <a:ext cx="333756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SOP 초안→검토→승인(전자서명)→발효→교육→폐기 · 유효본만 노출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직무별 교육 매트릭스 · 개정 시 재교육 과제 · 미이수자 공정 차단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백업/복원 테스트 · 아카이빙 · 유효기한+1년/QP인증+5년 보존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594360" y="589788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원칙: OCA·검증된 파트너 모듈을 우선 활용하고 커스텀은 최소화 — GAMP Cat.5 범위를 줄여 밸리데이션 비용·기간을 통제합니다.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CSV / CSA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컴퓨터화 시스템 밸리데이션(CSV) 계획 — 가동 전 완료, 업그레이드마다 재검증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0E7C6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12755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밸리데이션 마스터플랜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42516" y="12801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79676" y="12801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1979676" y="1280160"/>
            <a:ext cx="12755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요구사양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27832" y="12801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64992" y="12801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0E7C6B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1280160"/>
            <a:ext cx="12755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위험평가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GAMP Cat.4/5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13148" y="12801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0308" y="12801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0308" y="1280160"/>
            <a:ext cx="12755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 / 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기능·구성 사양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98464" y="12801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35624" y="12801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0E7C6B"/>
          </a:solidFill>
          <a:ln/>
        </p:spPr>
      </p:sp>
      <p:sp>
        <p:nvSpPr>
          <p:cNvPr id="20" name="Text 18"/>
          <p:cNvSpPr/>
          <p:nvPr/>
        </p:nvSpPr>
        <p:spPr>
          <a:xfrm>
            <a:off x="6135624" y="1280160"/>
            <a:ext cx="12755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IQ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적격성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83780" y="12801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20940" y="12801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7520940" y="1280160"/>
            <a:ext cx="12755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OQ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적격성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69096" y="12801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06256" y="12801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0E7C6B"/>
          </a:solidFill>
          <a:ln/>
        </p:spPr>
      </p:sp>
      <p:sp>
        <p:nvSpPr>
          <p:cNvPr id="26" name="Text 24"/>
          <p:cNvSpPr/>
          <p:nvPr/>
        </p:nvSpPr>
        <p:spPr>
          <a:xfrm>
            <a:off x="8906256" y="1280160"/>
            <a:ext cx="12755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PQ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적격성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154412" y="12801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291572" y="12801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10291572" y="1280160"/>
            <a:ext cx="12755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추적성 매트릭스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·밸리데이션 보고서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237744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2377440"/>
            <a:ext cx="73152" cy="21031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" y="2468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범위·분류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" y="2834640"/>
            <a:ext cx="333756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구성(구매·재고·제조·품질·보전·회계) = Cat.4 → 구성 검증 중심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GMP 레이어(감사추적·전자서명·eBMR·QMS) = Cat.5 → 설계·코드 리뷰·전수 테스트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인터페이스(LIMS·저울·라벨·시리얼·e-GP) = 별도 IQ/OQ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공급자 평가: Odoo SA · 구현 파트너 · 모듈 벤더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297680" y="237744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7680" y="2377440"/>
            <a:ext cx="73152" cy="21031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6" name="Text 34"/>
          <p:cNvSpPr/>
          <p:nvPr/>
        </p:nvSpPr>
        <p:spPr>
          <a:xfrm>
            <a:off x="4462272" y="2468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기준·방법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407408" y="2834640"/>
            <a:ext cx="333756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Annex 11 2025 개정초안 기준으로 설계(감사추적 강화 반영)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FDA CSA(2025) 위험기반: 의도된 용도→위험→보증활동→객관적 증거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PIC/S PI 041 데이터 무결성 · ALCOA+ 체크리스트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 TRS 1019 App.5 컴퓨터화 시스템 밸리데이션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8001000" y="237744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01000" y="2377440"/>
            <a:ext cx="73152" cy="210312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40" name="Text 38"/>
          <p:cNvSpPr/>
          <p:nvPr/>
        </p:nvSpPr>
        <p:spPr>
          <a:xfrm>
            <a:off x="8165592" y="2468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단계 통제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110728" y="2834640"/>
            <a:ext cx="333756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변경관리: 설정·권한·BOM 규칙 변경 = 티켓·승인·영향평가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릴리스 관리: 온프렘/Odoo.sh 고정 버전 · 연 1회 정기평가 · 메이저 업그레이드 시 회귀테스트·부분 재검증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사고관리·BCP: 백업/복원 리허설·정전 시 오프라인 큐 검증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감사추적 정기 검토 SOP</a:t>
            </a:r>
            <a:endParaRPr lang="en-US" sz="98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61772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03504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VMP · URS · 위험평가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범위·접근법·일정 / 기능별 요구(GMP 플래그) / 기능별 위험·테스트 깊이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QA Sign-off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FS/CS · 추적성 매트릭스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설계·구성 명세 / URS↔FS↔테스트 케이스 매핑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QA Sign-off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IQ/OQ/PQ 프로토콜·보고서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설치 검증 / 기능·경계·보안·감사추적·서명 테스트 / 실업무 시나리오(배치 1사이클)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QA·QP Sign-off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밸리데이션 종료 보고서 · SOP 세트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편차·잔여 리스크·가동 승인 / 시스템 운영·변경·백업·감사추적 검토 SOP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경영진·QA Sign-off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44" name="Text 41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아키텍처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 → Odoo 20 원장 → 이벤트·특징량 → 온톨로지·지식그래프 → 에이전트 — 사람이 승인하는 지능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AX ARCHITECTURE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총괄 아키텍처 — 다섯 층, 하나의 줄기 (GMP 레이어는 전 층을 관통)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10972800" cy="822960"/>
          </a:xfrm>
          <a:prstGeom prst="roundRect">
            <a:avLst>
              <a:gd name="adj" fmla="val 7778"/>
            </a:avLst>
          </a:prstGeom>
          <a:solidFill>
            <a:srgbClr val="F3F7F9"/>
          </a:solidFill>
          <a:ln w="16510">
            <a:solidFill>
              <a:srgbClr val="C07F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91440" cy="82296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280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7F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L5  AX 에이전트·관제탑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86200" y="128016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수요·생산계획 / 원료보충 / 품질편차 / 설비예지 / 배치릴리즈 어시스턴트 / 감사대응 → 판단 카드 → 승인함(사람) → Odoo 반영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94360" y="2176272"/>
            <a:ext cx="10972800" cy="822960"/>
          </a:xfrm>
          <a:prstGeom prst="roundRect">
            <a:avLst>
              <a:gd name="adj" fmla="val 7778"/>
            </a:avLst>
          </a:prstGeom>
          <a:solidFill>
            <a:srgbClr val="F3F7F9"/>
          </a:solidFill>
          <a:ln w="16510">
            <a:solidFill>
              <a:srgbClr val="714B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176272"/>
            <a:ext cx="91440" cy="822960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7627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14B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L4  온톨로지·지식그래프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86200" y="2176272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제품·포뮬러·배치·로트·공정·설비·시험·편차·공급사·SOP를 의미로 연결 — 근거 사다리(evidence ladder)·규칙 승급/강등 루프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94360" y="3072384"/>
            <a:ext cx="10972800" cy="822960"/>
          </a:xfrm>
          <a:prstGeom prst="roundRect">
            <a:avLst>
              <a:gd name="adj" fmla="val 7778"/>
            </a:avLst>
          </a:prstGeom>
          <a:solidFill>
            <a:srgbClr val="F3F7F9"/>
          </a:solidFill>
          <a:ln w="16510">
            <a:solidFill>
              <a:srgbClr val="0E8F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072384"/>
            <a:ext cx="91440" cy="82296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072384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  이벤트·특징량·학습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86200" y="3072384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입고·검사·작업·편차·출하 이벤트화 → 품목×라인×기간 특징량 → 수요예측·이상탐지·설비예지 모델(모델 카드·회귀 30선)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94360" y="3968496"/>
            <a:ext cx="10972800" cy="822960"/>
          </a:xfrm>
          <a:prstGeom prst="roundRect">
            <a:avLst>
              <a:gd name="adj" fmla="val 7778"/>
            </a:avLst>
          </a:prstGeom>
          <a:solidFill>
            <a:srgbClr val="F3F7F9"/>
          </a:solidFill>
          <a:ln w="16510">
            <a:solidFill>
              <a:srgbClr val="1F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968496"/>
            <a:ext cx="9144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68496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  Odoo 20 단일 원장 + GMP 레이어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886200" y="3968496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구매·재고·제조·품질·보전·PLM·회계 — PostgreSQL 단일 기록 + 감사추적·전자서명·eBMR·QMS·상태강제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94360" y="4864608"/>
            <a:ext cx="10972800" cy="822960"/>
          </a:xfrm>
          <a:prstGeom prst="roundRect">
            <a:avLst>
              <a:gd name="adj" fmla="val 7778"/>
            </a:avLst>
          </a:prstGeom>
          <a:solidFill>
            <a:srgbClr val="F3F7F9"/>
          </a:solidFill>
          <a:ln w="16510">
            <a:solidFill>
              <a:srgbClr val="0E7C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864608"/>
            <a:ext cx="91440" cy="82296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86460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 트랜잭션 원천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886200" y="486460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입고·QC 결과(LIMS)·칭량(저울)·작업지시(태블릿)·IPC·포장/라벨·시리얼·설비 센서(IoT/OBox)·조달(e-GP)·은행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594360" y="5806440"/>
            <a:ext cx="10972800" cy="457200"/>
          </a:xfrm>
          <a:prstGeom prst="roundRect">
            <a:avLst>
              <a:gd name="adj" fmla="val 12000"/>
            </a:avLst>
          </a:prstGeom>
          <a:solidFill>
            <a:srgbClr val="E4F3E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관통 원칙: 숫자는 그래프(DB)가 계산하고 LLM은 서술만 · 결정은 언제나 사람 · 모든 AI 실행은 감사추적에 남는다 · 쓰기는 승인된 서버액션(화이트리스트)으로만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AX AGENTS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에이전트 포트폴리오 — 여섯 일꾼, 하나의 승인함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3291840"/>
                <a:gridCol w="2103120"/>
                <a:gridCol w="1920240"/>
              </a:tblGrid>
              <a:tr h="6126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에이전트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트리거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실행(초안 생성)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근거·입력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승인자 · Odoo 반영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수요·생산계획 Agent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 마감 후 / 주간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공공조달 수요·계절·재고 기반 익월 생산계획(MPS) 초안 + 결품 위험 품목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판매·조달 이력·재고·리드타임·캠페인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생산기획 승인 → MO 초안 생성(서버액션)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원료 보충·공급사 Agent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ROP 도달·재시험일 임박·시세 급등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발주 초안(승인공급자·품질률·리드타임 근거) · 재시험/만료 임박 로트 경보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재고·BOM 소요·공급사 품질률·유효기한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 승인 → PO 초안 · 격리 유지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 편차·CAPA Agent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OOS·IPC 이탈·Quality Alert 발생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편차 보고서 초안·유사 사례·근본원인 가설·CAPA 후보(근거 인용)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 결과·공정 파라미터·과거 편차·SOP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 검토·승인 → QMS 편차 레코드(사람 서명)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 예지·교정 Agent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이상·교정 만료 D-30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고장 선행 신호(예: 13일 선행) 점검 카드 · 교정 일정 초안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 센서·보전 이력·MTBF/MTTR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보전 승인 → 보전요청 생성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 릴리즈 어시스턴트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 완료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출하 체크리스트 자동 점검(BMR 완결·QC·편차 종결·감사추적 검토) 결과 요약 — '판정은 QA/QP'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eBMR·QC·QMS·감사로그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QA/QP 전자서명으로만 출하 (AI 판정 금지)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규제 문서·감사 대응 Agent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사찰 질의·PQR 주기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SOP/배치기록/추적성 근거 검색·요약 · PQR 데이터 초안 · DGDA/WHO 질의 응답 초안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Knowledge(SOP)·원장·추적성 리포트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 검토 후 제출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5486400"/>
            <a:ext cx="10972800" cy="731520"/>
          </a:xfrm>
          <a:prstGeom prst="roundRect">
            <a:avLst>
              <a:gd name="adj" fmla="val 7500"/>
            </a:avLst>
          </a:prstGeom>
          <a:solidFill>
            <a:srgbClr val="E6EEF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관제탑(War Room)·승인함  </a:t>
            </a:r>
            <a:pPr indent="0" marL="0">
              <a:buNone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에이전트 산출은 '판단 카드'(근거 인용·확신도)로 승인함에 모이고, 역할별 승인자가 승인/반려/되돌리기. 거부 사유는 학습 피드백·규칙 강등에 반영. AI 실행 기록(Odoo 20 자동화 채팅 + AX 감사로그)은 보존·검토 대상.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AX ↔ ODOO 20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에이전트 ↔ Odoo 20 연결 방안 — 네 가지 통로, 하나의 통제 원칙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5417820" cy="210312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82296" cy="21031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533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MCP 서버 (읽기·질의)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20 네이티브 /mcp · OAuth 2.1 또는 MCP 스코프 API키 · 기본 툴: Get Models/Fields·Search·Read group · AX 에이전트가 원장을 '권한 범위 내'로 조회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최소권한 전용 사용자(ax_reader)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 툴은 노출하지 않음(기본)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 로그 보존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149340" y="1280160"/>
            <a:ext cx="5417820" cy="210312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5240">
            <a:solidFill>
              <a:srgbClr val="1F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9340" y="1280160"/>
            <a:ext cx="82296" cy="21031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332220" y="13533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JSON-2 API + 서버액션 (쓰기)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32220" y="169164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승인된 판단 카드만 → 화이트리스트 서버액션(MO 초안·PO 초안·보전요청·편차 레코드 생성) 호출 · Bearer API키 · X-Odoo-Database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286500" y="25603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쓰기는 '초안' 상태로만 생성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전자서명·상태 전이는 사람이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변경은 감사추적에 사용자=승인자로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94360" y="3520440"/>
            <a:ext cx="5417820" cy="210312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5240">
            <a:solidFill>
              <a:srgbClr val="0E8F8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520440"/>
            <a:ext cx="82296" cy="210312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59359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웹훅·자동화 규칙 (이벤트)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39319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Studio 아웃바운드 웹훅/자동화로 입고·검사 실패·OOS·MO 완료·센서 경보를 AX 파이프라인(L3)으로 푸시 · 인바운드 웹훅으로 결과 수신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731520" y="48006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0E8F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멱등성 설계(중복 트리거 대비)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0E8F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스키마 버전관리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0E8F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 논리복제(CDC) 병행 가능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149340" y="3520440"/>
            <a:ext cx="5417820" cy="210312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5240">
            <a:solidFill>
              <a:srgbClr val="C07F1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9340" y="3520440"/>
            <a:ext cx="82296" cy="210312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24" name="Text 22"/>
          <p:cNvSpPr/>
          <p:nvPr/>
        </p:nvSpPr>
        <p:spPr>
          <a:xfrm>
            <a:off x="6332220" y="359359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Odoo AI 에이전트·Skills (내부)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32220" y="39319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20 내장 에이전트를 SOP Q&amp;A·회계 질의·AI 필드 추출에 활용 · 자동화 채팅 감사 로그 · Sign 자동 서명 요청 체인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6286500" y="48006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C07F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IAP 크레딧 예산(에이전트당)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C07F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제공자·데이터 반출 정책 검토(국내 호스팅·데이터보호령)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C07F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GMP 레코드 직접 수정 금지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94360" y="5806440"/>
            <a:ext cx="10972800" cy="457200"/>
          </a:xfrm>
          <a:prstGeom prst="roundRect">
            <a:avLst>
              <a:gd name="adj" fmla="val 12000"/>
            </a:avLst>
          </a:prstGeom>
          <a:solidFill>
            <a:srgbClr val="E4F3E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통제 원칙: 읽기는 넓게(MCP), 쓰기는 좁게(승인된 서버액션·초안만), 서명·출하·상태 전이는 사람만, 모든 호출은 감사추적 — 이것이 AX와 GMP가 공존하는 방식입니다.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ONTOLOGY · PIPELINE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 온톨로지와 데이터 파이프라인 — 어떤 기록이 어떤 지능이 되는가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274320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트랜잭션 (L1→L2)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이벤트화 (L3)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특징량·학습 (L3)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쓰는 지능 (L4·L5)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조달·판매(공공병원 의무구매·입찰)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수요 이벤트(품목×기관×월)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계절·캠페인·조달 주기 프로파일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수요예측·생산계획 Agent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입고·QC 결과·공급사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입고/합부/OOS 이벤트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공급사 품질률·리드타임·OOS율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원료 보충·공급사 적격 Agent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칭량·작업지시·IPC·수율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파라미터·이탈 이벤트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라인×품목 수율·편차 선행지표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 편차·CAPA Agent · 설비 예지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 센서·보전 이력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진동·온도·고장 이벤트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MTBF·열화 추세·교정 만료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 예지·교정 Agent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eBMR·QMS·감사로그·SOP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 완결·편차 종결·서명 이벤트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출하 체크리스트 충족률·검토 시간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 릴리즈 어시스턴트 · 감사 대응</a:t>
                      </a:r>
                      <a:endParaRPr lang="en-US" sz="96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 도메인 온톨로지 — 클래스와 관계 (발췌)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1F3A5F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제품(SKU)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696212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0E7C6B"/>
          </a:solidFill>
          <a:ln/>
        </p:spPr>
      </p:sp>
      <p:sp>
        <p:nvSpPr>
          <p:cNvPr id="12" name="Text 9"/>
          <p:cNvSpPr/>
          <p:nvPr/>
        </p:nvSpPr>
        <p:spPr>
          <a:xfrm>
            <a:off x="1696212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마스터 포뮬러(BOM)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98064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0E8F86"/>
          </a:solidFill>
          <a:ln/>
        </p:spPr>
      </p:sp>
      <p:sp>
        <p:nvSpPr>
          <p:cNvPr id="14" name="Text 11"/>
          <p:cNvSpPr/>
          <p:nvPr/>
        </p:nvSpPr>
        <p:spPr>
          <a:xfrm>
            <a:off x="2798064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배치/MO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899916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714B67"/>
          </a:solidFill>
          <a:ln/>
        </p:spPr>
      </p:sp>
      <p:sp>
        <p:nvSpPr>
          <p:cNvPr id="16" name="Text 13"/>
          <p:cNvSpPr/>
          <p:nvPr/>
        </p:nvSpPr>
        <p:spPr>
          <a:xfrm>
            <a:off x="3899916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원료 로트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01768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C07F1E"/>
          </a:solidFill>
          <a:ln/>
        </p:spPr>
      </p:sp>
      <p:sp>
        <p:nvSpPr>
          <p:cNvPr id="18" name="Text 15"/>
          <p:cNvSpPr/>
          <p:nvPr/>
        </p:nvSpPr>
        <p:spPr>
          <a:xfrm>
            <a:off x="5001768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공정·작업장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03620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1F3A5F"/>
          </a:solidFill>
          <a:ln/>
        </p:spPr>
      </p:sp>
      <p:sp>
        <p:nvSpPr>
          <p:cNvPr id="20" name="Text 17"/>
          <p:cNvSpPr/>
          <p:nvPr/>
        </p:nvSpPr>
        <p:spPr>
          <a:xfrm>
            <a:off x="6103620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설비·저울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205472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0E7C6B"/>
          </a:solidFill>
          <a:ln/>
        </p:spPr>
      </p:sp>
      <p:sp>
        <p:nvSpPr>
          <p:cNvPr id="22" name="Text 19"/>
          <p:cNvSpPr/>
          <p:nvPr/>
        </p:nvSpPr>
        <p:spPr>
          <a:xfrm>
            <a:off x="7205472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QC 시험·사양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307324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0E8F86"/>
          </a:solidFill>
          <a:ln/>
        </p:spPr>
      </p:sp>
      <p:sp>
        <p:nvSpPr>
          <p:cNvPr id="24" name="Text 21"/>
          <p:cNvSpPr/>
          <p:nvPr/>
        </p:nvSpPr>
        <p:spPr>
          <a:xfrm>
            <a:off x="8307324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편차·CAPA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409176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714B67"/>
          </a:solidFill>
          <a:ln/>
        </p:spPr>
      </p:sp>
      <p:sp>
        <p:nvSpPr>
          <p:cNvPr id="26" name="Text 23"/>
          <p:cNvSpPr/>
          <p:nvPr/>
        </p:nvSpPr>
        <p:spPr>
          <a:xfrm>
            <a:off x="9409176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공급사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0511028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C07F1E"/>
          </a:solidFill>
          <a:ln/>
        </p:spPr>
      </p:sp>
      <p:sp>
        <p:nvSpPr>
          <p:cNvPr id="28" name="Text 25"/>
          <p:cNvSpPr/>
          <p:nvPr/>
        </p:nvSpPr>
        <p:spPr>
          <a:xfrm>
            <a:off x="10511028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SOP·교육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94360" y="5029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관계: hasFormula · consumesLot · producedOn(설비) · testedBy(사양) · deviatesWith · suppliedBy · governedBy(SOP) · releasedBy(QA 서명)  —  근거 사다리: 질문 → 판단 카드 → 규칙/모델 → 이벤트 → 원장 레코드(감사추적)까지 클릭으로 내려감. 반증된 규칙은 자동 강등(회귀 30선 상시 점검).</a:t>
            </a:r>
            <a:endParaRPr lang="en-US" sz="1030" dirty="0"/>
          </a:p>
        </p:txBody>
      </p:sp>
      <p:sp>
        <p:nvSpPr>
          <p:cNvPr id="30" name="Shape 27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1" name="Text 28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벤치마킹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제약 적용 사례 · 글로벌 eBR/MES 성과 · 국영·개도국 제약사의 교훈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BENCHMARK ①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제약 적용 사례 — 공식 고객사례와 파트너 발표 성과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2743200"/>
                <a:gridCol w="2743200"/>
                <a:gridCol w="128016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국가·업종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범위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성과·특징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 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Brand for Pharmaceutical Industries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이집트 · 제약그룹(제조)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V10 Community(2018) → V13 Enterprise(2019) · 제조·품질 포함 다수 모듈 · BI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단계적 확장, 사용자 급증(2020)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Odoo 공식 고객사례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Magis Pharma Group (Qualenica)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벨기에 · 환자 맞춤 치료제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규제 생산(콜드스토리지·배치추적)·그룹 회계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도구 7→1 통합 · 2주 내 가동 · 4개사 40+ 사용자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Odoo 공식 + 파트너(Hadron)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Laboratorio Fito Medic's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콜롬비아(추정) · 제약·화장품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제조·품질·WMS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운영효율 +20% · 생산성 +18%(자체보고)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Odoo 공식 고객사례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Fraver NV / Viomix / EFA Laboratorios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벨기에 / — / 우루과이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조제·원료·완제 / 원료·의약품 / 전문의약품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지면·스프레드시트 → 실시간 경영보고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Odoo 공식 고객사례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Abydos Pharma (CMO)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유럽 · 수탁제조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제조·재고·품질·Documents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배치출하 40%↓ · 수기오류 85%↓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파트너 발표(SDLC)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익명 제약 제조·유통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캐나다(추정)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Odoo 18 · 16개 모듈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대사 40~50h→5~8h · WO 단위 QC로 재작업비 60%↓ · ROI 77%(6.8개월)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파트너 발표(Ksolves)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Pharmalife Research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이탈리아 · 제약·뉴트라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제조·품질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처리량 +30% · QA 지연 감소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파트너 발표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5257800"/>
            <a:ext cx="10972800" cy="960120"/>
          </a:xfrm>
          <a:prstGeom prst="roundRect">
            <a:avLst>
              <a:gd name="adj" fmla="val 5714"/>
            </a:avLst>
          </a:prstGeom>
          <a:solidFill>
            <a:srgbClr val="FBF2E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525780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C07F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정직한 해석  </a:t>
            </a:r>
            <a:pPr indent="0" marL="0">
              <a:buNone/>
            </a:pPr>
            <a:r>
              <a:rPr lang="en-US" sz="10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사례는 중소 제조·조제·유통 중심이며, 대형 GMP 완제 공장에서 Part 11/Annex 11급으로 밸리데이션된 Odoo 공개 사례는 확인되지 않았습니다. 따라서 본 제안은 'Odoo = 검증된 ERP 코어 + GMP 레이어 + CSV 프로젝트'로 포지셔닝하며, 파트너 수치는 '파트너 발표 기준'으로 인용합니다.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BENCHMARK ②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제약 디지털화 성과 — ERP 코어보다 'eBR·MES 통합'이 효과의 원천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−75%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문서</a:t>
            </a:r>
            <a:endParaRPr lang="en-US" sz="93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Cipla Patalganga (PAS-X MES + SAP)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2816352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20일→1일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07792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배치기록 검토</a:t>
            </a:r>
            <a:endParaRPr lang="en-US" sz="93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Valent BioSciences (eBR)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038344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8344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−25% / +60%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29784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생산오류 / 검토 속도</a:t>
            </a:r>
            <a:endParaRPr lang="en-US" sz="93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Ferring Kiel (eBR)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260336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0336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4주→6h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51776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 출하 RBE</a:t>
            </a:r>
            <a:endParaRPr lang="en-US" sz="93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바이오파마 (Emerson)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9482328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82328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3~5일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573768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배치출하 베스트</a:t>
            </a:r>
            <a:endParaRPr lang="en-US" sz="93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(업계평균 12~18일)</a:t>
            </a:r>
            <a:endParaRPr lang="en-US" sz="93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834640"/>
          <a:ext cx="10972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45720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국가·성격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솔루션·접근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Vinphaco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베트남 · GMP-WHO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SAP S/4HANA Cloud(FPT) — 1차 6개월(MM·PP·QM·FICO·SD) → 2차 PM·e-banking → 3차 WM·QR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단계적 롤아웃으로 6개월 내 1차 가동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Incepta / Beximco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방글라데시 · 민간 선도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SAP(2021, '국내 최초') / Oracle EBS R12 + GxP 검증(KPMG)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선도사도 GxP 검증을 별도 수행 — 레거시 연계 비용 주의(Beximco 사례)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Pharmaniaga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 · 정부연계기업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S/4HANA 공장 가동(생산오더·QM·납품·원가)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GLC도 글로벌 표준 ERP + QM 통합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Cipla · Dr. Reddy's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인도 · 대형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PAS-X MES ↔ SAP·SCADA·BMS·IPQC·WMS 통합 / 템플릿 재사용 5개월 구축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 단독이 아닌 MES/eBR 통합이 효과의 원천 → 본 제안의 L3·eBMR 레이어 근거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McKinsey QC 연구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글로벌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디지털·자동화 QC: 리드타임 60~70%↓ · 수기문서 80%↓ · 조사 90%↓ · 편차 65%↓(일부)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QC 랩 디지털화가 출하 리드타임의 병목 해소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Körber(Cipla·Ferring), Emerson/ISA, FPT IS, Wikipedia/Zensar, ABeam, McKinsey — 벤더 발표 수치는 독립 검증 없음.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BENCHMARK ③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국영·개도국 제약사의 교훈 — 'ERP ≠ 통제', GMP 투자가 수익성을 만든다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2743200"/>
                <a:gridCol w="2651760"/>
                <a:gridCol w="246888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국가·성격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했나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Kimia Farma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인도네시아 · 국영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SAP 도입(2015-16)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9개 모듈 중 4개만 사용 → 2024 자회사 회계조작·Rp 8.7조 구조조정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ERP를 깔아도 조달·재고·채권 내부통제와 감사추적이 없으면 부정은 재발 · 활용도 KPI 필수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EIPICO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이집트 · 준국영(ACDIMA 51%)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2021 SAP 착수 + 53개 라인 추적시스템 · QM 배치 유효기한·격리 통제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ERP와 라인 추적 병행 구축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 + 추적성(시리얼)을 같은 로드맵으로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Vinapharm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베트남 · 국가 65%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26개 GMP-EU/PIC-S 라인 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 세전이익 +62% 사상 최대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고규격 GMP가 수익성과 수출을 견인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KAPL vs HAL·IDPL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인도 · 제약 PSU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KAPL만 WHO-GMP 설비 투자 / 나머지는 재무구제만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KAPL 유일 흑자 · HAL/IDPL 회생 실패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설비·품질 투자 없는 재무 구제는 실패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SPMC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스리랑카 · 국영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JICA 신공장(2018) + 운영 개선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 36억정 사상 최대 생산 · 2026 창고 신규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양자 ODA + 단계적 현대화가 생산성 도약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Nepal Drugs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네팔 · 국영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10년 중단 → ORS부터 단계 재가동(2016)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제한 품목부터 회생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품목·핵심 공정부터 작게 시작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5029200"/>
            <a:ext cx="10972800" cy="1188720"/>
          </a:xfrm>
          <a:prstGeom prst="roundRect">
            <a:avLst>
              <a:gd name="adj" fmla="val 538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5029200"/>
            <a:ext cx="73152" cy="1188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" y="5120640"/>
            <a:ext cx="10698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GMP 공장 제안에 주는 다섯 가지 시사점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04088" y="5486400"/>
            <a:ext cx="10744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재무 통합으로 시작하더라도 조달·재고·배치 내부통제(승인·감사추적)를 1단계에 포함   ② GMP 설비 투자와 소프트웨어(eBMR·QMS)를 같은 로드맵에   ③ 모듈 과다 도입 금지 — 활용도·교육·하이퍼케어 예산 확보   ④ 핵심 품목·핵심 라인 파일럿 → 확산   ⑤ ADB·EDCF 등 양자/다자 재원과 연계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· 현지화 · 로드맵 · KPI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요구사항 정의 → 현지 요건 → 단계별 구축 → 성과 측정 → 추진 체계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 REQUIREMENTS ①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정의 (1차) — 회사·조달·원료/재고·생산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1371600"/>
                <a:gridCol w="7406640"/>
                <a:gridCol w="6400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요구사항 (세부 수치·프로세스는 분석 단계 확정)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회사·IT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규모·거점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다공장(다카·보구라·고팔간지·쿨나) 멀티컴퍼니/멀티창고 · 수백 명 사용자(Light User 포함) 전제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회사·IT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호스팅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국내 호스팅(국가 소버린 클라우드 또는 온프렘) · Odoo Enterprise 고정 버전 · 재검증 통제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회사·IT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언어·통화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Bangla/English UI · BDT lakh/crore 표기 · 회계연도 7/1~6/30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e-GP·승인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PPR 2025/e-GP 연계 · 구매요청→발주→입고→청구 승인 Workflow · 승인공급자 외 발주 차단 · 실소유자 정보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공급자 적격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승인공급자 목록(물질×공급자×제조소) · 감사 주기·만료 알림 · 공급사 품질률 · CoA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원료·재고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로트·유효기한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로트/제조일/유효기한/재시험일 필수 · FEFO 강제 · 만료·재시험 초과 로트 출고 차단 · 격리 Location 자동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원료·재고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 통제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격리/시험중/합격/불합격 상태 — QC/QA만 변경(전자서명) · 격리 재고 불출 시스템 차단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원료·재고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추적·회수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원료 로트→중간체→완제→출고처 쌍방향 계보 · 리콜 영향범위 즉시 산출 · 모의회수 기록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BMR/eBMR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 포뮬러에서 배치기록 자동 생성 · 칭량(저울 연계)·IPC·수율 reconciliation · 단계 서명 · 편차 링크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계획·실행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수요·조달 기반 MPS → 작업지시 → 현장 태블릿 실행 · 연속생산/캠페인 · 교정 만료 설비 사용 차단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포장·시리얼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포장지시서·라벨 reconciliation · GS1 GTIN/로트/유효기한 마스터 · 시리얼라이제이션 인터페이스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 REQUIREMENTS ②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정의 (1차) — 품질·회계/현지화·성과·통합·밸리데이션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1371600"/>
                <a:gridCol w="7406640"/>
                <a:gridCol w="6400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요구사항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QC·출하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입고/공정/완제 QCP · 합부/측정 · OOS 플래그 · CoA · LIMS 연계 · QA 출하 체크리스트 + QA/QP 전자서명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QMS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편차→분류→RCA→CAPA→효과성 · 변경관리(영향평가·재검증) · 불만·회수 · 배치/설비/문서/공급사 링크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감사추적·서명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GMP 모델 필드단위 old/new·사유·UTC · 삭제 금지 · 사용자 독립 · 출하 전 검토 · 레코드 전자서명 재인증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SOP·교육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SOP 버전·승인(전자서명)·발효·폐기 · 직무별 교육 매트릭스 · 개정 시 재교육 · 미이수자 공정 차단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보전·교정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예방/시정 보전 · 교정 주기·만료 차단 · MTBF/MTTR · 센서(IoT) 연계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현지화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Mushak 6.3 VAT 전자발행·보존(Finance Bill 2026) · VDS · FY 7-6월 · 공공회계(iBAS++) 연계 검토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AP/AR 승인 · 저널 해시 불변성 · 프로젝트/공장별 원가·손익 · 조달-회계 3-way 매칭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KPI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배치출하 사이클타임·RFT·편차율·CAPA 종결·재고정확도·만기폐기·OEE·FDA 품질지표(LAR·PQCR·IOOSR) 대시보드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에이전트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6종 에이전트 · 판단 카드·승인함 · MCP 읽기/서버액션 쓰기 · AI 실행 감사로그 · IAP 크레딧 예산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인터페이스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LIMS · 저울/라벨프린터 · 시리얼라이제이션 · e-GP · 은행 · 기존 시스템 데이터 이관(거래처·품목·BOM·재고·미결)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밸리데이션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CSV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VMP·URS·위험평가·IQ/OQ/PQ·추적성 매트릭스·종료보고서 · 운영 SOP · 업그레이드 재검증 절차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 LOCALIZATION · INFRA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현지화 · 인프라 · 보안 — 방글라데시 현실에 맞춘 설계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73152" cy="23317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현지화 요건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1737360"/>
            <a:ext cx="333756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Bangla Unicode UI/리포트 · 영어 병용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BDT · lakh/crore 표기 · 회계연도 7/1~6/30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Mushak 6.3 세금계산서 ERP 전자발행·보존(Finance Bill 2026) · VDS Rules 2025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e-GP 전면 의무(PPR 2025) → 조달 모듈 정합 · 실소유자 공개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공공회계 iBAS++ 연계 가능성(협의)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297680" y="128016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280160"/>
            <a:ext cx="73152" cy="2331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인프라·가용성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07408" y="1737360"/>
            <a:ext cx="333756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국내 호스팅: 국가 데이터센터(Kaliakoir Tier-IV, 99.995%) / Oracle 소버린 리전 / 온프렘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산업벨트 일 3~4h 정전(2026) → UPS·발전기 + Odoo 20 오프라인 모드(로컬 큐→동기화) + 현장 태블릿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운영/테스트/개발 환경 분리 · 고정 버전 · 백업/복원 리허설(RTO/RPO)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4G 중심 → 경량 화면·바코드 앱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001000" y="128016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280160"/>
            <a:ext cx="73152" cy="233172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7" name="Text 15"/>
          <p:cNvSpPr/>
          <p:nvPr/>
        </p:nvSpPr>
        <p:spPr>
          <a:xfrm>
            <a:off x="816559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보안·데이터 거버넌스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10728" y="1737360"/>
            <a:ext cx="333756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개인정보보호령·데이터관리령·사이버보호령 2025 준수 → 국내 호스팅 전제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RBAC(Odoo 20 ir.access) · 개인계정 · MFA · 세션 정책 · 계정 라이프사이클 로그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데이터 반출 정책: 외부 LLM 사용 범위·마스킹·국내 모델(GPU 서버) 옵션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WAF·네트워크 분리 · DB 접근통제 · 변경관리</a:t>
            </a:r>
            <a:endParaRPr lang="en-US" sz="98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79476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3017520"/>
                <a:gridCol w="24688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권고 사양(안)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App/DB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Odoo 20 Enterprise + PostgreSQL 16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8~16 vCPU · 64GB · SSD · Ubuntu LTS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다공장 사용자 규모에 따라 확장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테스트/검증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CSV·업그레이드 회귀 환경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4~8 vCPU · 32GB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운영과 동일 구성(밸리데이션 전제)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 서버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이벤트 파이프라인·지식그래프·에이전트·승인함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vCPU · 32GB (+GPU 옵션: 국내 LLM)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Odoo와 MCP/JSON-2/웹훅 연결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태블릿·바코드·저울/라벨·IoT(OBox)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라인별 태블릿 · UPS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오프라인 모드 검증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호스팅 선택(국가 DC·소버린 클라우드·온프렘)은 데이터보호령 최신 개정과 조달 조건에 따라 착수 시 확정.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 ROADMAP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로드맵 — 핵심 라인에서 검증하고 전 공장·백신공장으로 확장 (약 12~18개월)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6B748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 진단·CSV 계획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1~2개월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2103120"/>
            <a:ext cx="2103120" cy="25146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6B74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194560"/>
            <a:ext cx="1965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진단(공정·데이터 흐름·GMP 갭)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URS·VMP·위험평가 · KPI 베이스라인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EOI/ADB 트랙·호스팅·파트너 확정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2679192" y="1280160"/>
            <a:ext cx="1691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11780" y="128016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2811780" y="1280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 Odoo 20 코어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81178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3~4개월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11780" y="2103120"/>
            <a:ext cx="2103120" cy="25146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4932" y="2194560"/>
            <a:ext cx="1965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구매·재고(로트/FEFO/격리)·제조·품질·보전·회계·현지화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Workflow·e-GP·데이터 이관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IQ/OQ 1차 · 파일럿 라인 가동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896612" y="1280160"/>
            <a:ext cx="1691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128016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0E7C6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280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GMP 레이어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3~4개월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2103120"/>
            <a:ext cx="2103120" cy="25146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194560"/>
            <a:ext cx="1965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감사추적·전자서명·eBMR·QMS·SOP/교육·상태강제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LIMS·저울·라벨 인터페이스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OQ/PQ · 배치 1사이클 PQ · 밸리데이션 종료 · Go-Live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7114032" y="1280160"/>
            <a:ext cx="1691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46620" y="128016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C07F1E"/>
          </a:solidFill>
          <a:ln/>
        </p:spPr>
      </p:sp>
      <p:sp>
        <p:nvSpPr>
          <p:cNvPr id="26" name="Text 24"/>
          <p:cNvSpPr/>
          <p:nvPr/>
        </p:nvSpPr>
        <p:spPr>
          <a:xfrm>
            <a:off x="7246620" y="1280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AX 지능화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24662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3~4개월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46620" y="2103120"/>
            <a:ext cx="2103120" cy="25146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C07F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9772" y="2194560"/>
            <a:ext cx="1965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파이프라인·온톨로지·지식그래프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6종 에이전트·승인함·관제탑 · MCP/서버액션 연결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 루프 · 규칙 승급/강등 운영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9331452" y="1280160"/>
            <a:ext cx="1691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464040" y="128016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714B67"/>
          </a:solidFill>
          <a:ln/>
        </p:spPr>
      </p:sp>
      <p:sp>
        <p:nvSpPr>
          <p:cNvPr id="32" name="Text 30"/>
          <p:cNvSpPr/>
          <p:nvPr/>
        </p:nvSpPr>
        <p:spPr>
          <a:xfrm>
            <a:off x="9464040" y="1280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 확장·고도화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46404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464040" y="2103120"/>
            <a:ext cx="2103120" cy="25146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714B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37192" y="2194560"/>
            <a:ext cx="1965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공장 롤아웃 · 시리얼라이제이션 · MES 검토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ADB 백신공장 디지털 GMP 설계 반영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DGDA ML3·WHO GMP 재인증 지원 · 연 1회 정기평가</a:t>
            </a:r>
            <a:endParaRPr lang="en-US" sz="96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75488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96112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게이트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기준(예)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G1 설계 승인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URS·VMP·위험평가 QA Sign-off · 호스팅·조달 트랙 확정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G2 코어 가동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파일럿 라인 재고정확도 ≥98% · 승인 Workflow 전 항목 · IQ/OQ 통과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G3 GMP Go-Live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PQ(배치 1사이클) · 감사추적·서명 테스트 전수 통과 · 밸리데이션 종료 보고서 · SOP·교육 완료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G4 AX 운영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판단 카드 승인률·거부 사유 피드백 · KPI 루프 1사이클 · AI 감사로그 검토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8" name="Text 35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 PROJECT MGMT · RISK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사업관리 · 리스크 — 고객사와 공동 관리하는 일정·범위·품질·규제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2377440"/>
                <a:gridCol w="50292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리스크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영향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관리·대응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요구사항 변경·범위 확대(EOI 모듈 + GMP + AX)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일정 지연·Cat.5 증가·재검증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 종료 시 Requirements Freeze · Change Request · 미완 기능 차기 Phase 이관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밸리데이션 부담·규제 변동(Annex 11 2025 개정·DGDA ML3·e-invoicing)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Go-Live 지연·재검증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CSV를 WBS 1급 · 개정초안 기준 선설계 · 규제 모니터링 · 릴리스별 영향평가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적응·활용도 저조(Kimia Farma 교훈)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미사용·병행 수기·데이터 이중관리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역할별 교육(Bangla) · Key User · 하이퍼케어 · 모듈 활용도 KPI ≥80%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전력·망 불안정(일 3~4h 정전)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입력 중단·데이터 공백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UPS·발전기 · 오프라인 모드 큐 검증 · 사후입력 사유 통제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조달·거버넌스(PPR 2025·e-GP·실소유자·감사 이력)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계약 지연·감사 지적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현지 파트너 컨소시엄 · e-GP 등록 · 투명 조달 대시보드 · 승인 Workflow 1단계 포함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현지화·AI 데이터 반출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규정 위반·프로젝트 중단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호스팅 · AI 사용 범위 정책 · 마스킹 · 국내 LLM 옵션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인터페이스(LIMS·저울·시리얼·레거시) 비용·일정(Beximco 교훈)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예산 초과·지연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1 최소 연동(MVP) · 범위 명확화 후 개발 · 불확실 항목 옵션 분리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5074920"/>
            <a:ext cx="5394960" cy="1188720"/>
          </a:xfrm>
          <a:prstGeom prst="roundRect">
            <a:avLst>
              <a:gd name="adj" fmla="val 538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5074920"/>
            <a:ext cx="73152" cy="11887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" y="51663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참여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04088" y="5532120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전담 PM + 업무별 Key User(QA·QC·생산·창고·구매·회계·IT)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SOP·배치기록·데이터 제공 · 인터뷰(업무별 1~3회)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스프린트 리뷰·UAT·PQ 참여 · QA/QP Sign-off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6172200" y="5074920"/>
            <a:ext cx="5394960" cy="1188720"/>
          </a:xfrm>
          <a:prstGeom prst="roundRect">
            <a:avLst>
              <a:gd name="adj" fmla="val 538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72200" y="5074920"/>
            <a:ext cx="73152" cy="1188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4" name="Text 11"/>
          <p:cNvSpPr/>
          <p:nvPr/>
        </p:nvSpPr>
        <p:spPr>
          <a:xfrm>
            <a:off x="6336792" y="51663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방법론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81928" y="5532120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Discovery → Blueprint → Realization(Agile 3~4 스프린트) → Testing(SIT/UAT+CSV) → Training → Go-Live/MA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Sign-off 산출물 · 하이퍼케어 · 연 1회 정기평가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 KPI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 — 판정 KPI와 목표(안): 베이스라인 측정 후 6/12개월 목표 확정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1714500" cy="1234440"/>
          </a:xfrm>
          <a:prstGeom prst="roundRect">
            <a:avLst>
              <a:gd name="adj" fmla="val 5926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89888"/>
            <a:ext cx="1714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−30~50%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15316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배치출하 사이클타임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46020" y="1280160"/>
            <a:ext cx="1714500" cy="1234440"/>
          </a:xfrm>
          <a:prstGeom prst="roundRect">
            <a:avLst>
              <a:gd name="adj" fmla="val 5926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6020" y="1389888"/>
            <a:ext cx="1714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−80%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37460" y="1920240"/>
            <a:ext cx="15316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배치기록 오류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0" y="1280160"/>
            <a:ext cx="1714500" cy="1234440"/>
          </a:xfrm>
          <a:prstGeom prst="roundRect">
            <a:avLst>
              <a:gd name="adj" fmla="val 5926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389888"/>
            <a:ext cx="1714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≤30일 · ≥90%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1920240"/>
            <a:ext cx="15316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편차 종결 · 적시율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49340" y="1280160"/>
            <a:ext cx="1714500" cy="1234440"/>
          </a:xfrm>
          <a:prstGeom prst="roundRect">
            <a:avLst>
              <a:gd name="adj" fmla="val 5926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9340" y="1389888"/>
            <a:ext cx="1714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≥99% · 100%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40780" y="1920240"/>
            <a:ext cx="15316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재고정확도 · FEFO 준수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01000" y="1280160"/>
            <a:ext cx="1714500" cy="1234440"/>
          </a:xfrm>
          <a:prstGeom prst="roundRect">
            <a:avLst>
              <a:gd name="adj" fmla="val 5926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1389888"/>
            <a:ext cx="1714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−30%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92440" y="1920240"/>
            <a:ext cx="15316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만기 폐기액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852660" y="1280160"/>
            <a:ext cx="1714500" cy="1234440"/>
          </a:xfrm>
          <a:prstGeom prst="roundRect">
            <a:avLst>
              <a:gd name="adj" fmla="val 5926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52660" y="1389888"/>
            <a:ext cx="1714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 · 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44100" y="1920240"/>
            <a:ext cx="15316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감사추적 검토 · 공유계정</a:t>
            </a:r>
            <a:endParaRPr lang="en-US" sz="9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97480"/>
          <a:ext cx="10972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566160"/>
                <a:gridCol w="3566160"/>
                <a:gridCol w="23774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KPI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정의·근거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벤치마크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규제·품질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LAR · PQCR · IOOSR · APR 적시율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FDA Quality Metrics(합격로트율·불만율·OOS 무효화율)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FDA 가이던스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생산·출하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배치출하 사이클타임 · 배치기록 검토시간 · RFT · OEE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제조완료→QA 출하 / 편차 없는 로트 비율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베스트 3~5일 vs 평균 12~18일 · OEE 60~70%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품질시스템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편차 발생률 · CAPA 종결기간·재발률 · 감사추적 검토율 · 사찰 지적 수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편차율은 불량률의 ~4개월 선행지표(r=0.83)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IPA 연구 · Annex 11 §9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무결성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사후입력 비율 · 공유계정 0 · 권한 검토 주기 · 백업 복원 성공률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 041 · TRS 1033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재고·공급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재고정확도 · 회전율 · 만기폐기 · 결품률 · 공급자 OTIF · 미승인 구매 0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FEFO·격리 통제 효과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PLIVA 재고 ≥30%↓(2차)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설비·교육·도입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교정 적시율 · PM 준수율 · MTBF/MTTR · SOP 이수율 · 모듈 활용도 · ROI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Odoo Maintenance 산출 · Kimia Farma 교훈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Ksolves ROI 77%(파트너)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성과는 AX 플랫폼의 '프로젝트·KPI 센터'에서 목표 대비 달성도로 자동 집계·공개되며, 미달 지표는 개선 과제로 에이전트가 제안합니다(정직한 관제).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8" name="Text 25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 STRUCTURE · FUNDING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체계 · 파트너링 · 재원 트랙 — 국영기업 조달 현실에 맞춘 구조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73152" cy="23774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체계(안)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1737360"/>
            <a:ext cx="333756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주계약: 현지 컨소시엄(Odoo 공식 파트너 Metamorphosis/VS ONE 등 또는 현지 컨설팅사) — 국내 컨설팅사 조건·e-GP 대응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ASC: GMP 레이어·CSV·AX 플랫폼 설계·구축 — 기술 서브컨트랙터/솔루션 공급자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고객: 전담 PM·QA/QP·Key User · 운영 조직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선례: 베트남 FPT IS가 SAP 기반으로 방글라데시 국영 EGCB(US$8.8M)·GTCL(US$9.1M) ERP 수주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297680" y="128016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280160"/>
            <a:ext cx="73152" cy="237744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재원·조달 트랙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07408" y="1737360"/>
            <a:ext cx="333756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EDCL 자체자금 ERP(EOI 2026-05) — 낙찰 결과 확인 후 GMP 계층 보완 제안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ADB US$336.5M 백신·치료제 제조 프로젝트 — 국제경쟁 조달, 디지털 GMP(MES/eBR·LIMS·QMS) 패키지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한국 EDCF US$3B(2023-27)·KOICA 2026-28 US$96M — 보건·제약 디지털화 후보사업화(ERD 제안)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WB 보건 PforR·조달 디지털 $55M — 간접 연계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001000" y="128016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280160"/>
            <a:ext cx="73152" cy="237744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7" name="Text 15"/>
          <p:cNvSpPr/>
          <p:nvPr/>
        </p:nvSpPr>
        <p:spPr>
          <a:xfrm>
            <a:off x="816559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ASC 차별화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10728" y="1737360"/>
            <a:ext cx="333756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동작하는 AX 플랫폼(M0~M7 · 판단카드·승인함·KPI 센터) — 개념이 아닌 실물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20 MCP/JSON-2/웹훅 연결 설계 보유 · GPU 국내 LLM 옵션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 041 데이터 무결성 패키지 · GS1 시리얼 선반영 · Mushak 6.3·e-GP 연계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 내성·소버린 클라우드 호환 설계</a:t>
            </a:r>
            <a:endParaRPr lang="en-US" sz="96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84048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고객사 준비·참여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단계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전담 PM(의사결정 권한) · QA/QP · 업무별 Key User 지정 · 의사결정 기한 준수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지연 방지·커뮤니케이션 단일화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분석~설계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현행 SOP·배치기록·품목/BOM/거래처 데이터 · 공정 인터뷰(업무별 1~3회) · GMP 갭 공동 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요구사항 누락 방지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구축~검증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스프린트 리뷰 · UAT · PQ(배치 1사이클) 참여 · 밸리데이션 Sign-off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 확보·재개발 방지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전환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조직·SOP·교육 완료 · 하이퍼케어 · 정기평가 주기 합의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Go-Live 이후 혼선 방지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외국기업 현지 에이전트 의무·국내우대 조항 등 PPR 2025 세부는 착수 전 법률 검토 필요.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ASC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제안사 — 에이에스씨(ASC) · AX 플랫폼: 방법론이 아니라 이미 동작하는 시스템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73152" cy="2286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3716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플랫폼 (odooaierp.com) — 구축 완료·실운영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1737360"/>
            <a:ext cx="5166360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M0 공통기반(SSO·백업·레지스트리·반출게이트) · M1 수집(CDC·엑셀·장표·IoT) · M2 표준데이터셋·품질게이트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M3 분석 스튜디오 · M4 학습엔진(수요예측·이상탐지·설비예지, 모델 카드) · M5 지식그래프(4M·확신도 루프)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M6 LLM 판단(GraphRAG·판단 카드·회귀 30선) · M7 에이전트·관제(승인함·War Room) · 프로젝트·KPI 센터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연동: CDC 논리복제·승인 카드→구매발주 초안·Odoo 승인함 애드온 · PostgreSQL 이중 백엔드 · 150+ 자동 테스트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6172200" y="128016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280160"/>
            <a:ext cx="73152" cy="228600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3" name="Text 11"/>
          <p:cNvSpPr/>
          <p:nvPr/>
        </p:nvSpPr>
        <p:spPr>
          <a:xfrm>
            <a:off x="6336792" y="13716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결과(합성·실데이터 데모)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81928" y="1737360"/>
            <a:ext cx="5166360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수요예측 WAPE 7.0% · 설비 고장 13일 선행 신호(OVEN-2) · 판단 카드 11건 승인 E2E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프로젝트·KPI 센터: 경영목표 4 + 기술 KPI 9 — 달성도 자동 집계·정직한 미달 표시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베이커리 제조사(원자재 로트·FEFO·다지점·B2B) 맞춤 제안 및 데모 수행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운영: Cloudflare 터널·백업/복구 드릴·업타임 감시·과금·테넌트 관리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59436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 GMP 적용 시 ASC가 추가로 제공하는 것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1148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0E7C6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1148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GMP 레이어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(감사추적·서명·eBMR·QMS)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04288" y="411480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41448" y="41148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2441448" y="41148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 패키지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(VMP~PQ·추적성)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51376" y="411480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88536" y="41148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0E7C6B"/>
          </a:solidFill>
          <a:ln/>
        </p:spPr>
      </p:sp>
      <p:sp>
        <p:nvSpPr>
          <p:cNvPr id="23" name="Text 21"/>
          <p:cNvSpPr/>
          <p:nvPr/>
        </p:nvSpPr>
        <p:spPr>
          <a:xfrm>
            <a:off x="4288536" y="41148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20 연결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(MCP·JSON-2·웹훅)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98464" y="411480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35624" y="41148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135624" y="41148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6종 제약 에이전트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승인함·관제탑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45552" y="411480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82712" y="41148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0E7C6B"/>
          </a:solidFill>
          <a:ln/>
        </p:spPr>
      </p:sp>
      <p:sp>
        <p:nvSpPr>
          <p:cNvPr id="29" name="Text 27"/>
          <p:cNvSpPr/>
          <p:nvPr/>
        </p:nvSpPr>
        <p:spPr>
          <a:xfrm>
            <a:off x="7982712" y="41148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현지화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(Bangla·Mushak·e-GP)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92640" y="411480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829800" y="41148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9829800" y="41148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교육·하이퍼케어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·정기평가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" y="5212080"/>
            <a:ext cx="10972800" cy="1005840"/>
          </a:xfrm>
          <a:prstGeom prst="roundRect">
            <a:avLst>
              <a:gd name="adj" fmla="val 5455"/>
            </a:avLst>
          </a:prstGeom>
          <a:solidFill>
            <a:srgbClr val="E6EEF3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2120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  </a:t>
            </a:r>
            <a:pPr indent="0" marL="0">
              <a:buNone/>
            </a:pPr>
            <a:r>
              <a:rPr lang="en-US" sz="1100" i="1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"문서에 있으면 사람이 지켜야 하지만, 플랫폼이 되면 구조가 지킵니다." — GMP의 데이터 무결성도, 조달의 투명성도, AI의 판단도 같은 원리로 설계합니다. 귀사를 위해 설계했고, 그 설계는 이미 동작합니다.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 STEP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 — 확인할 것, 함께 할 것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5394960" cy="2651760"/>
          </a:xfrm>
          <a:prstGeom prst="roundRect">
            <a:avLst>
              <a:gd name="adj" fmla="val 2414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73152" cy="265176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3716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 전 확인 리스트 (귀사·조사 필요)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1737360"/>
            <a:ext cx="516636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귀사 정확한 법인·규모·품목·공장(EDCL 여부) · 현행 시스템/수기 범위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2026-05 ERP EOI 결과(낙찰·RFP 단계) 및 모듈 범위 · 주계약 구조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ADB 백신공장 프로젝트 조달계획·디지털 GMP 범위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DGDA 최신 GMP·데이터 무결성/CSV 가이드라인 · 시리얼라이제이션 계획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호스팅(국가 DC/소버린 클라우드/온프렘) · 데이터보호령 최신 개정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PPR 2025 외국기업 참여 조건 · 현지 파트너 후보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172200" y="1280160"/>
            <a:ext cx="5394960" cy="2651760"/>
          </a:xfrm>
          <a:prstGeom prst="roundRect">
            <a:avLst>
              <a:gd name="adj" fmla="val 2414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280160"/>
            <a:ext cx="73152" cy="265176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3" name="Text 11"/>
          <p:cNvSpPr/>
          <p:nvPr/>
        </p:nvSpPr>
        <p:spPr>
          <a:xfrm>
            <a:off x="6336792" y="13716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로드맵 (Next 90일)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81928" y="1737360"/>
            <a:ext cx="516636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1주: 본 1차 제안 검토·피드백 · 확인 리스트 회신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2~4주: 온라인 워크숍(QA·생산·창고·구매·회계) — GMP 갭·요구사항 1차 확정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4~8주: 현장 진단(선택) · URS·VMP 초안 · 범위·일정·견적 · 파트너 구조 확정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8~12주: 파일럿 라인 범위 Sign-off · 착수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병행: AX 플랫폼 라이브 데모(app.odooaierp.com) · 제약 시나리오 데모 데이터 구성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94360" y="4114800"/>
            <a:ext cx="10972800" cy="1097280"/>
          </a:xfrm>
          <a:prstGeom prst="roundRect">
            <a:avLst>
              <a:gd name="adj" fmla="val 5833"/>
            </a:avLst>
          </a:prstGeom>
          <a:solidFill>
            <a:srgbClr val="14304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148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제안·문의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  ·   odooaierp.com   ·   asclhg@gmail.com
</a:t>
            </a:r>
            <a:pPr indent="0" marL="0">
              <a:buNone/>
            </a:pPr>
            <a:r>
              <a:rPr lang="en-US" sz="1000" dirty="0">
                <a:solidFill>
                  <a:srgbClr val="C9D9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 데모: app.odooaierp.com (요청 시 계정 발급)  ·  영문 제안서(English version) 별도 제공 가능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539496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제안서의 수치·일정·범위는 1차 개략 제안이며, 리서치는 2026-10-22 기준 웹 조사(출처 부록)에 근거합니다. 규제 조항 인용은 EudraLex/eCFR/WHO 원문으로 최종 확인 후 제출본에 반영합니다.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— 주요 출처 (2026-10-22 조사)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국영 제약사 · Odoo ERP · GMP · AX 제안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5417820" cy="2240280"/>
          </a:xfrm>
          <a:prstGeom prst="roundRect">
            <a:avLst>
              <a:gd name="adj" fmla="val 2857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73152" cy="22402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371600"/>
            <a:ext cx="51435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규제·표준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1737360"/>
            <a:ext cx="5189220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 TRS 986 Annex 2 · TRS 1033 Annex 4 · TRS 1019 Annex 3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GMP Annex 11(2011/2025 초안)·Annex 15·Ch.1/4/8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FDA 21 CFR Part 11 · CSA 가이던스(2025)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PIC/S PI 041-1(2021) · ISPE GAMP 5 2nd ed.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TGA ALCOA+ 매핑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149340" y="1280160"/>
            <a:ext cx="5417820" cy="2240280"/>
          </a:xfrm>
          <a:prstGeom prst="roundRect">
            <a:avLst>
              <a:gd name="adj" fmla="val 2857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49340" y="1280160"/>
            <a:ext cx="73152" cy="224028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3" name="Text 11"/>
          <p:cNvSpPr/>
          <p:nvPr/>
        </p:nvSpPr>
        <p:spPr>
          <a:xfrm>
            <a:off x="6313932" y="1371600"/>
            <a:ext cx="51435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20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59068" y="1737360"/>
            <a:ext cx="5189220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odoo.com 릴리스 노트(20·19.x) · Meet Odoo 20 블로그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20 문서: MCP 서버·AI 필드·외부 RPC API·Studio 자동화·오프라인 모드·제조/재고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파트너: Braintec·iVentureTeam·Octura·Macopedia·Cybrosys 등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OCA auditlog · quality_control_oca · 파트너 eBMR/Audit Trail 모듈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94360" y="3657600"/>
            <a:ext cx="5417820" cy="2240280"/>
          </a:xfrm>
          <a:prstGeom prst="roundRect">
            <a:avLst>
              <a:gd name="adj" fmla="val 2857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657600"/>
            <a:ext cx="73152" cy="224028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3749040"/>
            <a:ext cx="51435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방글라데시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" y="4114800"/>
            <a:ext cx="5189220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BPPA EOI EDCL/Dhaka/EOI/Tender/2026/168 · EDCL 포털·Wikipedia·MCCI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ADB 4388-BAN(US$336.5M)·ADB Brief 302 · WHO Bangladesh NRA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TBS·Daily Star·Dhaka Tribune·FE·Prothom Alo(산업·GMP·정전·PPR 2025·EDCF)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Drugs &amp; Cosmetics Act 2023 · tralac/RAPID(LDC) · DataReportal 2026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149340" y="3657600"/>
            <a:ext cx="5417820" cy="2240280"/>
          </a:xfrm>
          <a:prstGeom prst="roundRect">
            <a:avLst>
              <a:gd name="adj" fmla="val 2857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9340" y="3657600"/>
            <a:ext cx="73152" cy="2240280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21" name="Text 19"/>
          <p:cNvSpPr/>
          <p:nvPr/>
        </p:nvSpPr>
        <p:spPr>
          <a:xfrm>
            <a:off x="6313932" y="3749040"/>
            <a:ext cx="51435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벤치마크·KPI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59068" y="4114800"/>
            <a:ext cx="5189220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Odoo 공식 고객사례(Brand Pharma·Magis·Fito Medic's·Fraver 등) · SDLC·Ksolves(파트너)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Körber(Cipla·Ferring) · Emerson/ISA · FPT IS(Vinphaco) · ABeam(Pharmaniaga)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Kimia Farma 연구(UGM/Telkom) · EIPICO AR · Vinapharm · SPMC · India PSU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FDA Quality Metrics · IPA 편차 연구 · McKinsey QC · intuitionlabs KPI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594360" y="594360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URL 목록(약 300건)은 별도 리서치 보고서 3종(research_odoo20 · research_pharma_gmp · research_bangladesh)에 수록 — 요청 시 제공. 조사 환경상 원문 직접 열람이 제한되어 검색 발췌·파트너 교차검증에 근거함.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에이에스씨(ASC) · AX 플랫폼 사업팀 · odooaierp.com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ASC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에이에스씨(ASC) · AX Platform</dc:creator>
  <cp:lastModifiedBy>에이에스씨(ASC) · AX Platform</cp:lastModifiedBy>
  <cp:revision>1</cp:revision>
  <dcterms:created xsi:type="dcterms:W3CDTF">2026-10-22T12:23:28Z</dcterms:created>
  <dcterms:modified xsi:type="dcterms:W3CDTF">2026-10-22T12:23:28Z</dcterms:modified>
</cp:coreProperties>
</file>