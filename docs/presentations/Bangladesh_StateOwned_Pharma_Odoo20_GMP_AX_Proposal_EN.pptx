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ODOO 20 ERP + GMP + AX AGENTS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Plant Digital Transformation Proposal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ERP  ·  GMP Data Integrity Layer  ·  AX (AI Transformation) Agents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State-Owned Pharmaceutical Company, Bangladesh (presumed Essential Drugs Company Ltd.)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4434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raw-material receipt to batch release — one ledger, tamper-proof records, human-approved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  ·  ASC (AX Platform) · AX Platform Business Team  ·  odooaierp.com  ·  asclhg@gmail.com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proposal (outline) · Detailed scope, schedule and cost to be finalized after requirements analysis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· Client Understanding (Bangladesh Pharma Industry · State-Owned Manufacturer)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Why a GMP Plant Must Digitalize Now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Regulatory Requirements → ERP Requirements (WHO · EU Annex 11 · 21 CFR Part 11 · ALCOA+)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Manufacturing Process and System Roles (ERP · MES/eBR · LIMS · QMS)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94360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3444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— New Features and Pharma/GMP Modules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94360" y="4069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Gap Analysis · GMP Layer Design · CSV Validation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9436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34440" y="4617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Architecture — Agent Portfolio · Odoo 20 Connectivity · Ontology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4360" y="5166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3444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Benchmarks (Odoo in Pharma · Global eBR · Lessons from State-Owned Peers)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94360" y="5715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6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23444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· Localization/Infrastructure · Roadmap · Risks · KPIs · Governance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— Odoo 20 Core + GMP Layer + AX Agents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consolidate your GMP plant operations (raw materials → production → QC/QA → release) on a single Odoo 20 ledger, reinforce the data integrity (ALCOA+), audit trail, electronic signatures and validation that regulators demand through a dedicated 'GMP Layer', and add human-approved AX agents on top to structurally reduce stock-outs, deviations and release delays.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03120"/>
            <a:ext cx="73152" cy="2331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Odoo 20 ERP 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256032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September 2026 · standard support to September 2029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· Inventory (lot/expiry/FEFO) · Manufacturing · Quality · Maintenance · PLM · Accounting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lot creation · unified traceability report · recall tracing (new)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— resilient to power cuts and unstable networks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103120"/>
            <a:ext cx="73152" cy="2331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GMP Data Integrity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07408" y="256032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tamper-proof audit trail with mandatory reason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e-signature and re-authentication (Part 11 / Annex 11 §14)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eBMR/BPR · Deviation/CAPA/Change Control QMS · SOP/Training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package (GAMP 5 · IQ/OQ/PQ) — a first-class WBS deliverable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01000" y="210312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2103120"/>
            <a:ext cx="73152" cy="233172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8" name="Text 16"/>
          <p:cNvSpPr/>
          <p:nvPr/>
        </p:nvSpPr>
        <p:spPr>
          <a:xfrm>
            <a:off x="8165592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AX Agents (Human-Approved)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10728" y="256032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Odoo 20 native MCP and JSON-2 API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Demand/production planning · material replenishment · quality deviation · predictive maintenance · batch release · audit response agents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card → approval inbox → human approval → written to Odoo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computed by the graph; the LLM only narrates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617720"/>
            <a:ext cx="2640330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27448"/>
            <a:ext cx="264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−30~50%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" y="5257800"/>
            <a:ext cx="245745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cycle time</a:t>
            </a:r>
            <a:endParaRPr lang="en-US" sz="10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12–18 days → best 3–5)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71850" y="4617720"/>
            <a:ext cx="2640330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1850" y="4727448"/>
            <a:ext cx="264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63290" y="5257800"/>
            <a:ext cx="245745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 documentation errors</a:t>
            </a:r>
            <a:endParaRPr lang="en-US" sz="10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(eBR benchmark)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9340" y="4617720"/>
            <a:ext cx="2640330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9340" y="4727448"/>
            <a:ext cx="264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≥99%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40780" y="5257800"/>
            <a:ext cx="245745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accuracy ·</a:t>
            </a:r>
            <a:endParaRPr lang="en-US" sz="10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FEFO compliance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26830" y="4617720"/>
            <a:ext cx="2640330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26830" y="4727448"/>
            <a:ext cx="264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018270" y="5257800"/>
            <a:ext cx="245745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audit-trail review ·</a:t>
            </a:r>
            <a:endParaRPr lang="en-US" sz="10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shared accounts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603504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illustrative, based on global eBR/ERP benchmarks; 6- and 12-month targets are fixed after baseline measurement at kick-off.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CLIENT UNDERSTANDING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Pharma Industry — Self-Sufficient, Growing, Regulation Maturing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US$ 3.3B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market size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 Q2 2026, +10.6%)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07792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self-sufficiency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(~85% of APIs imported)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38344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US$ 238M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29784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FY2025-26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(130+ countries)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0336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ML2 → ML3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351776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DGDA WHO regulatory maturity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(ML3 target May 2027)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82328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573768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LDC graduation →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pharma waiver ends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3464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21208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Status (as researched)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the Proposal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≈ 75% — Square 17%, Incepta 12.6%, Beximco 9.8%, Renata 5.7%, Eskayef 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leaders run SAP (Incepta, 2021) and Oracle EBS (Beximco) — the state-owned firm needs equivalent controls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Drugs &amp; Cosmetics Act 2023 · National Drug Policy 2016 (WHO certification, PIC/S accession goals) · DGDA inspections based on WHO GMP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Designing to WHO GMP + PIC/S PI 041 data integrity supports ML3 and international certification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GMP enforcement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2014–16: 84 firms assessed → 20–34 production halts; 2009–23: 45 licences revoked (penicillin, cephalosporin, oncology, hormones)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record reliability, cross-contamination and QC capability are recurring findings → prioritize eBMR, QC and quarantine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&amp;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h daily outages in industrial belts (2026) · Data Protection Ordinance 2025 (in-country hosting) · national sovereign cloud (NDC Tier-IV) · e-GP mandatory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resilience, on-premise/sovereign cloud and e-GP integration are mandatory requirements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confirmed DGDA mandate · Renata adopted voluntarily · India and Pakistan mandating from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Pre-build the GS1 batch/serial data model — a differentiator ahead of mid-term regulation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94360" y="603504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IQVIA (secondary citation), EPB, DGDA, TBS, Daily Star, etc. (see Appendix). Figures should be re-verified against primary sources before final submission.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CLIENT UNDERSTANDING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Manufacturer Profile — Essential Drugs Company Ltd. (EDCL)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only state-owned pharmaceutical manufacturer is EDCL, 100% government-owned under the Ministry of Health and Family Welfare (Government Pharmaceutical Laboratory 1962 → EDCL 1983). Even if your company is not EDCL, the same regulatory and infrastructure conditions apply, so the design in this proposal remains valid.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65960"/>
            <a:ext cx="73152" cy="2011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0574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Business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2423160"/>
            <a:ext cx="5166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Tejgaon (Dhaka) main plant · Bogura · Gopalganj (3rd plant, Tk 800 crore) · Khulna latex plant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products — IV fluids, iron supplements, hormones, penicillins, contraceptives, antibiotics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~80% of public-hospital drug demand (mandatory purchase, no tender) · target to cover 70%→90% of government demand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management (Jan 2025) — tender transparency, workforce efficiency, up to 50% price cuts on 33 items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965960"/>
            <a:ext cx="73152" cy="201168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&amp; Governance Issues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2423160"/>
            <a:ext cx="5166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facilities → cGMP non-compliance → history of certifications withdrawn by WHO and other international bodies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 audit (2019–21): 32 irregularities, Tk 477 crore loss → High Court and ACC investigations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antibiotic production stoppage due to tender disputes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Internal control, procurement transparency and audit trail are the ERP's top-priority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1148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114800"/>
            <a:ext cx="73152" cy="182880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4206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&amp; Procurement in Progress (★ Proposal Timing)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" y="4572000"/>
            <a:ext cx="5166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May 2026: EDCL EOI for ERP design, development &amp; implementation (QCBS, self-funded, national consulting firms; finance·HR·procurement·planning·inventory·sales·QC·manufacturing·PM)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ADB US$336.5M vaccine &amp; therapeutics manufacturing and regulatory strengthening project (Nov 2023) — WHO GMP vaccine plant (target 2032) + DGDA ML3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Tejgaon → Manikganj relocation (ECNEC, Tk 1,905 crore) / Munshiganj integrated complex concept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4114800"/>
            <a:ext cx="73152" cy="182880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2" name="Text 20"/>
          <p:cNvSpPr/>
          <p:nvPr/>
        </p:nvSpPr>
        <p:spPr>
          <a:xfrm>
            <a:off x="6336792" y="4206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Axes of Our Positioning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81928" y="4572000"/>
            <a:ext cx="5166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Partner to complement the in-progress ERP with a GMP layer (audit trail, eBMR, QMS, serialization)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Digital GMP (MES/eBR, LIMS, QMS) supplier for the ADB vaccine plant — international competitive track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Support for DGDA ML3 and WHO GMP re-certification (data integrity package)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603504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award result and your exact scale/products are unconfirmed — see the pre-kick-off checklist (final slide).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BACKGROUND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Five Reasons a GMP Plant Must Digitalize Now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Re-certification &amp; ML3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0332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batch records and scattered data cannot demonstrate WHO/PIC/S data integrity (ALCOA+) → tamper-proof electronic records are a precondition for certification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C07F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945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Procurement Under Way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03320" y="2194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May 2026 ERP EOI demands finance, procurement, inventory, QC and manufacturing at once. Generic ERP lacks GMP controls (audit trail, e-signature, CSV) → complementary design required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0E8F8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Vaccine Plant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3108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WHO GMP plant (2032) presupposes eBR, LIMS, QMS and serialization from the design stage — it must extend on the same data model as the existing plants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0233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1F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233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Transparency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0332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(Tk 477 crore) and tender disputes → approval workflows, e-GP integration and immutable logs so that 'structure, not people, enforces the rules'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937760"/>
            <a:ext cx="502920" cy="822960"/>
          </a:xfrm>
          <a:prstGeom prst="roundRect">
            <a:avLst>
              <a:gd name="adj" fmla="val 10909"/>
            </a:avLst>
          </a:prstGeom>
          <a:solidFill>
            <a:srgbClr val="714B6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9377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4937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LDC Graduation &amp; Exports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703320" y="4937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waiver ends Nov 2026 → competitiveness in off-patent essential medicines and exports will be decided by cost, quality and traceability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897880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E4F3E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not an 'ERP project' but GMP data integrity + control + intelligence on one platform — the path that unlocks re-certification and profitability together.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Regulatory Requirements → ERP Requirements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EU GMP Annex 11/15 · FDA 21 CFR Part 11 · PIC/S PI 041 · GAMP 5 · ALCOA+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GMP → ERP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Regulations Demand of the ERP — Data Integrity and Validation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8404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Requirements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Design Requirements (reflected in this proposal)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GMP TRS 986 Annex 2 · TRS 1033 Annex 4 (Data Integrity,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manufacturing/packaging records (theoretical vs. actual quantity, yield reconciliation, date/time, responsible person) · appropriate control and validation of computerized systems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BMR/BPR · yield reconciliation · step-level signatures · system validation documentation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GMP Annex 11 (2011 → July 2025 draft revision, 5→19 pages)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§9 audit trail (who, what, old/new value, when, why — automatic) · §12 security (RBAC) · §14 e-signature (permanently linked to record) · §15 batch release (QP only)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Field-level old/new log with mandatory reason · individual accounts + MFA · signature re-authentication · QA-only release rights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GMP Annex 15 · GAMP 5 (2nd ed.)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Risk-based validation; VMP, URS, IQ/OQ/PQ; configured COTS = Cat. 4, custom = Cat.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package as a first-class WBS deliverable · minimize customization to shrink Cat. 5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 21 CFR Part 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§11.10: 11 controls for closed systems (validation, accurate copies, audit trail, access, training, signature accountability) · Subpart C e-signatures (two components, unique)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 independent of users and non-disableable · e-signature ID + password re-authentication · training 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PIC/S PI 041-1 (2021) · ALCOA+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 · Attributable / Legible / Contemporaneous / Original / Accurate + Complete / Consistent / Enduring / Available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ALCOA+ control mapping applied — see next slide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GMP Ch. 1/4/8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PQS and CAPA · batch document retention (expiry + 1 year or QP certification + 5 years, whichever is longer) · complaints, recalls, CAPA effectiveness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Deviation/CAPA/change control QMS · retention policy and archiving · instant recall impact scoping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notice: Odoo is not a product 'certified' for Part 11 / Annex 11 compliance. Compliance is achieved through configuration + GMP Layer + CSV + SOPs/training — all of which are within the scope of this proposal.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GMP → ERP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ALCOA+ Data Integrity → ERP Control Mapping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75488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· GMP Layer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(CSV)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Attributable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did it and when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accounts (no sharing) · e-signature · user attribution in audit trail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OQ: per-account log check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Legible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Permanently readable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reports · archive legibility · readability after upgrades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PQ: retrieve historical batches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Contemporaneous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at time of activity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timestamps (single NTP time source) · shop-floor tablet entry · reason required for late entries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OQ: time-sync verification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or certified copy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Source-system records · minimal transcription (LIMS, balance interfaces)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IQ/OQ: interfaces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of errors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Range, unit and mandatory-value checks · old/new on edits · double verification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OQ: boundary-value tests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Complete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Everything, incl. retests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tests retained · no deletion · append-only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OQ: blocked delete attempts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Consistent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Chronologically consistent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State-transition control (quarantine → testing → release) · enforced workflows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OQ: blocked state bypass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Enduring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for the full period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Backup/restore tests · retention policy (expiry + 1 year) · migration verification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PQ: restore rehearsal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Available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Accessible on demand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reports, inspector read access · offline queue sync verification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PQ: inspection scenario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PIC/S PI 041-1, WHO TRS 1033 Annex 4, TGA ALCOA ↔ Annex 11 mapping. Controls and verification are within this proposal's GMP Layer and CSV scope.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Manufacturing Process and System Roles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raw-material receipt to batch release — which records live where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PROCESS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11-Step Pharma Manufacturing Process — GMP Points and Odoo Mapping (OSD)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Receipt · Lot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64703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1863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601863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Quarantine · QC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72205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9365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14" name="Text 12"/>
          <p:cNvSpPr/>
          <p:nvPr/>
        </p:nvSpPr>
        <p:spPr>
          <a:xfrm>
            <a:off x="2609365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Material Issue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9708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6868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616868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Dispensing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87210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4370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4624370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Granulation · Blending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94713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31873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631873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Compression · Coating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02215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39375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26" name="Text 24"/>
          <p:cNvSpPr/>
          <p:nvPr/>
        </p:nvSpPr>
        <p:spPr>
          <a:xfrm>
            <a:off x="6639375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Packaging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09718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46878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7646878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Finished QC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17220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54380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32" name="Text 30"/>
          <p:cNvSpPr/>
          <p:nvPr/>
        </p:nvSpPr>
        <p:spPr>
          <a:xfrm>
            <a:off x="8654380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QA Release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524723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61883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1F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9661883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Warehouse · Distribution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532225" y="1234440"/>
            <a:ext cx="164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69385" y="1234440"/>
            <a:ext cx="897775" cy="640080"/>
          </a:xfrm>
          <a:prstGeom prst="roundRect">
            <a:avLst>
              <a:gd name="adj" fmla="val 11429"/>
            </a:avLst>
          </a:prstGeom>
          <a:solidFill>
            <a:srgbClr val="0E7C6B"/>
          </a:solidFill>
          <a:ln/>
        </p:spPr>
      </p:sp>
      <p:sp>
        <p:nvSpPr>
          <p:cNvPr id="38" name="Text 36"/>
          <p:cNvSpPr/>
          <p:nvPr/>
        </p:nvSpPr>
        <p:spPr>
          <a:xfrm>
            <a:off x="10669385" y="1234440"/>
            <a:ext cx="89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Post-Market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5740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GMP Requirement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20 + GMP Layer Mapping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①–③ Materials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only from approved suppliers · immediate quarantine · spec-based QC · status changed by QC/QA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Approved-supplier check on PO · lot/mfg date/expiry/retest date mandatory · automatic quarantine location · incoming QCP · e-signed status transition · supplier quality rate (new)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Dispensing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formula · FEFO · calibrated balances · double verification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frozen at MO creation · FEFO lot reservation · balance ID, operator/verifier recorded · block equipment with expired calibration (layer)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⑤–⑥ Processing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parameters · line clearance · IPC · yield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Work-order checklists · measurement-type quality checks (out-of-range alerts) · continuous production (new) · yield reconciliation · deviation logging (QMS)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 Packaging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 order · label reconciliation · serialization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 MO/BPR · label issue/return reconciliation · GS1 master data + serialization system interface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⑧–⑨ QC/QA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testing · retained samples · BMR review · deviation closure · audit-trail review · QP certification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Finished-product QCP · LIMS integration · release checklist + e-signature · QA-only rights · unified traceability report (new)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⑩–⑪ Distribution &amp; Post-Market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FEFO dispatch · distribution records · complaints/recalls · PQR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FEFO enforced · lot → delivery-line recall tracing (new) · complaint → investigation → CAPA · PQR data extraction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perspective: the essence of a batch record is a 'material ledger' that records what was input, what happened, what was measured, what moved on and where the remainder went — and reconciles it.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PROCESS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Role Boundaries — ERP · MES/eBR · LIMS · QMS · Serialization · AX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ERP (L4)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of record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· BOM/formula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MPS/MRP · purchasing · inventory (lot/status/FEFO)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orders · work orders · costing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disposition · maintenance · PLM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· procurement (e-GP) · KPIs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81178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281178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/ eBR (L3)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1178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record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1178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493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electronic batch record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data · line clearance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· reconciliation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sites: replaced by Odoo work orders + quality checks + eBMR module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Large/sterile sites: dedicated MES roadmap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02920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714B6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 · QMS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systems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714B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· tests · OOS · stability (LIMS)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· CAPA · change · documents · training (QMS)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standard Odoo → GMP Layer or external integration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receives pass/fail, CoA and closure status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24662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C07F1E"/>
          </a:solidFill>
          <a:ln/>
        </p:spPr>
      </p:sp>
      <p:sp>
        <p:nvSpPr>
          <p:cNvPr id="23" name="Text 21"/>
          <p:cNvSpPr/>
          <p:nvPr/>
        </p:nvSpPr>
        <p:spPr>
          <a:xfrm>
            <a:off x="724662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4662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4662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C07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977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GTIN + serial + lot + expiry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(SSCC) · EPCIS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provides master data and dispatch linkage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for a future DGDA mandate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464040" y="128016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0E8F86"/>
          </a:solidFill>
          <a:ln/>
        </p:spPr>
      </p:sp>
      <p:sp>
        <p:nvSpPr>
          <p:cNvPr id="28" name="Text 26"/>
          <p:cNvSpPr/>
          <p:nvPr/>
        </p:nvSpPr>
        <p:spPr>
          <a:xfrm>
            <a:off x="946404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Agents (L5)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6404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decision support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464040" y="2057400"/>
            <a:ext cx="2103120" cy="32004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7192" y="2148840"/>
            <a:ext cx="1965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ERP/MES/LIMS events → features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(ontology)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cards → human approval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only via approved server actions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94360" y="544068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E6EEF3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 </a:t>
            </a:r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One owner of record (the ERP ledger)  ② GMP records are created only where e-signatures and audit trails attach  ③ AI reads first; writes only through human-approved server actions  ④ Interfaces (LIMS, balances, labels, serialization) eliminate transcription to secure Original and Accurate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— New Features and Pharma/GMP Application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September 2026 · AI Agents · native MCP · enhanced traceability · offline mode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ODOO 20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(GA 24 Sept 2026) — New Features Relevant to This Proposal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24 Sept 2026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support to Sept 2029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07792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MCP server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(OAuth 2.1 · API keys)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38344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9784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scheduled runs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Skills (create/edit records)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0336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JSON-2 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51776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external API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(XML/JSON-RPC deprecated)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82328" y="128016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73768" y="1920240"/>
            <a:ext cx="19019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95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queue → sync, 2 GB)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10972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0"/>
                <a:gridCol w="39319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20 New / Enhanced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 · GMP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&amp; Agents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invoked by automation rules and schedules · automated chat audit log · create records from uploaded PDF instructions · self-improvement · choice of AI provider · IAP credit billing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deviation drafts, audit Q&amp;A and SOP Q&amp;A — with every run fully auditable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/mcp endpoint · OAuth 2.1 or MCP-scoped API keys · 5 default read tools · server actions exposed as MCP tools · operates within user permissions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channel for external AX agents — controlled via a least-privilege dedicated user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production (next step starts once partial qty is done) · work-order Kanban/Gantt · automatic backorder planning · MO split · single 'Produce' on Shop Floor · WIP costing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production and line balancing · shop-floor tablet execution records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&amp; Traceability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always auto-created at MO close · delivery lines shown on lot 'Transfers' (targeted recall) · unified upstream/downstream traceability report · stock ageing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unassigned lots · instant recall impact scoping · proven genealogy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(Enterprise)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bypass restricted to quality managers · failed items moved to a 'failure location' · supplier quality rate (%) in Purchase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role-based control · automated non-conforming quarantine · supplier qualification evidence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· PLM · Docs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Gantt (per equipment) · PLM Compare BoMs · Documents group permissions · Sign auto-signature requests (automation rules)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Calibration/PM planning · formula change control (ECO) · automatic signature requests for SOP approval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odoo.com release notes/docs (search excerpts) cross-checked with partner blogs. Pharma scenarios (Quality, PLM, Shop Floor, Documents, Sign, Studio, AI/MCP) require Enterprise. Technical requirements: Python ≥ 3.12 · PostgreSQL ≥ 16.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ODOO 20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Odoo Module Map — What Standard Covers · What the Layer Adds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1325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53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1691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suppliers · PO approval workflow · supplier quality rate · import documents · e-GP integration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58952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configuration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28016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280160"/>
            <a:ext cx="73152" cy="1325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353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1691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Lots/serials · 4 expiry-related dates · FEFO · quarantine locations · traceability report · barcodes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462272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configuration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01000" y="128016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280160"/>
            <a:ext cx="73152" cy="1325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8165592" y="1353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(MRP) · Shop Floor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65592" y="1691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BOM/formula · MPS · work orders · tablet execution · continuous production · yield · WIP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165592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eBMR layer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74320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743200"/>
            <a:ext cx="73152" cy="132588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QCP (incoming/in-process/final) · pass-fail/measurement · Quality Alerts · failure location · manager-only bypass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58952" y="3767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QMS layer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274320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743200"/>
            <a:ext cx="73152" cy="132588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62272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Preventive/corrective maintenance · Gantt · MTBF/MTTR · calibration intervals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462272" y="3767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calibration-block layer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01000" y="274320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2743200"/>
            <a:ext cx="73152" cy="132588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4" name="Text 32"/>
          <p:cNvSpPr/>
          <p:nvPr/>
        </p:nvSpPr>
        <p:spPr>
          <a:xfrm>
            <a:off x="8165592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65592" y="3154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ECO approvals · BOM versions · Compare BoMs → formula change control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8165592" y="37673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change-control link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" y="420624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714B6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4206240"/>
            <a:ext cx="73152" cy="132588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" y="4279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· Sign · Knowledge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8952" y="4617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versioning · group permissions · e-signature (SES) · internal knowledge Q&amp;A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758952" y="5230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Part 11 signature layer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97680" y="420624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714B6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4206240"/>
            <a:ext cx="73152" cy="132588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44" name="Text 42"/>
          <p:cNvSpPr/>
          <p:nvPr/>
        </p:nvSpPr>
        <p:spPr>
          <a:xfrm>
            <a:off x="4462272" y="4279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62272" y="4617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invoice recognition · bank reconciliation · journal hash immutability · Mushak VAT · FY July–June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462272" y="5230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localization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01000" y="420624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3F7F9"/>
          </a:solidFill>
          <a:ln w="15240">
            <a:solidFill>
              <a:srgbClr val="C07F1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4206240"/>
            <a:ext cx="73152" cy="132588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49" name="Text 47"/>
          <p:cNvSpPr/>
          <p:nvPr/>
        </p:nvSpPr>
        <p:spPr>
          <a:xfrm>
            <a:off x="8165592" y="4279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MCP · Studio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65592" y="4617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agents/Skills · AI fields · MCP server · automation rules · webhooks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8165592" y="5230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connection surface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4360" y="5715000"/>
            <a:ext cx="10972800" cy="548640"/>
          </a:xfrm>
          <a:prstGeom prst="roundRect">
            <a:avLst>
              <a:gd name="adj" fmla="val 10000"/>
            </a:avLst>
          </a:prstGeom>
          <a:solidFill>
            <a:srgbClr val="FBF2E3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&amp; hosting recommendation: Odoo Enterprise (Custom) · on-premise or Odoo.sh — SaaS auto-upgrades make re-validation hard to control and are unsuitable for regulated environments. Consider Light User licences for shop-floor staff to reduce cost.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Gap Analysis · GMP Layer · CSV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gap → a designed reinforcement → verifiable evidence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GAP ANALYSIS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Odoo vs. GMP Requirements — Gaps and Reinforcements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828800"/>
                <a:gridCol w="420624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(limits of standard Odoo)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(GMP Layer)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trail: Chatter tracks only tracked fields, is lost on delete, has no mandatory reason or review workflow; hash immutability only in Accounting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 11 §9 · Part 11 §11.10(e)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OCA auditlog + custom: field-level old/new, UTC, user, mandatory reason; append-only; no deletion; pre-release review workflow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Cat.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E-signature: Sign is a document-level SES — no record re-authentication, signature meaning or permanent linkage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 11 §14 · Part 11 Subpart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e-signature module: ID + password re-authentication, signature meaning (performed/reviewed/approved), sealed metadata, invalidated on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Cat.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eBMR/BPR: the MO printout is not a structured batch 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§15.25–30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eBMR layer (based on partner module): step-level process, IPC, reconciliation, step signatures, deviation links, QA approval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Cat. 4/5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QMS: Quality Alert is ticket-level — no deviation/CAPA/change-control workflow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Ch. 1 · Ch.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layer: deviation → classification → RCA → CAPA → effectiveness / change request → impact assessment → approval → re-validation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Cat.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validation package — Odoo is not a GxP-certified 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 11 §4 · Annex 15 · GAMP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project: VMP, URS, risk assessment, FS/CS, IQ/OQ/PQ, traceability matrix · supplier assessment (Odoo SA, partners)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major releases and SaaS auto-updates → re-validation hard to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 11 §10/§11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On-premise/Odoo.sh · change-control procedure · per-release impact assessment and regression tests · periodic review (annual)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SOP lifecycle, forced retraining or blocking of equipment with expired calibration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Ch. 2/3/4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+ Sign approval flow · training matrix, untrained users blocked from process steps · calibration-expiry blocking rule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Cat. 4/5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serialization (serial generation, aggregation, EPCIS)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GS1 · national T&amp;T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with an external serialization system (master data, dispatch) · pre-built GS1 data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4 (configured) / Cat. 5 (custom) follow GAMP 5 classification — customization is minimized to control validation cost. No public Part 11-grade Odoo case at a large GMP finished-dosage plant was identified, so this layer and the CSV are the keys to success.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GMP LAYER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Data Integrity Layer Design — Six Components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14884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change to GMP models (lots, moves, MOs, checks, BOMs, specs, suppliers) with old/new, UTC, user and reason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table · cannot be deleted or disabled · independent of users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'audit trail reviewed' check · readable report · retention = record retention period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73152" cy="2148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Signature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737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password re-authentication at signing (two components) · signature meaning (performed/reviewed/approved) · timestamp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bound to the record; invalidated if the record changes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restricted to QA/QP roles — Annex 11 §15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01000" y="1280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280160"/>
            <a:ext cx="73152" cy="214884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59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eBMR / BPR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10728" y="1737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master formula → electronic record auto-generated per batch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· IPC · process parameters · yield reconciliation · line clearance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signatures · deviation links · QA review · printed copy = electronic copy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66160"/>
            <a:ext cx="73152" cy="214884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(Deviation · CAPA · Change)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4023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→ classification → root cause → CAPA → effectiveness check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 → impact assessment (re-validation?) → approval → implementation → closure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batches, equipment, documents, suppliers · metrics (closure time, recurrence rate)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297680" y="3566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566160"/>
            <a:ext cx="73152" cy="214884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25" name="Text 23"/>
          <p:cNvSpPr/>
          <p:nvPr/>
        </p:nvSpPr>
        <p:spPr>
          <a:xfrm>
            <a:off x="4462272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Status · FEFO · Calibration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07408" y="4023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/ under test / released / rejected — changed by QC/QA only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issue and dispatch of quarantined, expired or retest-overdue lots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equipment/balances with expired calibration · blocks POs to non-approved suppliers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001000" y="356616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3566160"/>
            <a:ext cx="73152" cy="214884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9" name="Text 27"/>
          <p:cNvSpPr/>
          <p:nvPr/>
        </p:nvSpPr>
        <p:spPr>
          <a:xfrm>
            <a:off x="8165592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· Training · Retention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10728" y="4023360"/>
            <a:ext cx="333756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draft → review → approval (e-signature) → effective → training → retirement · only effective versions visible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training matrix · retraining tasks on revision · untrained users blocked from process steps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Backup/restore tests · archiving · retention of expiry + 1 yr / QP certification + 5 yrs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594360" y="589788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principle: prefer OCA and proven partner modules and minimize customization — shrinking the GAMP Cat. 5 scope keeps validation cost and duration under control.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CSV / CSA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Plan — Complete Before Go-Live, Re-Validate on Every Upgrade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Master Plan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42516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79676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979676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Requirements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27832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64992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GAMP Cat. 4/5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3148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0308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0308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/ 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Config Specs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98464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35624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624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Qualification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83780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20940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7520940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Qualification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69096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06256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26" name="Text 24"/>
          <p:cNvSpPr/>
          <p:nvPr/>
        </p:nvSpPr>
        <p:spPr>
          <a:xfrm>
            <a:off x="8906256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Qualification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154412" y="12801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291572" y="1280160"/>
            <a:ext cx="1275588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10291572" y="1280160"/>
            <a:ext cx="12755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Validation Report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237744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2377440"/>
            <a:ext cx="73152" cy="21031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Classification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" y="2834640"/>
            <a:ext cx="333756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configuration (purchase, inventory, mfg, quality, maintenance, accounting) = Cat. 4 → configuration verification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Layer (audit trail, e-signature, eBMR, QMS) = Cat. 5 → design and code review, full testing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(LIMS, balances, labels, serialization, e-GP) = separate IQ/OQ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assessment: Odoo SA · implementation partner · module vendors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297680" y="237744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2377440"/>
            <a:ext cx="73152" cy="21031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6" name="Text 34"/>
          <p:cNvSpPr/>
          <p:nvPr/>
        </p:nvSpPr>
        <p:spPr>
          <a:xfrm>
            <a:off x="4462272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Methods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07408" y="2834640"/>
            <a:ext cx="333756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the EU Annex 11 2025 draft revision (strengthened audit trail)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CSA (2025) risk-based: intended use → risk → assurance activities → objective evidence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PIC/S PI 041 data integrity · ALCOA+ checklist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TRS 1019 Appendix 5 computerized system validation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001000" y="2377440"/>
            <a:ext cx="356616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01000" y="2377440"/>
            <a:ext cx="73152" cy="210312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40" name="Text 38"/>
          <p:cNvSpPr/>
          <p:nvPr/>
        </p:nvSpPr>
        <p:spPr>
          <a:xfrm>
            <a:off x="8165592" y="2468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Controls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10728" y="2834640"/>
            <a:ext cx="333756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control: config, permission and BOM-rule changes = ticket, approval, impact assessment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management: fixed version on-prem/Odoo.sh · annual periodic review · regression tests and partial re-validation on major upgrades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 &amp; BCP: backup/restore rehearsals · offline-queue verification for power cuts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audit-trail review SOP</a:t>
            </a:r>
            <a:endParaRPr lang="en-US" sz="98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177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VMP · URS · Risk Assessment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Scope, approach, schedule / requirements by function (GMP flags) / risk and test depth per function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QA sign-off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FS/CS · Traceability Matrix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configuration specifications / URS ↔ FS ↔ test-case mapping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QA sign-off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IQ/OQ/PQ Protocols &amp; Reports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verification / function, boundary, security, audit-trail and signature tests / real-business scenario (one batch cycle)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QA &amp; QP sign-off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Summary Report · SOP Set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Deviations, residual risk, go-live approval / system operation, change, backup and audit-trail review SOPs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&amp; QA sign-off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44" name="Text 41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→ Odoo 20 ledger → events &amp; features → ontology &amp; knowledge graph → agents — intelligence that humans approve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AX 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Architecture — Five Layers, One Trunk (GMP Layer Runs Through All)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C07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91440" cy="82296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80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AX Agents · Control Tower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86200" y="12801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Demand/production planning · material replenishment · quality deviation · predictive maintenance · batch release assistant · audit response → decision card → approval inbox (human) → written to Odoo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94360" y="2176272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714B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76272"/>
            <a:ext cx="91440" cy="82296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7627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Ontology · Knowledge Graph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86200" y="2176272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links products, formulas, batches, lots, processes, equipment, tests, deviations, suppliers and SOPs — evidence ladder · rule promotion/demotion loop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94360" y="3072384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0E8F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72384"/>
            <a:ext cx="91440" cy="82296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7238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Events · Features · Learning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86200" y="3072384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Receipt, inspection, work, deviation and dispatch events → item × line × period features → demand forecasting, anomaly detection and predictive maintenance models (model cards · 30 regression checks)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94360" y="3968496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1F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968496"/>
            <a:ext cx="9144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6849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Odoo 20 Single Ledger + GMP Layer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86200" y="3968496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· inventory · manufacturing · quality · maintenance · PLM · accounting — a single PostgreSQL record + audit trail, e-signature, eBMR, QMS, status enforcement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94360" y="4864608"/>
            <a:ext cx="10972800" cy="822960"/>
          </a:xfrm>
          <a:prstGeom prst="roundRect">
            <a:avLst>
              <a:gd name="adj" fmla="val 7778"/>
            </a:avLst>
          </a:prstGeom>
          <a:solidFill>
            <a:srgbClr val="F3F7F9"/>
          </a:solidFill>
          <a:ln w="16510">
            <a:solidFill>
              <a:srgbClr val="0E7C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864608"/>
            <a:ext cx="91440" cy="82296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6460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Transaction Sources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86200" y="486460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· QC results (LIMS) · dispensing (balances) · work orders (tablets) · IPC · packaging/labels · serialization · equipment sensors (IoT/OBox) · procurement (e-GP) · banking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94360" y="580644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principles: numbers are computed by the graph (DB), the LLM only narrates · decisions are always human · every AI run is logged in the audit trail · writes only through approved (whitelisted) server actions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AX AGENTS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Agent Portfolio — Six Workers, One Approval Inbox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291840"/>
                <a:gridCol w="210312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(draft generation)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· Inputs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 · Written to Odoo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&amp; Production Planning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after close / weekly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next-month production plan (MPS) from public-procurement demand, seasonality and stock + stock-out risk items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and procurement history, stock, lead times, campaigns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planner approves → MO drafts created (server action)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Replenishment &amp; Supplier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 reached · retest date approaching · price spike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POs (approved supplier, quality rate, lead-time rationale) · alerts on lots nearing retest/expiry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Stock, BOM demand, supplier quality rate, expiry dates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Purchasing approves → PO draft · quarantine maintained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Deviation &amp; CAPA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OOS · IPC excursion · Quality Alert raised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deviation report · similar cases · root-cause hypotheses · CAPA candidates (with cited evidence)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results, process parameters, past deviations, SOPs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reviews and approves → QMS deviation record (human signature)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Maintenance &amp; Calibration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anomaly · calibration due in 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card on failure precursors (e.g., 13-day lead) · draft calibration schedule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sensors, maintenance history, MTBF/MTTR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approves → maintenance request created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Release Assistant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release-checklist summary (BMR complete, QC, deviations closed, audit trail reviewed) — 'the decision belongs to QA/QP'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eBMR, QC, QMS, audit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only by QA/QP e-signature (no AI decision)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Documents &amp; Audit Response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query · PQR cycle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and summarize SOP/batch-record/traceability evidence · draft PQR data · draft responses to DGDA/WHO queries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(SOPs), ledger, traceability report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 after QA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486400"/>
            <a:ext cx="10972800" cy="731520"/>
          </a:xfrm>
          <a:prstGeom prst="roundRect">
            <a:avLst>
              <a:gd name="adj" fmla="val 7500"/>
            </a:avLst>
          </a:prstGeom>
          <a:solidFill>
            <a:srgbClr val="E6EEF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 (War Room) · Approval Inbox  </a:t>
            </a:r>
            <a:pPr indent="0" marL="0">
              <a:buNone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 outputs arrive in the inbox as 'decision cards' (cited evidence, confidence); role-based approvers approve, reject or roll back. Rejection reasons feed learning and rule demotion. AI execution records (Odoo 20 automated chat + AX audit log) are retained and reviewed.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AX ↔ ODOO 20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Agents ↔ Odoo 20 Connectivity — Four Channels, One Control Principle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41782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82296" cy="21031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533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MCP Server (read · query)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native /mcp · OAuth 2.1 or MCP-scoped API keys · default tools: Get Models/Fields, Search, Read group · AX agents query the ledger 'within their permission scope'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dedicated user (ax_reader)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tools exposed (default)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logs retained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149340" y="1280160"/>
            <a:ext cx="541782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524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9340" y="1280160"/>
            <a:ext cx="82296" cy="21031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332220" y="13533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JSON-2 API + Server Actions (write)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32220" y="169164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decision cards → whitelisted server actions (create MO draft, PO draft, maintenance request, deviation record) · Bearer API key · X-Odoo-Database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286500" y="2560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create 'draft' records only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E-signatures and state transitions by humans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logged with user = approver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94360" y="3520440"/>
            <a:ext cx="541782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5240">
            <a:solidFill>
              <a:srgbClr val="0E8F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520440"/>
            <a:ext cx="82296" cy="210312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935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Webhooks · Automation Rules (events)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outbound webhooks/automations push receipts, failed checks, OOS, MO completion and sensor alerts to the AX pipeline (L3) · results received via inbound webhooks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design (duplicate triggers)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event schemas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logical replication (CDC) in parallel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149340" y="3520440"/>
            <a:ext cx="5417820" cy="210312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5240">
            <a:solidFill>
              <a:srgbClr val="C07F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9340" y="3520440"/>
            <a:ext cx="82296" cy="210312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24" name="Text 22"/>
          <p:cNvSpPr/>
          <p:nvPr/>
        </p:nvSpPr>
        <p:spPr>
          <a:xfrm>
            <a:off x="6332220" y="359359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Odoo AI Agents · Skills (internal)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32220" y="3931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Odoo 20 built-in agents for SOP Q&amp;A, accounting queries and AI field extraction · automated chat audit log · Sign auto-signature request chains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286500" y="4800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C0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credit budget per agent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C0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and data-export policy review (in-country hosting, Data Protection Ordinance)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C0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edits to GMP records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94360" y="580644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E4F3E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principle: read broadly (MCP), write narrowly (approved server actions, drafts only), signatures, release and state transitions by humans only, every call in the audit trail — this is how AX and GMP coexist.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ONTOLOGY · PIPELINE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Ontology and Data Pipeline — Which Records Become Which Intelligence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7432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(L1→L2)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(L3)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&amp; Learning (L3)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Using It (L4·L5)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&amp; sales (mandatory public-hospital purchase, tenders)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events (item × institution × month)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Seasonality, campaign and procurement-cycle profiles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Forecasting &amp; Production Planning Agent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Receipts · QC results · suppliers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 / pass-fail / OOS events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quality rate, lead time, OOS rate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Replenishment &amp; Supplier Qualification Agent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Dispensing · work orders · IPC · yield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parameter and excursion events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× item yield · deviation leading indicators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Deviation &amp; CAPA Agent · Predictive Maintenance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sensors · maintenance history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Vibration, temperature, failure events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MTBF · degradation trend · calibration expiry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Maintenance &amp; Calibration Agent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eBMR · QMS · audit log · SOPs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completion, deviation closure, signature events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Release-checklist fulfilment rate · review time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Release Assistant · Audit Response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Domain Ontology — Classes and Relations (excerpt)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(SKU)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696212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0E7C6B"/>
          </a:solidFill>
          <a:ln/>
        </p:spPr>
      </p:sp>
      <p:sp>
        <p:nvSpPr>
          <p:cNvPr id="12" name="Text 9"/>
          <p:cNvSpPr/>
          <p:nvPr/>
        </p:nvSpPr>
        <p:spPr>
          <a:xfrm>
            <a:off x="1696212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Formula (BOM)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98064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0E8F86"/>
          </a:solidFill>
          <a:ln/>
        </p:spPr>
      </p:sp>
      <p:sp>
        <p:nvSpPr>
          <p:cNvPr id="14" name="Text 11"/>
          <p:cNvSpPr/>
          <p:nvPr/>
        </p:nvSpPr>
        <p:spPr>
          <a:xfrm>
            <a:off x="2798064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MO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99916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714B67"/>
          </a:solidFill>
          <a:ln/>
        </p:spPr>
      </p:sp>
      <p:sp>
        <p:nvSpPr>
          <p:cNvPr id="16" name="Text 13"/>
          <p:cNvSpPr/>
          <p:nvPr/>
        </p:nvSpPr>
        <p:spPr>
          <a:xfrm>
            <a:off x="3899916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Lot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01768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C07F1E"/>
          </a:solidFill>
          <a:ln/>
        </p:spPr>
      </p:sp>
      <p:sp>
        <p:nvSpPr>
          <p:cNvPr id="18" name="Text 15"/>
          <p:cNvSpPr/>
          <p:nvPr/>
        </p:nvSpPr>
        <p:spPr>
          <a:xfrm>
            <a:off x="5001768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· Work Center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03620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6103620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· Balance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05472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0E7C6B"/>
          </a:solidFill>
          <a:ln/>
        </p:spPr>
      </p:sp>
      <p:sp>
        <p:nvSpPr>
          <p:cNvPr id="22" name="Text 19"/>
          <p:cNvSpPr/>
          <p:nvPr/>
        </p:nvSpPr>
        <p:spPr>
          <a:xfrm>
            <a:off x="7205472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Test · Spec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307324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0E8F86"/>
          </a:solidFill>
          <a:ln/>
        </p:spPr>
      </p:sp>
      <p:sp>
        <p:nvSpPr>
          <p:cNvPr id="24" name="Text 21"/>
          <p:cNvSpPr/>
          <p:nvPr/>
        </p:nvSpPr>
        <p:spPr>
          <a:xfrm>
            <a:off x="8307324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· CAPA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409176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714B67"/>
          </a:solidFill>
          <a:ln/>
        </p:spPr>
      </p:sp>
      <p:sp>
        <p:nvSpPr>
          <p:cNvPr id="26" name="Text 23"/>
          <p:cNvSpPr/>
          <p:nvPr/>
        </p:nvSpPr>
        <p:spPr>
          <a:xfrm>
            <a:off x="9409176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511028" y="4434840"/>
            <a:ext cx="1042416" cy="502920"/>
          </a:xfrm>
          <a:prstGeom prst="roundRect">
            <a:avLst>
              <a:gd name="adj" fmla="val 18182"/>
            </a:avLst>
          </a:prstGeom>
          <a:solidFill>
            <a:srgbClr val="C07F1E"/>
          </a:solidFill>
          <a:ln/>
        </p:spPr>
      </p:sp>
      <p:sp>
        <p:nvSpPr>
          <p:cNvPr id="28" name="Text 25"/>
          <p:cNvSpPr/>
          <p:nvPr/>
        </p:nvSpPr>
        <p:spPr>
          <a:xfrm>
            <a:off x="10511028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· Training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4360" y="5029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Relations: hasFormula · consumesLot · producedOn (equipment) · testedBy (spec) · deviatesWith · suppliedBy · governedBy (SOP) · releasedBy (QA signature)  —  Evidence ladder: question → decision card → rule/model → event → ledger record (audit trail), each level reachable by a click. Refuted rules are demoted automatically (30 regression checks run continuously).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1" name="Text 2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Benchmarks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in pharma · global eBR/MES results · lessons from state-owned and emerging-market manufacturers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BENCHMARK ①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in Pharma — Official Customer Cases and Partner-Reported Results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2743200"/>
                <a:gridCol w="2743200"/>
                <a:gridCol w="128016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· 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· Highlights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for Pharmaceutical Industries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Egypt · pharma group (manufacturing)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 Community (2018) → V13 Enterprise (2019) · many modules incl. manufacturing &amp; quality · 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expansion, rapid user growth (2020)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official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Magis Pharma Group (Qualenica)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Belgium · personalized medicines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production (cold storage, batch tracking) · group accounting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tools → 1 · live in 2 weeks · 40+ users across 4 companies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official + partner (Hadron)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Fito Medic's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 (est.) · pharma &amp; cosmetics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· quality · WMS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efficiency +20% · productivity +18% (self-reported)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official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Fraver NV / Viomix / EFA Laboratorios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Belgium / — / Uruguay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Compounding, APIs, finished goods / APIs &amp; medicines / specialty pharma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and spreadsheets → real-time management 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official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Abydos Pharma (CMO)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 · contract manufacturing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· inventory · quality ·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release −40% · manual errors −85%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report (SDLC)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pharma manufacturer/distributor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(est.)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18 · 16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 40–50 h → 5–8 h · WO-level QC cut rework cost 60% · ROI 77% (6.8 months)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report (Ksolves)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Pharmalife Research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 · pharma &amp; nutraceuticals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·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+30% · fewer QA delays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report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25780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BF2E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2578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C07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reading  </a:t>
            </a:r>
            <a:pPr indent="0" marL="0">
              <a:buNone/>
            </a:pPr>
            <a:r>
              <a:rPr lang="en-US" sz="10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cases are mostly small and mid-sized manufacturers, compounders and distributors; no public case of Odoo validated to Part 11 / Annex 11 level at a large GMP finished-dosage plant was identified. This proposal therefore positions 'Odoo = proven ERP core + GMP Layer + CSV project', and partner figures are cited as 'partner-reported'.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BENCHMARK 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Results — eBR/MES Integration, Not the ERP Core, Drives the Impact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documents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Cipla Patalganga (PAS-X MES + SAP)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816352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 → 1 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07792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 review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 BioSciences (eBR)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038344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/ +60%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9784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errors / review speed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Ferring Kiel (eBR)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260336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 → 6 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51776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(RBE)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biopharma (Emerson)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482328" y="12801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138988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573768" y="192024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batch release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avg. 12–18 days)</a:t>
            </a:r>
            <a:endParaRPr lang="en-US" sz="93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34640"/>
          <a:ext cx="10972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457200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·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·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Vinphaco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 · GMP-WHO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S/4HANA Cloud (FPT) — Phase 1 in 6 months (MM, PP, QM, FICO, SD) → Phase 2 PM, e-banking → Phase 3 WM, QR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rollout brought Phase 1 live within 6 months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Incepta / Beximco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Bangladesh · private leaders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(2021, 'first in the country') / Oracle EBS R12 + GxP validation (KPMG)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domestic leaders ran separate GxP validation — beware legacy integration cost (Beximco)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Pharmaniaga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Malaysia · government-linked company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S/4HANA plant go-live (production orders, QM, delivery, costing)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GLC also chose global standard ERP + QM integration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Cipla · Dr. Reddy's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· large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PAS-X MES integrated with SAP, SCADA, BMS, IPQC, WMS / template reuse, 5-month build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MES/eBR integration, not ERP alone, drives impact → basis for our L3 and eBMR layer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 QC study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and automated QC: lead time −60–70% · paper −80% · investigations −90% · deviations −65% (some sites)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lab digitalization removes the release lead-time bottleneck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Körber (Cipla, Ferring), Emerson/ISA, FPT IS, Wikipedia/Zensar, ABeam, McKinsey — vendor-reported figures are not independently verified.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BENCHMARK ③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State-Owned Peers — ERP ≠ Control; GMP Investment Pays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2743200"/>
                <a:gridCol w="2651760"/>
                <a:gridCol w="24688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·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Kimia Farma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 · state-owned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implementation (2015–16)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4 of 9 modules used → 2024 subsidiary accounting fraud, Rp 8.7 trillion restructuring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alone does not stop fraud without procurement, inventory and receivables controls and audit trails · utilization KPIs are essential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EIPICO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Egypt · semi-state (ACDIMA 51%)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started 2021 + tracking system on 53 lines · QM batch expiry and quarantine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and line tracking built in parallel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ERP and traceability (serialization) on the same roadmap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Vinapharm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 · 65%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in 26 GMP-EU/PIC/S 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pre-tax profit +62%, a record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High-grade GMP drives profitability and exports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KAPL vs HAL · IDPL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· pharma PSUs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KAPL invested in WHO-GMP facilities / the others received financial bailouts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KAPL the only profitable one · HAL/IDPL revival failed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rescue without facility and quality investment fails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SPMC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 Lanka · state-owned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JICA new plant (2018) + operational improvement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record 3.6 billion tablets · new warehouse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ODA + phased modernization lifts 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Nepal Drugs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Nepal · state-owned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10-year shutdown → phased restart from ORS (2016)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Revival starting with a limited product 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small with core products and core processes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029200"/>
            <a:ext cx="10972800" cy="1188720"/>
          </a:xfrm>
          <a:prstGeom prst="roundRect">
            <a:avLst>
              <a:gd name="adj" fmla="val 538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5029200"/>
            <a:ext cx="73152" cy="1188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5120640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Implications for a State-Owned GMP Plant Proposal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" y="5486400"/>
            <a:ext cx="10744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Even when starting with finance, include procurement, inventory and batch internal controls (approvals, audit trail) in Phase 1   ② Put GMP facility investment and software (eBMR, QMS) on the same roadmap   ③ Avoid module over-adoption — budget for utilization, training and hypercare   ④ Pilot on core products and lines → scale out   ⑤ Link to bilateral/multilateral funding such as ADB and EDCF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· Localization · Roadmap · KPIs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requirements → local conditions → phased build → performance measurement → governance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REQUIREMENTS ①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(Preliminary) — Company · Procurement · Materials · Production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371600"/>
                <a:gridCol w="7406640"/>
                <a:gridCol w="6400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(figures and processes to be finalized in the analysis phase)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&amp;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· sites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Multi-site (Dhaka, Bogura, Gopalganj, Khulna) multi-company/multi-warehouse · several hundred users incl. Light Users assumed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&amp;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In-country data hosting (national sovereign cloud or on-premise) · fixed Odoo Enterprise version · re-validation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&amp;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· 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Bangla/English UI · BDT with lakh/crore notation · fiscal year 1 July – 30 June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e-GP · approvals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PPR 2025/e-GP integration · purchase request → PO → receipt → invoice approval workflow · block POs to non-approved suppliers · beneficial-owner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qualification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supplier list (material × supplier × manufacturing site) · audit cycle and expiry alerts · supplier quality rate · CoA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&amp; Inventory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Lots · expiry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Lot/mfg date/expiry/retest date mandatory · FEFO enforced · block dispatch of expired or retest-overdue lots · automatic quarantine 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&amp; Inventory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 / under test / released / rejected — changed by QC/QA only (e-signature) · system block on issuing quarantined 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&amp; Inventory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 · 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Two-way genealogy: material lot → intermediate → finished product → customer · instant recall impact scoping · mock-recall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BMR/eBMR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record auto-generated from the approved formula · dispensing (balance interface), IPC, yield reconciliation · step signatures · deviation links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· 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Demand- and procurement-based MPS → work orders → shop-floor tablet execution · continuous/campaign production · block equipment with expired calibration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 · serialization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 orders · label reconciliation · GS1 GTIN/lot/expiry master data · serialization interface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REQUIREMENTS 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(Preliminary) — Quality · Finance · KPIs · Integration · CSV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371600"/>
                <a:gridCol w="7406640"/>
                <a:gridCol w="6400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· release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Incoming/in-process/finished QCP · pass-fail/measurement · OOS flag · CoA · LIMS integration · QA release checklist + QA/QP e-signature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 → classification → RCA → CAPA → effectiveness · change control (impact assessment, re-validation) · complaints &amp; recalls · links to batch/equipment/document/supplier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 · signature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Field-level old/new, reason, UTC on GMP models · no deletion · user-independent · pre-release review · record e-signature re-authentication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·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versioning, approval (e-signature), effective date, retirement · role-based training matrix · retraining on revision · untrained users blocked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· calibration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Preventive/corrective maintenance · calibration intervals and expiry blocking · MTBF/MTTR · sensor (IoT)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Mushak 6.3 VAT e-invoicing and retention (Finance Bill 2026) · VDS · FY July–June · review of iBAS++ public-accounting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AP/AR approvals · journal hash immutability · cost and P&amp;L by project/plant · procurement–accounting 3-way matching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Dashboards: batch release cycle time, RFT, deviation rate, CAPA closure, inventory accuracy, expiry write-offs, OEE, FDA quality metrics (LAR, PQCR, IOOSR)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agents · decision cards &amp; approval inbox · MCP read / server-action write · AI execution audit log · IAP credit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LIMS · balances/label printers · serialization · e-GP · banks · legacy data migration (partners, items, BOMs, stock, open items)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VMP, URS, risk assessment, IQ/OQ/PQ, traceability matrix, summary report · operational SOPs · upgrade re-validation 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LOCALIZATION · INFRA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· Infrastructure · Security — Designed for Bangladesh Realities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331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Requirements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Unicode UI and reports · English in parallel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· lakh/crore notation · fiscal year 1 July – 30 June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Mushak 6.3 tax invoices e-issued and retained in ERP (Finance Bill 2026) · VDS Rules 2025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e-GP fully mandatory (PPR 2025) → procurement module alignment · beneficial-owner disclosure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iBAS++ public-accounting integration (to discuss)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73152" cy="2331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Availability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73736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In-country hosting: National Data Center (Kaliakoir Tier-IV, 99.995%) / Oracle sovereign region / on-premise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 daily outages in industrial belts (2026) → UPS and generators + Odoo 20 offline mode (local queue → sync) + shop-floor tablets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production/test/development environments · fixed version · backup/restore rehearsals (RTO/RPO)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4G-centric → lightweight screens and barcode app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01000" y="128016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280160"/>
            <a:ext cx="73152" cy="233172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59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Governance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10728" y="1737360"/>
            <a:ext cx="33375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the 2025 Personal Data Protection, Data Governance and Cyber Protection Ordinances → in-country hosting assumed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(Odoo 20 ir.access) · individual accounts · MFA · session policy · account lifecycle logs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data-export policy: scope of external LLM use, masking, in-country model (GPU server) option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· network segmentation · DB access control · change control</a:t>
            </a:r>
            <a:endParaRPr lang="en-US" sz="98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79476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01752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Spec (draft)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App/DB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20 Enterprise + PostgreSQL 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 vCPU · 64 GB · SSD · Ubuntu LTS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multi-site user 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Test/Validation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and upgrade regression environment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vCPU · 32 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configuration as production (validation prerequisite)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 Server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pipeline · knowledge graph · agents · approval inbox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vCPU · 32 GB (+ GPU option: in-country LLM)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to Odoo via MCP/JSON-2/webhooks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Floor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Tablets · barcodes · balances/labels · IoT (OBox)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Tablets per line · UPS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mode verified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choice (national DC, sovereign cloud, on-premise) to be finalized at kick-off based on the latest Data Protection Ordinance amendments and procurement conditions.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ROADMAP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Prove on Core Lines, Then Scale Plant-Wide (≈12–18 Months)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6B748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Assessment · CSV Plan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months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6B7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 (process, data flows, GMP gaps)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 · VMP · risk assessment · KPI baseline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EOI/ADB track, hosting and partners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2679192" y="1280160"/>
            <a:ext cx="169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1178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81178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Odoo 20 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1178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months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1178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493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· inventory (lot/FEFO/quarantine) · manufacturing · quality · maintenance · accounting · localization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 · e-GP · data migration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IQ/OQ round 1 · pilot line go-live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896612" y="1280160"/>
            <a:ext cx="169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GMP 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months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e-signature · eBMR · QMS · SOP/training · status enforcement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LIMS, balance and label interfaces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OQ/PQ · one-batch-cycle PQ · validation close-out · Go-Live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114032" y="1280160"/>
            <a:ext cx="169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4662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C07F1E"/>
          </a:solidFill>
          <a:ln/>
        </p:spPr>
      </p:sp>
      <p:sp>
        <p:nvSpPr>
          <p:cNvPr id="26" name="Text 24"/>
          <p:cNvSpPr/>
          <p:nvPr/>
        </p:nvSpPr>
        <p:spPr>
          <a:xfrm>
            <a:off x="724662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AX Intelligence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4662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months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4662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C07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977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pipeline · ontology · knowledge graph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 · approval inbox · control tower · MCP/server-action connections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loop · rule promotion/demotion in operation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9331452" y="1280160"/>
            <a:ext cx="1691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64040" y="128016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714B67"/>
          </a:solidFill>
          <a:ln/>
        </p:spPr>
      </p:sp>
      <p:sp>
        <p:nvSpPr>
          <p:cNvPr id="32" name="Text 30"/>
          <p:cNvSpPr/>
          <p:nvPr/>
        </p:nvSpPr>
        <p:spPr>
          <a:xfrm>
            <a:off x="946404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Scale &amp; Enhance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46404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64040" y="2103120"/>
            <a:ext cx="2103120" cy="2514600"/>
          </a:xfrm>
          <a:prstGeom prst="roundRect">
            <a:avLst>
              <a:gd name="adj" fmla="val 3043"/>
            </a:avLst>
          </a:prstGeom>
          <a:solidFill>
            <a:srgbClr val="F3F7F9"/>
          </a:solidFill>
          <a:ln w="12700">
            <a:solidFill>
              <a:srgbClr val="714B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37192" y="219456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Plant-wide rollout · serialization · MES review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digital GMP design into the ADB vaccine plant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DGDA ML3 and WHO GMP re-certification · annual periodic review</a:t>
            </a:r>
            <a:endParaRPr lang="en-US" sz="96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7548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9611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Criteria (examples)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Design Approval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sign-off on URS, VMP and risk assessment · hosting and procurement track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Core 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Pilot-line inventory accuracy ≥ 98% · all approval workflows live · IQ/OQ passed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GMP Go-Live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 (one batch cycle) · all audit-trail and signature tests passed · validation summary report · SOPs and training 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 AX in Operation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Decision-card approval rate and rejection feedback · one KPI loop cycle · AI audit log reviewed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8" name="Text 35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PROJECT MGMT · RISK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&amp; Risk — Managed Jointly with the Client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2377440"/>
                <a:gridCol w="5029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&amp;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changes and scope creep (EOI modules + GMP + AX)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delay · more Cat. 5 · re-validation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freeze at end of analysis · change requests · defer unfinished features to the next phase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burden and regulatory change (Annex 11 2025 revision, DGDA ML3, e-invoicing)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delay · re-validation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as a first-class WBS item · design to the draft revision · regulatory monitoring · per-release impact assessment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user adoption and utilization (Kimia Farma lesson)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Unused modules · parallel paper · duplicate data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training (Bangla) · key users · hypercare · module utilization KPI ≥ 80%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 power and network (3–4 h daily outages)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Shop-floor entry stops · data gaps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 and generators · offline-mode queue verification · controlled reasons for late entries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and governance (PPR 2025, e-GP, beneficial ownership, audit history)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delays · audit findings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partner consortium · e-GP registration · transparent procurement dashboard · approval workflows in Phase 1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localization and AI data export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breach · project suspension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In-country hosting · AI usage policy · masking · in-country LLM option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cost and schedule (LIMS, balances, serialization, legacy — Beximco lesson)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overrun · delay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viable integration in Phase 1 · build after scope is clear · separate uncertain items as options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07492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5074920"/>
            <a:ext cx="73152" cy="1188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51663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Participation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" y="553212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PM + key users per function (QA, QC, production, warehouse, purchasing, accounting, IT)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current SOPs, batch records and data · interviews (1–3 per function)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sprint reviews, UAT and PQ · QA/QP sign-off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6172200" y="507492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5074920"/>
            <a:ext cx="73152" cy="118872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4" name="Text 11"/>
          <p:cNvSpPr/>
          <p:nvPr/>
        </p:nvSpPr>
        <p:spPr>
          <a:xfrm>
            <a:off x="6336792" y="51663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Methodology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81928" y="553212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Blueprint → Realization (Agile, 3–4 sprints) → Testing (SIT/UAT + CSV) → Training → Go-Live/MA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Signed-off deliverables per phase · hypercare · annual periodic review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KPI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 — KPIs and Draft Targets (Fixed After Baseline)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−30~50%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cycle 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602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602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3746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 errors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 d · ≥90%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closure · on-time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934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934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≥99% · 100%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078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accuracy · FEFO compliance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0100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244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write-off value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52660" y="1280160"/>
            <a:ext cx="1714500" cy="1234440"/>
          </a:xfrm>
          <a:prstGeom prst="roundRect">
            <a:avLst>
              <a:gd name="adj" fmla="val 5926"/>
            </a:avLst>
          </a:prstGeom>
          <a:solidFill>
            <a:srgbClr val="F3F7F9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2660" y="1389888"/>
            <a:ext cx="1714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· 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44100" y="1920240"/>
            <a:ext cx="15316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Audit-trail review · shared accounts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97480"/>
          <a:ext cx="10972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356616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· 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&amp; Quality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 · PQCR · IOOSR · APR on-time rate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 Quality Metrics (lot acceptance rate, product quality complaint rate, invalidated OOS rate)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 guidance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&amp; Release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release cycle time · batch record review time · RFT · OEE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complete → QA release / share of lots without deviations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3–5 days vs. avg. 12–18 · OEE 60–70%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System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 rate · CAPA closure time and recurrence · audit-trail review rate · inspection findings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 rate leads defect rate by ~4 months (r = 0.83)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IPA study · Annex 11 §9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Late-entry ratio · zero shared accounts · access review cycle · backup restore success rate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041 · TRS 1033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&amp; Supply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accuracy · turnover · expiry write-offs · stock-out rate · supplier OTIF · zero unapproved purchases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of FEFO and quarantine control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PLIVA inventory −30%+ (secondary)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· Training · Adoption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on-time rate · PM compliance · MTBF/MTTR · SOP training completion · module utilization · ROI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Maintenance outputs · Kimia Farma lesson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Ksolves ROI 77% (partner)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aggregated automatically against targets in the AX Platform's 'Project &amp; KPI Center' and published; agents propose improvement actions for metrics that fall short (honest monitoring).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STRUCTURE · FUNDING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Partnering · Funding — Structured for State-Owned Procurement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3774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Structure (Draft)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333756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Prime: local consortium (official Odoo partners such as Metamorphosis/VS ONE, or a local consulting firm) — meets national-firm and e-GP conditions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ASC: design and build of GMP Layer, CSV and AX Platform — technical subcontractor/solution provider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dedicated PM, QA/QP, key users, operations organization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Precedent: Vietnam's FPT IS won SAP-based ERP for Bangladeshi state-owned EGCB (US$8.8M) and GTCL (US$9.1M)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73152" cy="237744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Procurement Tracks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737360"/>
            <a:ext cx="333756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EDCL self-funded ERP (EOI May 2026) — propose the GMP-layer complement once the award is known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ADB US$336.5M vaccine &amp; therapeutics project — international competitive procurement; digital GMP package (MES/eBR, LIMS, QMS)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Korea EDCF US$3B (2023–27) · KOICA 2026–28 US$96M — candidate health/pharma digitalization project (ERD proposal)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World Bank health PforR · US$55M procurement digitalization — indirect linkage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01000" y="128016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280160"/>
            <a:ext cx="73152" cy="237744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592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Differentiators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10728" y="1737360"/>
            <a:ext cx="333756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AX Platform (M0–M7: decision cards, approval inbox, KPI Center) — a real system, not a concept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MCP/JSON-2/webhook connection design in hand · in-country GPU LLM option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041 data integrity package · GS1 serialization pre-built · Mushak 6.3 and e-GP integration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Offline-resilient, sovereign-cloud-compatible design</a:t>
            </a:r>
            <a:endParaRPr lang="en-US" sz="96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4048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Preparation &amp; Participation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phases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PM with decision authority · QA/QP · named key users per function · decision deadlines met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delays · single communication channel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Analysis–Design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SOPs, batch records, item/BOM/partner data · process interviews (1–3 per function) · joint GMP gap confirmation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missed requirements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Build–Validation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reviews · UAT · PQ participation (one batch cycle) · validation sign-off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quality · avoid rework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organization, SOPs and training complete · hypercare · agreed periodic review 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post-go-live confusion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PPR 2025 details such as mandatory local agents for foreign firms and domestic-preference clauses require legal review before kick-off.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ASC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ASC (AX Platform) — Not a Methodology, a System Already Running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286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Platform (odooaierp.com) — Built and in Live Operation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51663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common foundation (SSO, backup, registry, export gate) · M1 ingestion (CDC, Excel, forms, IoT) · M2 standard datasets and quality gates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analytics studio · M4 learning engine (demand forecasting, anomaly detection, predictive maintenance; model cards) · M5 knowledge graph (4M, confidence loop)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LLM judgement (GraphRAG, decision cards, 30 regression checks) · M7 agents and control (approval inbox, War Room) · Project &amp; KPI Center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integration: CDC logical replication · approval card → PO draft · Odoo approval-inbox add-on · dual PostgreSQL backend · 150+ automated tests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80160"/>
            <a:ext cx="73152" cy="228600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Results (Synthetic and Real-Data Demos)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81928" y="1737360"/>
            <a:ext cx="51663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 WAPE 7.0% · equipment failure precursor 13 days ahead (OVEN-2) · 11 decision cards approved end-to-end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KPI Center: 4 business goals + 9 technical KPIs — automatic attainment tracking, honest shortfall display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proposal and demo for a bakery manufacturer (raw-material lots, FEFO, multi-site, B2B)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Cloudflare tunnel · backup/recovery drills · uptime monitoring · billing · tenant management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ASC Adds for Pharma GMP Deployment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Layer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(audit trail · e-sign · eBMR · QMS)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04288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41448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2441448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Package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(VMP to PQ · traceability)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51376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88536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23" name="Text 21"/>
          <p:cNvSpPr/>
          <p:nvPr/>
        </p:nvSpPr>
        <p:spPr>
          <a:xfrm>
            <a:off x="4288536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Connectivity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 · JSON-2 · webhooks)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98464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35624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135624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Pharma Agents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approval inbox · control tower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45552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82712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E7C6B"/>
          </a:solidFill>
          <a:ln/>
        </p:spPr>
      </p:sp>
      <p:sp>
        <p:nvSpPr>
          <p:cNvPr id="29" name="Text 27"/>
          <p:cNvSpPr/>
          <p:nvPr/>
        </p:nvSpPr>
        <p:spPr>
          <a:xfrm>
            <a:off x="7982712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(Bangla · Mushak · e-GP)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92640" y="411480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29800" y="4114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9829800" y="4114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Hypercare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Periodic Review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5212080"/>
            <a:ext cx="10972800" cy="1005840"/>
          </a:xfrm>
          <a:prstGeom prst="roundRect">
            <a:avLst>
              <a:gd name="adj" fmla="val 5455"/>
            </a:avLst>
          </a:prstGeom>
          <a:solidFill>
            <a:srgbClr val="E6EEF3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  </a:t>
            </a:r>
            <a:pPr indent="0" marL="0">
              <a:buNone/>
            </a:pPr>
            <a:r>
              <a:rPr lang="en-US" sz="1100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lives in a document depends on people to uphold it; what becomes a platform is upheld by structure." — GMP data integrity, procurement transparency and AI judgement are all designed on the same principle. We designed this for you, and the design is already running.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What to Confirm, What to Do Together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651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Pre-Kick-off Checklist (your side · to be researched)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51663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exact legal entity, scale, products and plants (EDCL or not) · current systems and extent of paper processes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of the May 2026 ERP EOI (award/RFP stage), module scope and prime-contract structure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vaccine plant project procurement plan and digital GMP scope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DGDA GMP, data integrity/CSV guidelines and serialization plans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(national DC / sovereign cloud / on-premise) · latest Data Protection Ordinance amendments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PPR 2025 conditions for foreign participation · local partner candidates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80160"/>
            <a:ext cx="73152" cy="265176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Roadmap (Next 90 Days)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81928" y="1737360"/>
            <a:ext cx="51663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review and feedback on this preliminary proposal · reply to the checklist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2–4: online workshops (QA, production, warehouse, purchasing, accounting) — first-cut GMP gaps and requirements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4–8: site assessment (optional) · draft URS and VMP · scope, schedule and quotation · partner structure confirmed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8–12: pilot-line scope sign-off · kick-off</a:t>
            </a:r>
            <a:endParaRPr lang="en-US" sz="9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parallel: AX Platform live demo (app.odooaierp.com) · pharma scenario demo data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94360" y="4114800"/>
            <a:ext cx="10972800" cy="1097280"/>
          </a:xfrm>
          <a:prstGeom prst="roundRect">
            <a:avLst>
              <a:gd name="adj" fmla="val 5833"/>
            </a:avLst>
          </a:prstGeom>
          <a:solidFill>
            <a:srgbClr val="14304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Enquiries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  ·   odooaierp.com   ·   asclhg@gmail.com
</a:t>
            </a:r>
            <a:pPr indent="0" marL="0">
              <a:buNone/>
            </a:pPr>
            <a:r>
              <a:rPr lang="en-US" sz="10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app.odooaierp.com (accounts issued on request)  ·  Korean-language version of this proposal available separately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539496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Figures, schedule and scope in this document are a preliminary outline; research is based on web sources as of 22 Oct 2026 (see Appendix). Regulatory citations will be verified against EudraLex/eCFR/WHO primary texts before the final submission.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Key Sources (researched 22 Oct 2026)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1135" y="128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State-Owned Pharma · Odoo ERP · GMP · AX Proposal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541782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73152" cy="22402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371600"/>
            <a:ext cx="5143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&amp; Standards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737360"/>
            <a:ext cx="51892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TRS 986 Annex 2 · TRS 1033 Annex 4 · TRS 1019 Annex 3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 Annex 11 (2011 / 2025 draft) · Annex 15 · Ch. 1/4/8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 · CSA guidance (2025)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PIC/S PI 041-1 (2021) · ISPE GAMP 5 2nd ed.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TGA ALCOA+ mapping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149340" y="1280160"/>
            <a:ext cx="541782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9340" y="1280160"/>
            <a:ext cx="73152" cy="2240280"/>
          </a:xfrm>
          <a:prstGeom prst="rect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13932" y="1371600"/>
            <a:ext cx="5143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59068" y="1737360"/>
            <a:ext cx="51892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odoo.com release notes (20, 19.x) · Meet Odoo 20 blog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20 docs: MCP server, AI fields, external RPC API, Studio automation, offline mode, manufacturing/inventory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Partners: Braintec, iVentureTeam, Octura, Macopedia, Cybrosys, etc.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 auditlog · quality_control_oca · partner eBMR/audit-trail modules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541782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657600"/>
            <a:ext cx="73152" cy="224028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3749040"/>
            <a:ext cx="5143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" y="4114800"/>
            <a:ext cx="51892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BPPA EOI EDCL/Dhaka/EOI/Tender/2026/168 · EDCL portal · Wikipedia · MCCI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4388-BAN (US$336.5M) · ADB Brief 302 · WHO Bangladesh NRA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TBS, Daily Star, Dhaka Tribune, FE, Prothom Alo (industry, GMP, outages, PPR 2025, EDCF)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&amp; Cosmetics Act 2023 · tralac/RAPID (LDC) · DataReportal 2026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149340" y="3657600"/>
            <a:ext cx="541782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9340" y="3657600"/>
            <a:ext cx="73152" cy="2240280"/>
          </a:xfrm>
          <a:prstGeom prst="rect">
            <a:avLst/>
          </a:prstGeom>
          <a:solidFill>
            <a:srgbClr val="714B67"/>
          </a:solidFill>
          <a:ln/>
        </p:spPr>
      </p:sp>
      <p:sp>
        <p:nvSpPr>
          <p:cNvPr id="21" name="Text 19"/>
          <p:cNvSpPr/>
          <p:nvPr/>
        </p:nvSpPr>
        <p:spPr>
          <a:xfrm>
            <a:off x="6313932" y="3749040"/>
            <a:ext cx="5143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KPIs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59068" y="4114800"/>
            <a:ext cx="51892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official customer cases (Brand Pharma, Magis, Fito Medic's, Fraver, etc.) · SDLC, Ksolves (partners)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Körber (Cipla, Ferring) · Emerson/ISA · FPT IS (Vinphaco) · ABeam (Pharmaniaga)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studies (UGM/Telkom) · EIPICO AR · Vinapharm · SPMC · India PSUs</a:t>
            </a:r>
            <a:endParaRPr lang="en-US" sz="93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Quality Metrics · IPA deviation study · McKinsey QC · intuitionlabs KPIs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94360" y="594360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URL list (~300 entries) is contained in three separate research reports (research_odoo20, research_pharma_gmp, research_bangladesh) — available on request. Due to research-environment constraints, findings rely on search excerpts and partner cross-verification rather than direct access to primary texts.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6400800"/>
            <a:ext cx="11002975" cy="10973"/>
          </a:xfrm>
          <a:prstGeom prst="rect">
            <a:avLst/>
          </a:prstGeom>
          <a:solidFill>
            <a:srgbClr val="C9D3DE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(AX Platform) · AX Platform Business Team · odooaierp.com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ASC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ASC (AX Platform)</dc:creator>
  <cp:lastModifiedBy>ASC (AX Platform)</cp:lastModifiedBy>
  <cp:revision>1</cp:revision>
  <dcterms:created xsi:type="dcterms:W3CDTF">2026-10-22T13:04:58Z</dcterms:created>
  <dcterms:modified xsi:type="dcterms:W3CDTF">2026-10-22T13:04:58Z</dcterms:modified>
</cp:coreProperties>
</file>