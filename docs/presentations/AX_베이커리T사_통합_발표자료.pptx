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76" r:id="rId2"/>
    <p:sldId id="277"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71" r:id="rId17"/>
    <p:sldId id="272" r:id="rId18"/>
    <p:sldId id="291"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3" r:id="rId34"/>
    <p:sldId id="275"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768B40-FA12-4E96-A62D-8CDD7A78545B}" v="2" dt="2026-09-14T03:48:46.2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이형근" userId="f1ac48f4-02ed-44a7-91a8-8e3a780c860a" providerId="ADAL" clId="{B9901BA5-C102-447A-A2FB-E8321C101304}"/>
    <pc:docChg chg="addSld modSld">
      <pc:chgData name="이형근" userId="f1ac48f4-02ed-44a7-91a8-8e3a780c860a" providerId="ADAL" clId="{B9901BA5-C102-447A-A2FB-E8321C101304}" dt="2026-09-14T03:48:46.232" v="1"/>
      <pc:docMkLst>
        <pc:docMk/>
      </pc:docMkLst>
      <pc:sldChg chg="add setBg">
        <pc:chgData name="이형근" userId="f1ac48f4-02ed-44a7-91a8-8e3a780c860a" providerId="ADAL" clId="{B9901BA5-C102-447A-A2FB-E8321C101304}" dt="2026-09-14T03:47:53.722" v="0"/>
        <pc:sldMkLst>
          <pc:docMk/>
          <pc:sldMk cId="0" sldId="271"/>
        </pc:sldMkLst>
      </pc:sldChg>
      <pc:sldChg chg="add setBg">
        <pc:chgData name="이형근" userId="f1ac48f4-02ed-44a7-91a8-8e3a780c860a" providerId="ADAL" clId="{B9901BA5-C102-447A-A2FB-E8321C101304}" dt="2026-09-14T03:47:53.722" v="0"/>
        <pc:sldMkLst>
          <pc:docMk/>
          <pc:sldMk cId="0" sldId="272"/>
        </pc:sldMkLst>
      </pc:sldChg>
      <pc:sldChg chg="add setBg">
        <pc:chgData name="이형근" userId="f1ac48f4-02ed-44a7-91a8-8e3a780c860a" providerId="ADAL" clId="{B9901BA5-C102-447A-A2FB-E8321C101304}" dt="2026-09-14T03:47:53.722" v="0"/>
        <pc:sldMkLst>
          <pc:docMk/>
          <pc:sldMk cId="0" sldId="276"/>
        </pc:sldMkLst>
      </pc:sldChg>
      <pc:sldChg chg="add setBg">
        <pc:chgData name="이형근" userId="f1ac48f4-02ed-44a7-91a8-8e3a780c860a" providerId="ADAL" clId="{B9901BA5-C102-447A-A2FB-E8321C101304}" dt="2026-09-14T03:47:53.722" v="0"/>
        <pc:sldMkLst>
          <pc:docMk/>
          <pc:sldMk cId="0" sldId="277"/>
        </pc:sldMkLst>
      </pc:sldChg>
      <pc:sldChg chg="add setBg">
        <pc:chgData name="이형근" userId="f1ac48f4-02ed-44a7-91a8-8e3a780c860a" providerId="ADAL" clId="{B9901BA5-C102-447A-A2FB-E8321C101304}" dt="2026-09-14T03:47:53.722" v="0"/>
        <pc:sldMkLst>
          <pc:docMk/>
          <pc:sldMk cId="0" sldId="278"/>
        </pc:sldMkLst>
      </pc:sldChg>
      <pc:sldChg chg="add setBg">
        <pc:chgData name="이형근" userId="f1ac48f4-02ed-44a7-91a8-8e3a780c860a" providerId="ADAL" clId="{B9901BA5-C102-447A-A2FB-E8321C101304}" dt="2026-09-14T03:47:53.722" v="0"/>
        <pc:sldMkLst>
          <pc:docMk/>
          <pc:sldMk cId="0" sldId="279"/>
        </pc:sldMkLst>
      </pc:sldChg>
      <pc:sldChg chg="add setBg">
        <pc:chgData name="이형근" userId="f1ac48f4-02ed-44a7-91a8-8e3a780c860a" providerId="ADAL" clId="{B9901BA5-C102-447A-A2FB-E8321C101304}" dt="2026-09-14T03:47:53.722" v="0"/>
        <pc:sldMkLst>
          <pc:docMk/>
          <pc:sldMk cId="0" sldId="280"/>
        </pc:sldMkLst>
      </pc:sldChg>
      <pc:sldChg chg="add setBg">
        <pc:chgData name="이형근" userId="f1ac48f4-02ed-44a7-91a8-8e3a780c860a" providerId="ADAL" clId="{B9901BA5-C102-447A-A2FB-E8321C101304}" dt="2026-09-14T03:47:53.722" v="0"/>
        <pc:sldMkLst>
          <pc:docMk/>
          <pc:sldMk cId="0" sldId="281"/>
        </pc:sldMkLst>
      </pc:sldChg>
      <pc:sldChg chg="add setBg">
        <pc:chgData name="이형근" userId="f1ac48f4-02ed-44a7-91a8-8e3a780c860a" providerId="ADAL" clId="{B9901BA5-C102-447A-A2FB-E8321C101304}" dt="2026-09-14T03:47:53.722" v="0"/>
        <pc:sldMkLst>
          <pc:docMk/>
          <pc:sldMk cId="0" sldId="282"/>
        </pc:sldMkLst>
      </pc:sldChg>
      <pc:sldChg chg="add setBg">
        <pc:chgData name="이형근" userId="f1ac48f4-02ed-44a7-91a8-8e3a780c860a" providerId="ADAL" clId="{B9901BA5-C102-447A-A2FB-E8321C101304}" dt="2026-09-14T03:47:53.722" v="0"/>
        <pc:sldMkLst>
          <pc:docMk/>
          <pc:sldMk cId="0" sldId="283"/>
        </pc:sldMkLst>
      </pc:sldChg>
      <pc:sldChg chg="add setBg">
        <pc:chgData name="이형근" userId="f1ac48f4-02ed-44a7-91a8-8e3a780c860a" providerId="ADAL" clId="{B9901BA5-C102-447A-A2FB-E8321C101304}" dt="2026-09-14T03:47:53.722" v="0"/>
        <pc:sldMkLst>
          <pc:docMk/>
          <pc:sldMk cId="0" sldId="284"/>
        </pc:sldMkLst>
      </pc:sldChg>
      <pc:sldChg chg="add setBg">
        <pc:chgData name="이형근" userId="f1ac48f4-02ed-44a7-91a8-8e3a780c860a" providerId="ADAL" clId="{B9901BA5-C102-447A-A2FB-E8321C101304}" dt="2026-09-14T03:47:53.722" v="0"/>
        <pc:sldMkLst>
          <pc:docMk/>
          <pc:sldMk cId="0" sldId="285"/>
        </pc:sldMkLst>
      </pc:sldChg>
      <pc:sldChg chg="add setBg">
        <pc:chgData name="이형근" userId="f1ac48f4-02ed-44a7-91a8-8e3a780c860a" providerId="ADAL" clId="{B9901BA5-C102-447A-A2FB-E8321C101304}" dt="2026-09-14T03:47:53.722" v="0"/>
        <pc:sldMkLst>
          <pc:docMk/>
          <pc:sldMk cId="0" sldId="286"/>
        </pc:sldMkLst>
      </pc:sldChg>
      <pc:sldChg chg="add setBg">
        <pc:chgData name="이형근" userId="f1ac48f4-02ed-44a7-91a8-8e3a780c860a" providerId="ADAL" clId="{B9901BA5-C102-447A-A2FB-E8321C101304}" dt="2026-09-14T03:47:53.722" v="0"/>
        <pc:sldMkLst>
          <pc:docMk/>
          <pc:sldMk cId="0" sldId="287"/>
        </pc:sldMkLst>
      </pc:sldChg>
      <pc:sldChg chg="add setBg">
        <pc:chgData name="이형근" userId="f1ac48f4-02ed-44a7-91a8-8e3a780c860a" providerId="ADAL" clId="{B9901BA5-C102-447A-A2FB-E8321C101304}" dt="2026-09-14T03:47:53.722" v="0"/>
        <pc:sldMkLst>
          <pc:docMk/>
          <pc:sldMk cId="0" sldId="288"/>
        </pc:sldMkLst>
      </pc:sldChg>
      <pc:sldChg chg="add setBg">
        <pc:chgData name="이형근" userId="f1ac48f4-02ed-44a7-91a8-8e3a780c860a" providerId="ADAL" clId="{B9901BA5-C102-447A-A2FB-E8321C101304}" dt="2026-09-14T03:47:53.722" v="0"/>
        <pc:sldMkLst>
          <pc:docMk/>
          <pc:sldMk cId="0" sldId="289"/>
        </pc:sldMkLst>
      </pc:sldChg>
      <pc:sldChg chg="add setBg">
        <pc:chgData name="이형근" userId="f1ac48f4-02ed-44a7-91a8-8e3a780c860a" providerId="ADAL" clId="{B9901BA5-C102-447A-A2FB-E8321C101304}" dt="2026-09-14T03:47:53.722" v="0"/>
        <pc:sldMkLst>
          <pc:docMk/>
          <pc:sldMk cId="0" sldId="290"/>
        </pc:sldMkLst>
      </pc:sldChg>
      <pc:sldChg chg="add setBg">
        <pc:chgData name="이형근" userId="f1ac48f4-02ed-44a7-91a8-8e3a780c860a" providerId="ADAL" clId="{B9901BA5-C102-447A-A2FB-E8321C101304}" dt="2026-09-14T03:48:46.232" v="1"/>
        <pc:sldMkLst>
          <pc:docMk/>
          <pc:sldMk cId="2458103332" sldId="2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898248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23.8초 · 영상 0:00~]</a:t>
            </a:r>
          </a:p>
          <a:p>
            <a:r>
              <a:t>안녕하십니까, 에이에스씨입니다. 주식회사 </a:t>
            </a:r>
            <a:r>
              <a:rPr lang="ko-KR" altLang="en-US"/>
              <a:t>베이커리 </a:t>
            </a:r>
            <a:r>
              <a:rPr lang="en-US" altLang="ko-KR"/>
              <a:t>T</a:t>
            </a:r>
            <a:r>
              <a:rPr lang="ko-KR" altLang="en-US"/>
              <a:t>사의</a:t>
            </a:r>
            <a:r>
              <a:t> 질의에 답하는 에이엑스 프로젝트 제안 영상입니다. 원자재와 완제품 재고 관리, 매장과 비투비 발주, 회계 연동, 그리고 에이아이 실무 자동화까지. 결론부터 말씀드리면, 맞춤 현장 컨설팅, 가능합니다. 지금부터 그 실행 설계도를 함께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21.7초 · 영상 0:23~]</a:t>
            </a:r>
          </a:p>
          <a:p>
            <a:r>
              <a:t>먼저 </a:t>
            </a:r>
            <a:r>
              <a:rPr lang="ko-KR" altLang="en-US"/>
              <a:t>베이커리 </a:t>
            </a:r>
            <a:r>
              <a:rPr lang="en-US" altLang="ko-KR"/>
              <a:t>T</a:t>
            </a:r>
            <a:r>
              <a:rPr lang="ko-KR" altLang="en-US"/>
              <a:t>사를</a:t>
            </a:r>
            <a:r>
              <a:t> 이해했습니다. 칠십 년 전통의 제빵 기술, 초량 본점과 부산, 대구의 별빛샌드 지점, 그리고 매장, 도소매, 전자상거래의 세 채널. 저희는 질의의 세 요소를 이 제안서의 장 구성과 하나씩 대응시켰습니다. 재고 관리, 발주와 회계 연동, 그리고 에이아이 자동화입니다.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22.7초 · 영상 0:45~]</a:t>
            </a:r>
          </a:p>
          <a:p>
            <a:r>
              <a:rPr lang="ko-KR" altLang="en-US"/>
              <a:t>베이커리 </a:t>
            </a:r>
            <a:r>
              <a:rPr lang="en-US" altLang="ko-KR"/>
              <a:t>T</a:t>
            </a:r>
            <a:r>
              <a:rPr lang="ko-KR" altLang="en-US"/>
              <a:t>사의</a:t>
            </a:r>
            <a:r>
              <a:t> 특수성은 다섯 가지입니다. 세 개의 판매 채널, 세 도시의 다지점 운영, 빵지순례로 대표되는 관광 수요, 파이만쥬 선물세트, 그리고 칠십 년의 레시피와 운영 노하우. 이 다섯 가지가 그대로 에이엑스의 지렛대가 됩니다. 단일 원장 없이는 어떤 에이아이도 이 전체를 보지 못합니다.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22.5초 · 영상 1:08~]</a:t>
            </a:r>
          </a:p>
          <a:p>
            <a:r>
              <a:t>우리나라 베이커리의 정점, 대전 성심당을 벤치마킹했습니다. 매장 단 네 곳으로 이천육백억 원의 매출과 이십오 퍼센트의 이익률을 내는 비결은, 당일 소진과 로스 규율이라는 운영 원리입니다. 성심당이 철학과 육십팔 년의 세월로 이룬 규율을, </a:t>
            </a:r>
            <a:r>
              <a:rPr lang="ko-KR" altLang="en-US"/>
              <a:t>베이커리 </a:t>
            </a:r>
            <a:r>
              <a:rPr lang="en-US" altLang="ko-KR"/>
              <a:t>T</a:t>
            </a:r>
            <a:r>
              <a:rPr lang="ko-KR" altLang="en-US"/>
              <a:t>사는</a:t>
            </a:r>
            <a:r>
              <a:t> 데이터와 에이아이로 압축해 추격합니다.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23.3초 · 영상 1:30~]</a:t>
            </a:r>
          </a:p>
          <a:p>
            <a:r>
              <a:t>목표 아키텍처는 다섯 층입니다. 포스와 온라인 주문, 생산 실적 같은 트랜잭션이 오두 단일 원장에 기록되고, 데이터 파이프라인이 이를 특징량으로 바꾸며, 온톨로지 지식그래프가 의미로 연결하고, 마지막으로 에이아이 에이전트가 판단을 제안합니다. 데이터는 위로, 판단은 아래로 흐르는 순환 구조입니다.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23.0초 · 영상 1:53~]</a:t>
            </a:r>
          </a:p>
          <a:p>
            <a:r>
              <a:t>원자재 재고부터 시작합니다. 밀가루와 유지, 앙금, 포장재에 품목과 로트 체계를 세우고, 유통기한 빠른 순서로 출고하는 선입선출을 바코드로 강제합니다. 발주는 감이 아니라 계산으로 합니다. 일일 생산계획에서 원료 소요를 역산하고, 리드타임과 시세를 반영한 동적 발주점을 둡니다.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23.3초 · 영상 2:17~]</a:t>
            </a:r>
          </a:p>
          <a:p>
            <a:r>
              <a:t>완제품에는 두 개의 시간이 흐릅니다. 당일 팔아야 하는 신선빵과, 택배와 납품이 가능한 파이만쥬 세트 같은 보존군입니다. 세트는 키트 자재명세서로 구성품 재고가 자동 차감됩니다. 본점과 두 지점, 온라인 창고의 재고를 위치별로 분리하고, 지점 배분은 전부 전표로 기록합니다.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21.9초 · 영상 2:40~]</a:t>
            </a:r>
          </a:p>
          <a:p>
            <a:r>
              <a:t>발주와 회계는 하나의 흐름이 됩니다. 비투비 수주와 매장 보충 주문이 출고와 세금계산서, 수금, 자동 분개까지 이어집니다. 거래처별 단가와 여신 한도가 자동으로 검증되고, 온라인 주문과 결제 정산도 자동으로 대사됩니다. 이중 입력 제로가 이 단계의 성공 판정 기준입니다.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21.5초 · 영상 3:02~]</a:t>
            </a:r>
          </a:p>
          <a:p>
            <a:r>
              <a:t>첫 번째 에이아이 프로젝트, 수요예측입니다. 내일 파이만쥬 몇 개냐는 질문에 숫자로 답합니다. 채널별 판매 이력에 요일과 날씨, 부산의 관광 캘린더까지 특징량으로 넣고, 품목별 정확도를 상시 측정합니다. 예측은 구간으로 제시하고, 확정은 언제나 사람이 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20.9초 · 영상 3:23~]</a:t>
            </a:r>
          </a:p>
          <a:p>
            <a:r>
              <a:t>두 번째, 영업 자동화입니다. 비투비 영업은 견적부터 정산까지 파이프라인으로 관리되고, 거래처의 재주문 주기를 학습해 수주 제안 초안을 만들어 드립니다. 온라인에서는 품절 연동과 재입고 알림이 자동으로 돌고, 리뷰 속 품질 신호는 품질팀 안건으로 자동 등록됩니다.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21.9초 · 영상 3:44~]</a:t>
            </a:r>
          </a:p>
          <a:p>
            <a:r>
              <a:t>세 번째, 재고 최적화입니다. 결품과 폐기, 리드타임 지연 신호를 모아 원인을 진단하고, 안전재고와 발주점, 배분 계수의 조정안을 근거와 함께 만듭니다. 시뮬레이션으로 검증한 뒤, 사람이 승인하는 순간에만 실제 값이 바뀝니다. 안전재고가 매일 스스로 배우는 구조입니다.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21.9초 · 영상 4:06~]</a:t>
            </a:r>
          </a:p>
          <a:p>
            <a:r>
              <a:t>이 모든 지능은 트랜잭션 파이프라인 위에서 돕니다. 판매와 생산, 구매, 재고 이동, 폐기, 회계까지 여섯 계열의 기록이 각각 이벤트가 되고 특징량이 되어, 수요예측과 배분, 발주, 손익의 지능으로 변환됩니다. 모든 특징량은 원장에서만 나오므로, 근거 추적이 가능합니다.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20.3초 · 영상 4:28~]</a:t>
            </a:r>
          </a:p>
          <a:p>
            <a:r>
              <a:t>그 위에 온톨로지 지식그래프를 세웁니다. 제품과 레시피, 원료 로트, 매장, 거래처가 의미로 연결되고, 베테랑의 판단도 검증을 거쳐 규칙 노드로 편입됩니다. 지난달 반품 세 건의 공통 원인 같은 질문에, 그래프가 경로를 거슬러 근거와 함께 답하게 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21.7초 · 영상 4:48~]</a:t>
            </a:r>
          </a:p>
          <a:p>
            <a:r>
              <a:t>실행은 다섯 에이전트가 맡습니다. 수요예측, 원자재 보충, 지점 배분, 비투비 수주, 마감 분개입니다. 모든 에이전트는 제안까지만 하고, 실제 값 변경은 사람의 승인 순간에만 일어납니다. 워룸 관제탑이 제안과 승인율, 효과를 한 화면에서 감시하는 무한 개선 루프입니다.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23.6초 · 영상 5:10~]</a:t>
            </a:r>
          </a:p>
          <a:p>
            <a:r>
              <a:t>추진은 다섯 단계입니다. 현장 진단, 오두 기반 구축, 데이터 적재, 지능화, 그리고 환류입니다. 본점과 별빛샌드 한 곳, 주력 이십 개 품목으로 시작해 첫 승인까지 육 개월 이내를 목표로 하고, 검증된 파일럿을 대구와 신규 지점으로 복제합니다. 전체 표준 기간은 구 개월에서 십오 개월입니다.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20.9초 · 영상 5:34~]</a:t>
            </a:r>
          </a:p>
          <a:p>
            <a:r>
              <a:t>성공은 숫자로 판정합니다. 폐기율과 결품률의 동시 개선, 예측 정확도, 재고 정확도 구십오 퍼센트 이상, 그리고 이중 입력 제로입니다. 목표 수치는 진단 단계에서 귀사의 기준선을 재고 함께 서명합니다. </a:t>
            </a:r>
            <a:r>
              <a:rPr lang="ko-KR" altLang="en-US"/>
              <a:t>베이커리 </a:t>
            </a:r>
            <a:r>
              <a:rPr lang="en-US" altLang="ko-KR"/>
              <a:t>T</a:t>
            </a:r>
            <a:r>
              <a:rPr lang="ko-KR" altLang="en-US"/>
              <a:t>사의</a:t>
            </a:r>
            <a:r>
              <a:t> 숫자는 </a:t>
            </a:r>
            <a:r>
              <a:rPr lang="ko-KR" altLang="en-US"/>
              <a:t>베이커리 </a:t>
            </a:r>
            <a:r>
              <a:rPr lang="en-US" altLang="ko-KR"/>
              <a:t>T</a:t>
            </a:r>
            <a:r>
              <a:rPr lang="ko-KR" altLang="en-US"/>
              <a:t>사의</a:t>
            </a:r>
            <a:r>
              <a:t> 데이터로 증명하겠습니다.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21.8초 · 영상 5:54~]</a:t>
            </a:r>
          </a:p>
          <a:p>
            <a:r>
              <a:t>다시 답 드립니다. 네, 가능합니다. 첫걸음은 초량 본점의 무상 현장 진단 워크숍입니다. 칠십 년의 빵 굽는 기술이 </a:t>
            </a:r>
            <a:r>
              <a:rPr lang="ko-KR" altLang="en-US"/>
              <a:t>베이커리 </a:t>
            </a:r>
            <a:r>
              <a:rPr lang="en-US" altLang="ko-KR"/>
              <a:t>T</a:t>
            </a:r>
            <a:r>
              <a:rPr lang="ko-KR" altLang="en-US"/>
              <a:t>사를</a:t>
            </a:r>
            <a:r>
              <a:t> 만들었습니다. 이제 그 곁에, 기록하는 두 번째 오두 이알피와, 판단하는 세 번째 지능형 이알피를 세울 차례입니다. 부산, 영남권 담당 조직이 함께하겠습니다.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0D49F-63EE-533B-8B99-997F79DC40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9FFB2-0227-7525-AD2A-B2022DA0F2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2FCF6-79D3-618E-3895-926B6A66AD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B55DA1-8B5A-A107-7D4A-B0189BADD907}"/>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988401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503920" y="1280160"/>
            <a:ext cx="749808" cy="749808"/>
          </a:xfrm>
          <a:prstGeom prst="ellipse">
            <a:avLst/>
          </a:prstGeom>
          <a:solidFill>
            <a:srgbClr val="9C5227"/>
          </a:solidFill>
          <a:ln/>
        </p:spPr>
        <p:txBody>
          <a:bodyPr/>
          <a:lstStyle/>
          <a:p>
            <a:endParaRPr lang="ko-KR" altLang="en-US"/>
          </a:p>
        </p:txBody>
      </p:sp>
      <p:pic>
        <p:nvPicPr>
          <p:cNvPr id="3" name="Image 0" descr="preencoded.png"/>
          <p:cNvPicPr>
            <a:picLocks noChangeAspect="1"/>
          </p:cNvPicPr>
          <p:nvPr/>
        </p:nvPicPr>
        <p:blipFill>
          <a:blip r:embed="rId3"/>
          <a:stretch>
            <a:fillRect/>
          </a:stretch>
        </p:blipFill>
        <p:spPr>
          <a:xfrm>
            <a:off x="8706368" y="1482608"/>
            <a:ext cx="344912" cy="344912"/>
          </a:xfrm>
          <a:prstGeom prst="rect">
            <a:avLst/>
          </a:prstGeom>
        </p:spPr>
      </p:pic>
      <p:sp>
        <p:nvSpPr>
          <p:cNvPr id="4" name="Shape 1"/>
          <p:cNvSpPr/>
          <p:nvPr/>
        </p:nvSpPr>
        <p:spPr>
          <a:xfrm>
            <a:off x="10012680" y="2194560"/>
            <a:ext cx="749808" cy="749808"/>
          </a:xfrm>
          <a:prstGeom prst="ellipse">
            <a:avLst/>
          </a:prstGeom>
          <a:solidFill>
            <a:srgbClr val="E8A33D"/>
          </a:solidFill>
          <a:ln/>
        </p:spPr>
        <p:txBody>
          <a:bodyPr/>
          <a:lstStyle/>
          <a:p>
            <a:endParaRPr lang="ko-KR" altLang="en-US"/>
          </a:p>
        </p:txBody>
      </p:sp>
      <p:pic>
        <p:nvPicPr>
          <p:cNvPr id="5" name="Image 1" descr="preencoded.png"/>
          <p:cNvPicPr>
            <a:picLocks noChangeAspect="1"/>
          </p:cNvPicPr>
          <p:nvPr/>
        </p:nvPicPr>
        <p:blipFill>
          <a:blip r:embed="rId4"/>
          <a:stretch>
            <a:fillRect/>
          </a:stretch>
        </p:blipFill>
        <p:spPr>
          <a:xfrm>
            <a:off x="10215128" y="2397008"/>
            <a:ext cx="344912" cy="344912"/>
          </a:xfrm>
          <a:prstGeom prst="rect">
            <a:avLst/>
          </a:prstGeom>
        </p:spPr>
      </p:pic>
      <p:sp>
        <p:nvSpPr>
          <p:cNvPr id="6" name="Shape 2"/>
          <p:cNvSpPr/>
          <p:nvPr/>
        </p:nvSpPr>
        <p:spPr>
          <a:xfrm>
            <a:off x="8503920" y="3108960"/>
            <a:ext cx="749808" cy="749808"/>
          </a:xfrm>
          <a:prstGeom prst="ellipse">
            <a:avLst/>
          </a:prstGeom>
          <a:solidFill>
            <a:srgbClr val="0E8F86"/>
          </a:solidFill>
          <a:ln/>
        </p:spPr>
        <p:txBody>
          <a:bodyPr/>
          <a:lstStyle/>
          <a:p>
            <a:endParaRPr lang="ko-KR" altLang="en-US"/>
          </a:p>
        </p:txBody>
      </p:sp>
      <p:pic>
        <p:nvPicPr>
          <p:cNvPr id="7" name="Image 2" descr="preencoded.png"/>
          <p:cNvPicPr>
            <a:picLocks noChangeAspect="1"/>
          </p:cNvPicPr>
          <p:nvPr/>
        </p:nvPicPr>
        <p:blipFill>
          <a:blip r:embed="rId5"/>
          <a:stretch>
            <a:fillRect/>
          </a:stretch>
        </p:blipFill>
        <p:spPr>
          <a:xfrm>
            <a:off x="8706368" y="3311408"/>
            <a:ext cx="344912" cy="344912"/>
          </a:xfrm>
          <a:prstGeom prst="rect">
            <a:avLst/>
          </a:prstGeom>
        </p:spPr>
      </p:pic>
      <p:sp>
        <p:nvSpPr>
          <p:cNvPr id="8" name="Shape 3"/>
          <p:cNvSpPr/>
          <p:nvPr/>
        </p:nvSpPr>
        <p:spPr>
          <a:xfrm>
            <a:off x="10012680" y="4023360"/>
            <a:ext cx="749808" cy="749808"/>
          </a:xfrm>
          <a:prstGeom prst="ellipse">
            <a:avLst/>
          </a:prstGeom>
          <a:solidFill>
            <a:srgbClr val="714B67"/>
          </a:solidFill>
          <a:ln/>
        </p:spPr>
        <p:txBody>
          <a:bodyPr/>
          <a:lstStyle/>
          <a:p>
            <a:endParaRPr lang="ko-KR" altLang="en-US"/>
          </a:p>
        </p:txBody>
      </p:sp>
      <p:pic>
        <p:nvPicPr>
          <p:cNvPr id="9" name="Image 3" descr="preencoded.png"/>
          <p:cNvPicPr>
            <a:picLocks noChangeAspect="1"/>
          </p:cNvPicPr>
          <p:nvPr/>
        </p:nvPicPr>
        <p:blipFill>
          <a:blip r:embed="rId6"/>
          <a:stretch>
            <a:fillRect/>
          </a:stretch>
        </p:blipFill>
        <p:spPr>
          <a:xfrm>
            <a:off x="10215128" y="4225808"/>
            <a:ext cx="344912" cy="344912"/>
          </a:xfrm>
          <a:prstGeom prst="rect">
            <a:avLst/>
          </a:prstGeom>
        </p:spPr>
      </p:pic>
      <p:sp>
        <p:nvSpPr>
          <p:cNvPr id="10" name="Shape 4"/>
          <p:cNvSpPr/>
          <p:nvPr/>
        </p:nvSpPr>
        <p:spPr>
          <a:xfrm>
            <a:off x="8503920" y="4937760"/>
            <a:ext cx="749808" cy="749808"/>
          </a:xfrm>
          <a:prstGeom prst="ellipse">
            <a:avLst/>
          </a:prstGeom>
          <a:solidFill>
            <a:srgbClr val="C07F1E"/>
          </a:solidFill>
          <a:ln/>
        </p:spPr>
        <p:txBody>
          <a:bodyPr/>
          <a:lstStyle/>
          <a:p>
            <a:endParaRPr lang="ko-KR" altLang="en-US"/>
          </a:p>
        </p:txBody>
      </p:sp>
      <p:pic>
        <p:nvPicPr>
          <p:cNvPr id="11" name="Image 4" descr="preencoded.png"/>
          <p:cNvPicPr>
            <a:picLocks noChangeAspect="1"/>
          </p:cNvPicPr>
          <p:nvPr/>
        </p:nvPicPr>
        <p:blipFill>
          <a:blip r:embed="rId7"/>
          <a:stretch>
            <a:fillRect/>
          </a:stretch>
        </p:blipFill>
        <p:spPr>
          <a:xfrm>
            <a:off x="8706368" y="5140208"/>
            <a:ext cx="344912" cy="344912"/>
          </a:xfrm>
          <a:prstGeom prst="rect">
            <a:avLst/>
          </a:prstGeom>
        </p:spPr>
      </p:pic>
      <p:sp>
        <p:nvSpPr>
          <p:cNvPr id="12" name="Text 5"/>
          <p:cNvSpPr/>
          <p:nvPr/>
        </p:nvSpPr>
        <p:spPr>
          <a:xfrm>
            <a:off x="640080" y="868680"/>
            <a:ext cx="7498080" cy="320040"/>
          </a:xfrm>
          <a:prstGeom prst="rect">
            <a:avLst/>
          </a:prstGeom>
          <a:noFill/>
          <a:ln/>
        </p:spPr>
        <p:txBody>
          <a:bodyPr wrap="square" lIns="0" tIns="0" rIns="0" bIns="0" rtlCol="0" anchor="ctr"/>
          <a:lstStyle/>
          <a:p>
            <a:pPr marL="0" indent="0">
              <a:buNone/>
            </a:pPr>
            <a:r>
              <a:rPr lang="en-US" sz="1300" b="1" kern="0" spc="300" dirty="0">
                <a:solidFill>
                  <a:srgbClr val="E8A33D"/>
                </a:solidFill>
                <a:latin typeface="Malgun Gothic" pitchFamily="34" charset="0"/>
                <a:ea typeface="Malgun Gothic" pitchFamily="34" charset="-122"/>
                <a:cs typeface="Malgun Gothic" pitchFamily="34" charset="-120"/>
              </a:rPr>
              <a:t>CUSTOM PROPOSAL  ·</a:t>
            </a:r>
            <a:endParaRPr lang="en-US" sz="1300" dirty="0"/>
          </a:p>
        </p:txBody>
      </p:sp>
      <p:sp>
        <p:nvSpPr>
          <p:cNvPr id="13" name="Text 6"/>
          <p:cNvSpPr/>
          <p:nvPr/>
        </p:nvSpPr>
        <p:spPr>
          <a:xfrm>
            <a:off x="640080" y="1280160"/>
            <a:ext cx="7863840" cy="914400"/>
          </a:xfrm>
          <a:prstGeom prst="rect">
            <a:avLst/>
          </a:prstGeom>
          <a:noFill/>
          <a:ln/>
        </p:spPr>
        <p:txBody>
          <a:bodyPr wrap="square" lIns="0" tIns="0" rIns="0" bIns="0" rtlCol="0" anchor="ctr"/>
          <a:lstStyle/>
          <a:p>
            <a:pPr marL="0" indent="0">
              <a:buNone/>
            </a:pPr>
            <a:r>
              <a:rPr lang="ko-KR" altLang="en-US" sz="4000" b="1" dirty="0">
                <a:latin typeface="Malgun Gothic" pitchFamily="34" charset="0"/>
                <a:ea typeface="Malgun Gothic" pitchFamily="34" charset="-122"/>
                <a:cs typeface="Malgun Gothic" pitchFamily="34" charset="-120"/>
              </a:rPr>
              <a:t>베이커리 </a:t>
            </a:r>
            <a:r>
              <a:rPr lang="en-US" altLang="ko-KR" sz="4000" b="1" dirty="0">
                <a:latin typeface="Malgun Gothic" pitchFamily="34" charset="0"/>
                <a:ea typeface="Malgun Gothic" pitchFamily="34" charset="-122"/>
                <a:cs typeface="Malgun Gothic" pitchFamily="34" charset="-120"/>
              </a:rPr>
              <a:t>T</a:t>
            </a:r>
            <a:r>
              <a:rPr lang="ko-KR" altLang="en-US" sz="4000" b="1" dirty="0">
                <a:latin typeface="Malgun Gothic" pitchFamily="34" charset="0"/>
                <a:ea typeface="Malgun Gothic" pitchFamily="34" charset="-122"/>
                <a:cs typeface="Malgun Gothic" pitchFamily="34" charset="-120"/>
              </a:rPr>
              <a:t>사 </a:t>
            </a:r>
            <a:r>
              <a:rPr lang="en-US" sz="4000" b="1" dirty="0">
                <a:latin typeface="Malgun Gothic" pitchFamily="34" charset="0"/>
                <a:ea typeface="Malgun Gothic" pitchFamily="34" charset="-122"/>
                <a:cs typeface="Malgun Gothic" pitchFamily="34" charset="-120"/>
              </a:rPr>
              <a:t>AX </a:t>
            </a:r>
            <a:r>
              <a:rPr lang="ko-KR" altLang="en-US" sz="4000" b="1" dirty="0">
                <a:latin typeface="Malgun Gothic" pitchFamily="34" charset="0"/>
                <a:ea typeface="Malgun Gothic" pitchFamily="34" charset="-122"/>
                <a:cs typeface="Malgun Gothic" pitchFamily="34" charset="-120"/>
              </a:rPr>
              <a:t>프로젝트 </a:t>
            </a:r>
            <a:r>
              <a:rPr lang="en-US" sz="4000" b="1" dirty="0" err="1">
                <a:latin typeface="Malgun Gothic" pitchFamily="34" charset="0"/>
                <a:ea typeface="Malgun Gothic" pitchFamily="34" charset="-122"/>
                <a:cs typeface="Malgun Gothic" pitchFamily="34" charset="-120"/>
              </a:rPr>
              <a:t>제안</a:t>
            </a:r>
            <a:endParaRPr lang="en-US" sz="4000" dirty="0"/>
          </a:p>
        </p:txBody>
      </p:sp>
      <p:sp>
        <p:nvSpPr>
          <p:cNvPr id="14" name="Text 7"/>
          <p:cNvSpPr/>
          <p:nvPr/>
        </p:nvSpPr>
        <p:spPr>
          <a:xfrm>
            <a:off x="640080" y="2286000"/>
            <a:ext cx="7589520" cy="868680"/>
          </a:xfrm>
          <a:prstGeom prst="rect">
            <a:avLst/>
          </a:prstGeom>
          <a:noFill/>
          <a:ln/>
        </p:spPr>
        <p:txBody>
          <a:bodyPr wrap="square" lIns="0" tIns="0" rIns="0" bIns="0" rtlCol="0" anchor="ctr"/>
          <a:lstStyle/>
          <a:p>
            <a:pPr marL="0" indent="0">
              <a:lnSpc>
                <a:spcPct val="125000"/>
              </a:lnSpc>
              <a:buNone/>
            </a:pPr>
            <a:r>
              <a:rPr lang="en-US" sz="1800" b="1" dirty="0">
                <a:latin typeface="Malgun Gothic" pitchFamily="34" charset="0"/>
                <a:ea typeface="Malgun Gothic" pitchFamily="34" charset="-122"/>
                <a:cs typeface="Malgun Gothic" pitchFamily="34" charset="-120"/>
              </a:rPr>
              <a:t>재고·발주·회계를 하나의 원장으로 —</a:t>
            </a:r>
            <a:endParaRPr lang="en-US" sz="1800" dirty="0"/>
          </a:p>
          <a:p>
            <a:pPr marL="0" indent="0">
              <a:lnSpc>
                <a:spcPct val="125000"/>
              </a:lnSpc>
              <a:buNone/>
            </a:pPr>
            <a:r>
              <a:rPr lang="en-US" sz="1800" b="1" dirty="0">
                <a:latin typeface="Malgun Gothic" pitchFamily="34" charset="0"/>
                <a:ea typeface="Malgun Gothic" pitchFamily="34" charset="-122"/>
                <a:cs typeface="Malgun Gothic" pitchFamily="34" charset="-120"/>
              </a:rPr>
              <a:t>데이터 파이프라인에서 온톨로지·지식그래프, AI 에이전트까지</a:t>
            </a:r>
            <a:endParaRPr lang="en-US" sz="1800" dirty="0"/>
          </a:p>
        </p:txBody>
      </p:sp>
      <p:sp>
        <p:nvSpPr>
          <p:cNvPr id="15" name="Shape 8"/>
          <p:cNvSpPr/>
          <p:nvPr/>
        </p:nvSpPr>
        <p:spPr>
          <a:xfrm>
            <a:off x="640080" y="3429000"/>
            <a:ext cx="7498080" cy="1234440"/>
          </a:xfrm>
          <a:prstGeom prst="roundRect">
            <a:avLst>
              <a:gd name="adj" fmla="val 6667"/>
            </a:avLst>
          </a:prstGeom>
          <a:solidFill>
            <a:srgbClr val="3E2C1D"/>
          </a:solidFill>
          <a:ln/>
        </p:spPr>
        <p:txBody>
          <a:bodyPr/>
          <a:lstStyle/>
          <a:p>
            <a:endParaRPr lang="ko-KR" altLang="en-US"/>
          </a:p>
        </p:txBody>
      </p:sp>
      <p:sp>
        <p:nvSpPr>
          <p:cNvPr id="16" name="Text 9"/>
          <p:cNvSpPr/>
          <p:nvPr/>
        </p:nvSpPr>
        <p:spPr>
          <a:xfrm>
            <a:off x="868680" y="3547872"/>
            <a:ext cx="7040880" cy="1005840"/>
          </a:xfrm>
          <a:prstGeom prst="rect">
            <a:avLst/>
          </a:prstGeom>
          <a:noFill/>
          <a:ln/>
        </p:spPr>
        <p:txBody>
          <a:bodyPr wrap="square" lIns="0" tIns="0" rIns="0" bIns="0" rtlCol="0" anchor="t"/>
          <a:lstStyle/>
          <a:p>
            <a:pPr marL="0" indent="0">
              <a:lnSpc>
                <a:spcPct val="125000"/>
              </a:lnSpc>
              <a:buNone/>
            </a:pPr>
            <a:r>
              <a:rPr lang="en-US" sz="1250" b="1" dirty="0">
                <a:solidFill>
                  <a:srgbClr val="E8A33D"/>
                </a:solidFill>
                <a:latin typeface="Malgun Gothic" pitchFamily="34" charset="0"/>
                <a:ea typeface="Malgun Gothic" pitchFamily="34" charset="-122"/>
                <a:cs typeface="Malgun Gothic" pitchFamily="34" charset="-120"/>
              </a:rPr>
              <a:t>귀사의 질의  </a:t>
            </a:r>
            <a:r>
              <a:rPr lang="en-US" sz="1250" i="1" dirty="0">
                <a:solidFill>
                  <a:srgbClr val="FFFFFF"/>
                </a:solidFill>
                <a:latin typeface="Malgun Gothic" pitchFamily="34" charset="0"/>
                <a:ea typeface="Malgun Gothic" pitchFamily="34" charset="-122"/>
                <a:cs typeface="Malgun Gothic" pitchFamily="34" charset="-120"/>
              </a:rPr>
              <a:t>"원자재 및 완제품 재고 관리, 매장/B2B 발주 및 회계 연동, AI를 활용한 실무 자동화와 관련해 저희 업장에 맞춘 ERP 도입 현장 컨설팅이 가능한지 궁금합니다."</a:t>
            </a:r>
            <a:endParaRPr lang="en-US" sz="1250" dirty="0"/>
          </a:p>
        </p:txBody>
      </p:sp>
      <p:sp>
        <p:nvSpPr>
          <p:cNvPr id="18" name="Text 11"/>
          <p:cNvSpPr/>
          <p:nvPr/>
        </p:nvSpPr>
        <p:spPr>
          <a:xfrm>
            <a:off x="640080" y="5486400"/>
            <a:ext cx="7863840" cy="365760"/>
          </a:xfrm>
          <a:prstGeom prst="rect">
            <a:avLst/>
          </a:prstGeom>
          <a:noFill/>
          <a:ln/>
        </p:spPr>
        <p:txBody>
          <a:bodyPr wrap="square" lIns="0" tIns="0" rIns="0" bIns="0" rtlCol="0" anchor="ctr"/>
          <a:lstStyle/>
          <a:p>
            <a:pPr marL="0" indent="0">
              <a:buNone/>
            </a:pPr>
            <a:r>
              <a:rPr lang="en-US" sz="1250" dirty="0">
                <a:latin typeface="Malgun Gothic" pitchFamily="34" charset="0"/>
                <a:ea typeface="Malgun Gothic" pitchFamily="34" charset="-122"/>
                <a:cs typeface="Malgun Gothic" pitchFamily="34" charset="-120"/>
              </a:rPr>
              <a:t>에이에스씨  ·  『AI ERP 혁명 — Odoo와 지능형 ERP』 저자  ·  부산·영남권 담당 송무준  ·  2026. 9</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CLIENT UNDERSTANDING</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ko-KR" altLang="en-US" sz="2500" b="1" dirty="0">
                <a:solidFill>
                  <a:srgbClr val="2E241C"/>
                </a:solidFill>
                <a:latin typeface="Malgun Gothic" pitchFamily="34" charset="0"/>
                <a:ea typeface="Malgun Gothic" pitchFamily="34" charset="-122"/>
                <a:cs typeface="Malgun Gothic" pitchFamily="34" charset="-120"/>
              </a:rPr>
              <a:t>베이커리 </a:t>
            </a:r>
            <a:r>
              <a:rPr lang="en-US" altLang="ko-KR" sz="2500" b="1" dirty="0">
                <a:solidFill>
                  <a:srgbClr val="2E241C"/>
                </a:solidFill>
                <a:latin typeface="Malgun Gothic" pitchFamily="34" charset="0"/>
                <a:ea typeface="Malgun Gothic" pitchFamily="34" charset="-122"/>
                <a:cs typeface="Malgun Gothic" pitchFamily="34" charset="-120"/>
              </a:rPr>
              <a:t>T</a:t>
            </a:r>
            <a:r>
              <a:rPr lang="ko-KR" altLang="en-US" sz="2500" b="1" dirty="0">
                <a:solidFill>
                  <a:srgbClr val="2E241C"/>
                </a:solidFill>
                <a:latin typeface="Malgun Gothic" pitchFamily="34" charset="0"/>
                <a:ea typeface="Malgun Gothic" pitchFamily="34" charset="-122"/>
                <a:cs typeface="Malgun Gothic" pitchFamily="34" charset="-120"/>
              </a:rPr>
              <a:t>사의</a:t>
            </a:r>
            <a:r>
              <a:rPr lang="en-US" sz="2500" b="1" dirty="0">
                <a:solidFill>
                  <a:srgbClr val="2E241C"/>
                </a:solidFill>
                <a:latin typeface="Malgun Gothic" pitchFamily="34" charset="0"/>
                <a:ea typeface="Malgun Gothic" pitchFamily="34" charset="-122"/>
                <a:cs typeface="Malgun Gothic" pitchFamily="34" charset="-120"/>
              </a:rPr>
              <a:t> 오늘 — 70년의 빵, 세 개의 채널, 세 개의 도시</a:t>
            </a:r>
            <a:endParaRPr lang="en-US" sz="2500" dirty="0"/>
          </a:p>
        </p:txBody>
      </p:sp>
      <p:sp>
        <p:nvSpPr>
          <p:cNvPr id="4" name="Shape 2"/>
          <p:cNvSpPr/>
          <p:nvPr/>
        </p:nvSpPr>
        <p:spPr>
          <a:xfrm>
            <a:off x="502920" y="1463040"/>
            <a:ext cx="5760720" cy="4297680"/>
          </a:xfrm>
          <a:prstGeom prst="roundRect">
            <a:avLst>
              <a:gd name="adj" fmla="val 1915"/>
            </a:avLst>
          </a:prstGeom>
          <a:solidFill>
            <a:srgbClr val="F8F2EA"/>
          </a:solidFill>
          <a:ln/>
        </p:spPr>
        <p:txBody>
          <a:bodyPr/>
          <a:lstStyle/>
          <a:p>
            <a:endParaRPr lang="ko-KR" altLang="en-US"/>
          </a:p>
        </p:txBody>
      </p:sp>
      <p:sp>
        <p:nvSpPr>
          <p:cNvPr id="5" name="Text 3"/>
          <p:cNvSpPr/>
          <p:nvPr/>
        </p:nvSpPr>
        <p:spPr>
          <a:xfrm>
            <a:off x="777240" y="1645920"/>
            <a:ext cx="5303520" cy="310896"/>
          </a:xfrm>
          <a:prstGeom prst="rect">
            <a:avLst/>
          </a:prstGeom>
          <a:noFill/>
          <a:ln/>
        </p:spPr>
        <p:txBody>
          <a:bodyPr wrap="square" lIns="0" tIns="0" rIns="0" bIns="0" rtlCol="0" anchor="ctr"/>
          <a:lstStyle/>
          <a:p>
            <a:pPr marL="0" indent="0">
              <a:buNone/>
            </a:pPr>
            <a:r>
              <a:rPr lang="en-US" sz="1450" b="1" dirty="0" err="1">
                <a:solidFill>
                  <a:srgbClr val="9C5227"/>
                </a:solidFill>
                <a:latin typeface="Malgun Gothic" pitchFamily="34" charset="0"/>
                <a:ea typeface="Malgun Gothic" pitchFamily="34" charset="-122"/>
                <a:cs typeface="Malgun Gothic" pitchFamily="34" charset="-120"/>
              </a:rPr>
              <a:t>주식회사</a:t>
            </a:r>
            <a:r>
              <a:rPr lang="en-US" sz="1450" b="1" dirty="0">
                <a:solidFill>
                  <a:srgbClr val="9C5227"/>
                </a:solidFill>
                <a:latin typeface="Malgun Gothic" pitchFamily="34" charset="0"/>
                <a:ea typeface="Malgun Gothic" pitchFamily="34" charset="-122"/>
                <a:cs typeface="Malgun Gothic" pitchFamily="34" charset="-120"/>
              </a:rPr>
              <a:t> </a:t>
            </a:r>
            <a:r>
              <a:rPr lang="ko-KR" altLang="en-US" sz="1450" b="1" dirty="0">
                <a:solidFill>
                  <a:srgbClr val="9C5227"/>
                </a:solidFill>
                <a:latin typeface="Malgun Gothic" pitchFamily="34" charset="0"/>
                <a:ea typeface="Malgun Gothic" pitchFamily="34" charset="-122"/>
                <a:cs typeface="Malgun Gothic" pitchFamily="34" charset="-120"/>
              </a:rPr>
              <a:t>베이커리 </a:t>
            </a:r>
            <a:r>
              <a:rPr lang="en-US" sz="1450" b="1" dirty="0">
                <a:solidFill>
                  <a:srgbClr val="9C5227"/>
                </a:solidFill>
                <a:latin typeface="Malgun Gothic" pitchFamily="34" charset="0"/>
                <a:ea typeface="Malgun Gothic" pitchFamily="34" charset="-122"/>
                <a:cs typeface="Malgun Gothic" pitchFamily="34" charset="-120"/>
              </a:rPr>
              <a:t>T</a:t>
            </a:r>
            <a:r>
              <a:rPr lang="ko-KR" altLang="en-US" sz="1450" b="1" dirty="0">
                <a:solidFill>
                  <a:srgbClr val="9C5227"/>
                </a:solidFill>
                <a:latin typeface="Malgun Gothic" pitchFamily="34" charset="0"/>
                <a:ea typeface="Malgun Gothic" pitchFamily="34" charset="-122"/>
                <a:cs typeface="Malgun Gothic" pitchFamily="34" charset="-120"/>
              </a:rPr>
              <a:t>사</a:t>
            </a:r>
            <a:r>
              <a:rPr lang="en-US" sz="1450" b="1" dirty="0">
                <a:solidFill>
                  <a:srgbClr val="9C5227"/>
                </a:solidFill>
                <a:latin typeface="Malgun Gothic" pitchFamily="34" charset="0"/>
                <a:ea typeface="Malgun Gothic" pitchFamily="34" charset="-122"/>
                <a:cs typeface="Malgun Gothic" pitchFamily="34" charset="-120"/>
              </a:rPr>
              <a:t> (매장 브랜드 1950 </a:t>
            </a:r>
            <a:r>
              <a:rPr lang="ko-KR" altLang="en-US" sz="1450" b="1" dirty="0">
                <a:solidFill>
                  <a:srgbClr val="9C5227"/>
                </a:solidFill>
                <a:latin typeface="Malgun Gothic" pitchFamily="34" charset="0"/>
                <a:ea typeface="Malgun Gothic" pitchFamily="34" charset="-122"/>
                <a:cs typeface="Malgun Gothic" pitchFamily="34" charset="-120"/>
              </a:rPr>
              <a:t>베이커리 </a:t>
            </a:r>
            <a:r>
              <a:rPr lang="en-US" sz="1450" b="1" dirty="0">
                <a:solidFill>
                  <a:srgbClr val="9C5227"/>
                </a:solidFill>
                <a:latin typeface="Malgun Gothic" pitchFamily="34" charset="0"/>
                <a:ea typeface="Malgun Gothic" pitchFamily="34" charset="-122"/>
                <a:cs typeface="Malgun Gothic" pitchFamily="34" charset="-120"/>
              </a:rPr>
              <a:t>T</a:t>
            </a:r>
            <a:r>
              <a:rPr lang="ko-KR" altLang="en-US" sz="1450" b="1" dirty="0">
                <a:solidFill>
                  <a:srgbClr val="9C5227"/>
                </a:solidFill>
                <a:latin typeface="Malgun Gothic" pitchFamily="34" charset="0"/>
                <a:ea typeface="Malgun Gothic" pitchFamily="34" charset="-122"/>
                <a:cs typeface="Malgun Gothic" pitchFamily="34" charset="-120"/>
              </a:rPr>
              <a:t>사</a:t>
            </a:r>
            <a:r>
              <a:rPr lang="en-US" sz="1450" b="1" dirty="0">
                <a:solidFill>
                  <a:srgbClr val="9C5227"/>
                </a:solidFill>
                <a:latin typeface="Malgun Gothic" pitchFamily="34" charset="0"/>
                <a:ea typeface="Malgun Gothic" pitchFamily="34" charset="-122"/>
                <a:cs typeface="Malgun Gothic" pitchFamily="34" charset="-120"/>
              </a:rPr>
              <a:t>)</a:t>
            </a:r>
            <a:endParaRPr lang="en-US" sz="1450" dirty="0"/>
          </a:p>
        </p:txBody>
      </p:sp>
      <p:sp>
        <p:nvSpPr>
          <p:cNvPr id="6" name="Shape 4"/>
          <p:cNvSpPr/>
          <p:nvPr/>
        </p:nvSpPr>
        <p:spPr>
          <a:xfrm>
            <a:off x="777240" y="2066544"/>
            <a:ext cx="5257800" cy="621792"/>
          </a:xfrm>
          <a:prstGeom prst="roundRect">
            <a:avLst>
              <a:gd name="adj" fmla="val 13235"/>
            </a:avLst>
          </a:prstGeom>
          <a:solidFill>
            <a:srgbClr val="FFFFFF"/>
          </a:solidFill>
          <a:ln w="9525">
            <a:solidFill>
              <a:srgbClr val="DCCDBB"/>
            </a:solidFill>
            <a:prstDash val="solid"/>
          </a:ln>
        </p:spPr>
        <p:txBody>
          <a:bodyPr/>
          <a:lstStyle/>
          <a:p>
            <a:endParaRPr lang="ko-KR" altLang="en-US"/>
          </a:p>
        </p:txBody>
      </p:sp>
      <p:sp>
        <p:nvSpPr>
          <p:cNvPr id="7" name="Text 5"/>
          <p:cNvSpPr/>
          <p:nvPr/>
        </p:nvSpPr>
        <p:spPr>
          <a:xfrm>
            <a:off x="978408" y="2112264"/>
            <a:ext cx="1234440" cy="530352"/>
          </a:xfrm>
          <a:prstGeom prst="rect">
            <a:avLst/>
          </a:prstGeom>
          <a:noFill/>
          <a:ln/>
        </p:spPr>
        <p:txBody>
          <a:bodyPr wrap="square" lIns="0" tIns="0" rIns="0" bIns="0" rtlCol="0" anchor="ctr"/>
          <a:lstStyle/>
          <a:p>
            <a:pPr marL="0" indent="0">
              <a:buNone/>
            </a:pPr>
            <a:r>
              <a:rPr lang="en-US" sz="1100" b="1" dirty="0">
                <a:solidFill>
                  <a:srgbClr val="0E8F86"/>
                </a:solidFill>
                <a:latin typeface="Malgun Gothic" pitchFamily="34" charset="0"/>
                <a:ea typeface="Malgun Gothic" pitchFamily="34" charset="-122"/>
                <a:cs typeface="Malgun Gothic" pitchFamily="34" charset="-120"/>
              </a:rPr>
              <a:t>연혁</a:t>
            </a:r>
            <a:endParaRPr lang="en-US" sz="1100" dirty="0"/>
          </a:p>
        </p:txBody>
      </p:sp>
      <p:sp>
        <p:nvSpPr>
          <p:cNvPr id="8" name="Text 6"/>
          <p:cNvSpPr/>
          <p:nvPr/>
        </p:nvSpPr>
        <p:spPr>
          <a:xfrm>
            <a:off x="2240280" y="2112264"/>
            <a:ext cx="3703320" cy="530352"/>
          </a:xfrm>
          <a:prstGeom prst="rect">
            <a:avLst/>
          </a:prstGeom>
          <a:noFill/>
          <a:ln/>
        </p:spPr>
        <p:txBody>
          <a:bodyPr wrap="square" lIns="0" tIns="0" rIns="0" bIns="0" rtlCol="0" anchor="ctr"/>
          <a:lstStyle/>
          <a:p>
            <a:pPr marL="0" indent="0">
              <a:lnSpc>
                <a:spcPct val="108000"/>
              </a:lnSpc>
              <a:buNone/>
            </a:pPr>
            <a:r>
              <a:rPr lang="en-US" sz="1000" dirty="0">
                <a:solidFill>
                  <a:srgbClr val="2E241C"/>
                </a:solidFill>
                <a:latin typeface="Malgun Gothic" pitchFamily="34" charset="0"/>
                <a:ea typeface="Malgun Gothic" pitchFamily="34" charset="-122"/>
                <a:cs typeface="Malgun Gothic" pitchFamily="34" charset="-120"/>
              </a:rPr>
              <a:t>70년 전통 제빵 기술 · 2020.12 법인 설립 (대표 이나겸)</a:t>
            </a:r>
            <a:endParaRPr lang="en-US" sz="1000" dirty="0"/>
          </a:p>
        </p:txBody>
      </p:sp>
      <p:sp>
        <p:nvSpPr>
          <p:cNvPr id="9" name="Shape 7"/>
          <p:cNvSpPr/>
          <p:nvPr/>
        </p:nvSpPr>
        <p:spPr>
          <a:xfrm>
            <a:off x="777240" y="2798064"/>
            <a:ext cx="5257800" cy="621792"/>
          </a:xfrm>
          <a:prstGeom prst="roundRect">
            <a:avLst>
              <a:gd name="adj" fmla="val 13235"/>
            </a:avLst>
          </a:prstGeom>
          <a:solidFill>
            <a:srgbClr val="FFFFFF"/>
          </a:solidFill>
          <a:ln w="9525">
            <a:solidFill>
              <a:srgbClr val="DCCDBB"/>
            </a:solidFill>
            <a:prstDash val="solid"/>
          </a:ln>
        </p:spPr>
        <p:txBody>
          <a:bodyPr/>
          <a:lstStyle/>
          <a:p>
            <a:endParaRPr lang="ko-KR" altLang="en-US"/>
          </a:p>
        </p:txBody>
      </p:sp>
      <p:sp>
        <p:nvSpPr>
          <p:cNvPr id="10" name="Text 8"/>
          <p:cNvSpPr/>
          <p:nvPr/>
        </p:nvSpPr>
        <p:spPr>
          <a:xfrm>
            <a:off x="978408" y="2843784"/>
            <a:ext cx="1234440" cy="530352"/>
          </a:xfrm>
          <a:prstGeom prst="rect">
            <a:avLst/>
          </a:prstGeom>
          <a:noFill/>
          <a:ln/>
        </p:spPr>
        <p:txBody>
          <a:bodyPr wrap="square" lIns="0" tIns="0" rIns="0" bIns="0" rtlCol="0" anchor="ctr"/>
          <a:lstStyle/>
          <a:p>
            <a:pPr marL="0" indent="0">
              <a:buNone/>
            </a:pPr>
            <a:r>
              <a:rPr lang="en-US" sz="1100" b="1" dirty="0">
                <a:solidFill>
                  <a:srgbClr val="0E8F86"/>
                </a:solidFill>
                <a:latin typeface="Malgun Gothic" pitchFamily="34" charset="0"/>
                <a:ea typeface="Malgun Gothic" pitchFamily="34" charset="-122"/>
                <a:cs typeface="Malgun Gothic" pitchFamily="34" charset="-120"/>
              </a:rPr>
              <a:t>본점</a:t>
            </a:r>
            <a:endParaRPr lang="en-US" sz="1100" dirty="0"/>
          </a:p>
        </p:txBody>
      </p:sp>
      <p:sp>
        <p:nvSpPr>
          <p:cNvPr id="11" name="Text 9"/>
          <p:cNvSpPr/>
          <p:nvPr/>
        </p:nvSpPr>
        <p:spPr>
          <a:xfrm>
            <a:off x="2240280" y="2843784"/>
            <a:ext cx="3703320" cy="530352"/>
          </a:xfrm>
          <a:prstGeom prst="rect">
            <a:avLst/>
          </a:prstGeom>
          <a:noFill/>
          <a:ln/>
        </p:spPr>
        <p:txBody>
          <a:bodyPr wrap="square" lIns="0" tIns="0" rIns="0" bIns="0" rtlCol="0" anchor="ctr"/>
          <a:lstStyle/>
          <a:p>
            <a:pPr marL="0" indent="0">
              <a:lnSpc>
                <a:spcPct val="108000"/>
              </a:lnSpc>
              <a:buNone/>
            </a:pPr>
            <a:r>
              <a:rPr lang="en-US" sz="1000" dirty="0">
                <a:solidFill>
                  <a:srgbClr val="2E241C"/>
                </a:solidFill>
                <a:latin typeface="Malgun Gothic" pitchFamily="34" charset="0"/>
                <a:ea typeface="Malgun Gothic" pitchFamily="34" charset="-122"/>
                <a:cs typeface="Malgun Gothic" pitchFamily="34" charset="-120"/>
              </a:rPr>
              <a:t>부산 동구 초량동 — 빵지순례 필수 코스, '부산 관광 스타 기업'</a:t>
            </a:r>
            <a:endParaRPr lang="en-US" sz="1000" dirty="0"/>
          </a:p>
        </p:txBody>
      </p:sp>
      <p:sp>
        <p:nvSpPr>
          <p:cNvPr id="12" name="Shape 10"/>
          <p:cNvSpPr/>
          <p:nvPr/>
        </p:nvSpPr>
        <p:spPr>
          <a:xfrm>
            <a:off x="777240" y="3529584"/>
            <a:ext cx="5257800" cy="621792"/>
          </a:xfrm>
          <a:prstGeom prst="roundRect">
            <a:avLst>
              <a:gd name="adj" fmla="val 13235"/>
            </a:avLst>
          </a:prstGeom>
          <a:solidFill>
            <a:srgbClr val="FFFFFF"/>
          </a:solidFill>
          <a:ln w="9525">
            <a:solidFill>
              <a:srgbClr val="DCCDBB"/>
            </a:solidFill>
            <a:prstDash val="solid"/>
          </a:ln>
        </p:spPr>
        <p:txBody>
          <a:bodyPr/>
          <a:lstStyle/>
          <a:p>
            <a:endParaRPr lang="ko-KR" altLang="en-US"/>
          </a:p>
        </p:txBody>
      </p:sp>
      <p:sp>
        <p:nvSpPr>
          <p:cNvPr id="13" name="Text 11"/>
          <p:cNvSpPr/>
          <p:nvPr/>
        </p:nvSpPr>
        <p:spPr>
          <a:xfrm>
            <a:off x="978408" y="3575304"/>
            <a:ext cx="1234440" cy="530352"/>
          </a:xfrm>
          <a:prstGeom prst="rect">
            <a:avLst/>
          </a:prstGeom>
          <a:noFill/>
          <a:ln/>
        </p:spPr>
        <p:txBody>
          <a:bodyPr wrap="square" lIns="0" tIns="0" rIns="0" bIns="0" rtlCol="0" anchor="ctr"/>
          <a:lstStyle/>
          <a:p>
            <a:pPr marL="0" indent="0">
              <a:buNone/>
            </a:pPr>
            <a:r>
              <a:rPr lang="en-US" sz="1100" b="1" dirty="0">
                <a:solidFill>
                  <a:srgbClr val="0E8F86"/>
                </a:solidFill>
                <a:latin typeface="Malgun Gothic" pitchFamily="34" charset="0"/>
                <a:ea typeface="Malgun Gothic" pitchFamily="34" charset="-122"/>
                <a:cs typeface="Malgun Gothic" pitchFamily="34" charset="-120"/>
              </a:rPr>
              <a:t>확장</a:t>
            </a:r>
            <a:endParaRPr lang="en-US" sz="1100" dirty="0"/>
          </a:p>
        </p:txBody>
      </p:sp>
      <p:sp>
        <p:nvSpPr>
          <p:cNvPr id="14" name="Text 12"/>
          <p:cNvSpPr/>
          <p:nvPr/>
        </p:nvSpPr>
        <p:spPr>
          <a:xfrm>
            <a:off x="2240280" y="3575304"/>
            <a:ext cx="3703320" cy="530352"/>
          </a:xfrm>
          <a:prstGeom prst="rect">
            <a:avLst/>
          </a:prstGeom>
          <a:noFill/>
          <a:ln/>
        </p:spPr>
        <p:txBody>
          <a:bodyPr wrap="square" lIns="0" tIns="0" rIns="0" bIns="0" rtlCol="0" anchor="ctr"/>
          <a:lstStyle/>
          <a:p>
            <a:pPr marL="0" indent="0">
              <a:lnSpc>
                <a:spcPct val="108000"/>
              </a:lnSpc>
              <a:buNone/>
            </a:pPr>
            <a:r>
              <a:rPr lang="en-US" sz="1000" dirty="0">
                <a:solidFill>
                  <a:srgbClr val="2E241C"/>
                </a:solidFill>
                <a:latin typeface="Malgun Gothic" pitchFamily="34" charset="0"/>
                <a:ea typeface="Malgun Gothic" pitchFamily="34" charset="-122"/>
                <a:cs typeface="Malgun Gothic" pitchFamily="34" charset="-120"/>
              </a:rPr>
              <a:t>2023.11 부산별빛샌드 · 2024.11 대구별빛샌드 — 유통망 확대 중</a:t>
            </a:r>
            <a:endParaRPr lang="en-US" sz="1000" dirty="0"/>
          </a:p>
        </p:txBody>
      </p:sp>
      <p:sp>
        <p:nvSpPr>
          <p:cNvPr id="15" name="Shape 13"/>
          <p:cNvSpPr/>
          <p:nvPr/>
        </p:nvSpPr>
        <p:spPr>
          <a:xfrm>
            <a:off x="777240" y="4261104"/>
            <a:ext cx="5257800" cy="621792"/>
          </a:xfrm>
          <a:prstGeom prst="roundRect">
            <a:avLst>
              <a:gd name="adj" fmla="val 13235"/>
            </a:avLst>
          </a:prstGeom>
          <a:solidFill>
            <a:srgbClr val="FFFFFF"/>
          </a:solidFill>
          <a:ln w="9525">
            <a:solidFill>
              <a:srgbClr val="DCCDBB"/>
            </a:solidFill>
            <a:prstDash val="solid"/>
          </a:ln>
        </p:spPr>
        <p:txBody>
          <a:bodyPr/>
          <a:lstStyle/>
          <a:p>
            <a:endParaRPr lang="ko-KR" altLang="en-US"/>
          </a:p>
        </p:txBody>
      </p:sp>
      <p:sp>
        <p:nvSpPr>
          <p:cNvPr id="16" name="Text 14"/>
          <p:cNvSpPr/>
          <p:nvPr/>
        </p:nvSpPr>
        <p:spPr>
          <a:xfrm>
            <a:off x="978408" y="4306824"/>
            <a:ext cx="1234440" cy="530352"/>
          </a:xfrm>
          <a:prstGeom prst="rect">
            <a:avLst/>
          </a:prstGeom>
          <a:noFill/>
          <a:ln/>
        </p:spPr>
        <p:txBody>
          <a:bodyPr wrap="square" lIns="0" tIns="0" rIns="0" bIns="0" rtlCol="0" anchor="ctr"/>
          <a:lstStyle/>
          <a:p>
            <a:pPr marL="0" indent="0">
              <a:buNone/>
            </a:pPr>
            <a:r>
              <a:rPr lang="en-US" sz="1100" b="1" dirty="0">
                <a:solidFill>
                  <a:srgbClr val="0E8F86"/>
                </a:solidFill>
                <a:latin typeface="Malgun Gothic" pitchFamily="34" charset="0"/>
                <a:ea typeface="Malgun Gothic" pitchFamily="34" charset="-122"/>
                <a:cs typeface="Malgun Gothic" pitchFamily="34" charset="-120"/>
              </a:rPr>
              <a:t>대표 메뉴</a:t>
            </a:r>
            <a:endParaRPr lang="en-US" sz="1100" dirty="0"/>
          </a:p>
        </p:txBody>
      </p:sp>
      <p:sp>
        <p:nvSpPr>
          <p:cNvPr id="17" name="Text 15"/>
          <p:cNvSpPr/>
          <p:nvPr/>
        </p:nvSpPr>
        <p:spPr>
          <a:xfrm>
            <a:off x="2240280" y="4306824"/>
            <a:ext cx="3703320" cy="530352"/>
          </a:xfrm>
          <a:prstGeom prst="rect">
            <a:avLst/>
          </a:prstGeom>
          <a:noFill/>
          <a:ln/>
        </p:spPr>
        <p:txBody>
          <a:bodyPr wrap="square" lIns="0" tIns="0" rIns="0" bIns="0" rtlCol="0" anchor="ctr"/>
          <a:lstStyle/>
          <a:p>
            <a:pPr marL="0" indent="0">
              <a:lnSpc>
                <a:spcPct val="108000"/>
              </a:lnSpc>
              <a:buNone/>
            </a:pPr>
            <a:r>
              <a:rPr lang="en-US" sz="1000" dirty="0">
                <a:solidFill>
                  <a:srgbClr val="2E241C"/>
                </a:solidFill>
                <a:latin typeface="Malgun Gothic" pitchFamily="34" charset="0"/>
                <a:ea typeface="Malgun Gothic" pitchFamily="34" charset="-122"/>
                <a:cs typeface="Malgun Gothic" pitchFamily="34" charset="-120"/>
              </a:rPr>
              <a:t>파이만쥬 · 프랑스생크림빵 · 꿀꺽도나스 · 천년주종빵</a:t>
            </a:r>
            <a:endParaRPr lang="en-US" sz="1000" dirty="0"/>
          </a:p>
        </p:txBody>
      </p:sp>
      <p:sp>
        <p:nvSpPr>
          <p:cNvPr id="18" name="Shape 16"/>
          <p:cNvSpPr/>
          <p:nvPr/>
        </p:nvSpPr>
        <p:spPr>
          <a:xfrm>
            <a:off x="777240" y="4992624"/>
            <a:ext cx="5257800" cy="621792"/>
          </a:xfrm>
          <a:prstGeom prst="roundRect">
            <a:avLst>
              <a:gd name="adj" fmla="val 13235"/>
            </a:avLst>
          </a:prstGeom>
          <a:solidFill>
            <a:srgbClr val="FFFFFF"/>
          </a:solidFill>
          <a:ln w="9525">
            <a:solidFill>
              <a:srgbClr val="DCCDBB"/>
            </a:solidFill>
            <a:prstDash val="solid"/>
          </a:ln>
        </p:spPr>
        <p:txBody>
          <a:bodyPr/>
          <a:lstStyle/>
          <a:p>
            <a:endParaRPr lang="ko-KR" altLang="en-US"/>
          </a:p>
        </p:txBody>
      </p:sp>
      <p:sp>
        <p:nvSpPr>
          <p:cNvPr id="19" name="Text 17"/>
          <p:cNvSpPr/>
          <p:nvPr/>
        </p:nvSpPr>
        <p:spPr>
          <a:xfrm>
            <a:off x="978408" y="5038344"/>
            <a:ext cx="1234440" cy="530352"/>
          </a:xfrm>
          <a:prstGeom prst="rect">
            <a:avLst/>
          </a:prstGeom>
          <a:noFill/>
          <a:ln/>
        </p:spPr>
        <p:txBody>
          <a:bodyPr wrap="square" lIns="0" tIns="0" rIns="0" bIns="0" rtlCol="0" anchor="ctr"/>
          <a:lstStyle/>
          <a:p>
            <a:pPr marL="0" indent="0">
              <a:buNone/>
            </a:pPr>
            <a:r>
              <a:rPr lang="en-US" sz="1100" b="1" dirty="0">
                <a:solidFill>
                  <a:srgbClr val="0E8F86"/>
                </a:solidFill>
                <a:latin typeface="Malgun Gothic" pitchFamily="34" charset="0"/>
                <a:ea typeface="Malgun Gothic" pitchFamily="34" charset="-122"/>
                <a:cs typeface="Malgun Gothic" pitchFamily="34" charset="-120"/>
              </a:rPr>
              <a:t>사업 구조</a:t>
            </a:r>
            <a:endParaRPr lang="en-US" sz="1100" dirty="0"/>
          </a:p>
        </p:txBody>
      </p:sp>
      <p:sp>
        <p:nvSpPr>
          <p:cNvPr id="20" name="Text 18"/>
          <p:cNvSpPr/>
          <p:nvPr/>
        </p:nvSpPr>
        <p:spPr>
          <a:xfrm>
            <a:off x="2240280" y="5038344"/>
            <a:ext cx="3703320" cy="530352"/>
          </a:xfrm>
          <a:prstGeom prst="rect">
            <a:avLst/>
          </a:prstGeom>
          <a:noFill/>
          <a:ln/>
        </p:spPr>
        <p:txBody>
          <a:bodyPr wrap="square" lIns="0" tIns="0" rIns="0" bIns="0" rtlCol="0" anchor="ctr"/>
          <a:lstStyle/>
          <a:p>
            <a:pPr marL="0" indent="0">
              <a:lnSpc>
                <a:spcPct val="108000"/>
              </a:lnSpc>
              <a:buNone/>
            </a:pPr>
            <a:r>
              <a:rPr lang="en-US" sz="1000" dirty="0">
                <a:solidFill>
                  <a:srgbClr val="2E241C"/>
                </a:solidFill>
                <a:latin typeface="Malgun Gothic" pitchFamily="34" charset="0"/>
                <a:ea typeface="Malgun Gothic" pitchFamily="34" charset="-122"/>
                <a:cs typeface="Malgun Gothic" pitchFamily="34" charset="-120"/>
              </a:rPr>
              <a:t>베이커리 제조 + 도소매(B2B) + 전자상거래 — 3채널 운영</a:t>
            </a:r>
            <a:endParaRPr lang="en-US" sz="1000" dirty="0"/>
          </a:p>
        </p:txBody>
      </p:sp>
      <p:sp>
        <p:nvSpPr>
          <p:cNvPr id="21" name="Text 19"/>
          <p:cNvSpPr/>
          <p:nvPr/>
        </p:nvSpPr>
        <p:spPr>
          <a:xfrm>
            <a:off x="6537960" y="1554480"/>
            <a:ext cx="5120640" cy="310896"/>
          </a:xfrm>
          <a:prstGeom prst="rect">
            <a:avLst/>
          </a:prstGeom>
          <a:noFill/>
          <a:ln/>
        </p:spPr>
        <p:txBody>
          <a:bodyPr wrap="square" lIns="0" tIns="0" rIns="0" bIns="0" rtlCol="0" anchor="ctr"/>
          <a:lstStyle/>
          <a:p>
            <a:pPr marL="0" indent="0">
              <a:buNone/>
            </a:pPr>
            <a:r>
              <a:rPr lang="en-US" sz="1450" b="1" dirty="0">
                <a:solidFill>
                  <a:srgbClr val="9C5227"/>
                </a:solidFill>
                <a:latin typeface="Malgun Gothic" pitchFamily="34" charset="0"/>
                <a:ea typeface="Malgun Gothic" pitchFamily="34" charset="-122"/>
                <a:cs typeface="Malgun Gothic" pitchFamily="34" charset="-120"/>
              </a:rPr>
              <a:t>질의 3요소 → 이 제안서의 답</a:t>
            </a:r>
            <a:endParaRPr lang="en-US" sz="1450" dirty="0"/>
          </a:p>
        </p:txBody>
      </p:sp>
      <p:sp>
        <p:nvSpPr>
          <p:cNvPr id="22" name="Shape 20"/>
          <p:cNvSpPr/>
          <p:nvPr/>
        </p:nvSpPr>
        <p:spPr>
          <a:xfrm>
            <a:off x="6537960" y="1956816"/>
            <a:ext cx="5166360" cy="1152144"/>
          </a:xfrm>
          <a:prstGeom prst="roundRect">
            <a:avLst>
              <a:gd name="adj" fmla="val 7143"/>
            </a:avLst>
          </a:prstGeom>
          <a:solidFill>
            <a:srgbClr val="FFFFFF"/>
          </a:solidFill>
          <a:ln w="9525">
            <a:solidFill>
              <a:srgbClr val="0E8F86"/>
            </a:solidFill>
            <a:prstDash val="solid"/>
          </a:ln>
        </p:spPr>
        <p:txBody>
          <a:bodyPr/>
          <a:lstStyle/>
          <a:p>
            <a:endParaRPr lang="ko-KR" altLang="en-US"/>
          </a:p>
        </p:txBody>
      </p:sp>
      <p:sp>
        <p:nvSpPr>
          <p:cNvPr id="23" name="Text 21"/>
          <p:cNvSpPr/>
          <p:nvPr/>
        </p:nvSpPr>
        <p:spPr>
          <a:xfrm>
            <a:off x="6766560" y="2066544"/>
            <a:ext cx="4709160" cy="292608"/>
          </a:xfrm>
          <a:prstGeom prst="rect">
            <a:avLst/>
          </a:prstGeom>
          <a:noFill/>
          <a:ln/>
        </p:spPr>
        <p:txBody>
          <a:bodyPr wrap="square" lIns="0" tIns="0" rIns="0" bIns="0" rtlCol="0" anchor="ctr"/>
          <a:lstStyle/>
          <a:p>
            <a:pPr marL="0" indent="0">
              <a:buNone/>
            </a:pPr>
            <a:r>
              <a:rPr lang="en-US" sz="1250" b="1" dirty="0">
                <a:solidFill>
                  <a:srgbClr val="0E8F86"/>
                </a:solidFill>
                <a:latin typeface="Malgun Gothic" pitchFamily="34" charset="0"/>
                <a:ea typeface="Malgun Gothic" pitchFamily="34" charset="-122"/>
                <a:cs typeface="Malgun Gothic" pitchFamily="34" charset="-120"/>
              </a:rPr>
              <a:t>① 원자재·완제품 재고 관리</a:t>
            </a:r>
            <a:endParaRPr lang="en-US" sz="1250" dirty="0"/>
          </a:p>
        </p:txBody>
      </p:sp>
      <p:sp>
        <p:nvSpPr>
          <p:cNvPr id="24" name="Text 22"/>
          <p:cNvSpPr/>
          <p:nvPr/>
        </p:nvSpPr>
        <p:spPr>
          <a:xfrm>
            <a:off x="6766560" y="2377440"/>
            <a:ext cx="4709160" cy="658368"/>
          </a:xfrm>
          <a:prstGeom prst="rect">
            <a:avLst/>
          </a:prstGeom>
          <a:noFill/>
          <a:ln/>
        </p:spPr>
        <p:txBody>
          <a:bodyPr wrap="square" lIns="0" tIns="0" rIns="0" bIns="0" rtlCol="0" anchor="t"/>
          <a:lstStyle/>
          <a:p>
            <a:pPr marL="0" indent="0">
              <a:lnSpc>
                <a:spcPct val="115000"/>
              </a:lnSpc>
              <a:buNone/>
            </a:pPr>
            <a:r>
              <a:rPr lang="en-US" sz="1050" dirty="0">
                <a:solidFill>
                  <a:srgbClr val="2E241C"/>
                </a:solidFill>
                <a:latin typeface="Malgun Gothic" pitchFamily="34" charset="0"/>
                <a:ea typeface="Malgun Gothic" pitchFamily="34" charset="-122"/>
                <a:cs typeface="Malgun Gothic" pitchFamily="34" charset="-120"/>
              </a:rPr>
              <a:t>품목·로트·유통기한 체계와 다지점 재고 — 6·7장</a:t>
            </a:r>
            <a:endParaRPr lang="en-US" sz="1050" dirty="0"/>
          </a:p>
        </p:txBody>
      </p:sp>
      <p:sp>
        <p:nvSpPr>
          <p:cNvPr id="25" name="Shape 23"/>
          <p:cNvSpPr/>
          <p:nvPr/>
        </p:nvSpPr>
        <p:spPr>
          <a:xfrm>
            <a:off x="6537960" y="3255264"/>
            <a:ext cx="5166360" cy="1152144"/>
          </a:xfrm>
          <a:prstGeom prst="roundRect">
            <a:avLst>
              <a:gd name="adj" fmla="val 7143"/>
            </a:avLst>
          </a:prstGeom>
          <a:solidFill>
            <a:srgbClr val="FFFFFF"/>
          </a:solidFill>
          <a:ln w="9525">
            <a:solidFill>
              <a:srgbClr val="714B67"/>
            </a:solidFill>
            <a:prstDash val="solid"/>
          </a:ln>
        </p:spPr>
        <p:txBody>
          <a:bodyPr/>
          <a:lstStyle/>
          <a:p>
            <a:endParaRPr lang="ko-KR" altLang="en-US"/>
          </a:p>
        </p:txBody>
      </p:sp>
      <p:sp>
        <p:nvSpPr>
          <p:cNvPr id="26" name="Text 24"/>
          <p:cNvSpPr/>
          <p:nvPr/>
        </p:nvSpPr>
        <p:spPr>
          <a:xfrm>
            <a:off x="6766560" y="3364992"/>
            <a:ext cx="4709160" cy="292608"/>
          </a:xfrm>
          <a:prstGeom prst="rect">
            <a:avLst/>
          </a:prstGeom>
          <a:noFill/>
          <a:ln/>
        </p:spPr>
        <p:txBody>
          <a:bodyPr wrap="square" lIns="0" tIns="0" rIns="0" bIns="0" rtlCol="0" anchor="ctr"/>
          <a:lstStyle/>
          <a:p>
            <a:pPr marL="0" indent="0">
              <a:buNone/>
            </a:pPr>
            <a:r>
              <a:rPr lang="en-US" sz="1250" b="1" dirty="0">
                <a:solidFill>
                  <a:srgbClr val="714B67"/>
                </a:solidFill>
                <a:latin typeface="Malgun Gothic" pitchFamily="34" charset="0"/>
                <a:ea typeface="Malgun Gothic" pitchFamily="34" charset="-122"/>
                <a:cs typeface="Malgun Gothic" pitchFamily="34" charset="-120"/>
              </a:rPr>
              <a:t>② 매장/B2B 발주·회계 연동</a:t>
            </a:r>
            <a:endParaRPr lang="en-US" sz="1250" dirty="0"/>
          </a:p>
        </p:txBody>
      </p:sp>
      <p:sp>
        <p:nvSpPr>
          <p:cNvPr id="27" name="Text 25"/>
          <p:cNvSpPr/>
          <p:nvPr/>
        </p:nvSpPr>
        <p:spPr>
          <a:xfrm>
            <a:off x="6766560" y="3675888"/>
            <a:ext cx="4709160" cy="658368"/>
          </a:xfrm>
          <a:prstGeom prst="rect">
            <a:avLst/>
          </a:prstGeom>
          <a:noFill/>
          <a:ln/>
        </p:spPr>
        <p:txBody>
          <a:bodyPr wrap="square" lIns="0" tIns="0" rIns="0" bIns="0" rtlCol="0" anchor="t"/>
          <a:lstStyle/>
          <a:p>
            <a:pPr marL="0" indent="0">
              <a:lnSpc>
                <a:spcPct val="115000"/>
              </a:lnSpc>
              <a:buNone/>
            </a:pPr>
            <a:r>
              <a:rPr lang="en-US" sz="1050" dirty="0">
                <a:solidFill>
                  <a:srgbClr val="2E241C"/>
                </a:solidFill>
                <a:latin typeface="Malgun Gothic" pitchFamily="34" charset="0"/>
                <a:ea typeface="Malgun Gothic" pitchFamily="34" charset="-122"/>
                <a:cs typeface="Malgun Gothic" pitchFamily="34" charset="-120"/>
              </a:rPr>
              <a:t>수주→출고→계산서→수금→자동분개의 O2C — 8장</a:t>
            </a:r>
            <a:endParaRPr lang="en-US" sz="1050" dirty="0"/>
          </a:p>
        </p:txBody>
      </p:sp>
      <p:sp>
        <p:nvSpPr>
          <p:cNvPr id="28" name="Shape 26"/>
          <p:cNvSpPr/>
          <p:nvPr/>
        </p:nvSpPr>
        <p:spPr>
          <a:xfrm>
            <a:off x="6537960" y="4553712"/>
            <a:ext cx="5166360" cy="1152144"/>
          </a:xfrm>
          <a:prstGeom prst="roundRect">
            <a:avLst>
              <a:gd name="adj" fmla="val 7143"/>
            </a:avLst>
          </a:prstGeom>
          <a:solidFill>
            <a:srgbClr val="FFFFFF"/>
          </a:solidFill>
          <a:ln w="9525">
            <a:solidFill>
              <a:srgbClr val="E8A33D"/>
            </a:solidFill>
            <a:prstDash val="solid"/>
          </a:ln>
        </p:spPr>
        <p:txBody>
          <a:bodyPr/>
          <a:lstStyle/>
          <a:p>
            <a:endParaRPr lang="ko-KR" altLang="en-US"/>
          </a:p>
        </p:txBody>
      </p:sp>
      <p:sp>
        <p:nvSpPr>
          <p:cNvPr id="29" name="Text 27"/>
          <p:cNvSpPr/>
          <p:nvPr/>
        </p:nvSpPr>
        <p:spPr>
          <a:xfrm>
            <a:off x="6766560" y="4663440"/>
            <a:ext cx="4709160" cy="292608"/>
          </a:xfrm>
          <a:prstGeom prst="rect">
            <a:avLst/>
          </a:prstGeom>
          <a:noFill/>
          <a:ln/>
        </p:spPr>
        <p:txBody>
          <a:bodyPr wrap="square" lIns="0" tIns="0" rIns="0" bIns="0" rtlCol="0" anchor="ctr"/>
          <a:lstStyle/>
          <a:p>
            <a:pPr marL="0" indent="0">
              <a:buNone/>
            </a:pPr>
            <a:r>
              <a:rPr lang="en-US" sz="1250" b="1" dirty="0">
                <a:solidFill>
                  <a:srgbClr val="E8A33D"/>
                </a:solidFill>
                <a:latin typeface="Malgun Gothic" pitchFamily="34" charset="0"/>
                <a:ea typeface="Malgun Gothic" pitchFamily="34" charset="-122"/>
                <a:cs typeface="Malgun Gothic" pitchFamily="34" charset="-120"/>
              </a:rPr>
              <a:t>③ AI 실무 자동화</a:t>
            </a:r>
            <a:endParaRPr lang="en-US" sz="1250" dirty="0"/>
          </a:p>
        </p:txBody>
      </p:sp>
      <p:sp>
        <p:nvSpPr>
          <p:cNvPr id="30" name="Text 28"/>
          <p:cNvSpPr/>
          <p:nvPr/>
        </p:nvSpPr>
        <p:spPr>
          <a:xfrm>
            <a:off x="6766560" y="4974336"/>
            <a:ext cx="4709160" cy="658368"/>
          </a:xfrm>
          <a:prstGeom prst="rect">
            <a:avLst/>
          </a:prstGeom>
          <a:noFill/>
          <a:ln/>
        </p:spPr>
        <p:txBody>
          <a:bodyPr wrap="square" lIns="0" tIns="0" rIns="0" bIns="0" rtlCol="0" anchor="t"/>
          <a:lstStyle/>
          <a:p>
            <a:pPr marL="0" indent="0">
              <a:lnSpc>
                <a:spcPct val="115000"/>
              </a:lnSpc>
              <a:buNone/>
            </a:pPr>
            <a:r>
              <a:rPr lang="en-US" sz="1050" dirty="0">
                <a:solidFill>
                  <a:srgbClr val="2E241C"/>
                </a:solidFill>
                <a:latin typeface="Malgun Gothic" pitchFamily="34" charset="0"/>
                <a:ea typeface="Malgun Gothic" pitchFamily="34" charset="-122"/>
                <a:cs typeface="Malgun Gothic" pitchFamily="34" charset="-120"/>
              </a:rPr>
              <a:t>수요예측·영업자동화·재고 최적화를 데이터 파이프라인 → 온톨로지·지식그래프 → AI 에이전트로 — 9~14장</a:t>
            </a:r>
            <a:endParaRPr lang="en-US" sz="1050" dirty="0"/>
          </a:p>
        </p:txBody>
      </p:sp>
      <p:sp>
        <p:nvSpPr>
          <p:cNvPr id="31" name="Text 29"/>
          <p:cNvSpPr/>
          <p:nvPr/>
        </p:nvSpPr>
        <p:spPr>
          <a:xfrm>
            <a:off x="502920" y="5897880"/>
            <a:ext cx="11201400" cy="365760"/>
          </a:xfrm>
          <a:prstGeom prst="rect">
            <a:avLst/>
          </a:prstGeom>
          <a:noFill/>
          <a:ln/>
        </p:spPr>
        <p:txBody>
          <a:bodyPr wrap="square" lIns="0" tIns="0" rIns="0" bIns="0" rtlCol="0" anchor="ctr"/>
          <a:lstStyle/>
          <a:p>
            <a:pPr marL="0" indent="0">
              <a:buNone/>
            </a:pPr>
            <a:r>
              <a:rPr lang="en-US" sz="1250" b="1" i="1" dirty="0">
                <a:solidFill>
                  <a:srgbClr val="9C5227"/>
                </a:solidFill>
                <a:latin typeface="Malgun Gothic" pitchFamily="34" charset="0"/>
                <a:ea typeface="Malgun Gothic" pitchFamily="34" charset="-122"/>
                <a:cs typeface="Malgun Gothic" pitchFamily="34" charset="-120"/>
              </a:rPr>
              <a:t>현장 컨설팅 방식: 초량 본점·지점 현장 진단부터 — 부산·영남권 전담 조직이 상주 수행</a:t>
            </a:r>
            <a:endParaRPr lang="en-US" sz="1250" dirty="0"/>
          </a:p>
        </p:txBody>
      </p:sp>
      <p:sp>
        <p:nvSpPr>
          <p:cNvPr id="32" name="Text 30"/>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33" name="Text 31"/>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OPPORTUNITY</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ko-KR" altLang="en-US" sz="2500" b="1" dirty="0">
                <a:solidFill>
                  <a:srgbClr val="2E241C"/>
                </a:solidFill>
                <a:latin typeface="Malgun Gothic" pitchFamily="34" charset="0"/>
                <a:ea typeface="Malgun Gothic" pitchFamily="34" charset="-122"/>
                <a:cs typeface="Malgun Gothic" pitchFamily="34" charset="-120"/>
              </a:rPr>
              <a:t>베이커리 </a:t>
            </a:r>
            <a:r>
              <a:rPr lang="en-US" altLang="ko-KR" sz="2500" b="1" dirty="0">
                <a:solidFill>
                  <a:srgbClr val="2E241C"/>
                </a:solidFill>
                <a:latin typeface="Malgun Gothic" pitchFamily="34" charset="0"/>
                <a:ea typeface="Malgun Gothic" pitchFamily="34" charset="-122"/>
                <a:cs typeface="Malgun Gothic" pitchFamily="34" charset="-120"/>
              </a:rPr>
              <a:t>T</a:t>
            </a:r>
            <a:r>
              <a:rPr lang="ko-KR" altLang="en-US" sz="2500" b="1" dirty="0">
                <a:solidFill>
                  <a:srgbClr val="2E241C"/>
                </a:solidFill>
                <a:latin typeface="Malgun Gothic" pitchFamily="34" charset="0"/>
                <a:ea typeface="Malgun Gothic" pitchFamily="34" charset="-122"/>
                <a:cs typeface="Malgun Gothic" pitchFamily="34" charset="-120"/>
              </a:rPr>
              <a:t>사의</a:t>
            </a:r>
            <a:r>
              <a:rPr lang="en-US" sz="2500" b="1" dirty="0">
                <a:solidFill>
                  <a:srgbClr val="2E241C"/>
                </a:solidFill>
                <a:latin typeface="Malgun Gothic" pitchFamily="34" charset="0"/>
                <a:ea typeface="Malgun Gothic" pitchFamily="34" charset="-122"/>
                <a:cs typeface="Malgun Gothic" pitchFamily="34" charset="-120"/>
              </a:rPr>
              <a:t> 다섯 가지 특수성 — 그대로 AX의 지렛대가 된다</a:t>
            </a:r>
            <a:endParaRPr lang="en-US" sz="2500" dirty="0"/>
          </a:p>
        </p:txBody>
      </p:sp>
      <p:sp>
        <p:nvSpPr>
          <p:cNvPr id="4" name="Shape 2"/>
          <p:cNvSpPr/>
          <p:nvPr/>
        </p:nvSpPr>
        <p:spPr>
          <a:xfrm>
            <a:off x="502920" y="1463040"/>
            <a:ext cx="11201400" cy="786384"/>
          </a:xfrm>
          <a:prstGeom prst="roundRect">
            <a:avLst>
              <a:gd name="adj" fmla="val 10465"/>
            </a:avLst>
          </a:prstGeom>
          <a:solidFill>
            <a:srgbClr val="F8F2EA"/>
          </a:solidFill>
          <a:ln/>
        </p:spPr>
        <p:txBody>
          <a:bodyPr/>
          <a:lstStyle/>
          <a:p>
            <a:endParaRPr lang="ko-KR" altLang="en-US"/>
          </a:p>
        </p:txBody>
      </p:sp>
      <p:sp>
        <p:nvSpPr>
          <p:cNvPr id="5" name="Shape 3"/>
          <p:cNvSpPr/>
          <p:nvPr/>
        </p:nvSpPr>
        <p:spPr>
          <a:xfrm>
            <a:off x="749808" y="1600200"/>
            <a:ext cx="512064" cy="512064"/>
          </a:xfrm>
          <a:prstGeom prst="ellipse">
            <a:avLst/>
          </a:prstGeom>
          <a:solidFill>
            <a:srgbClr val="C07F1E"/>
          </a:solidFill>
          <a:ln/>
        </p:spPr>
        <p:txBody>
          <a:bodyPr/>
          <a:lstStyle/>
          <a:p>
            <a:endParaRPr lang="ko-KR" altLang="en-US"/>
          </a:p>
        </p:txBody>
      </p:sp>
      <p:pic>
        <p:nvPicPr>
          <p:cNvPr id="6" name="Image 0" descr="preencoded.png"/>
          <p:cNvPicPr>
            <a:picLocks noChangeAspect="1"/>
          </p:cNvPicPr>
          <p:nvPr/>
        </p:nvPicPr>
        <p:blipFill>
          <a:blip r:embed="rId3"/>
          <a:stretch>
            <a:fillRect/>
          </a:stretch>
        </p:blipFill>
        <p:spPr>
          <a:xfrm>
            <a:off x="888065" y="1738457"/>
            <a:ext cx="235549" cy="235549"/>
          </a:xfrm>
          <a:prstGeom prst="rect">
            <a:avLst/>
          </a:prstGeom>
        </p:spPr>
      </p:pic>
      <p:sp>
        <p:nvSpPr>
          <p:cNvPr id="7" name="Text 4"/>
          <p:cNvSpPr/>
          <p:nvPr/>
        </p:nvSpPr>
        <p:spPr>
          <a:xfrm>
            <a:off x="1463040" y="1508760"/>
            <a:ext cx="3977640" cy="694944"/>
          </a:xfrm>
          <a:prstGeom prst="rect">
            <a:avLst/>
          </a:prstGeom>
          <a:noFill/>
          <a:ln/>
        </p:spPr>
        <p:txBody>
          <a:bodyPr wrap="square" lIns="0" tIns="0" rIns="0" bIns="0" rtlCol="0" anchor="ctr"/>
          <a:lstStyle/>
          <a:p>
            <a:pPr marL="0" indent="0">
              <a:lnSpc>
                <a:spcPct val="105000"/>
              </a:lnSpc>
              <a:buNone/>
            </a:pPr>
            <a:r>
              <a:rPr lang="en-US" sz="1250" b="1" dirty="0">
                <a:solidFill>
                  <a:srgbClr val="2E241C"/>
                </a:solidFill>
                <a:latin typeface="Malgun Gothic" pitchFamily="34" charset="0"/>
                <a:ea typeface="Malgun Gothic" pitchFamily="34" charset="-122"/>
                <a:cs typeface="Malgun Gothic" pitchFamily="34" charset="-120"/>
              </a:rPr>
              <a:t>3채널 판매 (매장·B2B·온라인)</a:t>
            </a:r>
            <a:endParaRPr lang="en-US" sz="1250" dirty="0"/>
          </a:p>
        </p:txBody>
      </p:sp>
      <p:sp>
        <p:nvSpPr>
          <p:cNvPr id="8" name="Text 5"/>
          <p:cNvSpPr/>
          <p:nvPr/>
        </p:nvSpPr>
        <p:spPr>
          <a:xfrm>
            <a:off x="5532120" y="1508760"/>
            <a:ext cx="5989320" cy="694944"/>
          </a:xfrm>
          <a:prstGeom prst="rect">
            <a:avLst/>
          </a:prstGeom>
          <a:noFill/>
          <a:ln/>
        </p:spPr>
        <p:txBody>
          <a:bodyPr wrap="square" lIns="0" tIns="0" rIns="0" bIns="0" rtlCol="0" anchor="ctr"/>
          <a:lstStyle/>
          <a:p>
            <a:pPr marL="0" indent="0">
              <a:lnSpc>
                <a:spcPct val="112000"/>
              </a:lnSpc>
              <a:buNone/>
            </a:pPr>
            <a:r>
              <a:rPr lang="en-US" sz="1050" dirty="0">
                <a:solidFill>
                  <a:srgbClr val="76675A"/>
                </a:solidFill>
                <a:latin typeface="Malgun Gothic" pitchFamily="34" charset="0"/>
                <a:ea typeface="Malgun Gothic" pitchFamily="34" charset="-122"/>
                <a:cs typeface="Malgun Gothic" pitchFamily="34" charset="-120"/>
              </a:rPr>
              <a:t>채널별 수요 패턴이 전혀 다르다 → 채널 통합 원장이 서면 채널별 수요예측·손익이 갈라져 보인다</a:t>
            </a:r>
            <a:endParaRPr lang="en-US" sz="1050" dirty="0"/>
          </a:p>
        </p:txBody>
      </p:sp>
      <p:sp>
        <p:nvSpPr>
          <p:cNvPr id="9" name="Shape 6"/>
          <p:cNvSpPr/>
          <p:nvPr/>
        </p:nvSpPr>
        <p:spPr>
          <a:xfrm>
            <a:off x="502920" y="2359152"/>
            <a:ext cx="11201400" cy="786384"/>
          </a:xfrm>
          <a:prstGeom prst="roundRect">
            <a:avLst>
              <a:gd name="adj" fmla="val 10465"/>
            </a:avLst>
          </a:prstGeom>
          <a:solidFill>
            <a:srgbClr val="FFFFFF"/>
          </a:solidFill>
          <a:ln w="9525">
            <a:solidFill>
              <a:srgbClr val="DCCDBB"/>
            </a:solidFill>
            <a:prstDash val="solid"/>
          </a:ln>
        </p:spPr>
        <p:txBody>
          <a:bodyPr/>
          <a:lstStyle/>
          <a:p>
            <a:endParaRPr lang="ko-KR" altLang="en-US"/>
          </a:p>
        </p:txBody>
      </p:sp>
      <p:sp>
        <p:nvSpPr>
          <p:cNvPr id="10" name="Shape 7"/>
          <p:cNvSpPr/>
          <p:nvPr/>
        </p:nvSpPr>
        <p:spPr>
          <a:xfrm>
            <a:off x="749808" y="2496312"/>
            <a:ext cx="512064" cy="512064"/>
          </a:xfrm>
          <a:prstGeom prst="ellipse">
            <a:avLst/>
          </a:prstGeom>
          <a:solidFill>
            <a:srgbClr val="0E8F86"/>
          </a:solidFill>
          <a:ln/>
        </p:spPr>
        <p:txBody>
          <a:bodyPr/>
          <a:lstStyle/>
          <a:p>
            <a:endParaRPr lang="ko-KR" altLang="en-US"/>
          </a:p>
        </p:txBody>
      </p:sp>
      <p:pic>
        <p:nvPicPr>
          <p:cNvPr id="11" name="Image 1" descr="preencoded.png"/>
          <p:cNvPicPr>
            <a:picLocks noChangeAspect="1"/>
          </p:cNvPicPr>
          <p:nvPr/>
        </p:nvPicPr>
        <p:blipFill>
          <a:blip r:embed="rId4"/>
          <a:stretch>
            <a:fillRect/>
          </a:stretch>
        </p:blipFill>
        <p:spPr>
          <a:xfrm>
            <a:off x="888065" y="2634569"/>
            <a:ext cx="235549" cy="235549"/>
          </a:xfrm>
          <a:prstGeom prst="rect">
            <a:avLst/>
          </a:prstGeom>
        </p:spPr>
      </p:pic>
      <p:sp>
        <p:nvSpPr>
          <p:cNvPr id="12" name="Text 8"/>
          <p:cNvSpPr/>
          <p:nvPr/>
        </p:nvSpPr>
        <p:spPr>
          <a:xfrm>
            <a:off x="1463040" y="2404872"/>
            <a:ext cx="3977640" cy="694944"/>
          </a:xfrm>
          <a:prstGeom prst="rect">
            <a:avLst/>
          </a:prstGeom>
          <a:noFill/>
          <a:ln/>
        </p:spPr>
        <p:txBody>
          <a:bodyPr wrap="square" lIns="0" tIns="0" rIns="0" bIns="0" rtlCol="0" anchor="ctr"/>
          <a:lstStyle/>
          <a:p>
            <a:pPr marL="0" indent="0">
              <a:lnSpc>
                <a:spcPct val="105000"/>
              </a:lnSpc>
              <a:buNone/>
            </a:pPr>
            <a:r>
              <a:rPr lang="en-US" sz="1250" b="1" dirty="0">
                <a:solidFill>
                  <a:srgbClr val="2E241C"/>
                </a:solidFill>
                <a:latin typeface="Malgun Gothic" pitchFamily="34" charset="0"/>
                <a:ea typeface="Malgun Gothic" pitchFamily="34" charset="-122"/>
                <a:cs typeface="Malgun Gothic" pitchFamily="34" charset="-120"/>
              </a:rPr>
              <a:t>다지점 (초량 본점 + 부산·대구 별빛샌드)</a:t>
            </a:r>
            <a:endParaRPr lang="en-US" sz="1250" dirty="0"/>
          </a:p>
        </p:txBody>
      </p:sp>
      <p:sp>
        <p:nvSpPr>
          <p:cNvPr id="13" name="Text 9"/>
          <p:cNvSpPr/>
          <p:nvPr/>
        </p:nvSpPr>
        <p:spPr>
          <a:xfrm>
            <a:off x="5532120" y="2404872"/>
            <a:ext cx="5989320" cy="694944"/>
          </a:xfrm>
          <a:prstGeom prst="rect">
            <a:avLst/>
          </a:prstGeom>
          <a:noFill/>
          <a:ln/>
        </p:spPr>
        <p:txBody>
          <a:bodyPr wrap="square" lIns="0" tIns="0" rIns="0" bIns="0" rtlCol="0" anchor="ctr"/>
          <a:lstStyle/>
          <a:p>
            <a:pPr marL="0" indent="0">
              <a:lnSpc>
                <a:spcPct val="112000"/>
              </a:lnSpc>
              <a:buNone/>
            </a:pPr>
            <a:r>
              <a:rPr lang="en-US" sz="1050" dirty="0">
                <a:solidFill>
                  <a:srgbClr val="76675A"/>
                </a:solidFill>
                <a:latin typeface="Malgun Gothic" pitchFamily="34" charset="0"/>
                <a:ea typeface="Malgun Gothic" pitchFamily="34" charset="-122"/>
                <a:cs typeface="Malgun Gothic" pitchFamily="34" charset="-120"/>
              </a:rPr>
              <a:t>지점 간 재고 이동·배분이 이미 발생 → 지점별 판매 예측 기반 배분 최적화의 즉효 구간</a:t>
            </a:r>
            <a:endParaRPr lang="en-US" sz="1050" dirty="0"/>
          </a:p>
        </p:txBody>
      </p:sp>
      <p:sp>
        <p:nvSpPr>
          <p:cNvPr id="14" name="Shape 10"/>
          <p:cNvSpPr/>
          <p:nvPr/>
        </p:nvSpPr>
        <p:spPr>
          <a:xfrm>
            <a:off x="502920" y="3255264"/>
            <a:ext cx="11201400" cy="786384"/>
          </a:xfrm>
          <a:prstGeom prst="roundRect">
            <a:avLst>
              <a:gd name="adj" fmla="val 10465"/>
            </a:avLst>
          </a:prstGeom>
          <a:solidFill>
            <a:srgbClr val="F8F2EA"/>
          </a:solidFill>
          <a:ln/>
        </p:spPr>
        <p:txBody>
          <a:bodyPr/>
          <a:lstStyle/>
          <a:p>
            <a:endParaRPr lang="ko-KR" altLang="en-US"/>
          </a:p>
        </p:txBody>
      </p:sp>
      <p:sp>
        <p:nvSpPr>
          <p:cNvPr id="15" name="Shape 11"/>
          <p:cNvSpPr/>
          <p:nvPr/>
        </p:nvSpPr>
        <p:spPr>
          <a:xfrm>
            <a:off x="749808" y="3392424"/>
            <a:ext cx="512064" cy="512064"/>
          </a:xfrm>
          <a:prstGeom prst="ellipse">
            <a:avLst/>
          </a:prstGeom>
          <a:solidFill>
            <a:srgbClr val="714B67"/>
          </a:solidFill>
          <a:ln/>
        </p:spPr>
        <p:txBody>
          <a:bodyPr/>
          <a:lstStyle/>
          <a:p>
            <a:endParaRPr lang="ko-KR" altLang="en-US"/>
          </a:p>
        </p:txBody>
      </p:sp>
      <p:pic>
        <p:nvPicPr>
          <p:cNvPr id="16" name="Image 2" descr="preencoded.png"/>
          <p:cNvPicPr>
            <a:picLocks noChangeAspect="1"/>
          </p:cNvPicPr>
          <p:nvPr/>
        </p:nvPicPr>
        <p:blipFill>
          <a:blip r:embed="rId5"/>
          <a:stretch>
            <a:fillRect/>
          </a:stretch>
        </p:blipFill>
        <p:spPr>
          <a:xfrm>
            <a:off x="888065" y="3530681"/>
            <a:ext cx="235549" cy="235549"/>
          </a:xfrm>
          <a:prstGeom prst="rect">
            <a:avLst/>
          </a:prstGeom>
        </p:spPr>
      </p:pic>
      <p:sp>
        <p:nvSpPr>
          <p:cNvPr id="17" name="Text 12"/>
          <p:cNvSpPr/>
          <p:nvPr/>
        </p:nvSpPr>
        <p:spPr>
          <a:xfrm>
            <a:off x="1463040" y="3300984"/>
            <a:ext cx="3977640" cy="694944"/>
          </a:xfrm>
          <a:prstGeom prst="rect">
            <a:avLst/>
          </a:prstGeom>
          <a:noFill/>
          <a:ln/>
        </p:spPr>
        <p:txBody>
          <a:bodyPr wrap="square" lIns="0" tIns="0" rIns="0" bIns="0" rtlCol="0" anchor="ctr"/>
          <a:lstStyle/>
          <a:p>
            <a:pPr marL="0" indent="0">
              <a:lnSpc>
                <a:spcPct val="105000"/>
              </a:lnSpc>
              <a:buNone/>
            </a:pPr>
            <a:r>
              <a:rPr lang="en-US" sz="1250" b="1" dirty="0">
                <a:solidFill>
                  <a:srgbClr val="2E241C"/>
                </a:solidFill>
                <a:latin typeface="Malgun Gothic" pitchFamily="34" charset="0"/>
                <a:ea typeface="Malgun Gothic" pitchFamily="34" charset="-122"/>
                <a:cs typeface="Malgun Gothic" pitchFamily="34" charset="-120"/>
              </a:rPr>
              <a:t>관광 수요 (빵지순례·주말 피크)</a:t>
            </a:r>
            <a:endParaRPr lang="en-US" sz="1250" dirty="0"/>
          </a:p>
        </p:txBody>
      </p:sp>
      <p:sp>
        <p:nvSpPr>
          <p:cNvPr id="18" name="Text 13"/>
          <p:cNvSpPr/>
          <p:nvPr/>
        </p:nvSpPr>
        <p:spPr>
          <a:xfrm>
            <a:off x="5532120" y="3300984"/>
            <a:ext cx="5989320" cy="694944"/>
          </a:xfrm>
          <a:prstGeom prst="rect">
            <a:avLst/>
          </a:prstGeom>
          <a:noFill/>
          <a:ln/>
        </p:spPr>
        <p:txBody>
          <a:bodyPr wrap="square" lIns="0" tIns="0" rIns="0" bIns="0" rtlCol="0" anchor="ctr"/>
          <a:lstStyle/>
          <a:p>
            <a:pPr marL="0" indent="0">
              <a:lnSpc>
                <a:spcPct val="112000"/>
              </a:lnSpc>
              <a:buNone/>
            </a:pPr>
            <a:r>
              <a:rPr lang="en-US" sz="1050" dirty="0">
                <a:solidFill>
                  <a:srgbClr val="76675A"/>
                </a:solidFill>
                <a:latin typeface="Malgun Gothic" pitchFamily="34" charset="0"/>
                <a:ea typeface="Malgun Gothic" pitchFamily="34" charset="-122"/>
                <a:cs typeface="Malgun Gothic" pitchFamily="34" charset="-120"/>
              </a:rPr>
              <a:t>요일·연휴·크루즈 입항·행사 변수 → 외부 캘린더를 예측 특징량으로 쓰는 수요예측의 최적 사례</a:t>
            </a:r>
            <a:endParaRPr lang="en-US" sz="1050" dirty="0"/>
          </a:p>
        </p:txBody>
      </p:sp>
      <p:sp>
        <p:nvSpPr>
          <p:cNvPr id="19" name="Shape 14"/>
          <p:cNvSpPr/>
          <p:nvPr/>
        </p:nvSpPr>
        <p:spPr>
          <a:xfrm>
            <a:off x="502920" y="4151376"/>
            <a:ext cx="11201400" cy="786384"/>
          </a:xfrm>
          <a:prstGeom prst="roundRect">
            <a:avLst>
              <a:gd name="adj" fmla="val 10465"/>
            </a:avLst>
          </a:prstGeom>
          <a:solidFill>
            <a:srgbClr val="FFFFFF"/>
          </a:solidFill>
          <a:ln w="9525">
            <a:solidFill>
              <a:srgbClr val="DCCDBB"/>
            </a:solidFill>
            <a:prstDash val="solid"/>
          </a:ln>
        </p:spPr>
        <p:txBody>
          <a:bodyPr/>
          <a:lstStyle/>
          <a:p>
            <a:endParaRPr lang="ko-KR" altLang="en-US"/>
          </a:p>
        </p:txBody>
      </p:sp>
      <p:sp>
        <p:nvSpPr>
          <p:cNvPr id="20" name="Shape 15"/>
          <p:cNvSpPr/>
          <p:nvPr/>
        </p:nvSpPr>
        <p:spPr>
          <a:xfrm>
            <a:off x="749808" y="4288536"/>
            <a:ext cx="512064" cy="512064"/>
          </a:xfrm>
          <a:prstGeom prst="ellipse">
            <a:avLst/>
          </a:prstGeom>
          <a:solidFill>
            <a:srgbClr val="E8A33D"/>
          </a:solidFill>
          <a:ln/>
        </p:spPr>
        <p:txBody>
          <a:bodyPr/>
          <a:lstStyle/>
          <a:p>
            <a:endParaRPr lang="ko-KR" altLang="en-US"/>
          </a:p>
        </p:txBody>
      </p:sp>
      <p:pic>
        <p:nvPicPr>
          <p:cNvPr id="21" name="Image 3" descr="preencoded.png"/>
          <p:cNvPicPr>
            <a:picLocks noChangeAspect="1"/>
          </p:cNvPicPr>
          <p:nvPr/>
        </p:nvPicPr>
        <p:blipFill>
          <a:blip r:embed="rId6"/>
          <a:stretch>
            <a:fillRect/>
          </a:stretch>
        </p:blipFill>
        <p:spPr>
          <a:xfrm>
            <a:off x="888065" y="4426793"/>
            <a:ext cx="235549" cy="235549"/>
          </a:xfrm>
          <a:prstGeom prst="rect">
            <a:avLst/>
          </a:prstGeom>
        </p:spPr>
      </p:pic>
      <p:sp>
        <p:nvSpPr>
          <p:cNvPr id="22" name="Text 16"/>
          <p:cNvSpPr/>
          <p:nvPr/>
        </p:nvSpPr>
        <p:spPr>
          <a:xfrm>
            <a:off x="1463040" y="4197096"/>
            <a:ext cx="3977640" cy="694944"/>
          </a:xfrm>
          <a:prstGeom prst="rect">
            <a:avLst/>
          </a:prstGeom>
          <a:noFill/>
          <a:ln/>
        </p:spPr>
        <p:txBody>
          <a:bodyPr wrap="square" lIns="0" tIns="0" rIns="0" bIns="0" rtlCol="0" anchor="ctr"/>
          <a:lstStyle/>
          <a:p>
            <a:pPr marL="0" indent="0">
              <a:lnSpc>
                <a:spcPct val="105000"/>
              </a:lnSpc>
              <a:buNone/>
            </a:pPr>
            <a:r>
              <a:rPr lang="en-US" sz="1250" b="1" dirty="0">
                <a:solidFill>
                  <a:srgbClr val="2E241C"/>
                </a:solidFill>
                <a:latin typeface="Malgun Gothic" pitchFamily="34" charset="0"/>
                <a:ea typeface="Malgun Gothic" pitchFamily="34" charset="-122"/>
                <a:cs typeface="Malgun Gothic" pitchFamily="34" charset="-120"/>
              </a:rPr>
              <a:t>선물·택배 상품 (파이만쥬 세트)</a:t>
            </a:r>
            <a:endParaRPr lang="en-US" sz="1250" dirty="0"/>
          </a:p>
        </p:txBody>
      </p:sp>
      <p:sp>
        <p:nvSpPr>
          <p:cNvPr id="23" name="Text 17"/>
          <p:cNvSpPr/>
          <p:nvPr/>
        </p:nvSpPr>
        <p:spPr>
          <a:xfrm>
            <a:off x="5532120" y="4197096"/>
            <a:ext cx="5989320" cy="694944"/>
          </a:xfrm>
          <a:prstGeom prst="rect">
            <a:avLst/>
          </a:prstGeom>
          <a:noFill/>
          <a:ln/>
        </p:spPr>
        <p:txBody>
          <a:bodyPr wrap="square" lIns="0" tIns="0" rIns="0" bIns="0" rtlCol="0" anchor="ctr"/>
          <a:lstStyle/>
          <a:p>
            <a:pPr marL="0" indent="0">
              <a:lnSpc>
                <a:spcPct val="112000"/>
              </a:lnSpc>
              <a:buNone/>
            </a:pPr>
            <a:r>
              <a:rPr lang="en-US" sz="1050" dirty="0">
                <a:solidFill>
                  <a:srgbClr val="76675A"/>
                </a:solidFill>
                <a:latin typeface="Malgun Gothic" pitchFamily="34" charset="0"/>
                <a:ea typeface="Malgun Gothic" pitchFamily="34" charset="-122"/>
                <a:cs typeface="Malgun Gothic" pitchFamily="34" charset="-120"/>
              </a:rPr>
              <a:t>당일 신선빵과 보존형 선물세트의 이원 재고 전략 → SKU군별로 다른 재고·생산 정책 필요</a:t>
            </a:r>
            <a:endParaRPr lang="en-US" sz="1050" dirty="0"/>
          </a:p>
        </p:txBody>
      </p:sp>
      <p:sp>
        <p:nvSpPr>
          <p:cNvPr id="24" name="Shape 18"/>
          <p:cNvSpPr/>
          <p:nvPr/>
        </p:nvSpPr>
        <p:spPr>
          <a:xfrm>
            <a:off x="502920" y="5047488"/>
            <a:ext cx="11201400" cy="786384"/>
          </a:xfrm>
          <a:prstGeom prst="roundRect">
            <a:avLst>
              <a:gd name="adj" fmla="val 10465"/>
            </a:avLst>
          </a:prstGeom>
          <a:solidFill>
            <a:srgbClr val="F8F2EA"/>
          </a:solidFill>
          <a:ln/>
        </p:spPr>
        <p:txBody>
          <a:bodyPr/>
          <a:lstStyle/>
          <a:p>
            <a:endParaRPr lang="ko-KR" altLang="en-US"/>
          </a:p>
        </p:txBody>
      </p:sp>
      <p:sp>
        <p:nvSpPr>
          <p:cNvPr id="25" name="Shape 19"/>
          <p:cNvSpPr/>
          <p:nvPr/>
        </p:nvSpPr>
        <p:spPr>
          <a:xfrm>
            <a:off x="749808" y="5184648"/>
            <a:ext cx="512064" cy="512064"/>
          </a:xfrm>
          <a:prstGeom prst="ellipse">
            <a:avLst/>
          </a:prstGeom>
          <a:solidFill>
            <a:srgbClr val="9C5227"/>
          </a:solidFill>
          <a:ln/>
        </p:spPr>
        <p:txBody>
          <a:bodyPr/>
          <a:lstStyle/>
          <a:p>
            <a:endParaRPr lang="ko-KR" altLang="en-US"/>
          </a:p>
        </p:txBody>
      </p:sp>
      <p:pic>
        <p:nvPicPr>
          <p:cNvPr id="26" name="Image 4" descr="preencoded.png"/>
          <p:cNvPicPr>
            <a:picLocks noChangeAspect="1"/>
          </p:cNvPicPr>
          <p:nvPr/>
        </p:nvPicPr>
        <p:blipFill>
          <a:blip r:embed="rId7"/>
          <a:stretch>
            <a:fillRect/>
          </a:stretch>
        </p:blipFill>
        <p:spPr>
          <a:xfrm>
            <a:off x="888065" y="5322905"/>
            <a:ext cx="235549" cy="235549"/>
          </a:xfrm>
          <a:prstGeom prst="rect">
            <a:avLst/>
          </a:prstGeom>
        </p:spPr>
      </p:pic>
      <p:sp>
        <p:nvSpPr>
          <p:cNvPr id="27" name="Text 20"/>
          <p:cNvSpPr/>
          <p:nvPr/>
        </p:nvSpPr>
        <p:spPr>
          <a:xfrm>
            <a:off x="1463040" y="5093208"/>
            <a:ext cx="3977640" cy="694944"/>
          </a:xfrm>
          <a:prstGeom prst="rect">
            <a:avLst/>
          </a:prstGeom>
          <a:noFill/>
          <a:ln/>
        </p:spPr>
        <p:txBody>
          <a:bodyPr wrap="square" lIns="0" tIns="0" rIns="0" bIns="0" rtlCol="0" anchor="ctr"/>
          <a:lstStyle/>
          <a:p>
            <a:pPr marL="0" indent="0">
              <a:lnSpc>
                <a:spcPct val="105000"/>
              </a:lnSpc>
              <a:buNone/>
            </a:pPr>
            <a:r>
              <a:rPr lang="en-US" sz="1250" b="1" dirty="0">
                <a:solidFill>
                  <a:srgbClr val="2E241C"/>
                </a:solidFill>
                <a:latin typeface="Malgun Gothic" pitchFamily="34" charset="0"/>
                <a:ea typeface="Malgun Gothic" pitchFamily="34" charset="-122"/>
                <a:cs typeface="Malgun Gothic" pitchFamily="34" charset="-120"/>
              </a:rPr>
              <a:t>70년 레시피·운영 암묵지</a:t>
            </a:r>
            <a:endParaRPr lang="en-US" sz="1250" dirty="0"/>
          </a:p>
        </p:txBody>
      </p:sp>
      <p:sp>
        <p:nvSpPr>
          <p:cNvPr id="28" name="Text 21"/>
          <p:cNvSpPr/>
          <p:nvPr/>
        </p:nvSpPr>
        <p:spPr>
          <a:xfrm>
            <a:off x="5532120" y="5093208"/>
            <a:ext cx="5989320" cy="694944"/>
          </a:xfrm>
          <a:prstGeom prst="rect">
            <a:avLst/>
          </a:prstGeom>
          <a:noFill/>
          <a:ln/>
        </p:spPr>
        <p:txBody>
          <a:bodyPr wrap="square" lIns="0" tIns="0" rIns="0" bIns="0" rtlCol="0" anchor="ctr"/>
          <a:lstStyle/>
          <a:p>
            <a:pPr marL="0" indent="0">
              <a:lnSpc>
                <a:spcPct val="112000"/>
              </a:lnSpc>
              <a:buNone/>
            </a:pPr>
            <a:r>
              <a:rPr lang="en-US" sz="1050" dirty="0">
                <a:solidFill>
                  <a:srgbClr val="76675A"/>
                </a:solidFill>
                <a:latin typeface="Malgun Gothic" pitchFamily="34" charset="0"/>
                <a:ea typeface="Malgun Gothic" pitchFamily="34" charset="-122"/>
                <a:cs typeface="Malgun Gothic" pitchFamily="34" charset="-120"/>
              </a:rPr>
              <a:t>장인의 배합·발효 판단과 명절 물량의 감 → 온톨로지로 자산화할 최고 가치의 원석</a:t>
            </a:r>
            <a:endParaRPr lang="en-US" sz="1050" dirty="0"/>
          </a:p>
        </p:txBody>
      </p:sp>
      <p:sp>
        <p:nvSpPr>
          <p:cNvPr id="29" name="Text 22"/>
          <p:cNvSpPr/>
          <p:nvPr/>
        </p:nvSpPr>
        <p:spPr>
          <a:xfrm>
            <a:off x="502920" y="5943600"/>
            <a:ext cx="11201400" cy="365760"/>
          </a:xfrm>
          <a:prstGeom prst="rect">
            <a:avLst/>
          </a:prstGeom>
          <a:noFill/>
          <a:ln/>
        </p:spPr>
        <p:txBody>
          <a:bodyPr wrap="square" lIns="0" tIns="0" rIns="0" bIns="0" rtlCol="0" anchor="ctr"/>
          <a:lstStyle/>
          <a:p>
            <a:pPr marL="0" indent="0">
              <a:buNone/>
            </a:pPr>
            <a:r>
              <a:rPr lang="en-US" sz="1250" b="1" i="1" dirty="0">
                <a:solidFill>
                  <a:srgbClr val="9C5227"/>
                </a:solidFill>
                <a:latin typeface="Malgun Gothic" pitchFamily="34" charset="0"/>
                <a:ea typeface="Malgun Gothic" pitchFamily="34" charset="-122"/>
                <a:cs typeface="Malgun Gothic" pitchFamily="34" charset="-120"/>
              </a:rPr>
              <a:t>결론: </a:t>
            </a:r>
            <a:r>
              <a:rPr lang="ko-KR" altLang="en-US" sz="1250" b="1" i="1" dirty="0">
                <a:solidFill>
                  <a:srgbClr val="9C5227"/>
                </a:solidFill>
                <a:latin typeface="Malgun Gothic" pitchFamily="34" charset="0"/>
                <a:ea typeface="Malgun Gothic" pitchFamily="34" charset="-122"/>
                <a:cs typeface="Malgun Gothic" pitchFamily="34" charset="-120"/>
              </a:rPr>
              <a:t>베이커리 </a:t>
            </a:r>
            <a:r>
              <a:rPr lang="en-US" altLang="ko-KR" sz="1250" b="1" i="1" dirty="0">
                <a:solidFill>
                  <a:srgbClr val="9C5227"/>
                </a:solidFill>
                <a:latin typeface="Malgun Gothic" pitchFamily="34" charset="0"/>
                <a:ea typeface="Malgun Gothic" pitchFamily="34" charset="-122"/>
                <a:cs typeface="Malgun Gothic" pitchFamily="34" charset="-120"/>
              </a:rPr>
              <a:t>T</a:t>
            </a:r>
            <a:r>
              <a:rPr lang="ko-KR" altLang="en-US" sz="1250" b="1" i="1" dirty="0">
                <a:solidFill>
                  <a:srgbClr val="9C5227"/>
                </a:solidFill>
                <a:latin typeface="Malgun Gothic" pitchFamily="34" charset="0"/>
                <a:ea typeface="Malgun Gothic" pitchFamily="34" charset="-122"/>
                <a:cs typeface="Malgun Gothic" pitchFamily="34" charset="-120"/>
              </a:rPr>
              <a:t>사는</a:t>
            </a:r>
            <a:r>
              <a:rPr lang="en-US" sz="1250" b="1" i="1" dirty="0">
                <a:solidFill>
                  <a:srgbClr val="9C5227"/>
                </a:solidFill>
                <a:latin typeface="Malgun Gothic" pitchFamily="34" charset="0"/>
                <a:ea typeface="Malgun Gothic" pitchFamily="34" charset="-122"/>
                <a:cs typeface="Malgun Gothic" pitchFamily="34" charset="-120"/>
              </a:rPr>
              <a:t> '일반 베이커리 + 유통·이커머스 기업'의 복합체 — 단일 원장(Odoo) 없이는 어떤 AI도 전체를 보지 못한다</a:t>
            </a:r>
            <a:endParaRPr lang="en-US" sz="1250" dirty="0"/>
          </a:p>
        </p:txBody>
      </p:sp>
      <p:sp>
        <p:nvSpPr>
          <p:cNvPr id="30" name="Text 23"/>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31" name="Text 24"/>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BENCHMARK</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solidFill>
                  <a:srgbClr val="2E241C"/>
                </a:solidFill>
                <a:latin typeface="Malgun Gothic" pitchFamily="34" charset="0"/>
                <a:ea typeface="Malgun Gothic" pitchFamily="34" charset="-122"/>
                <a:cs typeface="Malgun Gothic" pitchFamily="34" charset="-120"/>
              </a:rPr>
              <a:t>대전 성심당 — 로컬 베이커리의 정점에서 배운다</a:t>
            </a:r>
            <a:endParaRPr lang="en-US" sz="2500" dirty="0"/>
          </a:p>
        </p:txBody>
      </p:sp>
      <p:sp>
        <p:nvSpPr>
          <p:cNvPr id="4" name="Shape 2"/>
          <p:cNvSpPr/>
          <p:nvPr/>
        </p:nvSpPr>
        <p:spPr>
          <a:xfrm>
            <a:off x="502920" y="1463040"/>
            <a:ext cx="4983480" cy="4297680"/>
          </a:xfrm>
          <a:prstGeom prst="roundRect">
            <a:avLst>
              <a:gd name="adj" fmla="val 1915"/>
            </a:avLst>
          </a:prstGeom>
          <a:solidFill>
            <a:srgbClr val="2B1D12"/>
          </a:solidFill>
          <a:ln/>
        </p:spPr>
        <p:txBody>
          <a:bodyPr/>
          <a:lstStyle/>
          <a:p>
            <a:endParaRPr lang="ko-KR" altLang="en-US"/>
          </a:p>
        </p:txBody>
      </p:sp>
      <p:sp>
        <p:nvSpPr>
          <p:cNvPr id="5" name="Text 3"/>
          <p:cNvSpPr/>
          <p:nvPr/>
        </p:nvSpPr>
        <p:spPr>
          <a:xfrm>
            <a:off x="758952" y="1645920"/>
            <a:ext cx="4480560" cy="310896"/>
          </a:xfrm>
          <a:prstGeom prst="rect">
            <a:avLst/>
          </a:prstGeom>
          <a:noFill/>
          <a:ln/>
        </p:spPr>
        <p:txBody>
          <a:bodyPr wrap="square" lIns="0" tIns="0" rIns="0" bIns="0" rtlCol="0" anchor="ctr"/>
          <a:lstStyle/>
          <a:p>
            <a:pPr marL="0" indent="0">
              <a:buNone/>
            </a:pPr>
            <a:r>
              <a:rPr lang="en-US" sz="1400" b="1" dirty="0">
                <a:solidFill>
                  <a:srgbClr val="E8A33D"/>
                </a:solidFill>
                <a:latin typeface="Malgun Gothic" pitchFamily="34" charset="0"/>
                <a:ea typeface="Malgun Gothic" pitchFamily="34" charset="-122"/>
                <a:cs typeface="Malgun Gothic" pitchFamily="34" charset="-120"/>
              </a:rPr>
              <a:t>성심당(㈜로쏘)의 숫자 — 공개 보도 기준</a:t>
            </a:r>
            <a:endParaRPr lang="en-US" sz="1400" dirty="0"/>
          </a:p>
        </p:txBody>
      </p:sp>
      <p:sp>
        <p:nvSpPr>
          <p:cNvPr id="6" name="Text 4"/>
          <p:cNvSpPr/>
          <p:nvPr/>
        </p:nvSpPr>
        <p:spPr>
          <a:xfrm>
            <a:off x="758952" y="2084832"/>
            <a:ext cx="4526280" cy="3520440"/>
          </a:xfrm>
          <a:prstGeom prst="rect">
            <a:avLst/>
          </a:prstGeom>
          <a:noFill/>
          <a:ln/>
        </p:spPr>
        <p:txBody>
          <a:bodyPr wrap="square" lIns="0" tIns="0" rIns="0" bIns="0" rtlCol="0" anchor="t"/>
          <a:lstStyle/>
          <a:p>
            <a:pPr marL="127000" indent="-127000">
              <a:lnSpc>
                <a:spcPct val="120000"/>
              </a:lnSpc>
              <a:spcAft>
                <a:spcPts val="1000"/>
              </a:spcAft>
              <a:buSzPct val="100000"/>
              <a:buChar char="•"/>
            </a:pPr>
            <a:r>
              <a:rPr lang="en-US" sz="1100" dirty="0">
                <a:solidFill>
                  <a:srgbClr val="FFFFFF"/>
                </a:solidFill>
                <a:latin typeface="Malgun Gothic" pitchFamily="34" charset="0"/>
                <a:ea typeface="Malgun Gothic" pitchFamily="34" charset="-122"/>
                <a:cs typeface="Malgun Gothic" pitchFamily="34" charset="-120"/>
              </a:rPr>
              <a:t>1956년 대전역 앞 찐빵집에서 시작 — 68년 무(無)프랜차이즈, '빵지순례'의 원조</a:t>
            </a:r>
            <a:endParaRPr lang="en-US" sz="1100" dirty="0"/>
          </a:p>
          <a:p>
            <a:pPr marL="127000" indent="-127000">
              <a:lnSpc>
                <a:spcPct val="120000"/>
              </a:lnSpc>
              <a:spcAft>
                <a:spcPts val="1000"/>
              </a:spcAft>
              <a:buSzPct val="100000"/>
              <a:buChar char="•"/>
            </a:pPr>
            <a:r>
              <a:rPr lang="en-US" sz="1100" dirty="0">
                <a:solidFill>
                  <a:srgbClr val="FFFFFF"/>
                </a:solidFill>
                <a:latin typeface="Malgun Gothic" pitchFamily="34" charset="0"/>
                <a:ea typeface="Malgun Gothic" pitchFamily="34" charset="-122"/>
                <a:cs typeface="Malgun Gothic" pitchFamily="34" charset="-120"/>
              </a:rPr>
              <a:t>매장은 대전에 단 4개 — 그런데 2025년 매출 2,629억 원, 영업이익 643억 원</a:t>
            </a:r>
            <a:endParaRPr lang="en-US" sz="1100" dirty="0"/>
          </a:p>
          <a:p>
            <a:pPr marL="127000" indent="-127000">
              <a:lnSpc>
                <a:spcPct val="120000"/>
              </a:lnSpc>
              <a:spcAft>
                <a:spcPts val="1000"/>
              </a:spcAft>
              <a:buSzPct val="100000"/>
              <a:buChar char="•"/>
            </a:pPr>
            <a:r>
              <a:rPr lang="en-US" sz="1100" dirty="0">
                <a:solidFill>
                  <a:srgbClr val="FFFFFF"/>
                </a:solidFill>
                <a:latin typeface="Malgun Gothic" pitchFamily="34" charset="0"/>
                <a:ea typeface="Malgun Gothic" pitchFamily="34" charset="-122"/>
                <a:cs typeface="Malgun Gothic" pitchFamily="34" charset="-120"/>
              </a:rPr>
              <a:t>영업이익률 약 25% — 전국 1,300여 매장 대형 프랜차이즈 운영사들의 영업이익을 능가</a:t>
            </a:r>
            <a:endParaRPr lang="en-US" sz="1100" dirty="0"/>
          </a:p>
          <a:p>
            <a:pPr marL="127000" indent="-127000">
              <a:lnSpc>
                <a:spcPct val="120000"/>
              </a:lnSpc>
              <a:spcAft>
                <a:spcPts val="1000"/>
              </a:spcAft>
              <a:buSzPct val="100000"/>
              <a:buChar char="•"/>
            </a:pPr>
            <a:r>
              <a:rPr lang="en-US" sz="1100" dirty="0">
                <a:solidFill>
                  <a:srgbClr val="FFFFFF"/>
                </a:solidFill>
                <a:latin typeface="Malgun Gothic" pitchFamily="34" charset="0"/>
                <a:ea typeface="Malgun Gothic" pitchFamily="34" charset="-122"/>
                <a:cs typeface="Malgun Gothic" pitchFamily="34" charset="-120"/>
              </a:rPr>
              <a:t>당일 생산·당일 소진 원칙, 남은 빵은 전량 기부 — 로스가 브랜드가 된 사례</a:t>
            </a:r>
            <a:endParaRPr lang="en-US" sz="1100" dirty="0"/>
          </a:p>
          <a:p>
            <a:pPr marL="127000" indent="-127000">
              <a:lnSpc>
                <a:spcPct val="120000"/>
              </a:lnSpc>
              <a:spcAft>
                <a:spcPts val="1000"/>
              </a:spcAft>
              <a:buSzPct val="100000"/>
              <a:buChar char="•"/>
            </a:pPr>
            <a:r>
              <a:rPr lang="en-US" sz="1100" dirty="0">
                <a:solidFill>
                  <a:srgbClr val="FFFFFF"/>
                </a:solidFill>
                <a:latin typeface="Malgun Gothic" pitchFamily="34" charset="0"/>
                <a:ea typeface="Malgun Gothic" pitchFamily="34" charset="-122"/>
                <a:cs typeface="Malgun Gothic" pitchFamily="34" charset="-120"/>
              </a:rPr>
              <a:t>튀김소보로·딸기시루 — 시그니처 집중과 시즌 대란의 수요 관리</a:t>
            </a:r>
            <a:endParaRPr lang="en-US" sz="1100" dirty="0"/>
          </a:p>
        </p:txBody>
      </p:sp>
      <p:sp>
        <p:nvSpPr>
          <p:cNvPr id="7" name="Text 5"/>
          <p:cNvSpPr/>
          <p:nvPr/>
        </p:nvSpPr>
        <p:spPr>
          <a:xfrm>
            <a:off x="5760720" y="1554480"/>
            <a:ext cx="5943600" cy="310896"/>
          </a:xfrm>
          <a:prstGeom prst="rect">
            <a:avLst/>
          </a:prstGeom>
          <a:noFill/>
          <a:ln/>
        </p:spPr>
        <p:txBody>
          <a:bodyPr wrap="square" lIns="0" tIns="0" rIns="0" bIns="0" rtlCol="0" anchor="ctr"/>
          <a:lstStyle/>
          <a:p>
            <a:pPr marL="0" indent="0">
              <a:buNone/>
            </a:pPr>
            <a:r>
              <a:rPr lang="en-US" sz="1400" b="1" dirty="0">
                <a:solidFill>
                  <a:srgbClr val="9C5227"/>
                </a:solidFill>
                <a:latin typeface="Malgun Gothic" pitchFamily="34" charset="0"/>
                <a:ea typeface="Malgun Gothic" pitchFamily="34" charset="-122"/>
                <a:cs typeface="Malgun Gothic" pitchFamily="34" charset="-120"/>
              </a:rPr>
              <a:t>다섯 가지 교훈 → </a:t>
            </a:r>
            <a:r>
              <a:rPr lang="ko-KR" altLang="en-US" sz="1400" b="1" dirty="0">
                <a:solidFill>
                  <a:srgbClr val="9C5227"/>
                </a:solidFill>
                <a:latin typeface="Malgun Gothic" pitchFamily="34" charset="0"/>
                <a:ea typeface="Malgun Gothic" pitchFamily="34" charset="-122"/>
                <a:cs typeface="Malgun Gothic" pitchFamily="34" charset="-120"/>
              </a:rPr>
              <a:t>베이커리 </a:t>
            </a:r>
            <a:r>
              <a:rPr lang="en-US" altLang="ko-KR" sz="1400" b="1" dirty="0">
                <a:solidFill>
                  <a:srgbClr val="9C5227"/>
                </a:solidFill>
                <a:latin typeface="Malgun Gothic" pitchFamily="34" charset="0"/>
                <a:ea typeface="Malgun Gothic" pitchFamily="34" charset="-122"/>
                <a:cs typeface="Malgun Gothic" pitchFamily="34" charset="-120"/>
              </a:rPr>
              <a:t>T</a:t>
            </a:r>
            <a:r>
              <a:rPr lang="ko-KR" altLang="en-US" sz="1400" b="1" dirty="0">
                <a:solidFill>
                  <a:srgbClr val="9C5227"/>
                </a:solidFill>
                <a:latin typeface="Malgun Gothic" pitchFamily="34" charset="0"/>
                <a:ea typeface="Malgun Gothic" pitchFamily="34" charset="-122"/>
                <a:cs typeface="Malgun Gothic" pitchFamily="34" charset="-120"/>
              </a:rPr>
              <a:t>사는</a:t>
            </a:r>
            <a:r>
              <a:rPr lang="en-US" sz="1400" b="1" dirty="0">
                <a:solidFill>
                  <a:srgbClr val="9C5227"/>
                </a:solidFill>
                <a:latin typeface="Malgun Gothic" pitchFamily="34" charset="0"/>
                <a:ea typeface="Malgun Gothic" pitchFamily="34" charset="-122"/>
                <a:cs typeface="Malgun Gothic" pitchFamily="34" charset="-120"/>
              </a:rPr>
              <a:t> 데이터와 AI로 구현한다</a:t>
            </a:r>
            <a:endParaRPr lang="en-US" sz="1400" dirty="0"/>
          </a:p>
        </p:txBody>
      </p:sp>
      <p:sp>
        <p:nvSpPr>
          <p:cNvPr id="8" name="Shape 6"/>
          <p:cNvSpPr/>
          <p:nvPr/>
        </p:nvSpPr>
        <p:spPr>
          <a:xfrm>
            <a:off x="5760720" y="1956816"/>
            <a:ext cx="5943600" cy="694944"/>
          </a:xfrm>
          <a:prstGeom prst="roundRect">
            <a:avLst>
              <a:gd name="adj" fmla="val 11842"/>
            </a:avLst>
          </a:prstGeom>
          <a:solidFill>
            <a:srgbClr val="F8F2EA"/>
          </a:solidFill>
          <a:ln/>
        </p:spPr>
        <p:txBody>
          <a:bodyPr/>
          <a:lstStyle/>
          <a:p>
            <a:endParaRPr lang="ko-KR" altLang="en-US"/>
          </a:p>
        </p:txBody>
      </p:sp>
      <p:sp>
        <p:nvSpPr>
          <p:cNvPr id="9" name="Text 7"/>
          <p:cNvSpPr/>
          <p:nvPr/>
        </p:nvSpPr>
        <p:spPr>
          <a:xfrm>
            <a:off x="5961888" y="2002536"/>
            <a:ext cx="1874520" cy="603504"/>
          </a:xfrm>
          <a:prstGeom prst="rect">
            <a:avLst/>
          </a:prstGeom>
          <a:noFill/>
          <a:ln/>
        </p:spPr>
        <p:txBody>
          <a:bodyPr wrap="square" lIns="0" tIns="0" rIns="0" bIns="0" rtlCol="0" anchor="ctr"/>
          <a:lstStyle/>
          <a:p>
            <a:pPr marL="0" indent="0">
              <a:lnSpc>
                <a:spcPct val="102000"/>
              </a:lnSpc>
              <a:buNone/>
            </a:pPr>
            <a:r>
              <a:rPr lang="en-US" sz="1100" b="1" dirty="0">
                <a:solidFill>
                  <a:srgbClr val="0E8F86"/>
                </a:solidFill>
                <a:latin typeface="Malgun Gothic" pitchFamily="34" charset="0"/>
                <a:ea typeface="Malgun Gothic" pitchFamily="34" charset="-122"/>
                <a:cs typeface="Malgun Gothic" pitchFamily="34" charset="-120"/>
              </a:rPr>
              <a:t>당일 소진의 규율</a:t>
            </a:r>
            <a:endParaRPr lang="en-US" sz="1100" dirty="0"/>
          </a:p>
        </p:txBody>
      </p:sp>
      <p:sp>
        <p:nvSpPr>
          <p:cNvPr id="10" name="Text 8"/>
          <p:cNvSpPr/>
          <p:nvPr/>
        </p:nvSpPr>
        <p:spPr>
          <a:xfrm>
            <a:off x="7863840" y="2002536"/>
            <a:ext cx="3703320" cy="603504"/>
          </a:xfrm>
          <a:prstGeom prst="rect">
            <a:avLst/>
          </a:prstGeom>
          <a:noFill/>
          <a:ln/>
        </p:spPr>
        <p:txBody>
          <a:bodyPr wrap="square" lIns="0" tIns="0" rIns="0" bIns="0" rtlCol="0" anchor="ctr"/>
          <a:lstStyle/>
          <a:p>
            <a:pPr marL="0" indent="0">
              <a:lnSpc>
                <a:spcPct val="110000"/>
              </a:lnSpc>
              <a:buNone/>
            </a:pPr>
            <a:r>
              <a:rPr lang="en-US" sz="950" dirty="0">
                <a:solidFill>
                  <a:srgbClr val="2E241C"/>
                </a:solidFill>
                <a:latin typeface="Malgun Gothic" pitchFamily="34" charset="0"/>
                <a:ea typeface="Malgun Gothic" pitchFamily="34" charset="-122"/>
                <a:cs typeface="Malgun Gothic" pitchFamily="34" charset="-120"/>
              </a:rPr>
              <a:t>그 뒤에는 정밀한 일일 생산량 결정이 있다 → 수요예측 프로젝트(9장)로 구현</a:t>
            </a:r>
            <a:endParaRPr lang="en-US" sz="950" dirty="0"/>
          </a:p>
        </p:txBody>
      </p:sp>
      <p:sp>
        <p:nvSpPr>
          <p:cNvPr id="11" name="Shape 9"/>
          <p:cNvSpPr/>
          <p:nvPr/>
        </p:nvSpPr>
        <p:spPr>
          <a:xfrm>
            <a:off x="5760720" y="2743200"/>
            <a:ext cx="5943600" cy="694944"/>
          </a:xfrm>
          <a:prstGeom prst="roundRect">
            <a:avLst>
              <a:gd name="adj" fmla="val 11842"/>
            </a:avLst>
          </a:prstGeom>
          <a:solidFill>
            <a:srgbClr val="F8F2EA"/>
          </a:solidFill>
          <a:ln/>
        </p:spPr>
        <p:txBody>
          <a:bodyPr/>
          <a:lstStyle/>
          <a:p>
            <a:endParaRPr lang="ko-KR" altLang="en-US"/>
          </a:p>
        </p:txBody>
      </p:sp>
      <p:sp>
        <p:nvSpPr>
          <p:cNvPr id="12" name="Text 10"/>
          <p:cNvSpPr/>
          <p:nvPr/>
        </p:nvSpPr>
        <p:spPr>
          <a:xfrm>
            <a:off x="5961888" y="2788920"/>
            <a:ext cx="1874520" cy="603504"/>
          </a:xfrm>
          <a:prstGeom prst="rect">
            <a:avLst/>
          </a:prstGeom>
          <a:noFill/>
          <a:ln/>
        </p:spPr>
        <p:txBody>
          <a:bodyPr wrap="square" lIns="0" tIns="0" rIns="0" bIns="0" rtlCol="0" anchor="ctr"/>
          <a:lstStyle/>
          <a:p>
            <a:pPr marL="0" indent="0">
              <a:lnSpc>
                <a:spcPct val="102000"/>
              </a:lnSpc>
              <a:buNone/>
            </a:pPr>
            <a:r>
              <a:rPr lang="en-US" sz="1100" b="1" dirty="0">
                <a:solidFill>
                  <a:srgbClr val="C07F1E"/>
                </a:solidFill>
                <a:latin typeface="Malgun Gothic" pitchFamily="34" charset="0"/>
                <a:ea typeface="Malgun Gothic" pitchFamily="34" charset="-122"/>
                <a:cs typeface="Malgun Gothic" pitchFamily="34" charset="-120"/>
              </a:rPr>
              <a:t>시그니처 집중</a:t>
            </a:r>
            <a:endParaRPr lang="en-US" sz="1100" dirty="0"/>
          </a:p>
        </p:txBody>
      </p:sp>
      <p:sp>
        <p:nvSpPr>
          <p:cNvPr id="13" name="Text 11"/>
          <p:cNvSpPr/>
          <p:nvPr/>
        </p:nvSpPr>
        <p:spPr>
          <a:xfrm>
            <a:off x="7863840" y="2788920"/>
            <a:ext cx="3703320" cy="603504"/>
          </a:xfrm>
          <a:prstGeom prst="rect">
            <a:avLst/>
          </a:prstGeom>
          <a:noFill/>
          <a:ln/>
        </p:spPr>
        <p:txBody>
          <a:bodyPr wrap="square" lIns="0" tIns="0" rIns="0" bIns="0" rtlCol="0" anchor="ctr"/>
          <a:lstStyle/>
          <a:p>
            <a:pPr marL="0" indent="0">
              <a:lnSpc>
                <a:spcPct val="110000"/>
              </a:lnSpc>
              <a:buNone/>
            </a:pPr>
            <a:r>
              <a:rPr lang="en-US" sz="950" dirty="0">
                <a:solidFill>
                  <a:srgbClr val="2E241C"/>
                </a:solidFill>
                <a:latin typeface="Malgun Gothic" pitchFamily="34" charset="0"/>
                <a:ea typeface="Malgun Gothic" pitchFamily="34" charset="-122"/>
                <a:cs typeface="Malgun Gothic" pitchFamily="34" charset="-120"/>
              </a:rPr>
              <a:t>파이만쥬를 데이터로 키운다 — 시즌 아이템의 수요 폭증 예측과 선행 생산(9·11장)</a:t>
            </a:r>
            <a:endParaRPr lang="en-US" sz="950" dirty="0"/>
          </a:p>
        </p:txBody>
      </p:sp>
      <p:sp>
        <p:nvSpPr>
          <p:cNvPr id="14" name="Shape 12"/>
          <p:cNvSpPr/>
          <p:nvPr/>
        </p:nvSpPr>
        <p:spPr>
          <a:xfrm>
            <a:off x="5760720" y="3529584"/>
            <a:ext cx="5943600" cy="694944"/>
          </a:xfrm>
          <a:prstGeom prst="roundRect">
            <a:avLst>
              <a:gd name="adj" fmla="val 11842"/>
            </a:avLst>
          </a:prstGeom>
          <a:solidFill>
            <a:srgbClr val="F8F2EA"/>
          </a:solidFill>
          <a:ln/>
        </p:spPr>
        <p:txBody>
          <a:bodyPr/>
          <a:lstStyle/>
          <a:p>
            <a:endParaRPr lang="ko-KR" altLang="en-US"/>
          </a:p>
        </p:txBody>
      </p:sp>
      <p:sp>
        <p:nvSpPr>
          <p:cNvPr id="15" name="Text 13"/>
          <p:cNvSpPr/>
          <p:nvPr/>
        </p:nvSpPr>
        <p:spPr>
          <a:xfrm>
            <a:off x="5961888" y="3575304"/>
            <a:ext cx="1874520" cy="603504"/>
          </a:xfrm>
          <a:prstGeom prst="rect">
            <a:avLst/>
          </a:prstGeom>
          <a:noFill/>
          <a:ln/>
        </p:spPr>
        <p:txBody>
          <a:bodyPr wrap="square" lIns="0" tIns="0" rIns="0" bIns="0" rtlCol="0" anchor="ctr"/>
          <a:lstStyle/>
          <a:p>
            <a:pPr marL="0" indent="0">
              <a:lnSpc>
                <a:spcPct val="102000"/>
              </a:lnSpc>
              <a:buNone/>
            </a:pPr>
            <a:r>
              <a:rPr lang="en-US" sz="1100" b="1" dirty="0">
                <a:solidFill>
                  <a:srgbClr val="714B67"/>
                </a:solidFill>
                <a:latin typeface="Malgun Gothic" pitchFamily="34" charset="0"/>
                <a:ea typeface="Malgun Gothic" pitchFamily="34" charset="-122"/>
                <a:cs typeface="Malgun Gothic" pitchFamily="34" charset="-120"/>
              </a:rPr>
              <a:t>로컬 정체성 = 관광 수요</a:t>
            </a:r>
            <a:endParaRPr lang="en-US" sz="1100" dirty="0"/>
          </a:p>
        </p:txBody>
      </p:sp>
      <p:sp>
        <p:nvSpPr>
          <p:cNvPr id="16" name="Text 14"/>
          <p:cNvSpPr/>
          <p:nvPr/>
        </p:nvSpPr>
        <p:spPr>
          <a:xfrm>
            <a:off x="7863840" y="3575304"/>
            <a:ext cx="3703320" cy="603504"/>
          </a:xfrm>
          <a:prstGeom prst="rect">
            <a:avLst/>
          </a:prstGeom>
          <a:noFill/>
          <a:ln/>
        </p:spPr>
        <p:txBody>
          <a:bodyPr wrap="square" lIns="0" tIns="0" rIns="0" bIns="0" rtlCol="0" anchor="ctr"/>
          <a:lstStyle/>
          <a:p>
            <a:pPr marL="0" indent="0">
              <a:lnSpc>
                <a:spcPct val="110000"/>
              </a:lnSpc>
              <a:buNone/>
            </a:pPr>
            <a:r>
              <a:rPr lang="en-US" sz="950" dirty="0">
                <a:solidFill>
                  <a:srgbClr val="2E241C"/>
                </a:solidFill>
                <a:latin typeface="Malgun Gothic" pitchFamily="34" charset="0"/>
                <a:ea typeface="Malgun Gothic" pitchFamily="34" charset="-122"/>
                <a:cs typeface="Malgun Gothic" pitchFamily="34" charset="-120"/>
              </a:rPr>
              <a:t>'대전의 문화'처럼 '부산의 1950' — 관광 캘린더를 예측 변수로(9장), 서사는 브랜드로</a:t>
            </a:r>
            <a:endParaRPr lang="en-US" sz="950" dirty="0"/>
          </a:p>
        </p:txBody>
      </p:sp>
      <p:sp>
        <p:nvSpPr>
          <p:cNvPr id="17" name="Shape 15"/>
          <p:cNvSpPr/>
          <p:nvPr/>
        </p:nvSpPr>
        <p:spPr>
          <a:xfrm>
            <a:off x="5760720" y="4315968"/>
            <a:ext cx="5943600" cy="694944"/>
          </a:xfrm>
          <a:prstGeom prst="roundRect">
            <a:avLst>
              <a:gd name="adj" fmla="val 11842"/>
            </a:avLst>
          </a:prstGeom>
          <a:solidFill>
            <a:srgbClr val="F8F2EA"/>
          </a:solidFill>
          <a:ln/>
        </p:spPr>
        <p:txBody>
          <a:bodyPr/>
          <a:lstStyle/>
          <a:p>
            <a:endParaRPr lang="ko-KR" altLang="en-US"/>
          </a:p>
        </p:txBody>
      </p:sp>
      <p:sp>
        <p:nvSpPr>
          <p:cNvPr id="18" name="Text 16"/>
          <p:cNvSpPr/>
          <p:nvPr/>
        </p:nvSpPr>
        <p:spPr>
          <a:xfrm>
            <a:off x="5961888" y="4361688"/>
            <a:ext cx="1874520" cy="603504"/>
          </a:xfrm>
          <a:prstGeom prst="rect">
            <a:avLst/>
          </a:prstGeom>
          <a:noFill/>
          <a:ln/>
        </p:spPr>
        <p:txBody>
          <a:bodyPr wrap="square" lIns="0" tIns="0" rIns="0" bIns="0" rtlCol="0" anchor="ctr"/>
          <a:lstStyle/>
          <a:p>
            <a:pPr marL="0" indent="0">
              <a:lnSpc>
                <a:spcPct val="102000"/>
              </a:lnSpc>
              <a:buNone/>
            </a:pPr>
            <a:r>
              <a:rPr lang="en-US" sz="1100" b="1" dirty="0">
                <a:solidFill>
                  <a:srgbClr val="E8A33D"/>
                </a:solidFill>
                <a:latin typeface="Malgun Gothic" pitchFamily="34" charset="0"/>
                <a:ea typeface="Malgun Gothic" pitchFamily="34" charset="-122"/>
                <a:cs typeface="Malgun Gothic" pitchFamily="34" charset="-120"/>
              </a:rPr>
              <a:t>적은 매장, 깊은 운영</a:t>
            </a:r>
            <a:endParaRPr lang="en-US" sz="1100" dirty="0"/>
          </a:p>
        </p:txBody>
      </p:sp>
      <p:sp>
        <p:nvSpPr>
          <p:cNvPr id="19" name="Text 17"/>
          <p:cNvSpPr/>
          <p:nvPr/>
        </p:nvSpPr>
        <p:spPr>
          <a:xfrm>
            <a:off x="7863840" y="4361688"/>
            <a:ext cx="3703320" cy="603504"/>
          </a:xfrm>
          <a:prstGeom prst="rect">
            <a:avLst/>
          </a:prstGeom>
          <a:noFill/>
          <a:ln/>
        </p:spPr>
        <p:txBody>
          <a:bodyPr wrap="square" lIns="0" tIns="0" rIns="0" bIns="0" rtlCol="0" anchor="ctr"/>
          <a:lstStyle/>
          <a:p>
            <a:pPr marL="0" indent="0">
              <a:lnSpc>
                <a:spcPct val="110000"/>
              </a:lnSpc>
              <a:buNone/>
            </a:pPr>
            <a:r>
              <a:rPr lang="en-US" sz="950" dirty="0">
                <a:solidFill>
                  <a:srgbClr val="2E241C"/>
                </a:solidFill>
                <a:latin typeface="Malgun Gothic" pitchFamily="34" charset="0"/>
                <a:ea typeface="Malgun Gothic" pitchFamily="34" charset="-122"/>
                <a:cs typeface="Malgun Gothic" pitchFamily="34" charset="-120"/>
              </a:rPr>
              <a:t>무리한 다점포 대신 직영 규율 — </a:t>
            </a:r>
            <a:r>
              <a:rPr lang="ko-KR" altLang="en-US" sz="950" dirty="0">
                <a:solidFill>
                  <a:srgbClr val="2E241C"/>
                </a:solidFill>
                <a:latin typeface="Malgun Gothic" pitchFamily="34" charset="0"/>
                <a:ea typeface="Malgun Gothic" pitchFamily="34" charset="-122"/>
                <a:cs typeface="Malgun Gothic" pitchFamily="34" charset="-120"/>
              </a:rPr>
              <a:t>베이커리 </a:t>
            </a:r>
            <a:r>
              <a:rPr lang="en-US" altLang="ko-KR" sz="950" dirty="0">
                <a:solidFill>
                  <a:srgbClr val="2E241C"/>
                </a:solidFill>
                <a:latin typeface="Malgun Gothic" pitchFamily="34" charset="0"/>
                <a:ea typeface="Malgun Gothic" pitchFamily="34" charset="-122"/>
                <a:cs typeface="Malgun Gothic" pitchFamily="34" charset="-120"/>
              </a:rPr>
              <a:t>T</a:t>
            </a:r>
            <a:r>
              <a:rPr lang="ko-KR" altLang="en-US" sz="950" dirty="0">
                <a:solidFill>
                  <a:srgbClr val="2E241C"/>
                </a:solidFill>
                <a:latin typeface="Malgun Gothic" pitchFamily="34" charset="0"/>
                <a:ea typeface="Malgun Gothic" pitchFamily="34" charset="-122"/>
                <a:cs typeface="Malgun Gothic" pitchFamily="34" charset="-120"/>
              </a:rPr>
              <a:t>사의</a:t>
            </a:r>
            <a:r>
              <a:rPr lang="en-US" sz="950" dirty="0">
                <a:solidFill>
                  <a:srgbClr val="2E241C"/>
                </a:solidFill>
                <a:latin typeface="Malgun Gothic" pitchFamily="34" charset="0"/>
                <a:ea typeface="Malgun Gothic" pitchFamily="34" charset="-122"/>
                <a:cs typeface="Malgun Gothic" pitchFamily="34" charset="-120"/>
              </a:rPr>
              <a:t> 확장은 검증된 파일럿의 복제로(15장)</a:t>
            </a:r>
            <a:endParaRPr lang="en-US" sz="950" dirty="0"/>
          </a:p>
        </p:txBody>
      </p:sp>
      <p:sp>
        <p:nvSpPr>
          <p:cNvPr id="20" name="Shape 18"/>
          <p:cNvSpPr/>
          <p:nvPr/>
        </p:nvSpPr>
        <p:spPr>
          <a:xfrm>
            <a:off x="5760720" y="5102352"/>
            <a:ext cx="5943600" cy="694944"/>
          </a:xfrm>
          <a:prstGeom prst="roundRect">
            <a:avLst>
              <a:gd name="adj" fmla="val 11842"/>
            </a:avLst>
          </a:prstGeom>
          <a:solidFill>
            <a:srgbClr val="F8F2EA"/>
          </a:solidFill>
          <a:ln/>
        </p:spPr>
        <p:txBody>
          <a:bodyPr/>
          <a:lstStyle/>
          <a:p>
            <a:endParaRPr lang="ko-KR" altLang="en-US"/>
          </a:p>
        </p:txBody>
      </p:sp>
      <p:sp>
        <p:nvSpPr>
          <p:cNvPr id="21" name="Text 19"/>
          <p:cNvSpPr/>
          <p:nvPr/>
        </p:nvSpPr>
        <p:spPr>
          <a:xfrm>
            <a:off x="5961888" y="5148072"/>
            <a:ext cx="1874520" cy="603504"/>
          </a:xfrm>
          <a:prstGeom prst="rect">
            <a:avLst/>
          </a:prstGeom>
          <a:noFill/>
          <a:ln/>
        </p:spPr>
        <p:txBody>
          <a:bodyPr wrap="square" lIns="0" tIns="0" rIns="0" bIns="0" rtlCol="0" anchor="ctr"/>
          <a:lstStyle/>
          <a:p>
            <a:pPr marL="0" indent="0">
              <a:lnSpc>
                <a:spcPct val="102000"/>
              </a:lnSpc>
              <a:buNone/>
            </a:pPr>
            <a:r>
              <a:rPr lang="en-US" sz="1100" b="1" dirty="0">
                <a:solidFill>
                  <a:srgbClr val="9C5227"/>
                </a:solidFill>
                <a:latin typeface="Malgun Gothic" pitchFamily="34" charset="0"/>
                <a:ea typeface="Malgun Gothic" pitchFamily="34" charset="-122"/>
                <a:cs typeface="Malgun Gothic" pitchFamily="34" charset="-120"/>
              </a:rPr>
              <a:t>고이익률 = 로스 규율</a:t>
            </a:r>
            <a:endParaRPr lang="en-US" sz="1100" dirty="0"/>
          </a:p>
        </p:txBody>
      </p:sp>
      <p:sp>
        <p:nvSpPr>
          <p:cNvPr id="22" name="Text 20"/>
          <p:cNvSpPr/>
          <p:nvPr/>
        </p:nvSpPr>
        <p:spPr>
          <a:xfrm>
            <a:off x="7863840" y="5148072"/>
            <a:ext cx="3703320" cy="603504"/>
          </a:xfrm>
          <a:prstGeom prst="rect">
            <a:avLst/>
          </a:prstGeom>
          <a:noFill/>
          <a:ln/>
        </p:spPr>
        <p:txBody>
          <a:bodyPr wrap="square" lIns="0" tIns="0" rIns="0" bIns="0" rtlCol="0" anchor="ctr"/>
          <a:lstStyle/>
          <a:p>
            <a:pPr marL="0" indent="0">
              <a:lnSpc>
                <a:spcPct val="110000"/>
              </a:lnSpc>
              <a:buNone/>
            </a:pPr>
            <a:r>
              <a:rPr lang="en-US" sz="950" dirty="0">
                <a:solidFill>
                  <a:srgbClr val="2E241C"/>
                </a:solidFill>
                <a:latin typeface="Malgun Gothic" pitchFamily="34" charset="0"/>
                <a:ea typeface="Malgun Gothic" pitchFamily="34" charset="-122"/>
                <a:cs typeface="Malgun Gothic" pitchFamily="34" charset="-120"/>
              </a:rPr>
              <a:t>폐기·결품 균형 KPI(16장) — 남는 빵의 기부·폐기까지 전표로 남겨 개선 루프에 태운다</a:t>
            </a:r>
            <a:endParaRPr lang="en-US" sz="950" dirty="0"/>
          </a:p>
        </p:txBody>
      </p:sp>
      <p:sp>
        <p:nvSpPr>
          <p:cNvPr id="23" name="Text 21"/>
          <p:cNvSpPr/>
          <p:nvPr/>
        </p:nvSpPr>
        <p:spPr>
          <a:xfrm>
            <a:off x="502920" y="5925312"/>
            <a:ext cx="11201400" cy="384048"/>
          </a:xfrm>
          <a:prstGeom prst="rect">
            <a:avLst/>
          </a:prstGeom>
          <a:noFill/>
          <a:ln/>
        </p:spPr>
        <p:txBody>
          <a:bodyPr wrap="square" lIns="0" tIns="0" rIns="0" bIns="0" rtlCol="0" anchor="ctr"/>
          <a:lstStyle/>
          <a:p>
            <a:pPr marL="0" indent="0">
              <a:buNone/>
            </a:pPr>
            <a:r>
              <a:rPr lang="en-US" sz="1250" b="1" i="1" dirty="0">
                <a:solidFill>
                  <a:srgbClr val="9C5227"/>
                </a:solidFill>
                <a:latin typeface="Malgun Gothic" pitchFamily="34" charset="0"/>
                <a:ea typeface="Malgun Gothic" pitchFamily="34" charset="-122"/>
                <a:cs typeface="Malgun Gothic" pitchFamily="34" charset="-120"/>
              </a:rPr>
              <a:t>성심당이 철학과 68년의 세월로 이룬 운영 규율을, </a:t>
            </a:r>
            <a:r>
              <a:rPr lang="ko-KR" altLang="en-US" sz="1250" b="1" i="1" dirty="0">
                <a:solidFill>
                  <a:srgbClr val="9C5227"/>
                </a:solidFill>
                <a:latin typeface="Malgun Gothic" pitchFamily="34" charset="0"/>
                <a:ea typeface="Malgun Gothic" pitchFamily="34" charset="-122"/>
                <a:cs typeface="Malgun Gothic" pitchFamily="34" charset="-120"/>
              </a:rPr>
              <a:t>베이커리 </a:t>
            </a:r>
            <a:r>
              <a:rPr lang="en-US" altLang="ko-KR" sz="1250" b="1" i="1" dirty="0">
                <a:solidFill>
                  <a:srgbClr val="9C5227"/>
                </a:solidFill>
                <a:latin typeface="Malgun Gothic" pitchFamily="34" charset="0"/>
                <a:ea typeface="Malgun Gothic" pitchFamily="34" charset="-122"/>
                <a:cs typeface="Malgun Gothic" pitchFamily="34" charset="-120"/>
              </a:rPr>
              <a:t>T</a:t>
            </a:r>
            <a:r>
              <a:rPr lang="ko-KR" altLang="en-US" sz="1250" b="1" i="1" dirty="0">
                <a:solidFill>
                  <a:srgbClr val="9C5227"/>
                </a:solidFill>
                <a:latin typeface="Malgun Gothic" pitchFamily="34" charset="0"/>
                <a:ea typeface="Malgun Gothic" pitchFamily="34" charset="-122"/>
                <a:cs typeface="Malgun Gothic" pitchFamily="34" charset="-120"/>
              </a:rPr>
              <a:t>사는</a:t>
            </a:r>
            <a:r>
              <a:rPr lang="en-US" sz="1250" b="1" i="1" dirty="0">
                <a:solidFill>
                  <a:srgbClr val="9C5227"/>
                </a:solidFill>
                <a:latin typeface="Malgun Gothic" pitchFamily="34" charset="0"/>
                <a:ea typeface="Malgun Gothic" pitchFamily="34" charset="-122"/>
                <a:cs typeface="Malgun Gothic" pitchFamily="34" charset="-120"/>
              </a:rPr>
              <a:t> 데이터와 AI로 압축해 추격한다 — 이 제안의 요지</a:t>
            </a:r>
            <a:endParaRPr lang="en-US" sz="1250" dirty="0"/>
          </a:p>
        </p:txBody>
      </p:sp>
      <p:sp>
        <p:nvSpPr>
          <p:cNvPr id="24" name="Text 22"/>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25" name="Text 23"/>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E8A33D"/>
                </a:solidFill>
                <a:latin typeface="Malgun Gothic" pitchFamily="34" charset="0"/>
                <a:ea typeface="Malgun Gothic" pitchFamily="34" charset="-122"/>
                <a:cs typeface="Malgun Gothic" pitchFamily="34" charset="-120"/>
              </a:rPr>
              <a:t>TARGET ARCHITECTURE</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latin typeface="Malgun Gothic" pitchFamily="34" charset="0"/>
                <a:ea typeface="Malgun Gothic" pitchFamily="34" charset="-122"/>
                <a:cs typeface="Malgun Gothic" pitchFamily="34" charset="-120"/>
              </a:rPr>
              <a:t>To-Be 총괄 — 트랜잭션에서 지식그래프, 에이전트까지 한 줄기</a:t>
            </a:r>
            <a:endParaRPr lang="en-US" sz="2500" dirty="0"/>
          </a:p>
        </p:txBody>
      </p:sp>
      <p:sp>
        <p:nvSpPr>
          <p:cNvPr id="4" name="Shape 2"/>
          <p:cNvSpPr/>
          <p:nvPr/>
        </p:nvSpPr>
        <p:spPr>
          <a:xfrm>
            <a:off x="502920" y="1481328"/>
            <a:ext cx="9418320" cy="786384"/>
          </a:xfrm>
          <a:prstGeom prst="roundRect">
            <a:avLst>
              <a:gd name="adj" fmla="val 10465"/>
            </a:avLst>
          </a:prstGeom>
          <a:solidFill>
            <a:srgbClr val="3E2C1D"/>
          </a:solidFill>
          <a:ln/>
        </p:spPr>
        <p:txBody>
          <a:bodyPr/>
          <a:lstStyle/>
          <a:p>
            <a:endParaRPr lang="ko-KR" altLang="en-US"/>
          </a:p>
        </p:txBody>
      </p:sp>
      <p:sp>
        <p:nvSpPr>
          <p:cNvPr id="5" name="Shape 3"/>
          <p:cNvSpPr/>
          <p:nvPr/>
        </p:nvSpPr>
        <p:spPr>
          <a:xfrm>
            <a:off x="713232" y="1636776"/>
            <a:ext cx="2148840" cy="475488"/>
          </a:xfrm>
          <a:prstGeom prst="roundRect">
            <a:avLst>
              <a:gd name="adj" fmla="val 13462"/>
            </a:avLst>
          </a:prstGeom>
          <a:solidFill>
            <a:srgbClr val="0E8F86"/>
          </a:solidFill>
          <a:ln/>
        </p:spPr>
        <p:txBody>
          <a:bodyPr/>
          <a:lstStyle/>
          <a:p>
            <a:endParaRPr lang="ko-KR" altLang="en-US"/>
          </a:p>
        </p:txBody>
      </p:sp>
      <p:sp>
        <p:nvSpPr>
          <p:cNvPr id="6" name="Text 4"/>
          <p:cNvSpPr/>
          <p:nvPr/>
        </p:nvSpPr>
        <p:spPr>
          <a:xfrm>
            <a:off x="713232" y="1636776"/>
            <a:ext cx="2148840"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Malgun Gothic" pitchFamily="34" charset="0"/>
                <a:ea typeface="Malgun Gothic" pitchFamily="34" charset="-122"/>
                <a:cs typeface="Malgun Gothic" pitchFamily="34" charset="-120"/>
              </a:rPr>
              <a:t>L1 트랜잭션 원천</a:t>
            </a:r>
            <a:endParaRPr lang="en-US" sz="1150" dirty="0"/>
          </a:p>
        </p:txBody>
      </p:sp>
      <p:sp>
        <p:nvSpPr>
          <p:cNvPr id="7" name="Text 5"/>
          <p:cNvSpPr/>
          <p:nvPr/>
        </p:nvSpPr>
        <p:spPr>
          <a:xfrm>
            <a:off x="3063240" y="1527048"/>
            <a:ext cx="6720840" cy="694944"/>
          </a:xfrm>
          <a:prstGeom prst="rect">
            <a:avLst/>
          </a:prstGeom>
          <a:noFill/>
          <a:ln/>
        </p:spPr>
        <p:txBody>
          <a:bodyPr wrap="square" lIns="0" tIns="0" rIns="0" bIns="0" rtlCol="0" anchor="ctr"/>
          <a:lstStyle/>
          <a:p>
            <a:pPr marL="0" indent="0">
              <a:lnSpc>
                <a:spcPct val="112000"/>
              </a:lnSpc>
              <a:buNone/>
            </a:pPr>
            <a:r>
              <a:rPr lang="en-US" sz="1050" dirty="0">
                <a:solidFill>
                  <a:srgbClr val="FFFFFF"/>
                </a:solidFill>
                <a:latin typeface="Malgun Gothic" pitchFamily="34" charset="0"/>
                <a:ea typeface="Malgun Gothic" pitchFamily="34" charset="-122"/>
                <a:cs typeface="Malgun Gothic" pitchFamily="34" charset="-120"/>
              </a:rPr>
              <a:t>본점·지점 POS / 이커머스 주문 / B2B 수주 / 구매·입고 / 생산실적 / 재고이동·폐기 / 입금·지급</a:t>
            </a:r>
            <a:endParaRPr lang="en-US" sz="1050" dirty="0"/>
          </a:p>
        </p:txBody>
      </p:sp>
      <p:sp>
        <p:nvSpPr>
          <p:cNvPr id="8" name="Shape 6"/>
          <p:cNvSpPr/>
          <p:nvPr/>
        </p:nvSpPr>
        <p:spPr>
          <a:xfrm>
            <a:off x="1600200" y="2267712"/>
            <a:ext cx="274320" cy="118872"/>
          </a:xfrm>
          <a:prstGeom prst="downArrow">
            <a:avLst/>
          </a:prstGeom>
          <a:solidFill>
            <a:srgbClr val="D8C6B2"/>
          </a:solidFill>
          <a:ln/>
        </p:spPr>
        <p:txBody>
          <a:bodyPr/>
          <a:lstStyle/>
          <a:p>
            <a:endParaRPr lang="ko-KR" altLang="en-US"/>
          </a:p>
        </p:txBody>
      </p:sp>
      <p:sp>
        <p:nvSpPr>
          <p:cNvPr id="9" name="Shape 7"/>
          <p:cNvSpPr/>
          <p:nvPr/>
        </p:nvSpPr>
        <p:spPr>
          <a:xfrm>
            <a:off x="502920" y="2377440"/>
            <a:ext cx="9418320" cy="786384"/>
          </a:xfrm>
          <a:prstGeom prst="roundRect">
            <a:avLst>
              <a:gd name="adj" fmla="val 10465"/>
            </a:avLst>
          </a:prstGeom>
          <a:solidFill>
            <a:srgbClr val="3E2C1D"/>
          </a:solidFill>
          <a:ln/>
        </p:spPr>
        <p:txBody>
          <a:bodyPr/>
          <a:lstStyle/>
          <a:p>
            <a:endParaRPr lang="ko-KR" altLang="en-US"/>
          </a:p>
        </p:txBody>
      </p:sp>
      <p:sp>
        <p:nvSpPr>
          <p:cNvPr id="10" name="Shape 8"/>
          <p:cNvSpPr/>
          <p:nvPr/>
        </p:nvSpPr>
        <p:spPr>
          <a:xfrm>
            <a:off x="713232" y="2532888"/>
            <a:ext cx="2148840" cy="475488"/>
          </a:xfrm>
          <a:prstGeom prst="roundRect">
            <a:avLst>
              <a:gd name="adj" fmla="val 13462"/>
            </a:avLst>
          </a:prstGeom>
          <a:solidFill>
            <a:srgbClr val="714B67"/>
          </a:solidFill>
          <a:ln/>
        </p:spPr>
        <p:txBody>
          <a:bodyPr/>
          <a:lstStyle/>
          <a:p>
            <a:endParaRPr lang="ko-KR" altLang="en-US"/>
          </a:p>
        </p:txBody>
      </p:sp>
      <p:sp>
        <p:nvSpPr>
          <p:cNvPr id="11" name="Text 9"/>
          <p:cNvSpPr/>
          <p:nvPr/>
        </p:nvSpPr>
        <p:spPr>
          <a:xfrm>
            <a:off x="713232" y="2532888"/>
            <a:ext cx="2148840"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Malgun Gothic" pitchFamily="34" charset="0"/>
                <a:ea typeface="Malgun Gothic" pitchFamily="34" charset="-122"/>
                <a:cs typeface="Malgun Gothic" pitchFamily="34" charset="-120"/>
              </a:rPr>
              <a:t>L2 Odoo 단일 원장</a:t>
            </a:r>
            <a:endParaRPr lang="en-US" sz="1150" dirty="0"/>
          </a:p>
        </p:txBody>
      </p:sp>
      <p:sp>
        <p:nvSpPr>
          <p:cNvPr id="12" name="Text 10"/>
          <p:cNvSpPr/>
          <p:nvPr/>
        </p:nvSpPr>
        <p:spPr>
          <a:xfrm>
            <a:off x="3063240" y="2423160"/>
            <a:ext cx="6720840" cy="694944"/>
          </a:xfrm>
          <a:prstGeom prst="rect">
            <a:avLst/>
          </a:prstGeom>
          <a:noFill/>
          <a:ln/>
        </p:spPr>
        <p:txBody>
          <a:bodyPr wrap="square" lIns="0" tIns="0" rIns="0" bIns="0" rtlCol="0" anchor="ctr"/>
          <a:lstStyle/>
          <a:p>
            <a:pPr marL="0" indent="0">
              <a:lnSpc>
                <a:spcPct val="112000"/>
              </a:lnSpc>
              <a:buNone/>
            </a:pPr>
            <a:r>
              <a:rPr lang="en-US" sz="1050" dirty="0">
                <a:solidFill>
                  <a:srgbClr val="FFFFFF"/>
                </a:solidFill>
                <a:latin typeface="Malgun Gothic" pitchFamily="34" charset="0"/>
                <a:ea typeface="Malgun Gothic" pitchFamily="34" charset="-122"/>
                <a:cs typeface="Malgun Gothic" pitchFamily="34" charset="-120"/>
              </a:rPr>
              <a:t>판매·POS·구매·재고·제조·회계 — 하나의 PostgreSQL에 실시간 기록 (기록하는 ERP)</a:t>
            </a:r>
            <a:endParaRPr lang="en-US" sz="1050" dirty="0"/>
          </a:p>
        </p:txBody>
      </p:sp>
      <p:sp>
        <p:nvSpPr>
          <p:cNvPr id="13" name="Shape 11"/>
          <p:cNvSpPr/>
          <p:nvPr/>
        </p:nvSpPr>
        <p:spPr>
          <a:xfrm>
            <a:off x="1600200" y="3163824"/>
            <a:ext cx="274320" cy="118872"/>
          </a:xfrm>
          <a:prstGeom prst="downArrow">
            <a:avLst/>
          </a:prstGeom>
          <a:solidFill>
            <a:srgbClr val="D8C6B2"/>
          </a:solidFill>
          <a:ln/>
        </p:spPr>
        <p:txBody>
          <a:bodyPr/>
          <a:lstStyle/>
          <a:p>
            <a:endParaRPr lang="ko-KR" altLang="en-US"/>
          </a:p>
        </p:txBody>
      </p:sp>
      <p:sp>
        <p:nvSpPr>
          <p:cNvPr id="14" name="Shape 12"/>
          <p:cNvSpPr/>
          <p:nvPr/>
        </p:nvSpPr>
        <p:spPr>
          <a:xfrm>
            <a:off x="502920" y="3273552"/>
            <a:ext cx="9418320" cy="786384"/>
          </a:xfrm>
          <a:prstGeom prst="roundRect">
            <a:avLst>
              <a:gd name="adj" fmla="val 10465"/>
            </a:avLst>
          </a:prstGeom>
          <a:solidFill>
            <a:srgbClr val="3E2C1D"/>
          </a:solidFill>
          <a:ln/>
        </p:spPr>
        <p:txBody>
          <a:bodyPr/>
          <a:lstStyle/>
          <a:p>
            <a:endParaRPr lang="ko-KR" altLang="en-US"/>
          </a:p>
        </p:txBody>
      </p:sp>
      <p:sp>
        <p:nvSpPr>
          <p:cNvPr id="15" name="Shape 13"/>
          <p:cNvSpPr/>
          <p:nvPr/>
        </p:nvSpPr>
        <p:spPr>
          <a:xfrm>
            <a:off x="713232" y="3429000"/>
            <a:ext cx="2148840" cy="475488"/>
          </a:xfrm>
          <a:prstGeom prst="roundRect">
            <a:avLst>
              <a:gd name="adj" fmla="val 13462"/>
            </a:avLst>
          </a:prstGeom>
          <a:solidFill>
            <a:srgbClr val="C07F1E"/>
          </a:solidFill>
          <a:ln/>
        </p:spPr>
        <p:txBody>
          <a:bodyPr/>
          <a:lstStyle/>
          <a:p>
            <a:endParaRPr lang="ko-KR" altLang="en-US"/>
          </a:p>
        </p:txBody>
      </p:sp>
      <p:sp>
        <p:nvSpPr>
          <p:cNvPr id="16" name="Text 14"/>
          <p:cNvSpPr/>
          <p:nvPr/>
        </p:nvSpPr>
        <p:spPr>
          <a:xfrm>
            <a:off x="713232" y="3429000"/>
            <a:ext cx="2148840"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Malgun Gothic" pitchFamily="34" charset="0"/>
                <a:ea typeface="Malgun Gothic" pitchFamily="34" charset="-122"/>
                <a:cs typeface="Malgun Gothic" pitchFamily="34" charset="-120"/>
              </a:rPr>
              <a:t>L3 데이터 파이프라인</a:t>
            </a:r>
            <a:endParaRPr lang="en-US" sz="1150" dirty="0"/>
          </a:p>
        </p:txBody>
      </p:sp>
      <p:sp>
        <p:nvSpPr>
          <p:cNvPr id="17" name="Text 15"/>
          <p:cNvSpPr/>
          <p:nvPr/>
        </p:nvSpPr>
        <p:spPr>
          <a:xfrm>
            <a:off x="3063240" y="3319272"/>
            <a:ext cx="6720840" cy="694944"/>
          </a:xfrm>
          <a:prstGeom prst="rect">
            <a:avLst/>
          </a:prstGeom>
          <a:noFill/>
          <a:ln/>
        </p:spPr>
        <p:txBody>
          <a:bodyPr wrap="square" lIns="0" tIns="0" rIns="0" bIns="0" rtlCol="0" anchor="ctr"/>
          <a:lstStyle/>
          <a:p>
            <a:pPr marL="0" indent="0">
              <a:lnSpc>
                <a:spcPct val="112000"/>
              </a:lnSpc>
              <a:buNone/>
            </a:pPr>
            <a:r>
              <a:rPr lang="en-US" sz="1050" dirty="0">
                <a:solidFill>
                  <a:srgbClr val="FFFFFF"/>
                </a:solidFill>
                <a:latin typeface="Malgun Gothic" pitchFamily="34" charset="0"/>
                <a:ea typeface="Malgun Gothic" pitchFamily="34" charset="-122"/>
                <a:cs typeface="Malgun Gothic" pitchFamily="34" charset="-120"/>
              </a:rPr>
              <a:t>이벤트 스트림(수주·출고·폐기…)과 일 배치 → 정제·특징량 생성 → 예측·학습용 데이터셋</a:t>
            </a:r>
            <a:endParaRPr lang="en-US" sz="1050" dirty="0"/>
          </a:p>
        </p:txBody>
      </p:sp>
      <p:sp>
        <p:nvSpPr>
          <p:cNvPr id="18" name="Shape 16"/>
          <p:cNvSpPr/>
          <p:nvPr/>
        </p:nvSpPr>
        <p:spPr>
          <a:xfrm>
            <a:off x="1600200" y="4059936"/>
            <a:ext cx="274320" cy="118872"/>
          </a:xfrm>
          <a:prstGeom prst="downArrow">
            <a:avLst/>
          </a:prstGeom>
          <a:solidFill>
            <a:srgbClr val="D8C6B2"/>
          </a:solidFill>
          <a:ln/>
        </p:spPr>
        <p:txBody>
          <a:bodyPr/>
          <a:lstStyle/>
          <a:p>
            <a:endParaRPr lang="ko-KR" altLang="en-US"/>
          </a:p>
        </p:txBody>
      </p:sp>
      <p:sp>
        <p:nvSpPr>
          <p:cNvPr id="19" name="Shape 17"/>
          <p:cNvSpPr/>
          <p:nvPr/>
        </p:nvSpPr>
        <p:spPr>
          <a:xfrm>
            <a:off x="502920" y="4169664"/>
            <a:ext cx="9418320" cy="786384"/>
          </a:xfrm>
          <a:prstGeom prst="roundRect">
            <a:avLst>
              <a:gd name="adj" fmla="val 10465"/>
            </a:avLst>
          </a:prstGeom>
          <a:solidFill>
            <a:srgbClr val="3E2C1D"/>
          </a:solidFill>
          <a:ln/>
        </p:spPr>
        <p:txBody>
          <a:bodyPr/>
          <a:lstStyle/>
          <a:p>
            <a:endParaRPr lang="ko-KR" altLang="en-US"/>
          </a:p>
        </p:txBody>
      </p:sp>
      <p:sp>
        <p:nvSpPr>
          <p:cNvPr id="20" name="Shape 18"/>
          <p:cNvSpPr/>
          <p:nvPr/>
        </p:nvSpPr>
        <p:spPr>
          <a:xfrm>
            <a:off x="713232" y="4325112"/>
            <a:ext cx="2148840" cy="475488"/>
          </a:xfrm>
          <a:prstGeom prst="roundRect">
            <a:avLst>
              <a:gd name="adj" fmla="val 13462"/>
            </a:avLst>
          </a:prstGeom>
          <a:solidFill>
            <a:srgbClr val="E8A33D"/>
          </a:solidFill>
          <a:ln/>
        </p:spPr>
        <p:txBody>
          <a:bodyPr/>
          <a:lstStyle/>
          <a:p>
            <a:endParaRPr lang="ko-KR" altLang="en-US"/>
          </a:p>
        </p:txBody>
      </p:sp>
      <p:sp>
        <p:nvSpPr>
          <p:cNvPr id="21" name="Text 19"/>
          <p:cNvSpPr/>
          <p:nvPr/>
        </p:nvSpPr>
        <p:spPr>
          <a:xfrm>
            <a:off x="713232" y="4325112"/>
            <a:ext cx="2148840"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Malgun Gothic" pitchFamily="34" charset="0"/>
                <a:ea typeface="Malgun Gothic" pitchFamily="34" charset="-122"/>
                <a:cs typeface="Malgun Gothic" pitchFamily="34" charset="-120"/>
              </a:rPr>
              <a:t>L4 온톨로지·지식그래프</a:t>
            </a:r>
            <a:endParaRPr lang="en-US" sz="1150" dirty="0"/>
          </a:p>
        </p:txBody>
      </p:sp>
      <p:sp>
        <p:nvSpPr>
          <p:cNvPr id="22" name="Text 20"/>
          <p:cNvSpPr/>
          <p:nvPr/>
        </p:nvSpPr>
        <p:spPr>
          <a:xfrm>
            <a:off x="3063240" y="4215384"/>
            <a:ext cx="6720840" cy="694944"/>
          </a:xfrm>
          <a:prstGeom prst="rect">
            <a:avLst/>
          </a:prstGeom>
          <a:noFill/>
          <a:ln/>
        </p:spPr>
        <p:txBody>
          <a:bodyPr wrap="square" lIns="0" tIns="0" rIns="0" bIns="0" rtlCol="0" anchor="ctr"/>
          <a:lstStyle/>
          <a:p>
            <a:pPr marL="0" indent="0">
              <a:lnSpc>
                <a:spcPct val="112000"/>
              </a:lnSpc>
              <a:buNone/>
            </a:pPr>
            <a:r>
              <a:rPr lang="en-US" sz="1050" dirty="0">
                <a:solidFill>
                  <a:srgbClr val="FFFFFF"/>
                </a:solidFill>
                <a:latin typeface="Malgun Gothic" pitchFamily="34" charset="0"/>
                <a:ea typeface="Malgun Gothic" pitchFamily="34" charset="-122"/>
                <a:cs typeface="Malgun Gothic" pitchFamily="34" charset="-120"/>
              </a:rPr>
              <a:t>제품-레시피-원료-로트-매장-거래처-이벤트를 의미로 연결 + 현장의 암묵지를 검증해 편입</a:t>
            </a:r>
            <a:endParaRPr lang="en-US" sz="1050" dirty="0"/>
          </a:p>
        </p:txBody>
      </p:sp>
      <p:sp>
        <p:nvSpPr>
          <p:cNvPr id="23" name="Shape 21"/>
          <p:cNvSpPr/>
          <p:nvPr/>
        </p:nvSpPr>
        <p:spPr>
          <a:xfrm>
            <a:off x="1600200" y="4956048"/>
            <a:ext cx="274320" cy="118872"/>
          </a:xfrm>
          <a:prstGeom prst="downArrow">
            <a:avLst/>
          </a:prstGeom>
          <a:solidFill>
            <a:srgbClr val="D8C6B2"/>
          </a:solidFill>
          <a:ln/>
        </p:spPr>
        <p:txBody>
          <a:bodyPr/>
          <a:lstStyle/>
          <a:p>
            <a:endParaRPr lang="ko-KR" altLang="en-US"/>
          </a:p>
        </p:txBody>
      </p:sp>
      <p:sp>
        <p:nvSpPr>
          <p:cNvPr id="24" name="Shape 22"/>
          <p:cNvSpPr/>
          <p:nvPr/>
        </p:nvSpPr>
        <p:spPr>
          <a:xfrm>
            <a:off x="502920" y="5065776"/>
            <a:ext cx="9418320" cy="786384"/>
          </a:xfrm>
          <a:prstGeom prst="roundRect">
            <a:avLst>
              <a:gd name="adj" fmla="val 10465"/>
            </a:avLst>
          </a:prstGeom>
          <a:solidFill>
            <a:srgbClr val="3E2C1D"/>
          </a:solidFill>
          <a:ln/>
        </p:spPr>
        <p:txBody>
          <a:bodyPr/>
          <a:lstStyle/>
          <a:p>
            <a:endParaRPr lang="ko-KR" altLang="en-US"/>
          </a:p>
        </p:txBody>
      </p:sp>
      <p:sp>
        <p:nvSpPr>
          <p:cNvPr id="25" name="Shape 23"/>
          <p:cNvSpPr/>
          <p:nvPr/>
        </p:nvSpPr>
        <p:spPr>
          <a:xfrm>
            <a:off x="713232" y="5221224"/>
            <a:ext cx="2148840" cy="475488"/>
          </a:xfrm>
          <a:prstGeom prst="roundRect">
            <a:avLst>
              <a:gd name="adj" fmla="val 13462"/>
            </a:avLst>
          </a:prstGeom>
          <a:solidFill>
            <a:srgbClr val="9C5227"/>
          </a:solidFill>
          <a:ln/>
        </p:spPr>
        <p:txBody>
          <a:bodyPr/>
          <a:lstStyle/>
          <a:p>
            <a:endParaRPr lang="ko-KR" altLang="en-US"/>
          </a:p>
        </p:txBody>
      </p:sp>
      <p:sp>
        <p:nvSpPr>
          <p:cNvPr id="26" name="Text 24"/>
          <p:cNvSpPr/>
          <p:nvPr/>
        </p:nvSpPr>
        <p:spPr>
          <a:xfrm>
            <a:off x="713232" y="5221224"/>
            <a:ext cx="2148840"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Malgun Gothic" pitchFamily="34" charset="0"/>
                <a:ea typeface="Malgun Gothic" pitchFamily="34" charset="-122"/>
                <a:cs typeface="Malgun Gothic" pitchFamily="34" charset="-120"/>
              </a:rPr>
              <a:t>L5 AI 에이전트</a:t>
            </a:r>
            <a:endParaRPr lang="en-US" sz="1150" dirty="0"/>
          </a:p>
        </p:txBody>
      </p:sp>
      <p:sp>
        <p:nvSpPr>
          <p:cNvPr id="27" name="Text 25"/>
          <p:cNvSpPr/>
          <p:nvPr/>
        </p:nvSpPr>
        <p:spPr>
          <a:xfrm>
            <a:off x="3063240" y="5111496"/>
            <a:ext cx="6720840" cy="694944"/>
          </a:xfrm>
          <a:prstGeom prst="rect">
            <a:avLst/>
          </a:prstGeom>
          <a:noFill/>
          <a:ln/>
        </p:spPr>
        <p:txBody>
          <a:bodyPr wrap="square" lIns="0" tIns="0" rIns="0" bIns="0" rtlCol="0" anchor="ctr"/>
          <a:lstStyle/>
          <a:p>
            <a:pPr marL="0" indent="0">
              <a:lnSpc>
                <a:spcPct val="112000"/>
              </a:lnSpc>
              <a:buNone/>
            </a:pPr>
            <a:r>
              <a:rPr lang="en-US" sz="1050" dirty="0">
                <a:solidFill>
                  <a:srgbClr val="FFFFFF"/>
                </a:solidFill>
                <a:latin typeface="Malgun Gothic" pitchFamily="34" charset="0"/>
                <a:ea typeface="Malgun Gothic" pitchFamily="34" charset="-122"/>
                <a:cs typeface="Malgun Gothic" pitchFamily="34" charset="-120"/>
              </a:rPr>
              <a:t>수요예측·보충·배분·B2B수주·마감 에이전트 — 판단을 제안하고, 사람이 승인하면 원장 파라미터로 환류</a:t>
            </a:r>
            <a:endParaRPr lang="en-US" sz="1050" dirty="0"/>
          </a:p>
        </p:txBody>
      </p:sp>
      <p:sp>
        <p:nvSpPr>
          <p:cNvPr id="28" name="Shape 26"/>
          <p:cNvSpPr/>
          <p:nvPr/>
        </p:nvSpPr>
        <p:spPr>
          <a:xfrm>
            <a:off x="10195560" y="1481328"/>
            <a:ext cx="1508760" cy="4370832"/>
          </a:xfrm>
          <a:prstGeom prst="roundRect">
            <a:avLst>
              <a:gd name="adj" fmla="val 5455"/>
            </a:avLst>
          </a:prstGeom>
          <a:solidFill>
            <a:srgbClr val="3E2C1D"/>
          </a:solidFill>
          <a:ln w="12700">
            <a:solidFill>
              <a:srgbClr val="E8A33D"/>
            </a:solidFill>
            <a:prstDash val="solid"/>
          </a:ln>
        </p:spPr>
        <p:txBody>
          <a:bodyPr/>
          <a:lstStyle/>
          <a:p>
            <a:endParaRPr lang="ko-KR" altLang="en-US"/>
          </a:p>
        </p:txBody>
      </p:sp>
      <p:sp>
        <p:nvSpPr>
          <p:cNvPr id="29" name="Shape 27"/>
          <p:cNvSpPr/>
          <p:nvPr/>
        </p:nvSpPr>
        <p:spPr>
          <a:xfrm>
            <a:off x="10744200" y="1828800"/>
            <a:ext cx="411480" cy="2103120"/>
          </a:xfrm>
          <a:prstGeom prst="upArrow">
            <a:avLst/>
          </a:prstGeom>
          <a:solidFill>
            <a:srgbClr val="E8A33D"/>
          </a:solidFill>
          <a:ln/>
        </p:spPr>
        <p:txBody>
          <a:bodyPr/>
          <a:lstStyle/>
          <a:p>
            <a:endParaRPr lang="ko-KR" altLang="en-US"/>
          </a:p>
        </p:txBody>
      </p:sp>
      <p:sp>
        <p:nvSpPr>
          <p:cNvPr id="30" name="Text 28"/>
          <p:cNvSpPr/>
          <p:nvPr/>
        </p:nvSpPr>
        <p:spPr>
          <a:xfrm>
            <a:off x="10287000" y="4069080"/>
            <a:ext cx="1325880" cy="1463040"/>
          </a:xfrm>
          <a:prstGeom prst="rect">
            <a:avLst/>
          </a:prstGeom>
          <a:noFill/>
          <a:ln/>
        </p:spPr>
        <p:txBody>
          <a:bodyPr wrap="square" lIns="0" tIns="0" rIns="0" bIns="0" rtlCol="0" anchor="t"/>
          <a:lstStyle/>
          <a:p>
            <a:pPr marL="0" indent="0" algn="ctr">
              <a:lnSpc>
                <a:spcPct val="120000"/>
              </a:lnSpc>
              <a:buNone/>
            </a:pPr>
            <a:r>
              <a:rPr lang="en-US" sz="1050" b="1" dirty="0">
                <a:solidFill>
                  <a:srgbClr val="E8A33D"/>
                </a:solidFill>
                <a:latin typeface="Malgun Gothic" pitchFamily="34" charset="0"/>
                <a:ea typeface="Malgun Gothic" pitchFamily="34" charset="-122"/>
                <a:cs typeface="Malgun Gothic" pitchFamily="34" charset="-120"/>
              </a:rPr>
              <a:t>환류</a:t>
            </a:r>
            <a:endParaRPr lang="en-US" sz="1050" dirty="0"/>
          </a:p>
          <a:p>
            <a:pPr marL="0" indent="0" algn="ctr">
              <a:lnSpc>
                <a:spcPct val="120000"/>
              </a:lnSpc>
              <a:buNone/>
            </a:pPr>
            <a:r>
              <a:rPr lang="en-US" sz="1050" b="1" dirty="0">
                <a:solidFill>
                  <a:srgbClr val="E8A33D"/>
                </a:solidFill>
                <a:latin typeface="Malgun Gothic" pitchFamily="34" charset="0"/>
                <a:ea typeface="Malgun Gothic" pitchFamily="34" charset="-122"/>
                <a:cs typeface="Malgun Gothic" pitchFamily="34" charset="-120"/>
              </a:rPr>
              <a:t>(HITL 승인 후</a:t>
            </a:r>
            <a:endParaRPr lang="en-US" sz="1050" dirty="0"/>
          </a:p>
          <a:p>
            <a:pPr marL="0" indent="0" algn="ctr">
              <a:lnSpc>
                <a:spcPct val="120000"/>
              </a:lnSpc>
              <a:buNone/>
            </a:pPr>
            <a:r>
              <a:rPr lang="en-US" sz="1050" b="1" dirty="0">
                <a:solidFill>
                  <a:srgbClr val="E8A33D"/>
                </a:solidFill>
                <a:latin typeface="Malgun Gothic" pitchFamily="34" charset="0"/>
                <a:ea typeface="Malgun Gothic" pitchFamily="34" charset="-122"/>
                <a:cs typeface="Malgun Gothic" pitchFamily="34" charset="-120"/>
              </a:rPr>
              <a:t>파라미터 갱신)</a:t>
            </a:r>
            <a:endParaRPr lang="en-US" sz="1050" dirty="0"/>
          </a:p>
        </p:txBody>
      </p:sp>
      <p:sp>
        <p:nvSpPr>
          <p:cNvPr id="31" name="Text 29"/>
          <p:cNvSpPr/>
          <p:nvPr/>
        </p:nvSpPr>
        <p:spPr>
          <a:xfrm>
            <a:off x="502920" y="6053328"/>
            <a:ext cx="11201400" cy="365760"/>
          </a:xfrm>
          <a:prstGeom prst="rect">
            <a:avLst/>
          </a:prstGeom>
          <a:noFill/>
          <a:ln/>
        </p:spPr>
        <p:txBody>
          <a:bodyPr wrap="square" lIns="0" tIns="0" rIns="0" bIns="0" rtlCol="0" anchor="ctr"/>
          <a:lstStyle/>
          <a:p>
            <a:pPr marL="0" indent="0">
              <a:buNone/>
            </a:pPr>
            <a:r>
              <a:rPr lang="en-US" sz="1250" b="1" i="1" dirty="0">
                <a:latin typeface="Malgun Gothic" pitchFamily="34" charset="0"/>
                <a:ea typeface="Malgun Gothic" pitchFamily="34" charset="-122"/>
                <a:cs typeface="Malgun Gothic" pitchFamily="34" charset="-120"/>
              </a:rPr>
              <a:t>데이터는 위로(기록→신호), 판단은 아래로(확정→파라미터) — 이 순환이 '판단하는 ERP'의 정체</a:t>
            </a:r>
            <a:endParaRPr lang="en-US" sz="1250" b="1" dirty="0"/>
          </a:p>
        </p:txBody>
      </p:sp>
      <p:sp>
        <p:nvSpPr>
          <p:cNvPr id="32" name="Text 30"/>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D8C6B2"/>
                </a:solidFill>
                <a:latin typeface="Malgun Gothic" pitchFamily="34" charset="0"/>
                <a:ea typeface="Malgun Gothic" pitchFamily="34" charset="-122"/>
                <a:cs typeface="Malgun Gothic" pitchFamily="34" charset="-120"/>
              </a:rPr>
              <a:t>1950 </a:t>
            </a:r>
            <a:r>
              <a:rPr lang="ko-KR" altLang="en-US" sz="900" dirty="0">
                <a:solidFill>
                  <a:srgbClr val="D8C6B2"/>
                </a:solidFill>
                <a:latin typeface="Malgun Gothic" pitchFamily="34" charset="0"/>
                <a:ea typeface="Malgun Gothic" pitchFamily="34" charset="-122"/>
                <a:cs typeface="Malgun Gothic" pitchFamily="34" charset="-120"/>
              </a:rPr>
              <a:t>베이커리 </a:t>
            </a:r>
            <a:r>
              <a:rPr lang="en-US" sz="900" dirty="0">
                <a:solidFill>
                  <a:srgbClr val="D8C6B2"/>
                </a:solidFill>
                <a:latin typeface="Malgun Gothic" pitchFamily="34" charset="0"/>
                <a:ea typeface="Malgun Gothic" pitchFamily="34" charset="-122"/>
                <a:cs typeface="Malgun Gothic" pitchFamily="34" charset="-120"/>
              </a:rPr>
              <a:t>T</a:t>
            </a:r>
            <a:r>
              <a:rPr lang="ko-KR" altLang="en-US" sz="900" dirty="0">
                <a:solidFill>
                  <a:srgbClr val="D8C6B2"/>
                </a:solidFill>
                <a:latin typeface="Malgun Gothic" pitchFamily="34" charset="0"/>
                <a:ea typeface="Malgun Gothic" pitchFamily="34" charset="-122"/>
                <a:cs typeface="Malgun Gothic" pitchFamily="34" charset="-120"/>
              </a:rPr>
              <a:t>사</a:t>
            </a:r>
            <a:r>
              <a:rPr lang="en-US" sz="900" dirty="0">
                <a:solidFill>
                  <a:srgbClr val="D8C6B2"/>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33" name="Text 31"/>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D8C6B2"/>
                </a:solidFill>
                <a:latin typeface="Malgun Gothic" pitchFamily="34" charset="0"/>
                <a:ea typeface="Malgun Gothic" pitchFamily="34" charset="-122"/>
                <a:cs typeface="Malgun Gothic"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INVENTORY 1/2</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solidFill>
                  <a:srgbClr val="2E241C"/>
                </a:solidFill>
                <a:latin typeface="Malgun Gothic" pitchFamily="34" charset="0"/>
                <a:ea typeface="Malgun Gothic" pitchFamily="34" charset="-122"/>
                <a:cs typeface="Malgun Gothic" pitchFamily="34" charset="-120"/>
              </a:rPr>
              <a:t>원자재 재고 — 로트·유통기한·역산 발주의 체계</a:t>
            </a:r>
            <a:endParaRPr lang="en-US" sz="2500" dirty="0"/>
          </a:p>
        </p:txBody>
      </p:sp>
      <p:sp>
        <p:nvSpPr>
          <p:cNvPr id="4" name="Shape 2"/>
          <p:cNvSpPr/>
          <p:nvPr/>
        </p:nvSpPr>
        <p:spPr>
          <a:xfrm>
            <a:off x="502920" y="1481328"/>
            <a:ext cx="3621024" cy="1975104"/>
          </a:xfrm>
          <a:prstGeom prst="roundRect">
            <a:avLst>
              <a:gd name="adj" fmla="val 4167"/>
            </a:avLst>
          </a:prstGeom>
          <a:solidFill>
            <a:srgbClr val="F8F2EA"/>
          </a:solidFill>
          <a:ln/>
        </p:spPr>
        <p:txBody>
          <a:bodyPr/>
          <a:lstStyle/>
          <a:p>
            <a:endParaRPr lang="ko-KR" altLang="en-US"/>
          </a:p>
        </p:txBody>
      </p:sp>
      <p:sp>
        <p:nvSpPr>
          <p:cNvPr id="5" name="Shape 3"/>
          <p:cNvSpPr/>
          <p:nvPr/>
        </p:nvSpPr>
        <p:spPr>
          <a:xfrm>
            <a:off x="740664" y="1700784"/>
            <a:ext cx="493776" cy="493776"/>
          </a:xfrm>
          <a:prstGeom prst="ellipse">
            <a:avLst/>
          </a:prstGeom>
          <a:solidFill>
            <a:srgbClr val="0E8F86"/>
          </a:solidFill>
          <a:ln/>
        </p:spPr>
        <p:txBody>
          <a:bodyPr/>
          <a:lstStyle/>
          <a:p>
            <a:endParaRPr lang="ko-KR" altLang="en-US"/>
          </a:p>
        </p:txBody>
      </p:sp>
      <p:pic>
        <p:nvPicPr>
          <p:cNvPr id="6" name="Image 0" descr="preencoded.png"/>
          <p:cNvPicPr>
            <a:picLocks noChangeAspect="1"/>
          </p:cNvPicPr>
          <p:nvPr/>
        </p:nvPicPr>
        <p:blipFill>
          <a:blip r:embed="rId3"/>
          <a:stretch>
            <a:fillRect/>
          </a:stretch>
        </p:blipFill>
        <p:spPr>
          <a:xfrm>
            <a:off x="873984" y="1834104"/>
            <a:ext cx="227137" cy="227137"/>
          </a:xfrm>
          <a:prstGeom prst="rect">
            <a:avLst/>
          </a:prstGeom>
        </p:spPr>
      </p:pic>
      <p:sp>
        <p:nvSpPr>
          <p:cNvPr id="7" name="Text 4"/>
          <p:cNvSpPr/>
          <p:nvPr/>
        </p:nvSpPr>
        <p:spPr>
          <a:xfrm>
            <a:off x="1362456" y="1755648"/>
            <a:ext cx="2615184" cy="438912"/>
          </a:xfrm>
          <a:prstGeom prst="rect">
            <a:avLst/>
          </a:prstGeom>
          <a:noFill/>
          <a:ln/>
        </p:spPr>
        <p:txBody>
          <a:bodyPr wrap="square" lIns="0" tIns="0" rIns="0" bIns="0" rtlCol="0" anchor="ctr"/>
          <a:lstStyle/>
          <a:p>
            <a:pPr marL="0" indent="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품목·로트 마스터</a:t>
            </a:r>
            <a:endParaRPr lang="en-US" sz="1250" dirty="0"/>
          </a:p>
        </p:txBody>
      </p:sp>
      <p:sp>
        <p:nvSpPr>
          <p:cNvPr id="8" name="Text 5"/>
          <p:cNvSpPr/>
          <p:nvPr/>
        </p:nvSpPr>
        <p:spPr>
          <a:xfrm>
            <a:off x="740664" y="2350008"/>
            <a:ext cx="3145536" cy="1024128"/>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밀가루·유지·앙금·포장재의 3계층 코드, 입고 로트마다 유통기한 기록 — HACCP 역추적의 뿌리</a:t>
            </a:r>
            <a:endParaRPr lang="en-US" sz="1050" dirty="0"/>
          </a:p>
        </p:txBody>
      </p:sp>
      <p:sp>
        <p:nvSpPr>
          <p:cNvPr id="9" name="Shape 6"/>
          <p:cNvSpPr/>
          <p:nvPr/>
        </p:nvSpPr>
        <p:spPr>
          <a:xfrm>
            <a:off x="4325112" y="1481328"/>
            <a:ext cx="3621024" cy="1975104"/>
          </a:xfrm>
          <a:prstGeom prst="roundRect">
            <a:avLst>
              <a:gd name="adj" fmla="val 4167"/>
            </a:avLst>
          </a:prstGeom>
          <a:solidFill>
            <a:srgbClr val="F8F2EA"/>
          </a:solidFill>
          <a:ln/>
        </p:spPr>
        <p:txBody>
          <a:bodyPr/>
          <a:lstStyle/>
          <a:p>
            <a:endParaRPr lang="ko-KR" altLang="en-US"/>
          </a:p>
        </p:txBody>
      </p:sp>
      <p:sp>
        <p:nvSpPr>
          <p:cNvPr id="10" name="Shape 7"/>
          <p:cNvSpPr/>
          <p:nvPr/>
        </p:nvSpPr>
        <p:spPr>
          <a:xfrm>
            <a:off x="4562856" y="1700784"/>
            <a:ext cx="493776" cy="493776"/>
          </a:xfrm>
          <a:prstGeom prst="ellipse">
            <a:avLst/>
          </a:prstGeom>
          <a:solidFill>
            <a:srgbClr val="714B67"/>
          </a:solidFill>
          <a:ln/>
        </p:spPr>
        <p:txBody>
          <a:bodyPr/>
          <a:lstStyle/>
          <a:p>
            <a:endParaRPr lang="ko-KR" altLang="en-US"/>
          </a:p>
        </p:txBody>
      </p:sp>
      <p:pic>
        <p:nvPicPr>
          <p:cNvPr id="11" name="Image 1" descr="preencoded.png"/>
          <p:cNvPicPr>
            <a:picLocks noChangeAspect="1"/>
          </p:cNvPicPr>
          <p:nvPr/>
        </p:nvPicPr>
        <p:blipFill>
          <a:blip r:embed="rId4"/>
          <a:stretch>
            <a:fillRect/>
          </a:stretch>
        </p:blipFill>
        <p:spPr>
          <a:xfrm>
            <a:off x="4696176" y="1834104"/>
            <a:ext cx="227137" cy="227137"/>
          </a:xfrm>
          <a:prstGeom prst="rect">
            <a:avLst/>
          </a:prstGeom>
        </p:spPr>
      </p:pic>
      <p:sp>
        <p:nvSpPr>
          <p:cNvPr id="12" name="Text 8"/>
          <p:cNvSpPr/>
          <p:nvPr/>
        </p:nvSpPr>
        <p:spPr>
          <a:xfrm>
            <a:off x="5184648" y="1755648"/>
            <a:ext cx="2615184" cy="438912"/>
          </a:xfrm>
          <a:prstGeom prst="rect">
            <a:avLst/>
          </a:prstGeom>
          <a:noFill/>
          <a:ln/>
        </p:spPr>
        <p:txBody>
          <a:bodyPr wrap="square" lIns="0" tIns="0" rIns="0" bIns="0" rtlCol="0" anchor="ctr"/>
          <a:lstStyle/>
          <a:p>
            <a:pPr marL="0" indent="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FEFO 강제 출고</a:t>
            </a:r>
            <a:endParaRPr lang="en-US" sz="1250" dirty="0"/>
          </a:p>
        </p:txBody>
      </p:sp>
      <p:sp>
        <p:nvSpPr>
          <p:cNvPr id="13" name="Text 9"/>
          <p:cNvSpPr/>
          <p:nvPr/>
        </p:nvSpPr>
        <p:spPr>
          <a:xfrm>
            <a:off x="4562856" y="2350008"/>
            <a:ext cx="3145536" cy="1024128"/>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유통기한 빠른 순 자동 지시 + 바코드 스캔 검증 — '뒤에 있던 오래된 포대' 사고의 구조적 차단</a:t>
            </a:r>
            <a:endParaRPr lang="en-US" sz="1050" dirty="0"/>
          </a:p>
        </p:txBody>
      </p:sp>
      <p:sp>
        <p:nvSpPr>
          <p:cNvPr id="14" name="Shape 10"/>
          <p:cNvSpPr/>
          <p:nvPr/>
        </p:nvSpPr>
        <p:spPr>
          <a:xfrm>
            <a:off x="8147304" y="1481328"/>
            <a:ext cx="3621024" cy="1975104"/>
          </a:xfrm>
          <a:prstGeom prst="roundRect">
            <a:avLst>
              <a:gd name="adj" fmla="val 4167"/>
            </a:avLst>
          </a:prstGeom>
          <a:solidFill>
            <a:srgbClr val="F8F2EA"/>
          </a:solidFill>
          <a:ln/>
        </p:spPr>
        <p:txBody>
          <a:bodyPr/>
          <a:lstStyle/>
          <a:p>
            <a:endParaRPr lang="ko-KR" altLang="en-US"/>
          </a:p>
        </p:txBody>
      </p:sp>
      <p:sp>
        <p:nvSpPr>
          <p:cNvPr id="15" name="Shape 11"/>
          <p:cNvSpPr/>
          <p:nvPr/>
        </p:nvSpPr>
        <p:spPr>
          <a:xfrm>
            <a:off x="8385048" y="1700784"/>
            <a:ext cx="493776" cy="493776"/>
          </a:xfrm>
          <a:prstGeom prst="ellipse">
            <a:avLst/>
          </a:prstGeom>
          <a:solidFill>
            <a:srgbClr val="9C5227"/>
          </a:solidFill>
          <a:ln/>
        </p:spPr>
        <p:txBody>
          <a:bodyPr/>
          <a:lstStyle/>
          <a:p>
            <a:endParaRPr lang="ko-KR" altLang="en-US"/>
          </a:p>
        </p:txBody>
      </p:sp>
      <p:pic>
        <p:nvPicPr>
          <p:cNvPr id="16" name="Image 2" descr="preencoded.png"/>
          <p:cNvPicPr>
            <a:picLocks noChangeAspect="1"/>
          </p:cNvPicPr>
          <p:nvPr/>
        </p:nvPicPr>
        <p:blipFill>
          <a:blip r:embed="rId5"/>
          <a:stretch>
            <a:fillRect/>
          </a:stretch>
        </p:blipFill>
        <p:spPr>
          <a:xfrm>
            <a:off x="8518368" y="1834104"/>
            <a:ext cx="227137" cy="227137"/>
          </a:xfrm>
          <a:prstGeom prst="rect">
            <a:avLst/>
          </a:prstGeom>
        </p:spPr>
      </p:pic>
      <p:sp>
        <p:nvSpPr>
          <p:cNvPr id="17" name="Text 12"/>
          <p:cNvSpPr/>
          <p:nvPr/>
        </p:nvSpPr>
        <p:spPr>
          <a:xfrm>
            <a:off x="9006840" y="1755648"/>
            <a:ext cx="2615184" cy="438912"/>
          </a:xfrm>
          <a:prstGeom prst="rect">
            <a:avLst/>
          </a:prstGeom>
          <a:noFill/>
          <a:ln/>
        </p:spPr>
        <p:txBody>
          <a:bodyPr wrap="square" lIns="0" tIns="0" rIns="0" bIns="0" rtlCol="0" anchor="ctr"/>
          <a:lstStyle/>
          <a:p>
            <a:pPr marL="0" indent="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MRP 역산 소요</a:t>
            </a:r>
            <a:endParaRPr lang="en-US" sz="1250" dirty="0"/>
          </a:p>
        </p:txBody>
      </p:sp>
      <p:sp>
        <p:nvSpPr>
          <p:cNvPr id="18" name="Text 13"/>
          <p:cNvSpPr/>
          <p:nvPr/>
        </p:nvSpPr>
        <p:spPr>
          <a:xfrm>
            <a:off x="8385048" y="2350008"/>
            <a:ext cx="3145536" cy="1024128"/>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일일 생산계획 × 레시피(BOM) = 원료 소요량 자동 산출 — 감이 아니라 계산으로 발주</a:t>
            </a:r>
            <a:endParaRPr lang="en-US" sz="1050" dirty="0"/>
          </a:p>
        </p:txBody>
      </p:sp>
      <p:sp>
        <p:nvSpPr>
          <p:cNvPr id="19" name="Shape 14"/>
          <p:cNvSpPr/>
          <p:nvPr/>
        </p:nvSpPr>
        <p:spPr>
          <a:xfrm>
            <a:off x="502920" y="3630168"/>
            <a:ext cx="3621024" cy="1975104"/>
          </a:xfrm>
          <a:prstGeom prst="roundRect">
            <a:avLst>
              <a:gd name="adj" fmla="val 4167"/>
            </a:avLst>
          </a:prstGeom>
          <a:solidFill>
            <a:srgbClr val="F8F2EA"/>
          </a:solidFill>
          <a:ln/>
        </p:spPr>
        <p:txBody>
          <a:bodyPr/>
          <a:lstStyle/>
          <a:p>
            <a:endParaRPr lang="ko-KR" altLang="en-US"/>
          </a:p>
        </p:txBody>
      </p:sp>
      <p:sp>
        <p:nvSpPr>
          <p:cNvPr id="20" name="Shape 15"/>
          <p:cNvSpPr/>
          <p:nvPr/>
        </p:nvSpPr>
        <p:spPr>
          <a:xfrm>
            <a:off x="740664" y="3849624"/>
            <a:ext cx="493776" cy="493776"/>
          </a:xfrm>
          <a:prstGeom prst="ellipse">
            <a:avLst/>
          </a:prstGeom>
          <a:solidFill>
            <a:srgbClr val="E8A33D"/>
          </a:solidFill>
          <a:ln/>
        </p:spPr>
        <p:txBody>
          <a:bodyPr/>
          <a:lstStyle/>
          <a:p>
            <a:endParaRPr lang="ko-KR" altLang="en-US"/>
          </a:p>
        </p:txBody>
      </p:sp>
      <p:pic>
        <p:nvPicPr>
          <p:cNvPr id="21" name="Image 3" descr="preencoded.png"/>
          <p:cNvPicPr>
            <a:picLocks noChangeAspect="1"/>
          </p:cNvPicPr>
          <p:nvPr/>
        </p:nvPicPr>
        <p:blipFill>
          <a:blip r:embed="rId6"/>
          <a:stretch>
            <a:fillRect/>
          </a:stretch>
        </p:blipFill>
        <p:spPr>
          <a:xfrm>
            <a:off x="873984" y="3982944"/>
            <a:ext cx="227137" cy="227137"/>
          </a:xfrm>
          <a:prstGeom prst="rect">
            <a:avLst/>
          </a:prstGeom>
        </p:spPr>
      </p:pic>
      <p:sp>
        <p:nvSpPr>
          <p:cNvPr id="22" name="Text 16"/>
          <p:cNvSpPr/>
          <p:nvPr/>
        </p:nvSpPr>
        <p:spPr>
          <a:xfrm>
            <a:off x="1362456" y="3904488"/>
            <a:ext cx="2615184" cy="438912"/>
          </a:xfrm>
          <a:prstGeom prst="rect">
            <a:avLst/>
          </a:prstGeom>
          <a:noFill/>
          <a:ln/>
        </p:spPr>
        <p:txBody>
          <a:bodyPr wrap="square" lIns="0" tIns="0" rIns="0" bIns="0" rtlCol="0" anchor="ctr"/>
          <a:lstStyle/>
          <a:p>
            <a:pPr marL="0" indent="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동적 발주점(ROP)</a:t>
            </a:r>
            <a:endParaRPr lang="en-US" sz="1250" dirty="0"/>
          </a:p>
        </p:txBody>
      </p:sp>
      <p:sp>
        <p:nvSpPr>
          <p:cNvPr id="23" name="Text 17"/>
          <p:cNvSpPr/>
          <p:nvPr/>
        </p:nvSpPr>
        <p:spPr>
          <a:xfrm>
            <a:off x="740664" y="4498848"/>
            <a:ext cx="3145536" cy="1024128"/>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리드타임·소비 변동성 반영한 품목별 발주점 — 시세 급등 품목은 가격 추이와 함께 제안</a:t>
            </a:r>
            <a:endParaRPr lang="en-US" sz="1050" dirty="0"/>
          </a:p>
        </p:txBody>
      </p:sp>
      <p:sp>
        <p:nvSpPr>
          <p:cNvPr id="24" name="Shape 18"/>
          <p:cNvSpPr/>
          <p:nvPr/>
        </p:nvSpPr>
        <p:spPr>
          <a:xfrm>
            <a:off x="4325112" y="3630168"/>
            <a:ext cx="3621024" cy="1975104"/>
          </a:xfrm>
          <a:prstGeom prst="roundRect">
            <a:avLst>
              <a:gd name="adj" fmla="val 4167"/>
            </a:avLst>
          </a:prstGeom>
          <a:solidFill>
            <a:srgbClr val="F8F2EA"/>
          </a:solidFill>
          <a:ln/>
        </p:spPr>
        <p:txBody>
          <a:bodyPr/>
          <a:lstStyle/>
          <a:p>
            <a:endParaRPr lang="ko-KR" altLang="en-US"/>
          </a:p>
        </p:txBody>
      </p:sp>
      <p:sp>
        <p:nvSpPr>
          <p:cNvPr id="25" name="Shape 19"/>
          <p:cNvSpPr/>
          <p:nvPr/>
        </p:nvSpPr>
        <p:spPr>
          <a:xfrm>
            <a:off x="4562856" y="3849624"/>
            <a:ext cx="493776" cy="493776"/>
          </a:xfrm>
          <a:prstGeom prst="ellipse">
            <a:avLst/>
          </a:prstGeom>
          <a:solidFill>
            <a:srgbClr val="C07F1E"/>
          </a:solidFill>
          <a:ln/>
        </p:spPr>
        <p:txBody>
          <a:bodyPr/>
          <a:lstStyle/>
          <a:p>
            <a:endParaRPr lang="ko-KR" altLang="en-US"/>
          </a:p>
        </p:txBody>
      </p:sp>
      <p:pic>
        <p:nvPicPr>
          <p:cNvPr id="26" name="Image 4" descr="preencoded.png"/>
          <p:cNvPicPr>
            <a:picLocks noChangeAspect="1"/>
          </p:cNvPicPr>
          <p:nvPr/>
        </p:nvPicPr>
        <p:blipFill>
          <a:blip r:embed="rId7"/>
          <a:stretch>
            <a:fillRect/>
          </a:stretch>
        </p:blipFill>
        <p:spPr>
          <a:xfrm>
            <a:off x="4696176" y="3982944"/>
            <a:ext cx="227137" cy="227137"/>
          </a:xfrm>
          <a:prstGeom prst="rect">
            <a:avLst/>
          </a:prstGeom>
        </p:spPr>
      </p:pic>
      <p:sp>
        <p:nvSpPr>
          <p:cNvPr id="27" name="Text 20"/>
          <p:cNvSpPr/>
          <p:nvPr/>
        </p:nvSpPr>
        <p:spPr>
          <a:xfrm>
            <a:off x="5184648" y="3904488"/>
            <a:ext cx="2615184" cy="438912"/>
          </a:xfrm>
          <a:prstGeom prst="rect">
            <a:avLst/>
          </a:prstGeom>
          <a:noFill/>
          <a:ln/>
        </p:spPr>
        <p:txBody>
          <a:bodyPr wrap="square" lIns="0" tIns="0" rIns="0" bIns="0" rtlCol="0" anchor="ctr"/>
          <a:lstStyle/>
          <a:p>
            <a:pPr marL="0" indent="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실사·정확도 루프</a:t>
            </a:r>
            <a:endParaRPr lang="en-US" sz="1250" dirty="0"/>
          </a:p>
        </p:txBody>
      </p:sp>
      <p:sp>
        <p:nvSpPr>
          <p:cNvPr id="28" name="Text 21"/>
          <p:cNvSpPr/>
          <p:nvPr/>
        </p:nvSpPr>
        <p:spPr>
          <a:xfrm>
            <a:off x="4562856" y="4498848"/>
            <a:ext cx="3145536" cy="1024128"/>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주기 실사와 차이 원인 코드화 — 재고 정확도 95%+ 유지가 모든 지능화의 전제</a:t>
            </a:r>
            <a:endParaRPr lang="en-US" sz="1050" dirty="0"/>
          </a:p>
        </p:txBody>
      </p:sp>
      <p:sp>
        <p:nvSpPr>
          <p:cNvPr id="29" name="Shape 22"/>
          <p:cNvSpPr/>
          <p:nvPr/>
        </p:nvSpPr>
        <p:spPr>
          <a:xfrm>
            <a:off x="8147304" y="3630168"/>
            <a:ext cx="3621024" cy="1975104"/>
          </a:xfrm>
          <a:prstGeom prst="roundRect">
            <a:avLst>
              <a:gd name="adj" fmla="val 4167"/>
            </a:avLst>
          </a:prstGeom>
          <a:solidFill>
            <a:srgbClr val="F8F2EA"/>
          </a:solidFill>
          <a:ln/>
        </p:spPr>
        <p:txBody>
          <a:bodyPr/>
          <a:lstStyle/>
          <a:p>
            <a:endParaRPr lang="ko-KR" altLang="en-US"/>
          </a:p>
        </p:txBody>
      </p:sp>
      <p:sp>
        <p:nvSpPr>
          <p:cNvPr id="30" name="Shape 23"/>
          <p:cNvSpPr/>
          <p:nvPr/>
        </p:nvSpPr>
        <p:spPr>
          <a:xfrm>
            <a:off x="8385048" y="3849624"/>
            <a:ext cx="493776" cy="493776"/>
          </a:xfrm>
          <a:prstGeom prst="ellipse">
            <a:avLst/>
          </a:prstGeom>
          <a:solidFill>
            <a:srgbClr val="A8493B"/>
          </a:solidFill>
          <a:ln/>
        </p:spPr>
        <p:txBody>
          <a:bodyPr/>
          <a:lstStyle/>
          <a:p>
            <a:endParaRPr lang="ko-KR" altLang="en-US"/>
          </a:p>
        </p:txBody>
      </p:sp>
      <p:pic>
        <p:nvPicPr>
          <p:cNvPr id="31" name="Image 5" descr="preencoded.png"/>
          <p:cNvPicPr>
            <a:picLocks noChangeAspect="1"/>
          </p:cNvPicPr>
          <p:nvPr/>
        </p:nvPicPr>
        <p:blipFill>
          <a:blip r:embed="rId8"/>
          <a:stretch>
            <a:fillRect/>
          </a:stretch>
        </p:blipFill>
        <p:spPr>
          <a:xfrm>
            <a:off x="8518368" y="3982944"/>
            <a:ext cx="227137" cy="227137"/>
          </a:xfrm>
          <a:prstGeom prst="rect">
            <a:avLst/>
          </a:prstGeom>
        </p:spPr>
      </p:pic>
      <p:sp>
        <p:nvSpPr>
          <p:cNvPr id="32" name="Text 24"/>
          <p:cNvSpPr/>
          <p:nvPr/>
        </p:nvSpPr>
        <p:spPr>
          <a:xfrm>
            <a:off x="9006840" y="3904488"/>
            <a:ext cx="2615184" cy="438912"/>
          </a:xfrm>
          <a:prstGeom prst="rect">
            <a:avLst/>
          </a:prstGeom>
          <a:noFill/>
          <a:ln/>
        </p:spPr>
        <p:txBody>
          <a:bodyPr wrap="square" lIns="0" tIns="0" rIns="0" bIns="0" rtlCol="0" anchor="ctr"/>
          <a:lstStyle/>
          <a:p>
            <a:pPr marL="0" indent="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폐기·손실 계정화</a:t>
            </a:r>
            <a:endParaRPr lang="en-US" sz="1250" dirty="0"/>
          </a:p>
        </p:txBody>
      </p:sp>
      <p:sp>
        <p:nvSpPr>
          <p:cNvPr id="33" name="Text 25"/>
          <p:cNvSpPr/>
          <p:nvPr/>
        </p:nvSpPr>
        <p:spPr>
          <a:xfrm>
            <a:off x="8385048" y="4498848"/>
            <a:ext cx="3145536" cy="1024128"/>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원료 폐기 사유를 코드로 → 회계 계정과 연결, 보이지 않던 로스가 월 손익에 나타난다</a:t>
            </a:r>
            <a:endParaRPr lang="en-US" sz="1050" dirty="0"/>
          </a:p>
        </p:txBody>
      </p:sp>
      <p:sp>
        <p:nvSpPr>
          <p:cNvPr id="34" name="Text 26"/>
          <p:cNvSpPr/>
          <p:nvPr/>
        </p:nvSpPr>
        <p:spPr>
          <a:xfrm>
            <a:off x="502920" y="5897880"/>
            <a:ext cx="11201400" cy="365760"/>
          </a:xfrm>
          <a:prstGeom prst="rect">
            <a:avLst/>
          </a:prstGeom>
          <a:noFill/>
          <a:ln/>
        </p:spPr>
        <p:txBody>
          <a:bodyPr wrap="square" lIns="0" tIns="0" rIns="0" bIns="0" rtlCol="0" anchor="ctr"/>
          <a:lstStyle/>
          <a:p>
            <a:pPr marL="0" indent="0">
              <a:buNone/>
            </a:pPr>
            <a:r>
              <a:rPr lang="en-US" sz="1250" b="1" i="1" dirty="0">
                <a:solidFill>
                  <a:srgbClr val="9C5227"/>
                </a:solidFill>
                <a:latin typeface="Malgun Gothic" pitchFamily="34" charset="0"/>
                <a:ea typeface="Malgun Gothic" pitchFamily="34" charset="-122"/>
                <a:cs typeface="Malgun Gothic" pitchFamily="34" charset="-120"/>
              </a:rPr>
              <a:t>도입 첫 단계의 주전장 — 여기가 서면 발주 자동화(12장 에이전트)가 바로 올라탄다</a:t>
            </a:r>
            <a:endParaRPr lang="en-US" sz="1250" dirty="0"/>
          </a:p>
        </p:txBody>
      </p:sp>
      <p:sp>
        <p:nvSpPr>
          <p:cNvPr id="35" name="Text 27"/>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36" name="Text 28"/>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INVENTORY 2/2</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solidFill>
                  <a:srgbClr val="2E241C"/>
                </a:solidFill>
                <a:latin typeface="Malgun Gothic" pitchFamily="34" charset="0"/>
                <a:ea typeface="Malgun Gothic" pitchFamily="34" charset="-122"/>
                <a:cs typeface="Malgun Gothic" pitchFamily="34" charset="-120"/>
              </a:rPr>
              <a:t>완제품 재고 — 신선빵과 선물세트, 두 개의 시간이 흐른다</a:t>
            </a:r>
            <a:endParaRPr lang="en-US" sz="2500" dirty="0"/>
          </a:p>
        </p:txBody>
      </p:sp>
      <p:sp>
        <p:nvSpPr>
          <p:cNvPr id="4" name="Shape 2"/>
          <p:cNvSpPr/>
          <p:nvPr/>
        </p:nvSpPr>
        <p:spPr>
          <a:xfrm>
            <a:off x="502920" y="1463040"/>
            <a:ext cx="5486400" cy="2286000"/>
          </a:xfrm>
          <a:prstGeom prst="roundRect">
            <a:avLst>
              <a:gd name="adj" fmla="val 3600"/>
            </a:avLst>
          </a:prstGeom>
          <a:solidFill>
            <a:srgbClr val="F8F2EA"/>
          </a:solidFill>
          <a:ln/>
        </p:spPr>
        <p:txBody>
          <a:bodyPr/>
          <a:lstStyle/>
          <a:p>
            <a:endParaRPr lang="ko-KR" altLang="en-US"/>
          </a:p>
        </p:txBody>
      </p:sp>
      <p:sp>
        <p:nvSpPr>
          <p:cNvPr id="5" name="Text 3"/>
          <p:cNvSpPr/>
          <p:nvPr/>
        </p:nvSpPr>
        <p:spPr>
          <a:xfrm>
            <a:off x="758952" y="1627632"/>
            <a:ext cx="4937760" cy="292608"/>
          </a:xfrm>
          <a:prstGeom prst="rect">
            <a:avLst/>
          </a:prstGeom>
          <a:noFill/>
          <a:ln/>
        </p:spPr>
        <p:txBody>
          <a:bodyPr wrap="square" lIns="0" tIns="0" rIns="0" bIns="0" rtlCol="0" anchor="ctr"/>
          <a:lstStyle/>
          <a:p>
            <a:pPr marL="0" indent="0">
              <a:buNone/>
            </a:pPr>
            <a:r>
              <a:rPr lang="en-US" sz="1400" b="1" dirty="0">
                <a:solidFill>
                  <a:srgbClr val="9C5227"/>
                </a:solidFill>
                <a:latin typeface="Malgun Gothic" pitchFamily="34" charset="0"/>
                <a:ea typeface="Malgun Gothic" pitchFamily="34" charset="-122"/>
                <a:cs typeface="Malgun Gothic" pitchFamily="34" charset="-120"/>
              </a:rPr>
              <a:t>SKU군별 이원 재고 전략</a:t>
            </a:r>
            <a:endParaRPr lang="en-US" sz="1400" dirty="0"/>
          </a:p>
        </p:txBody>
      </p:sp>
      <p:sp>
        <p:nvSpPr>
          <p:cNvPr id="6" name="Shape 4"/>
          <p:cNvSpPr/>
          <p:nvPr/>
        </p:nvSpPr>
        <p:spPr>
          <a:xfrm>
            <a:off x="758952" y="2011680"/>
            <a:ext cx="2468880" cy="1554480"/>
          </a:xfrm>
          <a:prstGeom prst="roundRect">
            <a:avLst>
              <a:gd name="adj" fmla="val 5294"/>
            </a:avLst>
          </a:prstGeom>
          <a:solidFill>
            <a:srgbClr val="FFFFFF"/>
          </a:solidFill>
          <a:ln w="9525">
            <a:solidFill>
              <a:srgbClr val="0E8F86"/>
            </a:solidFill>
            <a:prstDash val="solid"/>
          </a:ln>
        </p:spPr>
        <p:txBody>
          <a:bodyPr/>
          <a:lstStyle/>
          <a:p>
            <a:endParaRPr lang="ko-KR" altLang="en-US"/>
          </a:p>
        </p:txBody>
      </p:sp>
      <p:sp>
        <p:nvSpPr>
          <p:cNvPr id="7" name="Text 5"/>
          <p:cNvSpPr/>
          <p:nvPr/>
        </p:nvSpPr>
        <p:spPr>
          <a:xfrm>
            <a:off x="914400" y="2121408"/>
            <a:ext cx="2148840" cy="274320"/>
          </a:xfrm>
          <a:prstGeom prst="rect">
            <a:avLst/>
          </a:prstGeom>
          <a:noFill/>
          <a:ln/>
        </p:spPr>
        <p:txBody>
          <a:bodyPr wrap="square" lIns="0" tIns="0" rIns="0" bIns="0" rtlCol="0" anchor="ctr"/>
          <a:lstStyle/>
          <a:p>
            <a:pPr marL="0" indent="0">
              <a:buNone/>
            </a:pPr>
            <a:r>
              <a:rPr lang="en-US" sz="1200" b="1" dirty="0">
                <a:solidFill>
                  <a:srgbClr val="0E8F86"/>
                </a:solidFill>
                <a:latin typeface="Malgun Gothic" pitchFamily="34" charset="0"/>
                <a:ea typeface="Malgun Gothic" pitchFamily="34" charset="-122"/>
                <a:cs typeface="Malgun Gothic" pitchFamily="34" charset="-120"/>
              </a:rPr>
              <a:t>당일 신선군</a:t>
            </a:r>
            <a:endParaRPr lang="en-US" sz="1200" dirty="0"/>
          </a:p>
        </p:txBody>
      </p:sp>
      <p:sp>
        <p:nvSpPr>
          <p:cNvPr id="8" name="Text 6"/>
          <p:cNvSpPr/>
          <p:nvPr/>
        </p:nvSpPr>
        <p:spPr>
          <a:xfrm>
            <a:off x="914400" y="2414016"/>
            <a:ext cx="2194560" cy="1097280"/>
          </a:xfrm>
          <a:prstGeom prst="rect">
            <a:avLst/>
          </a:prstGeom>
          <a:noFill/>
          <a:ln/>
        </p:spPr>
        <p:txBody>
          <a:bodyPr wrap="square" lIns="0" tIns="0" rIns="0" bIns="0" rtlCol="0" anchor="t"/>
          <a:lstStyle/>
          <a:p>
            <a:pPr marL="0" indent="0">
              <a:lnSpc>
                <a:spcPct val="118000"/>
              </a:lnSpc>
              <a:buNone/>
            </a:pPr>
            <a:r>
              <a:rPr lang="en-US" sz="950" dirty="0">
                <a:solidFill>
                  <a:srgbClr val="2E241C"/>
                </a:solidFill>
                <a:latin typeface="Malgun Gothic" pitchFamily="34" charset="0"/>
                <a:ea typeface="Malgun Gothic" pitchFamily="34" charset="-122"/>
                <a:cs typeface="Malgun Gothic" pitchFamily="34" charset="-120"/>
              </a:rPr>
              <a:t>프랑스생크림빵·꿀꺽도나스</a:t>
            </a:r>
            <a:endParaRPr lang="en-US" sz="950" dirty="0"/>
          </a:p>
          <a:p>
            <a:pPr marL="0" indent="0">
              <a:lnSpc>
                <a:spcPct val="118000"/>
              </a:lnSpc>
              <a:buNone/>
            </a:pPr>
            <a:r>
              <a:rPr lang="en-US" sz="950" dirty="0">
                <a:solidFill>
                  <a:srgbClr val="2E241C"/>
                </a:solidFill>
                <a:latin typeface="Malgun Gothic" pitchFamily="34" charset="0"/>
                <a:ea typeface="Malgun Gothic" pitchFamily="34" charset="-122"/>
                <a:cs typeface="Malgun Gothic" pitchFamily="34" charset="-120"/>
              </a:rPr>
              <a:t>당일생산·당일판매</a:t>
            </a:r>
            <a:endParaRPr lang="en-US" sz="950" dirty="0"/>
          </a:p>
          <a:p>
            <a:pPr marL="0" indent="0">
              <a:lnSpc>
                <a:spcPct val="118000"/>
              </a:lnSpc>
              <a:buNone/>
            </a:pPr>
            <a:r>
              <a:rPr lang="en-US" sz="950" dirty="0">
                <a:solidFill>
                  <a:srgbClr val="2E241C"/>
                </a:solidFill>
                <a:latin typeface="Malgun Gothic" pitchFamily="34" charset="0"/>
                <a:ea typeface="Malgun Gothic" pitchFamily="34" charset="-122"/>
                <a:cs typeface="Malgun Gothic" pitchFamily="34" charset="-120"/>
              </a:rPr>
              <a:t>→ 생산량이 곧 재고 정책</a:t>
            </a:r>
            <a:endParaRPr lang="en-US" sz="950" dirty="0"/>
          </a:p>
        </p:txBody>
      </p:sp>
      <p:sp>
        <p:nvSpPr>
          <p:cNvPr id="9" name="Shape 7"/>
          <p:cNvSpPr/>
          <p:nvPr/>
        </p:nvSpPr>
        <p:spPr>
          <a:xfrm>
            <a:off x="3383280" y="2011680"/>
            <a:ext cx="2468880" cy="1554480"/>
          </a:xfrm>
          <a:prstGeom prst="roundRect">
            <a:avLst>
              <a:gd name="adj" fmla="val 5294"/>
            </a:avLst>
          </a:prstGeom>
          <a:solidFill>
            <a:srgbClr val="FFFFFF"/>
          </a:solidFill>
          <a:ln w="9525">
            <a:solidFill>
              <a:srgbClr val="E8A33D"/>
            </a:solidFill>
            <a:prstDash val="solid"/>
          </a:ln>
        </p:spPr>
        <p:txBody>
          <a:bodyPr/>
          <a:lstStyle/>
          <a:p>
            <a:endParaRPr lang="ko-KR" altLang="en-US"/>
          </a:p>
        </p:txBody>
      </p:sp>
      <p:sp>
        <p:nvSpPr>
          <p:cNvPr id="10" name="Text 8"/>
          <p:cNvSpPr/>
          <p:nvPr/>
        </p:nvSpPr>
        <p:spPr>
          <a:xfrm>
            <a:off x="3538728" y="2121408"/>
            <a:ext cx="2148840" cy="274320"/>
          </a:xfrm>
          <a:prstGeom prst="rect">
            <a:avLst/>
          </a:prstGeom>
          <a:noFill/>
          <a:ln/>
        </p:spPr>
        <p:txBody>
          <a:bodyPr wrap="square" lIns="0" tIns="0" rIns="0" bIns="0" rtlCol="0" anchor="ctr"/>
          <a:lstStyle/>
          <a:p>
            <a:pPr marL="0" indent="0">
              <a:buNone/>
            </a:pPr>
            <a:r>
              <a:rPr lang="en-US" sz="1200" b="1" dirty="0">
                <a:solidFill>
                  <a:srgbClr val="C07F1E"/>
                </a:solidFill>
                <a:latin typeface="Malgun Gothic" pitchFamily="34" charset="0"/>
                <a:ea typeface="Malgun Gothic" pitchFamily="34" charset="-122"/>
                <a:cs typeface="Malgun Gothic" pitchFamily="34" charset="-120"/>
              </a:rPr>
              <a:t>보존·선물군</a:t>
            </a:r>
            <a:endParaRPr lang="en-US" sz="1200" dirty="0"/>
          </a:p>
        </p:txBody>
      </p:sp>
      <p:sp>
        <p:nvSpPr>
          <p:cNvPr id="11" name="Text 9"/>
          <p:cNvSpPr/>
          <p:nvPr/>
        </p:nvSpPr>
        <p:spPr>
          <a:xfrm>
            <a:off x="3538728" y="2414016"/>
            <a:ext cx="2194560" cy="1097280"/>
          </a:xfrm>
          <a:prstGeom prst="rect">
            <a:avLst/>
          </a:prstGeom>
          <a:noFill/>
          <a:ln/>
        </p:spPr>
        <p:txBody>
          <a:bodyPr wrap="square" lIns="0" tIns="0" rIns="0" bIns="0" rtlCol="0" anchor="t"/>
          <a:lstStyle/>
          <a:p>
            <a:pPr marL="0" indent="0">
              <a:lnSpc>
                <a:spcPct val="118000"/>
              </a:lnSpc>
              <a:buNone/>
            </a:pPr>
            <a:r>
              <a:rPr lang="en-US" sz="950" dirty="0">
                <a:solidFill>
                  <a:srgbClr val="2E241C"/>
                </a:solidFill>
                <a:latin typeface="Malgun Gothic" pitchFamily="34" charset="0"/>
                <a:ea typeface="Malgun Gothic" pitchFamily="34" charset="-122"/>
                <a:cs typeface="Malgun Gothic" pitchFamily="34" charset="-120"/>
              </a:rPr>
              <a:t>파이만쥬 세트·천년주종빵</a:t>
            </a:r>
            <a:endParaRPr lang="en-US" sz="950" dirty="0"/>
          </a:p>
          <a:p>
            <a:pPr marL="0" indent="0">
              <a:lnSpc>
                <a:spcPct val="118000"/>
              </a:lnSpc>
              <a:buNone/>
            </a:pPr>
            <a:r>
              <a:rPr lang="en-US" sz="950" dirty="0">
                <a:solidFill>
                  <a:srgbClr val="2E241C"/>
                </a:solidFill>
                <a:latin typeface="Malgun Gothic" pitchFamily="34" charset="0"/>
                <a:ea typeface="Malgun Gothic" pitchFamily="34" charset="-122"/>
                <a:cs typeface="Malgun Gothic" pitchFamily="34" charset="-120"/>
              </a:rPr>
              <a:t>택배·B2B 납품 가능</a:t>
            </a:r>
            <a:endParaRPr lang="en-US" sz="950" dirty="0"/>
          </a:p>
          <a:p>
            <a:pPr marL="0" indent="0">
              <a:lnSpc>
                <a:spcPct val="118000"/>
              </a:lnSpc>
              <a:buNone/>
            </a:pPr>
            <a:r>
              <a:rPr lang="en-US" sz="950" dirty="0">
                <a:solidFill>
                  <a:srgbClr val="2E241C"/>
                </a:solidFill>
                <a:latin typeface="Malgun Gothic" pitchFamily="34" charset="0"/>
                <a:ea typeface="Malgun Gothic" pitchFamily="34" charset="-122"/>
                <a:cs typeface="Malgun Gothic" pitchFamily="34" charset="-120"/>
              </a:rPr>
              <a:t>→ 안전재고·ROP 관리 대상</a:t>
            </a:r>
            <a:endParaRPr lang="en-US" sz="950" dirty="0"/>
          </a:p>
        </p:txBody>
      </p:sp>
      <p:sp>
        <p:nvSpPr>
          <p:cNvPr id="12" name="Shape 10"/>
          <p:cNvSpPr/>
          <p:nvPr/>
        </p:nvSpPr>
        <p:spPr>
          <a:xfrm>
            <a:off x="502920" y="3931920"/>
            <a:ext cx="5486400" cy="1828800"/>
          </a:xfrm>
          <a:prstGeom prst="roundRect">
            <a:avLst>
              <a:gd name="adj" fmla="val 4500"/>
            </a:avLst>
          </a:prstGeom>
          <a:solidFill>
            <a:srgbClr val="FFFFFF"/>
          </a:solidFill>
          <a:ln w="9525">
            <a:solidFill>
              <a:srgbClr val="DCCDBB"/>
            </a:solidFill>
            <a:prstDash val="solid"/>
          </a:ln>
        </p:spPr>
        <p:txBody>
          <a:bodyPr/>
          <a:lstStyle/>
          <a:p>
            <a:endParaRPr lang="ko-KR" altLang="en-US"/>
          </a:p>
        </p:txBody>
      </p:sp>
      <p:sp>
        <p:nvSpPr>
          <p:cNvPr id="13" name="Text 11"/>
          <p:cNvSpPr/>
          <p:nvPr/>
        </p:nvSpPr>
        <p:spPr>
          <a:xfrm>
            <a:off x="758952" y="4078224"/>
            <a:ext cx="4937760" cy="274320"/>
          </a:xfrm>
          <a:prstGeom prst="rect">
            <a:avLst/>
          </a:prstGeom>
          <a:noFill/>
          <a:ln/>
        </p:spPr>
        <p:txBody>
          <a:bodyPr wrap="square" lIns="0" tIns="0" rIns="0" bIns="0" rtlCol="0" anchor="ctr"/>
          <a:lstStyle/>
          <a:p>
            <a:pPr marL="0" indent="0">
              <a:buNone/>
            </a:pPr>
            <a:r>
              <a:rPr lang="en-US" sz="1300" b="1" dirty="0">
                <a:solidFill>
                  <a:srgbClr val="9C5227"/>
                </a:solidFill>
                <a:latin typeface="Malgun Gothic" pitchFamily="34" charset="0"/>
                <a:ea typeface="Malgun Gothic" pitchFamily="34" charset="-122"/>
                <a:cs typeface="Malgun Gothic" pitchFamily="34" charset="-120"/>
              </a:rPr>
              <a:t>선물세트 = 키트 BOM</a:t>
            </a:r>
            <a:endParaRPr lang="en-US" sz="1300" dirty="0"/>
          </a:p>
        </p:txBody>
      </p:sp>
      <p:sp>
        <p:nvSpPr>
          <p:cNvPr id="14" name="Text 12"/>
          <p:cNvSpPr/>
          <p:nvPr/>
        </p:nvSpPr>
        <p:spPr>
          <a:xfrm>
            <a:off x="758952" y="4389120"/>
            <a:ext cx="5029200" cy="1280160"/>
          </a:xfrm>
          <a:prstGeom prst="rect">
            <a:avLst/>
          </a:prstGeom>
          <a:noFill/>
          <a:ln/>
        </p:spPr>
        <p:txBody>
          <a:bodyPr wrap="square" lIns="0" tIns="0" rIns="0" bIns="0" rtlCol="0" anchor="t"/>
          <a:lstStyle/>
          <a:p>
            <a:pPr marL="0" indent="0">
              <a:lnSpc>
                <a:spcPct val="120000"/>
              </a:lnSpc>
              <a:buNone/>
            </a:pPr>
            <a:r>
              <a:rPr lang="en-US" sz="1050" dirty="0">
                <a:solidFill>
                  <a:srgbClr val="76675A"/>
                </a:solidFill>
                <a:latin typeface="Malgun Gothic" pitchFamily="34" charset="0"/>
                <a:ea typeface="Malgun Gothic" pitchFamily="34" charset="-122"/>
                <a:cs typeface="Malgun Gothic" pitchFamily="34" charset="-120"/>
              </a:rPr>
              <a:t>파이만쥬 12입 세트 = 파이만쥬 12 + 상자 + 쇼핑백 — 세트 판매 시 구성품 재고가 자동 차감되고, 세트/낱개 판매가 하나의 가용재고에서 정산된다. 온라인 품절 처리도 이 계산 하나로 정확해진다.</a:t>
            </a:r>
            <a:endParaRPr lang="en-US" sz="1050" dirty="0"/>
          </a:p>
        </p:txBody>
      </p:sp>
      <p:sp>
        <p:nvSpPr>
          <p:cNvPr id="15" name="Shape 13"/>
          <p:cNvSpPr/>
          <p:nvPr/>
        </p:nvSpPr>
        <p:spPr>
          <a:xfrm>
            <a:off x="6263640" y="1463040"/>
            <a:ext cx="5440680" cy="4297680"/>
          </a:xfrm>
          <a:prstGeom prst="roundRect">
            <a:avLst>
              <a:gd name="adj" fmla="val 1915"/>
            </a:avLst>
          </a:prstGeom>
          <a:solidFill>
            <a:srgbClr val="2B1D12"/>
          </a:solidFill>
          <a:ln/>
        </p:spPr>
        <p:txBody>
          <a:bodyPr/>
          <a:lstStyle/>
          <a:p>
            <a:endParaRPr lang="ko-KR" altLang="en-US"/>
          </a:p>
        </p:txBody>
      </p:sp>
      <p:sp>
        <p:nvSpPr>
          <p:cNvPr id="16" name="Text 14"/>
          <p:cNvSpPr/>
          <p:nvPr/>
        </p:nvSpPr>
        <p:spPr>
          <a:xfrm>
            <a:off x="6510528" y="1627632"/>
            <a:ext cx="4937760" cy="292608"/>
          </a:xfrm>
          <a:prstGeom prst="rect">
            <a:avLst/>
          </a:prstGeom>
          <a:noFill/>
          <a:ln/>
        </p:spPr>
        <p:txBody>
          <a:bodyPr wrap="square" lIns="0" tIns="0" rIns="0" bIns="0" rtlCol="0" anchor="ctr"/>
          <a:lstStyle/>
          <a:p>
            <a:pPr marL="0" indent="0">
              <a:buNone/>
            </a:pPr>
            <a:r>
              <a:rPr lang="en-US" sz="1400" b="1" dirty="0">
                <a:solidFill>
                  <a:srgbClr val="E8A33D"/>
                </a:solidFill>
                <a:latin typeface="Malgun Gothic" pitchFamily="34" charset="0"/>
                <a:ea typeface="Malgun Gothic" pitchFamily="34" charset="-122"/>
                <a:cs typeface="Malgun Gothic" pitchFamily="34" charset="-120"/>
              </a:rPr>
              <a:t>다지점·다채널 가용재고</a:t>
            </a:r>
            <a:endParaRPr lang="en-US" sz="1400" dirty="0"/>
          </a:p>
        </p:txBody>
      </p:sp>
      <p:sp>
        <p:nvSpPr>
          <p:cNvPr id="17" name="Shape 15"/>
          <p:cNvSpPr/>
          <p:nvPr/>
        </p:nvSpPr>
        <p:spPr>
          <a:xfrm>
            <a:off x="6510528" y="2048256"/>
            <a:ext cx="4937760" cy="822960"/>
          </a:xfrm>
          <a:prstGeom prst="roundRect">
            <a:avLst>
              <a:gd name="adj" fmla="val 10000"/>
            </a:avLst>
          </a:prstGeom>
          <a:solidFill>
            <a:srgbClr val="3E2C1D"/>
          </a:solidFill>
          <a:ln/>
        </p:spPr>
        <p:txBody>
          <a:bodyPr/>
          <a:lstStyle/>
          <a:p>
            <a:endParaRPr lang="ko-KR" altLang="en-US"/>
          </a:p>
        </p:txBody>
      </p:sp>
      <p:sp>
        <p:nvSpPr>
          <p:cNvPr id="18" name="Text 16"/>
          <p:cNvSpPr/>
          <p:nvPr/>
        </p:nvSpPr>
        <p:spPr>
          <a:xfrm>
            <a:off x="6711696" y="2121408"/>
            <a:ext cx="4572000" cy="256032"/>
          </a:xfrm>
          <a:prstGeom prst="rect">
            <a:avLst/>
          </a:prstGeom>
          <a:noFill/>
          <a:ln/>
        </p:spPr>
        <p:txBody>
          <a:bodyPr wrap="square" lIns="0" tIns="0" rIns="0" bIns="0" rtlCol="0" anchor="ctr"/>
          <a:lstStyle/>
          <a:p>
            <a:pPr marL="0" indent="0">
              <a:buNone/>
            </a:pPr>
            <a:r>
              <a:rPr lang="en-US" sz="1150" b="1" dirty="0">
                <a:solidFill>
                  <a:srgbClr val="E8A33D"/>
                </a:solidFill>
                <a:latin typeface="Malgun Gothic" pitchFamily="34" charset="0"/>
                <a:ea typeface="Malgun Gothic" pitchFamily="34" charset="-122"/>
                <a:cs typeface="Malgun Gothic" pitchFamily="34" charset="-120"/>
              </a:rPr>
              <a:t>창고/매장별 재고 분리</a:t>
            </a:r>
            <a:endParaRPr lang="en-US" sz="1150" dirty="0"/>
          </a:p>
        </p:txBody>
      </p:sp>
      <p:sp>
        <p:nvSpPr>
          <p:cNvPr id="19" name="Text 17"/>
          <p:cNvSpPr/>
          <p:nvPr/>
        </p:nvSpPr>
        <p:spPr>
          <a:xfrm>
            <a:off x="6711696" y="2386584"/>
            <a:ext cx="4572000" cy="457200"/>
          </a:xfrm>
          <a:prstGeom prst="rect">
            <a:avLst/>
          </a:prstGeom>
          <a:noFill/>
          <a:ln/>
        </p:spPr>
        <p:txBody>
          <a:bodyPr wrap="square" lIns="0" tIns="0" rIns="0" bIns="0" rtlCol="0" anchor="t"/>
          <a:lstStyle/>
          <a:p>
            <a:pPr marL="0" indent="0">
              <a:lnSpc>
                <a:spcPct val="110000"/>
              </a:lnSpc>
              <a:buNone/>
            </a:pPr>
            <a:r>
              <a:rPr lang="en-US" sz="950" dirty="0">
                <a:solidFill>
                  <a:srgbClr val="FFFFFF"/>
                </a:solidFill>
                <a:latin typeface="Malgun Gothic" pitchFamily="34" charset="0"/>
                <a:ea typeface="Malgun Gothic" pitchFamily="34" charset="-122"/>
                <a:cs typeface="Malgun Gothic" pitchFamily="34" charset="-120"/>
              </a:rPr>
              <a:t>본점 공장 · 초량 매장 · 부산별빛샌드 · 대구별빛샌드 · 온라인 출고창고 — 위치별 실시간 수량</a:t>
            </a:r>
            <a:endParaRPr lang="en-US" sz="950" dirty="0"/>
          </a:p>
        </p:txBody>
      </p:sp>
      <p:sp>
        <p:nvSpPr>
          <p:cNvPr id="20" name="Shape 18"/>
          <p:cNvSpPr/>
          <p:nvPr/>
        </p:nvSpPr>
        <p:spPr>
          <a:xfrm>
            <a:off x="6510528" y="2980944"/>
            <a:ext cx="4937760" cy="822960"/>
          </a:xfrm>
          <a:prstGeom prst="roundRect">
            <a:avLst>
              <a:gd name="adj" fmla="val 10000"/>
            </a:avLst>
          </a:prstGeom>
          <a:solidFill>
            <a:srgbClr val="3E2C1D"/>
          </a:solidFill>
          <a:ln/>
        </p:spPr>
        <p:txBody>
          <a:bodyPr/>
          <a:lstStyle/>
          <a:p>
            <a:endParaRPr lang="ko-KR" altLang="en-US"/>
          </a:p>
        </p:txBody>
      </p:sp>
      <p:sp>
        <p:nvSpPr>
          <p:cNvPr id="21" name="Text 19"/>
          <p:cNvSpPr/>
          <p:nvPr/>
        </p:nvSpPr>
        <p:spPr>
          <a:xfrm>
            <a:off x="6711696" y="3054096"/>
            <a:ext cx="4572000" cy="256032"/>
          </a:xfrm>
          <a:prstGeom prst="rect">
            <a:avLst/>
          </a:prstGeom>
          <a:noFill/>
          <a:ln/>
        </p:spPr>
        <p:txBody>
          <a:bodyPr wrap="square" lIns="0" tIns="0" rIns="0" bIns="0" rtlCol="0" anchor="ctr"/>
          <a:lstStyle/>
          <a:p>
            <a:pPr marL="0" indent="0">
              <a:buNone/>
            </a:pPr>
            <a:r>
              <a:rPr lang="en-US" sz="1150" b="1" dirty="0">
                <a:solidFill>
                  <a:srgbClr val="E8A33D"/>
                </a:solidFill>
                <a:latin typeface="Malgun Gothic" pitchFamily="34" charset="0"/>
                <a:ea typeface="Malgun Gothic" pitchFamily="34" charset="-122"/>
                <a:cs typeface="Malgun Gothic" pitchFamily="34" charset="-120"/>
              </a:rPr>
              <a:t>지점 이동 = 이동 오더</a:t>
            </a:r>
            <a:endParaRPr lang="en-US" sz="1150" dirty="0"/>
          </a:p>
        </p:txBody>
      </p:sp>
      <p:sp>
        <p:nvSpPr>
          <p:cNvPr id="22" name="Text 20"/>
          <p:cNvSpPr/>
          <p:nvPr/>
        </p:nvSpPr>
        <p:spPr>
          <a:xfrm>
            <a:off x="6711696" y="3319272"/>
            <a:ext cx="4572000" cy="457200"/>
          </a:xfrm>
          <a:prstGeom prst="rect">
            <a:avLst/>
          </a:prstGeom>
          <a:noFill/>
          <a:ln/>
        </p:spPr>
        <p:txBody>
          <a:bodyPr wrap="square" lIns="0" tIns="0" rIns="0" bIns="0" rtlCol="0" anchor="t"/>
          <a:lstStyle/>
          <a:p>
            <a:pPr marL="0" indent="0">
              <a:lnSpc>
                <a:spcPct val="110000"/>
              </a:lnSpc>
              <a:buNone/>
            </a:pPr>
            <a:r>
              <a:rPr lang="en-US" sz="950" dirty="0">
                <a:solidFill>
                  <a:srgbClr val="FFFFFF"/>
                </a:solidFill>
                <a:latin typeface="Malgun Gothic" pitchFamily="34" charset="0"/>
                <a:ea typeface="Malgun Gothic" pitchFamily="34" charset="-122"/>
                <a:cs typeface="Malgun Gothic" pitchFamily="34" charset="-120"/>
              </a:rPr>
              <a:t>본점→지점 배분이 전표로 기록 — '트럭에 실은 만큼'이 아니라 '시스템이 아는 만큼'</a:t>
            </a:r>
            <a:endParaRPr lang="en-US" sz="950" dirty="0"/>
          </a:p>
        </p:txBody>
      </p:sp>
      <p:sp>
        <p:nvSpPr>
          <p:cNvPr id="23" name="Shape 21"/>
          <p:cNvSpPr/>
          <p:nvPr/>
        </p:nvSpPr>
        <p:spPr>
          <a:xfrm>
            <a:off x="6510528" y="3913632"/>
            <a:ext cx="4937760" cy="822960"/>
          </a:xfrm>
          <a:prstGeom prst="roundRect">
            <a:avLst>
              <a:gd name="adj" fmla="val 10000"/>
            </a:avLst>
          </a:prstGeom>
          <a:solidFill>
            <a:srgbClr val="3E2C1D"/>
          </a:solidFill>
          <a:ln/>
        </p:spPr>
        <p:txBody>
          <a:bodyPr/>
          <a:lstStyle/>
          <a:p>
            <a:endParaRPr lang="ko-KR" altLang="en-US"/>
          </a:p>
        </p:txBody>
      </p:sp>
      <p:sp>
        <p:nvSpPr>
          <p:cNvPr id="24" name="Text 22"/>
          <p:cNvSpPr/>
          <p:nvPr/>
        </p:nvSpPr>
        <p:spPr>
          <a:xfrm>
            <a:off x="6711696" y="3986784"/>
            <a:ext cx="4572000" cy="256032"/>
          </a:xfrm>
          <a:prstGeom prst="rect">
            <a:avLst/>
          </a:prstGeom>
          <a:noFill/>
          <a:ln/>
        </p:spPr>
        <p:txBody>
          <a:bodyPr wrap="square" lIns="0" tIns="0" rIns="0" bIns="0" rtlCol="0" anchor="ctr"/>
          <a:lstStyle/>
          <a:p>
            <a:pPr marL="0" indent="0">
              <a:buNone/>
            </a:pPr>
            <a:r>
              <a:rPr lang="en-US" sz="1150" b="1" dirty="0">
                <a:solidFill>
                  <a:srgbClr val="E8A33D"/>
                </a:solidFill>
                <a:latin typeface="Malgun Gothic" pitchFamily="34" charset="0"/>
                <a:ea typeface="Malgun Gothic" pitchFamily="34" charset="-122"/>
                <a:cs typeface="Malgun Gothic" pitchFamily="34" charset="-120"/>
              </a:rPr>
              <a:t>채널별 가용재고 규칙</a:t>
            </a:r>
            <a:endParaRPr lang="en-US" sz="1150" dirty="0"/>
          </a:p>
        </p:txBody>
      </p:sp>
      <p:sp>
        <p:nvSpPr>
          <p:cNvPr id="25" name="Text 23"/>
          <p:cNvSpPr/>
          <p:nvPr/>
        </p:nvSpPr>
        <p:spPr>
          <a:xfrm>
            <a:off x="6711696" y="4251960"/>
            <a:ext cx="4572000" cy="457200"/>
          </a:xfrm>
          <a:prstGeom prst="rect">
            <a:avLst/>
          </a:prstGeom>
          <a:noFill/>
          <a:ln/>
        </p:spPr>
        <p:txBody>
          <a:bodyPr wrap="square" lIns="0" tIns="0" rIns="0" bIns="0" rtlCol="0" anchor="t"/>
          <a:lstStyle/>
          <a:p>
            <a:pPr marL="0" indent="0">
              <a:lnSpc>
                <a:spcPct val="110000"/>
              </a:lnSpc>
              <a:buNone/>
            </a:pPr>
            <a:r>
              <a:rPr lang="en-US" sz="950" dirty="0">
                <a:solidFill>
                  <a:srgbClr val="FFFFFF"/>
                </a:solidFill>
                <a:latin typeface="Malgun Gothic" pitchFamily="34" charset="0"/>
                <a:ea typeface="Malgun Gothic" pitchFamily="34" charset="-122"/>
                <a:cs typeface="Malgun Gothic" pitchFamily="34" charset="-120"/>
              </a:rPr>
              <a:t>온라인 판매분 선점(예약), 매장 진열분, B2B 납품분의 우선순위 규칙화</a:t>
            </a:r>
            <a:endParaRPr lang="en-US" sz="950" dirty="0"/>
          </a:p>
        </p:txBody>
      </p:sp>
      <p:sp>
        <p:nvSpPr>
          <p:cNvPr id="26" name="Shape 24"/>
          <p:cNvSpPr/>
          <p:nvPr/>
        </p:nvSpPr>
        <p:spPr>
          <a:xfrm>
            <a:off x="6510528" y="4846320"/>
            <a:ext cx="4937760" cy="822960"/>
          </a:xfrm>
          <a:prstGeom prst="roundRect">
            <a:avLst>
              <a:gd name="adj" fmla="val 10000"/>
            </a:avLst>
          </a:prstGeom>
          <a:solidFill>
            <a:srgbClr val="3E2C1D"/>
          </a:solidFill>
          <a:ln/>
        </p:spPr>
        <p:txBody>
          <a:bodyPr/>
          <a:lstStyle/>
          <a:p>
            <a:endParaRPr lang="ko-KR" altLang="en-US"/>
          </a:p>
        </p:txBody>
      </p:sp>
      <p:sp>
        <p:nvSpPr>
          <p:cNvPr id="27" name="Text 25"/>
          <p:cNvSpPr/>
          <p:nvPr/>
        </p:nvSpPr>
        <p:spPr>
          <a:xfrm>
            <a:off x="6711696" y="4919472"/>
            <a:ext cx="4572000" cy="256032"/>
          </a:xfrm>
          <a:prstGeom prst="rect">
            <a:avLst/>
          </a:prstGeom>
          <a:noFill/>
          <a:ln/>
        </p:spPr>
        <p:txBody>
          <a:bodyPr wrap="square" lIns="0" tIns="0" rIns="0" bIns="0" rtlCol="0" anchor="ctr"/>
          <a:lstStyle/>
          <a:p>
            <a:pPr marL="0" indent="0">
              <a:buNone/>
            </a:pPr>
            <a:r>
              <a:rPr lang="en-US" sz="1150" b="1" dirty="0">
                <a:solidFill>
                  <a:srgbClr val="E8A33D"/>
                </a:solidFill>
                <a:latin typeface="Malgun Gothic" pitchFamily="34" charset="0"/>
                <a:ea typeface="Malgun Gothic" pitchFamily="34" charset="-122"/>
                <a:cs typeface="Malgun Gothic" pitchFamily="34" charset="-120"/>
              </a:rPr>
              <a:t>반품·미판매 회수 루프</a:t>
            </a:r>
            <a:endParaRPr lang="en-US" sz="1150" dirty="0"/>
          </a:p>
        </p:txBody>
      </p:sp>
      <p:sp>
        <p:nvSpPr>
          <p:cNvPr id="28" name="Text 26"/>
          <p:cNvSpPr/>
          <p:nvPr/>
        </p:nvSpPr>
        <p:spPr>
          <a:xfrm>
            <a:off x="6711696" y="5184648"/>
            <a:ext cx="4572000" cy="457200"/>
          </a:xfrm>
          <a:prstGeom prst="rect">
            <a:avLst/>
          </a:prstGeom>
          <a:noFill/>
          <a:ln/>
        </p:spPr>
        <p:txBody>
          <a:bodyPr wrap="square" lIns="0" tIns="0" rIns="0" bIns="0" rtlCol="0" anchor="t"/>
          <a:lstStyle/>
          <a:p>
            <a:pPr marL="0" indent="0">
              <a:lnSpc>
                <a:spcPct val="110000"/>
              </a:lnSpc>
              <a:buNone/>
            </a:pPr>
            <a:r>
              <a:rPr lang="en-US" sz="950" dirty="0">
                <a:solidFill>
                  <a:srgbClr val="FFFFFF"/>
                </a:solidFill>
                <a:latin typeface="Malgun Gothic" pitchFamily="34" charset="0"/>
                <a:ea typeface="Malgun Gothic" pitchFamily="34" charset="-122"/>
                <a:cs typeface="Malgun Gothic" pitchFamily="34" charset="-120"/>
              </a:rPr>
              <a:t>지점 마감 미판매의 회수/폐기/할인 처리 코드화 — 다음 날 배분 보정의 입력값</a:t>
            </a:r>
            <a:endParaRPr lang="en-US" sz="950" dirty="0"/>
          </a:p>
        </p:txBody>
      </p:sp>
      <p:sp>
        <p:nvSpPr>
          <p:cNvPr id="29" name="Text 27"/>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30" name="Text 28"/>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ORDER-TO-CASH</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solidFill>
                  <a:srgbClr val="2E241C"/>
                </a:solidFill>
                <a:latin typeface="Malgun Gothic" pitchFamily="34" charset="0"/>
                <a:ea typeface="Malgun Gothic" pitchFamily="34" charset="-122"/>
                <a:cs typeface="Malgun Gothic" pitchFamily="34" charset="-120"/>
              </a:rPr>
              <a:t>매장/B2B 발주와 회계 — 손이 가던 모든 연결을 전표로</a:t>
            </a:r>
            <a:endParaRPr lang="en-US" sz="2500" dirty="0"/>
          </a:p>
        </p:txBody>
      </p:sp>
      <p:sp>
        <p:nvSpPr>
          <p:cNvPr id="4" name="Shape 2"/>
          <p:cNvSpPr/>
          <p:nvPr/>
        </p:nvSpPr>
        <p:spPr>
          <a:xfrm>
            <a:off x="502920" y="1481328"/>
            <a:ext cx="2157984" cy="1051560"/>
          </a:xfrm>
          <a:prstGeom prst="roundRect">
            <a:avLst>
              <a:gd name="adj" fmla="val 7826"/>
            </a:avLst>
          </a:prstGeom>
          <a:solidFill>
            <a:srgbClr val="EFE5D8"/>
          </a:solidFill>
          <a:ln/>
        </p:spPr>
        <p:txBody>
          <a:bodyPr/>
          <a:lstStyle/>
          <a:p>
            <a:endParaRPr lang="ko-KR" altLang="en-US"/>
          </a:p>
        </p:txBody>
      </p:sp>
      <p:sp>
        <p:nvSpPr>
          <p:cNvPr id="5" name="Text 3"/>
          <p:cNvSpPr/>
          <p:nvPr/>
        </p:nvSpPr>
        <p:spPr>
          <a:xfrm>
            <a:off x="630936" y="1572768"/>
            <a:ext cx="457200" cy="365760"/>
          </a:xfrm>
          <a:prstGeom prst="rect">
            <a:avLst/>
          </a:prstGeom>
          <a:noFill/>
          <a:ln/>
        </p:spPr>
        <p:txBody>
          <a:bodyPr wrap="square" lIns="0" tIns="0" rIns="0" bIns="0" rtlCol="0" anchor="ctr"/>
          <a:lstStyle/>
          <a:p>
            <a:pPr marL="0" indent="0">
              <a:buNone/>
            </a:pPr>
            <a:r>
              <a:rPr lang="en-US" sz="1600" b="1" dirty="0">
                <a:solidFill>
                  <a:srgbClr val="714B67"/>
                </a:solidFill>
                <a:latin typeface="Malgun Gothic" pitchFamily="34" charset="0"/>
                <a:ea typeface="Malgun Gothic" pitchFamily="34" charset="-122"/>
                <a:cs typeface="Malgun Gothic" pitchFamily="34" charset="-120"/>
              </a:rPr>
              <a:t>1</a:t>
            </a:r>
            <a:endParaRPr lang="en-US" sz="1600" dirty="0"/>
          </a:p>
        </p:txBody>
      </p:sp>
      <p:sp>
        <p:nvSpPr>
          <p:cNvPr id="6" name="Text 4"/>
          <p:cNvSpPr/>
          <p:nvPr/>
        </p:nvSpPr>
        <p:spPr>
          <a:xfrm>
            <a:off x="630936" y="1883664"/>
            <a:ext cx="1901952" cy="594360"/>
          </a:xfrm>
          <a:prstGeom prst="rect">
            <a:avLst/>
          </a:prstGeom>
          <a:noFill/>
          <a:ln/>
        </p:spPr>
        <p:txBody>
          <a:bodyPr wrap="square" lIns="0" tIns="0" rIns="0" bIns="0" rtlCol="0" anchor="t"/>
          <a:lstStyle/>
          <a:p>
            <a:pPr marL="0" indent="0">
              <a:lnSpc>
                <a:spcPct val="110000"/>
              </a:lnSpc>
              <a:buNone/>
            </a:pPr>
            <a:r>
              <a:rPr lang="en-US" sz="1050" b="1" dirty="0">
                <a:solidFill>
                  <a:srgbClr val="2E241C"/>
                </a:solidFill>
                <a:latin typeface="Malgun Gothic" pitchFamily="34" charset="0"/>
                <a:ea typeface="Malgun Gothic" pitchFamily="34" charset="-122"/>
                <a:cs typeface="Malgun Gothic" pitchFamily="34" charset="-120"/>
              </a:rPr>
              <a:t>B2B 수주/매장 보충주문</a:t>
            </a:r>
            <a:endParaRPr lang="en-US" sz="1050" dirty="0"/>
          </a:p>
        </p:txBody>
      </p:sp>
      <p:sp>
        <p:nvSpPr>
          <p:cNvPr id="7" name="Shape 5"/>
          <p:cNvSpPr/>
          <p:nvPr/>
        </p:nvSpPr>
        <p:spPr>
          <a:xfrm>
            <a:off x="2706624" y="1892808"/>
            <a:ext cx="256032" cy="219456"/>
          </a:xfrm>
          <a:prstGeom prst="rightArrow">
            <a:avLst/>
          </a:prstGeom>
          <a:solidFill>
            <a:srgbClr val="DCCDBB"/>
          </a:solidFill>
          <a:ln/>
        </p:spPr>
        <p:txBody>
          <a:bodyPr/>
          <a:lstStyle/>
          <a:p>
            <a:endParaRPr lang="ko-KR" altLang="en-US"/>
          </a:p>
        </p:txBody>
      </p:sp>
      <p:sp>
        <p:nvSpPr>
          <p:cNvPr id="8" name="Shape 6"/>
          <p:cNvSpPr/>
          <p:nvPr/>
        </p:nvSpPr>
        <p:spPr>
          <a:xfrm>
            <a:off x="2880360" y="1481328"/>
            <a:ext cx="2157984" cy="1051560"/>
          </a:xfrm>
          <a:prstGeom prst="roundRect">
            <a:avLst>
              <a:gd name="adj" fmla="val 7826"/>
            </a:avLst>
          </a:prstGeom>
          <a:solidFill>
            <a:srgbClr val="EFE5D8"/>
          </a:solidFill>
          <a:ln/>
        </p:spPr>
        <p:txBody>
          <a:bodyPr/>
          <a:lstStyle/>
          <a:p>
            <a:endParaRPr lang="ko-KR" altLang="en-US"/>
          </a:p>
        </p:txBody>
      </p:sp>
      <p:sp>
        <p:nvSpPr>
          <p:cNvPr id="9" name="Text 7"/>
          <p:cNvSpPr/>
          <p:nvPr/>
        </p:nvSpPr>
        <p:spPr>
          <a:xfrm>
            <a:off x="3008376" y="1572768"/>
            <a:ext cx="457200" cy="365760"/>
          </a:xfrm>
          <a:prstGeom prst="rect">
            <a:avLst/>
          </a:prstGeom>
          <a:noFill/>
          <a:ln/>
        </p:spPr>
        <p:txBody>
          <a:bodyPr wrap="square" lIns="0" tIns="0" rIns="0" bIns="0" rtlCol="0" anchor="ctr"/>
          <a:lstStyle/>
          <a:p>
            <a:pPr marL="0" indent="0">
              <a:buNone/>
            </a:pPr>
            <a:r>
              <a:rPr lang="en-US" sz="1600" b="1" dirty="0">
                <a:solidFill>
                  <a:srgbClr val="714B67"/>
                </a:solidFill>
                <a:latin typeface="Malgun Gothic" pitchFamily="34" charset="0"/>
                <a:ea typeface="Malgun Gothic" pitchFamily="34" charset="-122"/>
                <a:cs typeface="Malgun Gothic" pitchFamily="34" charset="-120"/>
              </a:rPr>
              <a:t>2</a:t>
            </a:r>
            <a:endParaRPr lang="en-US" sz="1600" dirty="0"/>
          </a:p>
        </p:txBody>
      </p:sp>
      <p:sp>
        <p:nvSpPr>
          <p:cNvPr id="10" name="Text 8"/>
          <p:cNvSpPr/>
          <p:nvPr/>
        </p:nvSpPr>
        <p:spPr>
          <a:xfrm>
            <a:off x="3008376" y="1883664"/>
            <a:ext cx="1901952" cy="594360"/>
          </a:xfrm>
          <a:prstGeom prst="rect">
            <a:avLst/>
          </a:prstGeom>
          <a:noFill/>
          <a:ln/>
        </p:spPr>
        <p:txBody>
          <a:bodyPr wrap="square" lIns="0" tIns="0" rIns="0" bIns="0" rtlCol="0" anchor="t"/>
          <a:lstStyle/>
          <a:p>
            <a:pPr marL="0" indent="0">
              <a:lnSpc>
                <a:spcPct val="110000"/>
              </a:lnSpc>
              <a:buNone/>
            </a:pPr>
            <a:r>
              <a:rPr lang="en-US" sz="1050" b="1" dirty="0">
                <a:solidFill>
                  <a:srgbClr val="2E241C"/>
                </a:solidFill>
                <a:latin typeface="Malgun Gothic" pitchFamily="34" charset="0"/>
                <a:ea typeface="Malgun Gothic" pitchFamily="34" charset="-122"/>
                <a:cs typeface="Malgun Gothic" pitchFamily="34" charset="-120"/>
              </a:rPr>
              <a:t>출고·배송 (FEFO 로트)</a:t>
            </a:r>
            <a:endParaRPr lang="en-US" sz="1050" dirty="0"/>
          </a:p>
        </p:txBody>
      </p:sp>
      <p:sp>
        <p:nvSpPr>
          <p:cNvPr id="11" name="Shape 9"/>
          <p:cNvSpPr/>
          <p:nvPr/>
        </p:nvSpPr>
        <p:spPr>
          <a:xfrm>
            <a:off x="5084064" y="1892808"/>
            <a:ext cx="256032" cy="219456"/>
          </a:xfrm>
          <a:prstGeom prst="rightArrow">
            <a:avLst/>
          </a:prstGeom>
          <a:solidFill>
            <a:srgbClr val="DCCDBB"/>
          </a:solidFill>
          <a:ln/>
        </p:spPr>
        <p:txBody>
          <a:bodyPr/>
          <a:lstStyle/>
          <a:p>
            <a:endParaRPr lang="ko-KR" altLang="en-US"/>
          </a:p>
        </p:txBody>
      </p:sp>
      <p:sp>
        <p:nvSpPr>
          <p:cNvPr id="12" name="Shape 10"/>
          <p:cNvSpPr/>
          <p:nvPr/>
        </p:nvSpPr>
        <p:spPr>
          <a:xfrm>
            <a:off x="5257800" y="1481328"/>
            <a:ext cx="2157984" cy="1051560"/>
          </a:xfrm>
          <a:prstGeom prst="roundRect">
            <a:avLst>
              <a:gd name="adj" fmla="val 7826"/>
            </a:avLst>
          </a:prstGeom>
          <a:solidFill>
            <a:srgbClr val="EFE5D8"/>
          </a:solidFill>
          <a:ln/>
        </p:spPr>
        <p:txBody>
          <a:bodyPr/>
          <a:lstStyle/>
          <a:p>
            <a:endParaRPr lang="ko-KR" altLang="en-US"/>
          </a:p>
        </p:txBody>
      </p:sp>
      <p:sp>
        <p:nvSpPr>
          <p:cNvPr id="13" name="Text 11"/>
          <p:cNvSpPr/>
          <p:nvPr/>
        </p:nvSpPr>
        <p:spPr>
          <a:xfrm>
            <a:off x="5385816" y="1572768"/>
            <a:ext cx="457200" cy="365760"/>
          </a:xfrm>
          <a:prstGeom prst="rect">
            <a:avLst/>
          </a:prstGeom>
          <a:noFill/>
          <a:ln/>
        </p:spPr>
        <p:txBody>
          <a:bodyPr wrap="square" lIns="0" tIns="0" rIns="0" bIns="0" rtlCol="0" anchor="ctr"/>
          <a:lstStyle/>
          <a:p>
            <a:pPr marL="0" indent="0">
              <a:buNone/>
            </a:pPr>
            <a:r>
              <a:rPr lang="en-US" sz="1600" b="1" dirty="0">
                <a:solidFill>
                  <a:srgbClr val="714B67"/>
                </a:solidFill>
                <a:latin typeface="Malgun Gothic" pitchFamily="34" charset="0"/>
                <a:ea typeface="Malgun Gothic" pitchFamily="34" charset="-122"/>
                <a:cs typeface="Malgun Gothic" pitchFamily="34" charset="-120"/>
              </a:rPr>
              <a:t>3</a:t>
            </a:r>
            <a:endParaRPr lang="en-US" sz="1600" dirty="0"/>
          </a:p>
        </p:txBody>
      </p:sp>
      <p:sp>
        <p:nvSpPr>
          <p:cNvPr id="14" name="Text 12"/>
          <p:cNvSpPr/>
          <p:nvPr/>
        </p:nvSpPr>
        <p:spPr>
          <a:xfrm>
            <a:off x="5385816" y="1883664"/>
            <a:ext cx="1901952" cy="594360"/>
          </a:xfrm>
          <a:prstGeom prst="rect">
            <a:avLst/>
          </a:prstGeom>
          <a:noFill/>
          <a:ln/>
        </p:spPr>
        <p:txBody>
          <a:bodyPr wrap="square" lIns="0" tIns="0" rIns="0" bIns="0" rtlCol="0" anchor="t"/>
          <a:lstStyle/>
          <a:p>
            <a:pPr marL="0" indent="0">
              <a:lnSpc>
                <a:spcPct val="110000"/>
              </a:lnSpc>
              <a:buNone/>
            </a:pPr>
            <a:r>
              <a:rPr lang="en-US" sz="1050" b="1" dirty="0">
                <a:solidFill>
                  <a:srgbClr val="2E241C"/>
                </a:solidFill>
                <a:latin typeface="Malgun Gothic" pitchFamily="34" charset="0"/>
                <a:ea typeface="Malgun Gothic" pitchFamily="34" charset="-122"/>
                <a:cs typeface="Malgun Gothic" pitchFamily="34" charset="-120"/>
              </a:rPr>
              <a:t>세금계산서 자동 발행</a:t>
            </a:r>
            <a:endParaRPr lang="en-US" sz="1050" dirty="0"/>
          </a:p>
        </p:txBody>
      </p:sp>
      <p:sp>
        <p:nvSpPr>
          <p:cNvPr id="15" name="Shape 13"/>
          <p:cNvSpPr/>
          <p:nvPr/>
        </p:nvSpPr>
        <p:spPr>
          <a:xfrm>
            <a:off x="7461504" y="1892808"/>
            <a:ext cx="256032" cy="219456"/>
          </a:xfrm>
          <a:prstGeom prst="rightArrow">
            <a:avLst/>
          </a:prstGeom>
          <a:solidFill>
            <a:srgbClr val="DCCDBB"/>
          </a:solidFill>
          <a:ln/>
        </p:spPr>
        <p:txBody>
          <a:bodyPr/>
          <a:lstStyle/>
          <a:p>
            <a:endParaRPr lang="ko-KR" altLang="en-US"/>
          </a:p>
        </p:txBody>
      </p:sp>
      <p:sp>
        <p:nvSpPr>
          <p:cNvPr id="16" name="Shape 14"/>
          <p:cNvSpPr/>
          <p:nvPr/>
        </p:nvSpPr>
        <p:spPr>
          <a:xfrm>
            <a:off x="7635240" y="1481328"/>
            <a:ext cx="2157984" cy="1051560"/>
          </a:xfrm>
          <a:prstGeom prst="roundRect">
            <a:avLst>
              <a:gd name="adj" fmla="val 7826"/>
            </a:avLst>
          </a:prstGeom>
          <a:solidFill>
            <a:srgbClr val="EFE5D8"/>
          </a:solidFill>
          <a:ln/>
        </p:spPr>
        <p:txBody>
          <a:bodyPr/>
          <a:lstStyle/>
          <a:p>
            <a:endParaRPr lang="ko-KR" altLang="en-US"/>
          </a:p>
        </p:txBody>
      </p:sp>
      <p:sp>
        <p:nvSpPr>
          <p:cNvPr id="17" name="Text 15"/>
          <p:cNvSpPr/>
          <p:nvPr/>
        </p:nvSpPr>
        <p:spPr>
          <a:xfrm>
            <a:off x="7763256" y="1572768"/>
            <a:ext cx="457200" cy="365760"/>
          </a:xfrm>
          <a:prstGeom prst="rect">
            <a:avLst/>
          </a:prstGeom>
          <a:noFill/>
          <a:ln/>
        </p:spPr>
        <p:txBody>
          <a:bodyPr wrap="square" lIns="0" tIns="0" rIns="0" bIns="0" rtlCol="0" anchor="ctr"/>
          <a:lstStyle/>
          <a:p>
            <a:pPr marL="0" indent="0">
              <a:buNone/>
            </a:pPr>
            <a:r>
              <a:rPr lang="en-US" sz="1600" b="1" dirty="0">
                <a:solidFill>
                  <a:srgbClr val="714B67"/>
                </a:solidFill>
                <a:latin typeface="Malgun Gothic" pitchFamily="34" charset="0"/>
                <a:ea typeface="Malgun Gothic" pitchFamily="34" charset="-122"/>
                <a:cs typeface="Malgun Gothic" pitchFamily="34" charset="-120"/>
              </a:rPr>
              <a:t>4</a:t>
            </a:r>
            <a:endParaRPr lang="en-US" sz="1600" dirty="0"/>
          </a:p>
        </p:txBody>
      </p:sp>
      <p:sp>
        <p:nvSpPr>
          <p:cNvPr id="18" name="Text 16"/>
          <p:cNvSpPr/>
          <p:nvPr/>
        </p:nvSpPr>
        <p:spPr>
          <a:xfrm>
            <a:off x="7763256" y="1883664"/>
            <a:ext cx="1901952" cy="594360"/>
          </a:xfrm>
          <a:prstGeom prst="rect">
            <a:avLst/>
          </a:prstGeom>
          <a:noFill/>
          <a:ln/>
        </p:spPr>
        <p:txBody>
          <a:bodyPr wrap="square" lIns="0" tIns="0" rIns="0" bIns="0" rtlCol="0" anchor="t"/>
          <a:lstStyle/>
          <a:p>
            <a:pPr marL="0" indent="0">
              <a:lnSpc>
                <a:spcPct val="110000"/>
              </a:lnSpc>
              <a:buNone/>
            </a:pPr>
            <a:r>
              <a:rPr lang="en-US" sz="1050" b="1" dirty="0">
                <a:solidFill>
                  <a:srgbClr val="2E241C"/>
                </a:solidFill>
                <a:latin typeface="Malgun Gothic" pitchFamily="34" charset="0"/>
                <a:ea typeface="Malgun Gothic" pitchFamily="34" charset="-122"/>
                <a:cs typeface="Malgun Gothic" pitchFamily="34" charset="-120"/>
              </a:rPr>
              <a:t>수금·미수 관리</a:t>
            </a:r>
            <a:endParaRPr lang="en-US" sz="1050" dirty="0"/>
          </a:p>
        </p:txBody>
      </p:sp>
      <p:sp>
        <p:nvSpPr>
          <p:cNvPr id="19" name="Shape 17"/>
          <p:cNvSpPr/>
          <p:nvPr/>
        </p:nvSpPr>
        <p:spPr>
          <a:xfrm>
            <a:off x="9838944" y="1892808"/>
            <a:ext cx="256032" cy="219456"/>
          </a:xfrm>
          <a:prstGeom prst="rightArrow">
            <a:avLst/>
          </a:prstGeom>
          <a:solidFill>
            <a:srgbClr val="DCCDBB"/>
          </a:solidFill>
          <a:ln/>
        </p:spPr>
        <p:txBody>
          <a:bodyPr/>
          <a:lstStyle/>
          <a:p>
            <a:endParaRPr lang="ko-KR" altLang="en-US"/>
          </a:p>
        </p:txBody>
      </p:sp>
      <p:sp>
        <p:nvSpPr>
          <p:cNvPr id="20" name="Shape 18"/>
          <p:cNvSpPr/>
          <p:nvPr/>
        </p:nvSpPr>
        <p:spPr>
          <a:xfrm>
            <a:off x="10012680" y="1481328"/>
            <a:ext cx="2157984" cy="1051560"/>
          </a:xfrm>
          <a:prstGeom prst="roundRect">
            <a:avLst>
              <a:gd name="adj" fmla="val 7826"/>
            </a:avLst>
          </a:prstGeom>
          <a:solidFill>
            <a:srgbClr val="EFE5D8"/>
          </a:solidFill>
          <a:ln/>
        </p:spPr>
        <p:txBody>
          <a:bodyPr/>
          <a:lstStyle/>
          <a:p>
            <a:endParaRPr lang="ko-KR" altLang="en-US"/>
          </a:p>
        </p:txBody>
      </p:sp>
      <p:sp>
        <p:nvSpPr>
          <p:cNvPr id="21" name="Text 19"/>
          <p:cNvSpPr/>
          <p:nvPr/>
        </p:nvSpPr>
        <p:spPr>
          <a:xfrm>
            <a:off x="10140696" y="1572768"/>
            <a:ext cx="457200" cy="365760"/>
          </a:xfrm>
          <a:prstGeom prst="rect">
            <a:avLst/>
          </a:prstGeom>
          <a:noFill/>
          <a:ln/>
        </p:spPr>
        <p:txBody>
          <a:bodyPr wrap="square" lIns="0" tIns="0" rIns="0" bIns="0" rtlCol="0" anchor="ctr"/>
          <a:lstStyle/>
          <a:p>
            <a:pPr marL="0" indent="0">
              <a:buNone/>
            </a:pPr>
            <a:r>
              <a:rPr lang="en-US" sz="1600" b="1" dirty="0">
                <a:solidFill>
                  <a:srgbClr val="714B67"/>
                </a:solidFill>
                <a:latin typeface="Malgun Gothic" pitchFamily="34" charset="0"/>
                <a:ea typeface="Malgun Gothic" pitchFamily="34" charset="-122"/>
                <a:cs typeface="Malgun Gothic" pitchFamily="34" charset="-120"/>
              </a:rPr>
              <a:t>5</a:t>
            </a:r>
            <a:endParaRPr lang="en-US" sz="1600" dirty="0"/>
          </a:p>
        </p:txBody>
      </p:sp>
      <p:sp>
        <p:nvSpPr>
          <p:cNvPr id="22" name="Text 20"/>
          <p:cNvSpPr/>
          <p:nvPr/>
        </p:nvSpPr>
        <p:spPr>
          <a:xfrm>
            <a:off x="10140696" y="1883664"/>
            <a:ext cx="1901952" cy="594360"/>
          </a:xfrm>
          <a:prstGeom prst="rect">
            <a:avLst/>
          </a:prstGeom>
          <a:noFill/>
          <a:ln/>
        </p:spPr>
        <p:txBody>
          <a:bodyPr wrap="square" lIns="0" tIns="0" rIns="0" bIns="0" rtlCol="0" anchor="t"/>
          <a:lstStyle/>
          <a:p>
            <a:pPr marL="0" indent="0">
              <a:lnSpc>
                <a:spcPct val="110000"/>
              </a:lnSpc>
              <a:buNone/>
            </a:pPr>
            <a:r>
              <a:rPr lang="en-US" sz="1050" b="1" dirty="0">
                <a:solidFill>
                  <a:srgbClr val="2E241C"/>
                </a:solidFill>
                <a:latin typeface="Malgun Gothic" pitchFamily="34" charset="0"/>
                <a:ea typeface="Malgun Gothic" pitchFamily="34" charset="-122"/>
                <a:cs typeface="Malgun Gothic" pitchFamily="34" charset="-120"/>
              </a:rPr>
              <a:t>자동 분개·일일 손익</a:t>
            </a:r>
            <a:endParaRPr lang="en-US" sz="1050" dirty="0"/>
          </a:p>
        </p:txBody>
      </p:sp>
      <p:sp>
        <p:nvSpPr>
          <p:cNvPr id="23" name="Shape 21"/>
          <p:cNvSpPr/>
          <p:nvPr/>
        </p:nvSpPr>
        <p:spPr>
          <a:xfrm>
            <a:off x="502920" y="2788920"/>
            <a:ext cx="3621024" cy="2926080"/>
          </a:xfrm>
          <a:prstGeom prst="roundRect">
            <a:avLst>
              <a:gd name="adj" fmla="val 2813"/>
            </a:avLst>
          </a:prstGeom>
          <a:solidFill>
            <a:srgbClr val="FFFFFF"/>
          </a:solidFill>
          <a:ln w="9525">
            <a:solidFill>
              <a:srgbClr val="714B67"/>
            </a:solidFill>
            <a:prstDash val="solid"/>
          </a:ln>
        </p:spPr>
        <p:txBody>
          <a:bodyPr/>
          <a:lstStyle/>
          <a:p>
            <a:endParaRPr lang="ko-KR" altLang="en-US"/>
          </a:p>
        </p:txBody>
      </p:sp>
      <p:sp>
        <p:nvSpPr>
          <p:cNvPr id="24" name="Shape 22"/>
          <p:cNvSpPr/>
          <p:nvPr/>
        </p:nvSpPr>
        <p:spPr>
          <a:xfrm>
            <a:off x="722376" y="2990088"/>
            <a:ext cx="475488" cy="475488"/>
          </a:xfrm>
          <a:prstGeom prst="ellipse">
            <a:avLst/>
          </a:prstGeom>
          <a:solidFill>
            <a:srgbClr val="714B67"/>
          </a:solidFill>
          <a:ln/>
        </p:spPr>
        <p:txBody>
          <a:bodyPr/>
          <a:lstStyle/>
          <a:p>
            <a:endParaRPr lang="ko-KR" altLang="en-US"/>
          </a:p>
        </p:txBody>
      </p:sp>
      <p:pic>
        <p:nvPicPr>
          <p:cNvPr id="25" name="Image 0" descr="preencoded.png"/>
          <p:cNvPicPr>
            <a:picLocks noChangeAspect="1"/>
          </p:cNvPicPr>
          <p:nvPr/>
        </p:nvPicPr>
        <p:blipFill>
          <a:blip r:embed="rId3"/>
          <a:stretch>
            <a:fillRect/>
          </a:stretch>
        </p:blipFill>
        <p:spPr>
          <a:xfrm>
            <a:off x="850758" y="3118470"/>
            <a:ext cx="218724" cy="218724"/>
          </a:xfrm>
          <a:prstGeom prst="rect">
            <a:avLst/>
          </a:prstGeom>
        </p:spPr>
      </p:pic>
      <p:sp>
        <p:nvSpPr>
          <p:cNvPr id="26" name="Text 23"/>
          <p:cNvSpPr/>
          <p:nvPr/>
        </p:nvSpPr>
        <p:spPr>
          <a:xfrm>
            <a:off x="1325880" y="3063240"/>
            <a:ext cx="2660904" cy="329184"/>
          </a:xfrm>
          <a:prstGeom prst="rect">
            <a:avLst/>
          </a:prstGeom>
          <a:noFill/>
          <a:ln/>
        </p:spPr>
        <p:txBody>
          <a:bodyPr wrap="square" lIns="0" tIns="0" rIns="0" bIns="0" rtlCol="0" anchor="ctr"/>
          <a:lstStyle/>
          <a:p>
            <a:pPr marL="0" indent="0">
              <a:buNone/>
            </a:pPr>
            <a:r>
              <a:rPr lang="en-US" sz="1350" b="1" dirty="0">
                <a:solidFill>
                  <a:srgbClr val="714B67"/>
                </a:solidFill>
                <a:latin typeface="Malgun Gothic" pitchFamily="34" charset="0"/>
                <a:ea typeface="Malgun Gothic" pitchFamily="34" charset="-122"/>
                <a:cs typeface="Malgun Gothic" pitchFamily="34" charset="-120"/>
              </a:rPr>
              <a:t>B2B 도소매</a:t>
            </a:r>
            <a:endParaRPr lang="en-US" sz="1350" dirty="0"/>
          </a:p>
        </p:txBody>
      </p:sp>
      <p:sp>
        <p:nvSpPr>
          <p:cNvPr id="27" name="Text 24"/>
          <p:cNvSpPr/>
          <p:nvPr/>
        </p:nvSpPr>
        <p:spPr>
          <a:xfrm>
            <a:off x="722376" y="3566160"/>
            <a:ext cx="3200400" cy="1965960"/>
          </a:xfrm>
          <a:prstGeom prst="rect">
            <a:avLst/>
          </a:prstGeom>
          <a:noFill/>
          <a:ln/>
        </p:spPr>
        <p:txBody>
          <a:bodyPr wrap="square" lIns="0" tIns="0" rIns="0" bIns="0" rtlCol="0" anchor="t"/>
          <a:lstStyle/>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거래처별 단가표·여신한도 — 한도 초과 자동 경고</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정기 납품처의 재주문 주기 감지 → 수주 제안(9장 에이전트)</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월 마감 일괄 계산서·거래명세서 자동화</a:t>
            </a:r>
            <a:endParaRPr lang="en-US" sz="1000" dirty="0"/>
          </a:p>
        </p:txBody>
      </p:sp>
      <p:sp>
        <p:nvSpPr>
          <p:cNvPr id="28" name="Shape 25"/>
          <p:cNvSpPr/>
          <p:nvPr/>
        </p:nvSpPr>
        <p:spPr>
          <a:xfrm>
            <a:off x="4325112" y="2788920"/>
            <a:ext cx="3621024" cy="2926080"/>
          </a:xfrm>
          <a:prstGeom prst="roundRect">
            <a:avLst>
              <a:gd name="adj" fmla="val 2813"/>
            </a:avLst>
          </a:prstGeom>
          <a:solidFill>
            <a:srgbClr val="FFFFFF"/>
          </a:solidFill>
          <a:ln w="9525">
            <a:solidFill>
              <a:srgbClr val="0E8F86"/>
            </a:solidFill>
            <a:prstDash val="solid"/>
          </a:ln>
        </p:spPr>
        <p:txBody>
          <a:bodyPr/>
          <a:lstStyle/>
          <a:p>
            <a:endParaRPr lang="ko-KR" altLang="en-US"/>
          </a:p>
        </p:txBody>
      </p:sp>
      <p:sp>
        <p:nvSpPr>
          <p:cNvPr id="29" name="Shape 26"/>
          <p:cNvSpPr/>
          <p:nvPr/>
        </p:nvSpPr>
        <p:spPr>
          <a:xfrm>
            <a:off x="4544568" y="2990088"/>
            <a:ext cx="475488" cy="475488"/>
          </a:xfrm>
          <a:prstGeom prst="ellipse">
            <a:avLst/>
          </a:prstGeom>
          <a:solidFill>
            <a:srgbClr val="0E8F86"/>
          </a:solidFill>
          <a:ln/>
        </p:spPr>
        <p:txBody>
          <a:bodyPr/>
          <a:lstStyle/>
          <a:p>
            <a:endParaRPr lang="ko-KR" altLang="en-US"/>
          </a:p>
        </p:txBody>
      </p:sp>
      <p:pic>
        <p:nvPicPr>
          <p:cNvPr id="30" name="Image 1" descr="preencoded.png"/>
          <p:cNvPicPr>
            <a:picLocks noChangeAspect="1"/>
          </p:cNvPicPr>
          <p:nvPr/>
        </p:nvPicPr>
        <p:blipFill>
          <a:blip r:embed="rId4"/>
          <a:stretch>
            <a:fillRect/>
          </a:stretch>
        </p:blipFill>
        <p:spPr>
          <a:xfrm>
            <a:off x="4672950" y="3118470"/>
            <a:ext cx="218724" cy="218724"/>
          </a:xfrm>
          <a:prstGeom prst="rect">
            <a:avLst/>
          </a:prstGeom>
        </p:spPr>
      </p:pic>
      <p:sp>
        <p:nvSpPr>
          <p:cNvPr id="31" name="Text 27"/>
          <p:cNvSpPr/>
          <p:nvPr/>
        </p:nvSpPr>
        <p:spPr>
          <a:xfrm>
            <a:off x="5148072" y="3063240"/>
            <a:ext cx="2660904" cy="329184"/>
          </a:xfrm>
          <a:prstGeom prst="rect">
            <a:avLst/>
          </a:prstGeom>
          <a:noFill/>
          <a:ln/>
        </p:spPr>
        <p:txBody>
          <a:bodyPr wrap="square" lIns="0" tIns="0" rIns="0" bIns="0" rtlCol="0" anchor="ctr"/>
          <a:lstStyle/>
          <a:p>
            <a:pPr marL="0" indent="0">
              <a:buNone/>
            </a:pPr>
            <a:r>
              <a:rPr lang="en-US" sz="1350" b="1" dirty="0">
                <a:solidFill>
                  <a:srgbClr val="0E8F86"/>
                </a:solidFill>
                <a:latin typeface="Malgun Gothic" pitchFamily="34" charset="0"/>
                <a:ea typeface="Malgun Gothic" pitchFamily="34" charset="-122"/>
                <a:cs typeface="Malgun Gothic" pitchFamily="34" charset="-120"/>
              </a:rPr>
              <a:t>매장·지점 발주</a:t>
            </a:r>
            <a:endParaRPr lang="en-US" sz="1350" dirty="0"/>
          </a:p>
        </p:txBody>
      </p:sp>
      <p:sp>
        <p:nvSpPr>
          <p:cNvPr id="32" name="Text 28"/>
          <p:cNvSpPr/>
          <p:nvPr/>
        </p:nvSpPr>
        <p:spPr>
          <a:xfrm>
            <a:off x="4544568" y="3566160"/>
            <a:ext cx="3200400" cy="1965960"/>
          </a:xfrm>
          <a:prstGeom prst="rect">
            <a:avLst/>
          </a:prstGeom>
          <a:noFill/>
          <a:ln/>
        </p:spPr>
        <p:txBody>
          <a:bodyPr wrap="square" lIns="0" tIns="0" rIns="0" bIns="0" rtlCol="0" anchor="t"/>
          <a:lstStyle/>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지점의 보충 발주 → 본점 생산계획에 자동 합산</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판매 예측 기반 '권장 발주량' 제시 — 점장은 조정만</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지점간 이동 전표로 재고·손익 자동 정리</a:t>
            </a:r>
            <a:endParaRPr lang="en-US" sz="1000" dirty="0"/>
          </a:p>
        </p:txBody>
      </p:sp>
      <p:sp>
        <p:nvSpPr>
          <p:cNvPr id="33" name="Shape 29"/>
          <p:cNvSpPr/>
          <p:nvPr/>
        </p:nvSpPr>
        <p:spPr>
          <a:xfrm>
            <a:off x="8147304" y="2788920"/>
            <a:ext cx="3621024" cy="2926080"/>
          </a:xfrm>
          <a:prstGeom prst="roundRect">
            <a:avLst>
              <a:gd name="adj" fmla="val 2813"/>
            </a:avLst>
          </a:prstGeom>
          <a:solidFill>
            <a:srgbClr val="FFFFFF"/>
          </a:solidFill>
          <a:ln w="9525">
            <a:solidFill>
              <a:srgbClr val="E8A33D"/>
            </a:solidFill>
            <a:prstDash val="solid"/>
          </a:ln>
        </p:spPr>
        <p:txBody>
          <a:bodyPr/>
          <a:lstStyle/>
          <a:p>
            <a:endParaRPr lang="ko-KR" altLang="en-US"/>
          </a:p>
        </p:txBody>
      </p:sp>
      <p:sp>
        <p:nvSpPr>
          <p:cNvPr id="34" name="Shape 30"/>
          <p:cNvSpPr/>
          <p:nvPr/>
        </p:nvSpPr>
        <p:spPr>
          <a:xfrm>
            <a:off x="8366760" y="2990088"/>
            <a:ext cx="475488" cy="475488"/>
          </a:xfrm>
          <a:prstGeom prst="ellipse">
            <a:avLst/>
          </a:prstGeom>
          <a:solidFill>
            <a:srgbClr val="E8A33D"/>
          </a:solidFill>
          <a:ln/>
        </p:spPr>
        <p:txBody>
          <a:bodyPr/>
          <a:lstStyle/>
          <a:p>
            <a:endParaRPr lang="ko-KR" altLang="en-US"/>
          </a:p>
        </p:txBody>
      </p:sp>
      <p:pic>
        <p:nvPicPr>
          <p:cNvPr id="35" name="Image 2" descr="preencoded.png"/>
          <p:cNvPicPr>
            <a:picLocks noChangeAspect="1"/>
          </p:cNvPicPr>
          <p:nvPr/>
        </p:nvPicPr>
        <p:blipFill>
          <a:blip r:embed="rId5"/>
          <a:stretch>
            <a:fillRect/>
          </a:stretch>
        </p:blipFill>
        <p:spPr>
          <a:xfrm>
            <a:off x="8495142" y="3118470"/>
            <a:ext cx="218724" cy="218724"/>
          </a:xfrm>
          <a:prstGeom prst="rect">
            <a:avLst/>
          </a:prstGeom>
        </p:spPr>
      </p:pic>
      <p:sp>
        <p:nvSpPr>
          <p:cNvPr id="36" name="Text 31"/>
          <p:cNvSpPr/>
          <p:nvPr/>
        </p:nvSpPr>
        <p:spPr>
          <a:xfrm>
            <a:off x="8970264" y="3063240"/>
            <a:ext cx="2660904" cy="329184"/>
          </a:xfrm>
          <a:prstGeom prst="rect">
            <a:avLst/>
          </a:prstGeom>
          <a:noFill/>
          <a:ln/>
        </p:spPr>
        <p:txBody>
          <a:bodyPr wrap="square" lIns="0" tIns="0" rIns="0" bIns="0" rtlCol="0" anchor="ctr"/>
          <a:lstStyle/>
          <a:p>
            <a:pPr marL="0" indent="0">
              <a:buNone/>
            </a:pPr>
            <a:r>
              <a:rPr lang="en-US" sz="1350" b="1" dirty="0">
                <a:solidFill>
                  <a:srgbClr val="E8A33D"/>
                </a:solidFill>
                <a:latin typeface="Malgun Gothic" pitchFamily="34" charset="0"/>
                <a:ea typeface="Malgun Gothic" pitchFamily="34" charset="-122"/>
                <a:cs typeface="Malgun Gothic" pitchFamily="34" charset="-120"/>
              </a:rPr>
              <a:t>이커머스·회계 연동</a:t>
            </a:r>
            <a:endParaRPr lang="en-US" sz="1350" dirty="0"/>
          </a:p>
        </p:txBody>
      </p:sp>
      <p:sp>
        <p:nvSpPr>
          <p:cNvPr id="37" name="Text 32"/>
          <p:cNvSpPr/>
          <p:nvPr/>
        </p:nvSpPr>
        <p:spPr>
          <a:xfrm>
            <a:off x="8366760" y="3566160"/>
            <a:ext cx="3200400" cy="1965960"/>
          </a:xfrm>
          <a:prstGeom prst="rect">
            <a:avLst/>
          </a:prstGeom>
          <a:noFill/>
          <a:ln/>
        </p:spPr>
        <p:txBody>
          <a:bodyPr wrap="square" lIns="0" tIns="0" rIns="0" bIns="0" rtlCol="0" anchor="t"/>
          <a:lstStyle/>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온라인 주문 자동 수집 → 출고·송장·재고 차감 일원화</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PG 정산·수수료 자동 대사(對査)</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판매·폐기·원가가 계정으로 흘러 일일 손익 마감</a:t>
            </a:r>
            <a:endParaRPr lang="en-US" sz="1000" dirty="0"/>
          </a:p>
        </p:txBody>
      </p:sp>
      <p:sp>
        <p:nvSpPr>
          <p:cNvPr id="38" name="Text 33"/>
          <p:cNvSpPr/>
          <p:nvPr/>
        </p:nvSpPr>
        <p:spPr>
          <a:xfrm>
            <a:off x="502920" y="5897880"/>
            <a:ext cx="11201400" cy="365760"/>
          </a:xfrm>
          <a:prstGeom prst="rect">
            <a:avLst/>
          </a:prstGeom>
          <a:noFill/>
          <a:ln/>
        </p:spPr>
        <p:txBody>
          <a:bodyPr wrap="square" lIns="0" tIns="0" rIns="0" bIns="0" rtlCol="0" anchor="ctr"/>
          <a:lstStyle/>
          <a:p>
            <a:pPr marL="0" indent="0">
              <a:buNone/>
            </a:pPr>
            <a:r>
              <a:rPr lang="en-US" sz="1200" b="1" i="1" dirty="0">
                <a:solidFill>
                  <a:srgbClr val="9C5227"/>
                </a:solidFill>
                <a:latin typeface="Malgun Gothic" pitchFamily="34" charset="0"/>
                <a:ea typeface="Malgun Gothic" pitchFamily="34" charset="-122"/>
                <a:cs typeface="Malgun Gothic" pitchFamily="34" charset="-120"/>
              </a:rPr>
              <a:t>효과: 주문·계산서·수금·분개 사이의 수작업 옮겨적기가 사라진다 — '이중 입력 제로'가 2단계(기반)의 성공 판정 기준</a:t>
            </a:r>
            <a:endParaRPr lang="en-US" sz="1200" dirty="0"/>
          </a:p>
        </p:txBody>
      </p:sp>
      <p:sp>
        <p:nvSpPr>
          <p:cNvPr id="39" name="Text 34"/>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40" name="Text 35"/>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AI PROJECT 1</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solidFill>
                  <a:srgbClr val="2E241C"/>
                </a:solidFill>
                <a:latin typeface="Malgun Gothic" pitchFamily="34" charset="0"/>
                <a:ea typeface="Malgun Gothic" pitchFamily="34" charset="-122"/>
                <a:cs typeface="Malgun Gothic" pitchFamily="34" charset="-120"/>
              </a:rPr>
              <a:t>수요예측 — "내일 파이만쥬 몇 개?"에 숫자로 답한다</a:t>
            </a:r>
            <a:endParaRPr lang="en-US" sz="2500" dirty="0"/>
          </a:p>
        </p:txBody>
      </p:sp>
      <p:sp>
        <p:nvSpPr>
          <p:cNvPr id="4" name="Shape 2"/>
          <p:cNvSpPr/>
          <p:nvPr/>
        </p:nvSpPr>
        <p:spPr>
          <a:xfrm>
            <a:off x="502920" y="1481328"/>
            <a:ext cx="2697480" cy="4023360"/>
          </a:xfrm>
          <a:prstGeom prst="roundRect">
            <a:avLst>
              <a:gd name="adj" fmla="val 3051"/>
            </a:avLst>
          </a:prstGeom>
          <a:solidFill>
            <a:srgbClr val="F8F2EA"/>
          </a:solidFill>
          <a:ln/>
        </p:spPr>
        <p:txBody>
          <a:bodyPr/>
          <a:lstStyle/>
          <a:p>
            <a:endParaRPr lang="ko-KR" altLang="en-US"/>
          </a:p>
        </p:txBody>
      </p:sp>
      <p:sp>
        <p:nvSpPr>
          <p:cNvPr id="5" name="Shape 3"/>
          <p:cNvSpPr/>
          <p:nvPr/>
        </p:nvSpPr>
        <p:spPr>
          <a:xfrm>
            <a:off x="685800" y="1645920"/>
            <a:ext cx="2331720" cy="402336"/>
          </a:xfrm>
          <a:prstGeom prst="roundRect">
            <a:avLst>
              <a:gd name="adj" fmla="val 15909"/>
            </a:avLst>
          </a:prstGeom>
          <a:solidFill>
            <a:srgbClr val="0E8F86"/>
          </a:solidFill>
          <a:ln/>
        </p:spPr>
        <p:txBody>
          <a:bodyPr/>
          <a:lstStyle/>
          <a:p>
            <a:endParaRPr lang="ko-KR" altLang="en-US"/>
          </a:p>
        </p:txBody>
      </p:sp>
      <p:sp>
        <p:nvSpPr>
          <p:cNvPr id="6" name="Text 4"/>
          <p:cNvSpPr/>
          <p:nvPr/>
        </p:nvSpPr>
        <p:spPr>
          <a:xfrm>
            <a:off x="685800" y="1645920"/>
            <a:ext cx="233172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Malgun Gothic" pitchFamily="34" charset="0"/>
                <a:ea typeface="Malgun Gothic" pitchFamily="34" charset="-122"/>
                <a:cs typeface="Malgun Gothic" pitchFamily="34" charset="-120"/>
              </a:rPr>
              <a:t>입력 데이터</a:t>
            </a:r>
            <a:endParaRPr lang="en-US" sz="1250" dirty="0"/>
          </a:p>
        </p:txBody>
      </p:sp>
      <p:sp>
        <p:nvSpPr>
          <p:cNvPr id="7" name="Text 5"/>
          <p:cNvSpPr/>
          <p:nvPr/>
        </p:nvSpPr>
        <p:spPr>
          <a:xfrm>
            <a:off x="704088" y="2212848"/>
            <a:ext cx="2313432" cy="3108960"/>
          </a:xfrm>
          <a:prstGeom prst="rect">
            <a:avLst/>
          </a:prstGeom>
          <a:noFill/>
          <a:ln/>
        </p:spPr>
        <p:txBody>
          <a:bodyPr wrap="square" lIns="0" tIns="0" rIns="0" bIns="0" rtlCol="0" anchor="t"/>
          <a:lstStyle/>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채널·지점·품목·시간대 판매(POS·온라인·B2B)</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요일·명절·연휴 캘린더</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날씨(기온·강수) 예보</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부산 행사·크루즈 입항 등 관광 캘린더</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프로모션·방송 노출 이력</a:t>
            </a:r>
            <a:endParaRPr lang="en-US" sz="980" dirty="0"/>
          </a:p>
        </p:txBody>
      </p:sp>
      <p:sp>
        <p:nvSpPr>
          <p:cNvPr id="8" name="Shape 6"/>
          <p:cNvSpPr/>
          <p:nvPr/>
        </p:nvSpPr>
        <p:spPr>
          <a:xfrm>
            <a:off x="3218688" y="3310128"/>
            <a:ext cx="182880" cy="237744"/>
          </a:xfrm>
          <a:prstGeom prst="rightArrow">
            <a:avLst/>
          </a:prstGeom>
          <a:solidFill>
            <a:srgbClr val="DCCDBB"/>
          </a:solidFill>
          <a:ln/>
        </p:spPr>
        <p:txBody>
          <a:bodyPr/>
          <a:lstStyle/>
          <a:p>
            <a:endParaRPr lang="ko-KR" altLang="en-US"/>
          </a:p>
        </p:txBody>
      </p:sp>
      <p:sp>
        <p:nvSpPr>
          <p:cNvPr id="9" name="Shape 7"/>
          <p:cNvSpPr/>
          <p:nvPr/>
        </p:nvSpPr>
        <p:spPr>
          <a:xfrm>
            <a:off x="3392424" y="1481328"/>
            <a:ext cx="2697480" cy="4023360"/>
          </a:xfrm>
          <a:prstGeom prst="roundRect">
            <a:avLst>
              <a:gd name="adj" fmla="val 3051"/>
            </a:avLst>
          </a:prstGeom>
          <a:solidFill>
            <a:srgbClr val="F8F2EA"/>
          </a:solidFill>
          <a:ln/>
        </p:spPr>
        <p:txBody>
          <a:bodyPr/>
          <a:lstStyle/>
          <a:p>
            <a:endParaRPr lang="ko-KR" altLang="en-US"/>
          </a:p>
        </p:txBody>
      </p:sp>
      <p:sp>
        <p:nvSpPr>
          <p:cNvPr id="10" name="Shape 8"/>
          <p:cNvSpPr/>
          <p:nvPr/>
        </p:nvSpPr>
        <p:spPr>
          <a:xfrm>
            <a:off x="3575304" y="1645920"/>
            <a:ext cx="2331720" cy="402336"/>
          </a:xfrm>
          <a:prstGeom prst="roundRect">
            <a:avLst>
              <a:gd name="adj" fmla="val 15909"/>
            </a:avLst>
          </a:prstGeom>
          <a:solidFill>
            <a:srgbClr val="C07F1E"/>
          </a:solidFill>
          <a:ln/>
        </p:spPr>
        <p:txBody>
          <a:bodyPr/>
          <a:lstStyle/>
          <a:p>
            <a:endParaRPr lang="ko-KR" altLang="en-US"/>
          </a:p>
        </p:txBody>
      </p:sp>
      <p:sp>
        <p:nvSpPr>
          <p:cNvPr id="11" name="Text 9"/>
          <p:cNvSpPr/>
          <p:nvPr/>
        </p:nvSpPr>
        <p:spPr>
          <a:xfrm>
            <a:off x="3575304" y="1645920"/>
            <a:ext cx="233172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Malgun Gothic" pitchFamily="34" charset="0"/>
                <a:ea typeface="Malgun Gothic" pitchFamily="34" charset="-122"/>
                <a:cs typeface="Malgun Gothic" pitchFamily="34" charset="-120"/>
              </a:rPr>
              <a:t>특징량 생성</a:t>
            </a:r>
            <a:endParaRPr lang="en-US" sz="1250" dirty="0"/>
          </a:p>
        </p:txBody>
      </p:sp>
      <p:sp>
        <p:nvSpPr>
          <p:cNvPr id="12" name="Text 10"/>
          <p:cNvSpPr/>
          <p:nvPr/>
        </p:nvSpPr>
        <p:spPr>
          <a:xfrm>
            <a:off x="3593592" y="2212848"/>
            <a:ext cx="2313432" cy="3108960"/>
          </a:xfrm>
          <a:prstGeom prst="rect">
            <a:avLst/>
          </a:prstGeom>
          <a:noFill/>
          <a:ln/>
        </p:spPr>
        <p:txBody>
          <a:bodyPr wrap="square" lIns="0" tIns="0" rIns="0" bIns="0" rtlCol="0" anchor="t"/>
          <a:lstStyle/>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품목×지점×요일 프로파일</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관광 피크 지수(주말·연휴 가중)</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세트/낱개 전환 비율</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B2B 정기 주문 주기</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최근 추세·계절성 분해</a:t>
            </a:r>
            <a:endParaRPr lang="en-US" sz="980" dirty="0"/>
          </a:p>
        </p:txBody>
      </p:sp>
      <p:sp>
        <p:nvSpPr>
          <p:cNvPr id="13" name="Shape 11"/>
          <p:cNvSpPr/>
          <p:nvPr/>
        </p:nvSpPr>
        <p:spPr>
          <a:xfrm>
            <a:off x="6108192" y="3310128"/>
            <a:ext cx="182880" cy="237744"/>
          </a:xfrm>
          <a:prstGeom prst="rightArrow">
            <a:avLst/>
          </a:prstGeom>
          <a:solidFill>
            <a:srgbClr val="DCCDBB"/>
          </a:solidFill>
          <a:ln/>
        </p:spPr>
        <p:txBody>
          <a:bodyPr/>
          <a:lstStyle/>
          <a:p>
            <a:endParaRPr lang="ko-KR" altLang="en-US"/>
          </a:p>
        </p:txBody>
      </p:sp>
      <p:sp>
        <p:nvSpPr>
          <p:cNvPr id="14" name="Shape 12"/>
          <p:cNvSpPr/>
          <p:nvPr/>
        </p:nvSpPr>
        <p:spPr>
          <a:xfrm>
            <a:off x="6281928" y="1481328"/>
            <a:ext cx="2697480" cy="4023360"/>
          </a:xfrm>
          <a:prstGeom prst="roundRect">
            <a:avLst>
              <a:gd name="adj" fmla="val 3051"/>
            </a:avLst>
          </a:prstGeom>
          <a:solidFill>
            <a:srgbClr val="F8F2EA"/>
          </a:solidFill>
          <a:ln/>
        </p:spPr>
        <p:txBody>
          <a:bodyPr/>
          <a:lstStyle/>
          <a:p>
            <a:endParaRPr lang="ko-KR" altLang="en-US"/>
          </a:p>
        </p:txBody>
      </p:sp>
      <p:sp>
        <p:nvSpPr>
          <p:cNvPr id="15" name="Shape 13"/>
          <p:cNvSpPr/>
          <p:nvPr/>
        </p:nvSpPr>
        <p:spPr>
          <a:xfrm>
            <a:off x="6464808" y="1645920"/>
            <a:ext cx="2331720" cy="402336"/>
          </a:xfrm>
          <a:prstGeom prst="roundRect">
            <a:avLst>
              <a:gd name="adj" fmla="val 15909"/>
            </a:avLst>
          </a:prstGeom>
          <a:solidFill>
            <a:srgbClr val="714B67"/>
          </a:solidFill>
          <a:ln/>
        </p:spPr>
        <p:txBody>
          <a:bodyPr/>
          <a:lstStyle/>
          <a:p>
            <a:endParaRPr lang="ko-KR" altLang="en-US"/>
          </a:p>
        </p:txBody>
      </p:sp>
      <p:sp>
        <p:nvSpPr>
          <p:cNvPr id="16" name="Text 14"/>
          <p:cNvSpPr/>
          <p:nvPr/>
        </p:nvSpPr>
        <p:spPr>
          <a:xfrm>
            <a:off x="6464808" y="1645920"/>
            <a:ext cx="233172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Malgun Gothic" pitchFamily="34" charset="0"/>
                <a:ea typeface="Malgun Gothic" pitchFamily="34" charset="-122"/>
                <a:cs typeface="Malgun Gothic" pitchFamily="34" charset="-120"/>
              </a:rPr>
              <a:t>모델·평가</a:t>
            </a:r>
            <a:endParaRPr lang="en-US" sz="1250" dirty="0"/>
          </a:p>
        </p:txBody>
      </p:sp>
      <p:sp>
        <p:nvSpPr>
          <p:cNvPr id="17" name="Text 15"/>
          <p:cNvSpPr/>
          <p:nvPr/>
        </p:nvSpPr>
        <p:spPr>
          <a:xfrm>
            <a:off x="6483096" y="2212848"/>
            <a:ext cx="2313432" cy="3108960"/>
          </a:xfrm>
          <a:prstGeom prst="rect">
            <a:avLst/>
          </a:prstGeom>
          <a:noFill/>
          <a:ln/>
        </p:spPr>
        <p:txBody>
          <a:bodyPr wrap="square" lIns="0" tIns="0" rIns="0" bIns="0" rtlCol="0" anchor="t"/>
          <a:lstStyle/>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품목군별 시계열+회귀 앙상블</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예측 구간(최소~최대) 제시</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MAPE 상시 측정 — 품목별 신뢰도 공개</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저조 품목은 규칙 기반 폴백</a:t>
            </a:r>
            <a:endParaRPr lang="en-US" sz="980" dirty="0"/>
          </a:p>
        </p:txBody>
      </p:sp>
      <p:sp>
        <p:nvSpPr>
          <p:cNvPr id="18" name="Shape 16"/>
          <p:cNvSpPr/>
          <p:nvPr/>
        </p:nvSpPr>
        <p:spPr>
          <a:xfrm>
            <a:off x="8997696" y="3310128"/>
            <a:ext cx="182880" cy="237744"/>
          </a:xfrm>
          <a:prstGeom prst="rightArrow">
            <a:avLst/>
          </a:prstGeom>
          <a:solidFill>
            <a:srgbClr val="DCCDBB"/>
          </a:solidFill>
          <a:ln/>
        </p:spPr>
        <p:txBody>
          <a:bodyPr/>
          <a:lstStyle/>
          <a:p>
            <a:endParaRPr lang="ko-KR" altLang="en-US"/>
          </a:p>
        </p:txBody>
      </p:sp>
      <p:sp>
        <p:nvSpPr>
          <p:cNvPr id="19" name="Shape 17"/>
          <p:cNvSpPr/>
          <p:nvPr/>
        </p:nvSpPr>
        <p:spPr>
          <a:xfrm>
            <a:off x="9171432" y="1481328"/>
            <a:ext cx="2697480" cy="4023360"/>
          </a:xfrm>
          <a:prstGeom prst="roundRect">
            <a:avLst>
              <a:gd name="adj" fmla="val 3051"/>
            </a:avLst>
          </a:prstGeom>
          <a:solidFill>
            <a:srgbClr val="F8F2EA"/>
          </a:solidFill>
          <a:ln/>
        </p:spPr>
        <p:txBody>
          <a:bodyPr/>
          <a:lstStyle/>
          <a:p>
            <a:endParaRPr lang="ko-KR" altLang="en-US"/>
          </a:p>
        </p:txBody>
      </p:sp>
      <p:sp>
        <p:nvSpPr>
          <p:cNvPr id="20" name="Shape 18"/>
          <p:cNvSpPr/>
          <p:nvPr/>
        </p:nvSpPr>
        <p:spPr>
          <a:xfrm>
            <a:off x="9354312" y="1645920"/>
            <a:ext cx="2331720" cy="402336"/>
          </a:xfrm>
          <a:prstGeom prst="roundRect">
            <a:avLst>
              <a:gd name="adj" fmla="val 15909"/>
            </a:avLst>
          </a:prstGeom>
          <a:solidFill>
            <a:srgbClr val="9C5227"/>
          </a:solidFill>
          <a:ln/>
        </p:spPr>
        <p:txBody>
          <a:bodyPr/>
          <a:lstStyle/>
          <a:p>
            <a:endParaRPr lang="ko-KR" altLang="en-US"/>
          </a:p>
        </p:txBody>
      </p:sp>
      <p:sp>
        <p:nvSpPr>
          <p:cNvPr id="21" name="Text 19"/>
          <p:cNvSpPr/>
          <p:nvPr/>
        </p:nvSpPr>
        <p:spPr>
          <a:xfrm>
            <a:off x="9354312" y="1645920"/>
            <a:ext cx="233172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Malgun Gothic" pitchFamily="34" charset="0"/>
                <a:ea typeface="Malgun Gothic" pitchFamily="34" charset="-122"/>
                <a:cs typeface="Malgun Gothic" pitchFamily="34" charset="-120"/>
              </a:rPr>
              <a:t>산출·활용</a:t>
            </a:r>
            <a:endParaRPr lang="en-US" sz="1250" dirty="0"/>
          </a:p>
        </p:txBody>
      </p:sp>
      <p:sp>
        <p:nvSpPr>
          <p:cNvPr id="22" name="Text 20"/>
          <p:cNvSpPr/>
          <p:nvPr/>
        </p:nvSpPr>
        <p:spPr>
          <a:xfrm>
            <a:off x="9372600" y="2212848"/>
            <a:ext cx="2313432" cy="3108960"/>
          </a:xfrm>
          <a:prstGeom prst="rect">
            <a:avLst/>
          </a:prstGeom>
          <a:noFill/>
          <a:ln/>
        </p:spPr>
        <p:txBody>
          <a:bodyPr wrap="square" lIns="0" tIns="0" rIns="0" bIns="0" rtlCol="0" anchor="t"/>
          <a:lstStyle/>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익일·주간 판매 예측</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일일 생산계획 제안(승인제)</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지점별 배분안</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원자재 소요 역산(MRP 연계)</a:t>
            </a:r>
            <a:endParaRPr lang="en-US" sz="980" dirty="0"/>
          </a:p>
        </p:txBody>
      </p:sp>
      <p:sp>
        <p:nvSpPr>
          <p:cNvPr id="23" name="Text 21"/>
          <p:cNvSpPr/>
          <p:nvPr/>
        </p:nvSpPr>
        <p:spPr>
          <a:xfrm>
            <a:off x="502920" y="5742432"/>
            <a:ext cx="11201400" cy="594360"/>
          </a:xfrm>
          <a:prstGeom prst="rect">
            <a:avLst/>
          </a:prstGeom>
          <a:noFill/>
          <a:ln/>
        </p:spPr>
        <p:txBody>
          <a:bodyPr wrap="square" lIns="0" tIns="0" rIns="0" bIns="0" rtlCol="0" anchor="t"/>
          <a:lstStyle/>
          <a:p>
            <a:pPr marL="0" indent="0">
              <a:lnSpc>
                <a:spcPct val="118000"/>
              </a:lnSpc>
              <a:buNone/>
            </a:pPr>
            <a:r>
              <a:rPr lang="en-US" sz="1150" b="1" dirty="0">
                <a:solidFill>
                  <a:srgbClr val="9C5227"/>
                </a:solidFill>
                <a:latin typeface="Malgun Gothic" pitchFamily="34" charset="0"/>
                <a:ea typeface="Malgun Gothic" pitchFamily="34" charset="-122"/>
                <a:cs typeface="Malgun Gothic" pitchFamily="34" charset="-120"/>
              </a:rPr>
              <a:t>운영 원칙  </a:t>
            </a:r>
            <a:r>
              <a:rPr lang="en-US" sz="1150" dirty="0">
                <a:solidFill>
                  <a:srgbClr val="2E241C"/>
                </a:solidFill>
                <a:latin typeface="Malgun Gothic" pitchFamily="34" charset="0"/>
                <a:ea typeface="Malgun Gothic" pitchFamily="34" charset="-122"/>
                <a:cs typeface="Malgun Gothic" pitchFamily="34" charset="-120"/>
              </a:rPr>
              <a:t>예측은 구간으로 제시하고 확정은 사람이(HITL) — 폐기율과 결품률을 함께 감시해 한쪽으로 쏠리면 루프가 스스로 경고한다. 예측이 틀린 날의 오차가 다음 학습의 재료.</a:t>
            </a:r>
            <a:endParaRPr lang="en-US" sz="1150" dirty="0"/>
          </a:p>
        </p:txBody>
      </p:sp>
      <p:sp>
        <p:nvSpPr>
          <p:cNvPr id="24" name="Text 22"/>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25" name="Text 23"/>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AI PROJECT 2</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solidFill>
                  <a:srgbClr val="2E241C"/>
                </a:solidFill>
                <a:latin typeface="Malgun Gothic" pitchFamily="34" charset="0"/>
                <a:ea typeface="Malgun Gothic" pitchFamily="34" charset="-122"/>
                <a:cs typeface="Malgun Gothic" pitchFamily="34" charset="-120"/>
              </a:rPr>
              <a:t>영업 자동화 — 파이프라인·재주문·정산이 스스로 돈다</a:t>
            </a:r>
            <a:endParaRPr lang="en-US" sz="2500" dirty="0"/>
          </a:p>
        </p:txBody>
      </p:sp>
      <p:sp>
        <p:nvSpPr>
          <p:cNvPr id="4" name="Shape 2"/>
          <p:cNvSpPr/>
          <p:nvPr/>
        </p:nvSpPr>
        <p:spPr>
          <a:xfrm>
            <a:off x="502920" y="1481328"/>
            <a:ext cx="5486400" cy="3794760"/>
          </a:xfrm>
          <a:prstGeom prst="roundRect">
            <a:avLst>
              <a:gd name="adj" fmla="val 2169"/>
            </a:avLst>
          </a:prstGeom>
          <a:solidFill>
            <a:srgbClr val="F8F2EA"/>
          </a:solidFill>
          <a:ln/>
        </p:spPr>
        <p:txBody>
          <a:bodyPr/>
          <a:lstStyle/>
          <a:p>
            <a:endParaRPr lang="ko-KR" altLang="en-US"/>
          </a:p>
        </p:txBody>
      </p:sp>
      <p:sp>
        <p:nvSpPr>
          <p:cNvPr id="5" name="Shape 3"/>
          <p:cNvSpPr/>
          <p:nvPr/>
        </p:nvSpPr>
        <p:spPr>
          <a:xfrm>
            <a:off x="758952" y="1719072"/>
            <a:ext cx="530352" cy="530352"/>
          </a:xfrm>
          <a:prstGeom prst="ellipse">
            <a:avLst/>
          </a:prstGeom>
          <a:solidFill>
            <a:srgbClr val="714B67"/>
          </a:solidFill>
          <a:ln/>
        </p:spPr>
        <p:txBody>
          <a:bodyPr/>
          <a:lstStyle/>
          <a:p>
            <a:endParaRPr lang="ko-KR" altLang="en-US"/>
          </a:p>
        </p:txBody>
      </p:sp>
      <p:pic>
        <p:nvPicPr>
          <p:cNvPr id="6" name="Image 0" descr="preencoded.png"/>
          <p:cNvPicPr>
            <a:picLocks noChangeAspect="1"/>
          </p:cNvPicPr>
          <p:nvPr/>
        </p:nvPicPr>
        <p:blipFill>
          <a:blip r:embed="rId3"/>
          <a:stretch>
            <a:fillRect/>
          </a:stretch>
        </p:blipFill>
        <p:spPr>
          <a:xfrm>
            <a:off x="902147" y="1862267"/>
            <a:ext cx="243962" cy="243962"/>
          </a:xfrm>
          <a:prstGeom prst="rect">
            <a:avLst/>
          </a:prstGeom>
        </p:spPr>
      </p:pic>
      <p:sp>
        <p:nvSpPr>
          <p:cNvPr id="7" name="Text 4"/>
          <p:cNvSpPr/>
          <p:nvPr/>
        </p:nvSpPr>
        <p:spPr>
          <a:xfrm>
            <a:off x="1463040" y="1810512"/>
            <a:ext cx="4343400" cy="365760"/>
          </a:xfrm>
          <a:prstGeom prst="rect">
            <a:avLst/>
          </a:prstGeom>
          <a:noFill/>
          <a:ln/>
        </p:spPr>
        <p:txBody>
          <a:bodyPr wrap="square" lIns="0" tIns="0" rIns="0" bIns="0" rtlCol="0" anchor="ctr"/>
          <a:lstStyle/>
          <a:p>
            <a:pPr marL="0" indent="0">
              <a:buNone/>
            </a:pPr>
            <a:r>
              <a:rPr lang="en-US" sz="1450" b="1" dirty="0">
                <a:solidFill>
                  <a:srgbClr val="714B67"/>
                </a:solidFill>
                <a:latin typeface="Malgun Gothic" pitchFamily="34" charset="0"/>
                <a:ea typeface="Malgun Gothic" pitchFamily="34" charset="-122"/>
                <a:cs typeface="Malgun Gothic" pitchFamily="34" charset="-120"/>
              </a:rPr>
              <a:t>B2B 영업 (CRM 파이프라인)</a:t>
            </a:r>
            <a:endParaRPr lang="en-US" sz="1450" dirty="0"/>
          </a:p>
        </p:txBody>
      </p:sp>
      <p:sp>
        <p:nvSpPr>
          <p:cNvPr id="8" name="Text 5"/>
          <p:cNvSpPr/>
          <p:nvPr/>
        </p:nvSpPr>
        <p:spPr>
          <a:xfrm>
            <a:off x="758952" y="2395728"/>
            <a:ext cx="4974336" cy="2697480"/>
          </a:xfrm>
          <a:prstGeom prst="rect">
            <a:avLst/>
          </a:prstGeom>
          <a:noFill/>
          <a:ln/>
        </p:spPr>
        <p:txBody>
          <a:bodyPr wrap="square" lIns="0" tIns="0" rIns="0" bIns="0" rtlCol="0" anchor="t"/>
          <a:lstStyle/>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리드→견적→수주→납품→정산을 CRM 파이프라인으로 — '다음 달 B2B 수주 얼마'에 근거로 답한다</a:t>
            </a:r>
            <a:endParaRPr lang="en-US" sz="1100" dirty="0"/>
          </a:p>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재주문 감지: 거래처별 주문 주기를 학습, 주기 초과 시 담당자에게 제안 초안 자동 생성</a:t>
            </a:r>
            <a:endParaRPr lang="en-US" sz="1100" dirty="0"/>
          </a:p>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여신·미수 경보: 한도 접근·연체 발생을 영업과 회계에 동시 알림</a:t>
            </a:r>
            <a:endParaRPr lang="en-US" sz="1100" dirty="0"/>
          </a:p>
        </p:txBody>
      </p:sp>
      <p:sp>
        <p:nvSpPr>
          <p:cNvPr id="9" name="Shape 6"/>
          <p:cNvSpPr/>
          <p:nvPr/>
        </p:nvSpPr>
        <p:spPr>
          <a:xfrm>
            <a:off x="6217920" y="1481328"/>
            <a:ext cx="5486400" cy="3794760"/>
          </a:xfrm>
          <a:prstGeom prst="roundRect">
            <a:avLst>
              <a:gd name="adj" fmla="val 2169"/>
            </a:avLst>
          </a:prstGeom>
          <a:solidFill>
            <a:srgbClr val="F8F2EA"/>
          </a:solidFill>
          <a:ln/>
        </p:spPr>
        <p:txBody>
          <a:bodyPr/>
          <a:lstStyle/>
          <a:p>
            <a:endParaRPr lang="ko-KR" altLang="en-US"/>
          </a:p>
        </p:txBody>
      </p:sp>
      <p:sp>
        <p:nvSpPr>
          <p:cNvPr id="10" name="Shape 7"/>
          <p:cNvSpPr/>
          <p:nvPr/>
        </p:nvSpPr>
        <p:spPr>
          <a:xfrm>
            <a:off x="6473952" y="1719072"/>
            <a:ext cx="530352" cy="530352"/>
          </a:xfrm>
          <a:prstGeom prst="ellipse">
            <a:avLst/>
          </a:prstGeom>
          <a:solidFill>
            <a:srgbClr val="E8A33D"/>
          </a:solidFill>
          <a:ln/>
        </p:spPr>
        <p:txBody>
          <a:bodyPr/>
          <a:lstStyle/>
          <a:p>
            <a:endParaRPr lang="ko-KR" altLang="en-US"/>
          </a:p>
        </p:txBody>
      </p:sp>
      <p:pic>
        <p:nvPicPr>
          <p:cNvPr id="11" name="Image 1" descr="preencoded.png"/>
          <p:cNvPicPr>
            <a:picLocks noChangeAspect="1"/>
          </p:cNvPicPr>
          <p:nvPr/>
        </p:nvPicPr>
        <p:blipFill>
          <a:blip r:embed="rId4"/>
          <a:stretch>
            <a:fillRect/>
          </a:stretch>
        </p:blipFill>
        <p:spPr>
          <a:xfrm>
            <a:off x="6617147" y="1862267"/>
            <a:ext cx="243962" cy="243962"/>
          </a:xfrm>
          <a:prstGeom prst="rect">
            <a:avLst/>
          </a:prstGeom>
        </p:spPr>
      </p:pic>
      <p:sp>
        <p:nvSpPr>
          <p:cNvPr id="12" name="Text 8"/>
          <p:cNvSpPr/>
          <p:nvPr/>
        </p:nvSpPr>
        <p:spPr>
          <a:xfrm>
            <a:off x="7178040" y="1810512"/>
            <a:ext cx="4343400" cy="365760"/>
          </a:xfrm>
          <a:prstGeom prst="rect">
            <a:avLst/>
          </a:prstGeom>
          <a:noFill/>
          <a:ln/>
        </p:spPr>
        <p:txBody>
          <a:bodyPr wrap="square" lIns="0" tIns="0" rIns="0" bIns="0" rtlCol="0" anchor="ctr"/>
          <a:lstStyle/>
          <a:p>
            <a:pPr marL="0" indent="0">
              <a:buNone/>
            </a:pPr>
            <a:r>
              <a:rPr lang="en-US" sz="1450" b="1" dirty="0">
                <a:solidFill>
                  <a:srgbClr val="C07F1E"/>
                </a:solidFill>
                <a:latin typeface="Malgun Gothic" pitchFamily="34" charset="0"/>
                <a:ea typeface="Malgun Gothic" pitchFamily="34" charset="-122"/>
                <a:cs typeface="Malgun Gothic" pitchFamily="34" charset="-120"/>
              </a:rPr>
              <a:t>이커머스·매장 마케팅</a:t>
            </a:r>
            <a:endParaRPr lang="en-US" sz="1450" dirty="0"/>
          </a:p>
        </p:txBody>
      </p:sp>
      <p:sp>
        <p:nvSpPr>
          <p:cNvPr id="13" name="Text 9"/>
          <p:cNvSpPr/>
          <p:nvPr/>
        </p:nvSpPr>
        <p:spPr>
          <a:xfrm>
            <a:off x="6473952" y="2395728"/>
            <a:ext cx="4974336" cy="2697480"/>
          </a:xfrm>
          <a:prstGeom prst="rect">
            <a:avLst/>
          </a:prstGeom>
          <a:noFill/>
          <a:ln/>
        </p:spPr>
        <p:txBody>
          <a:bodyPr wrap="square" lIns="0" tIns="0" rIns="0" bIns="0" rtlCol="0" anchor="t"/>
          <a:lstStyle/>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품절·재입고 연동: 가용재고 계산과 온라인 노출이 실시간 동기화 — 품절 주문 사고 차단</a:t>
            </a:r>
            <a:endParaRPr lang="en-US" sz="1100" dirty="0"/>
          </a:p>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재입고 알림·세트 추천: 구매 이력 기반 재구매 시점 메시지(n8n 자동화 시나리오)</a:t>
            </a:r>
            <a:endParaRPr lang="en-US" sz="1100" dirty="0"/>
          </a:p>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리뷰·문의 수집: 품질 클레임 키워드는 품질팀 안건으로 자동 등록 — 사각지대 신호의 입구</a:t>
            </a:r>
            <a:endParaRPr lang="en-US" sz="1100" dirty="0"/>
          </a:p>
        </p:txBody>
      </p:sp>
      <p:sp>
        <p:nvSpPr>
          <p:cNvPr id="14" name="Text 10"/>
          <p:cNvSpPr/>
          <p:nvPr/>
        </p:nvSpPr>
        <p:spPr>
          <a:xfrm>
            <a:off x="502920" y="5486400"/>
            <a:ext cx="11201400" cy="566928"/>
          </a:xfrm>
          <a:prstGeom prst="rect">
            <a:avLst/>
          </a:prstGeom>
          <a:noFill/>
          <a:ln/>
        </p:spPr>
        <p:txBody>
          <a:bodyPr wrap="square" lIns="0" tIns="0" rIns="0" bIns="0" rtlCol="0" anchor="t"/>
          <a:lstStyle/>
          <a:p>
            <a:pPr marL="0" indent="0">
              <a:lnSpc>
                <a:spcPct val="118000"/>
              </a:lnSpc>
              <a:buNone/>
            </a:pPr>
            <a:r>
              <a:rPr lang="en-US" sz="1150" b="1" dirty="0">
                <a:solidFill>
                  <a:srgbClr val="9C5227"/>
                </a:solidFill>
                <a:latin typeface="Malgun Gothic" pitchFamily="34" charset="0"/>
                <a:ea typeface="Malgun Gothic" pitchFamily="34" charset="-122"/>
                <a:cs typeface="Malgun Gothic" pitchFamily="34" charset="-120"/>
              </a:rPr>
              <a:t>자동화의 배관은 n8n·Dify 부스터  </a:t>
            </a:r>
            <a:r>
              <a:rPr lang="en-US" sz="1150" dirty="0">
                <a:solidFill>
                  <a:srgbClr val="2E241C"/>
                </a:solidFill>
                <a:latin typeface="Malgun Gothic" pitchFamily="34" charset="0"/>
                <a:ea typeface="Malgun Gothic" pitchFamily="34" charset="-122"/>
                <a:cs typeface="Malgun Gothic" pitchFamily="34" charset="-120"/>
              </a:rPr>
              <a:t>Odoo 이벤트(수주 생성·재고 변동·결제 완료)를 트리거로 알림·문서·메시지가 흐른다 — 사람은 예외만 처리한다. 모든 자동 발송은 로그로 남아 감사 가능.</a:t>
            </a:r>
            <a:endParaRPr lang="en-US" sz="1150" dirty="0"/>
          </a:p>
        </p:txBody>
      </p:sp>
      <p:sp>
        <p:nvSpPr>
          <p:cNvPr id="15" name="Text 11"/>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16" name="Text 12"/>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AI PROJECT 3</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solidFill>
                  <a:srgbClr val="2E241C"/>
                </a:solidFill>
                <a:latin typeface="Malgun Gothic" pitchFamily="34" charset="0"/>
                <a:ea typeface="Malgun Gothic" pitchFamily="34" charset="-122"/>
                <a:cs typeface="Malgun Gothic" pitchFamily="34" charset="-120"/>
              </a:rPr>
              <a:t>재고 최적화 — 안전재고가 스스로 배우는 구조</a:t>
            </a:r>
            <a:endParaRPr lang="en-US" sz="2500" dirty="0"/>
          </a:p>
        </p:txBody>
      </p:sp>
      <p:sp>
        <p:nvSpPr>
          <p:cNvPr id="4" name="Shape 2"/>
          <p:cNvSpPr/>
          <p:nvPr/>
        </p:nvSpPr>
        <p:spPr>
          <a:xfrm>
            <a:off x="502920" y="1481328"/>
            <a:ext cx="2157984" cy="2377440"/>
          </a:xfrm>
          <a:prstGeom prst="roundRect">
            <a:avLst>
              <a:gd name="adj" fmla="val 3814"/>
            </a:avLst>
          </a:prstGeom>
          <a:solidFill>
            <a:srgbClr val="F8F2EA"/>
          </a:solidFill>
          <a:ln/>
        </p:spPr>
        <p:txBody>
          <a:bodyPr/>
          <a:lstStyle/>
          <a:p>
            <a:endParaRPr lang="ko-KR" altLang="en-US"/>
          </a:p>
        </p:txBody>
      </p:sp>
      <p:sp>
        <p:nvSpPr>
          <p:cNvPr id="5" name="Shape 3"/>
          <p:cNvSpPr/>
          <p:nvPr/>
        </p:nvSpPr>
        <p:spPr>
          <a:xfrm>
            <a:off x="722376" y="1682496"/>
            <a:ext cx="457200" cy="457200"/>
          </a:xfrm>
          <a:prstGeom prst="ellipse">
            <a:avLst/>
          </a:prstGeom>
          <a:solidFill>
            <a:srgbClr val="0E8F86"/>
          </a:solidFill>
          <a:ln/>
        </p:spPr>
        <p:txBody>
          <a:bodyPr/>
          <a:lstStyle/>
          <a:p>
            <a:endParaRPr lang="ko-KR" altLang="en-US"/>
          </a:p>
        </p:txBody>
      </p:sp>
      <p:pic>
        <p:nvPicPr>
          <p:cNvPr id="6" name="Image 0" descr="preencoded.png"/>
          <p:cNvPicPr>
            <a:picLocks noChangeAspect="1"/>
          </p:cNvPicPr>
          <p:nvPr/>
        </p:nvPicPr>
        <p:blipFill>
          <a:blip r:embed="rId3"/>
          <a:stretch>
            <a:fillRect/>
          </a:stretch>
        </p:blipFill>
        <p:spPr>
          <a:xfrm>
            <a:off x="845820" y="1805940"/>
            <a:ext cx="210312" cy="210312"/>
          </a:xfrm>
          <a:prstGeom prst="rect">
            <a:avLst/>
          </a:prstGeom>
        </p:spPr>
      </p:pic>
      <p:sp>
        <p:nvSpPr>
          <p:cNvPr id="7" name="Text 4"/>
          <p:cNvSpPr/>
          <p:nvPr/>
        </p:nvSpPr>
        <p:spPr>
          <a:xfrm>
            <a:off x="1289304" y="1755648"/>
            <a:ext cx="1243584" cy="329184"/>
          </a:xfrm>
          <a:prstGeom prst="rect">
            <a:avLst/>
          </a:prstGeom>
          <a:noFill/>
          <a:ln/>
        </p:spPr>
        <p:txBody>
          <a:bodyPr wrap="square" lIns="0" tIns="0" rIns="0" bIns="0" rtlCol="0" anchor="ctr"/>
          <a:lstStyle/>
          <a:p>
            <a:pPr marL="0" indent="0">
              <a:buNone/>
            </a:pPr>
            <a:r>
              <a:rPr lang="en-US" sz="1350" b="1" dirty="0">
                <a:solidFill>
                  <a:srgbClr val="2E241C"/>
                </a:solidFill>
                <a:latin typeface="Malgun Gothic" pitchFamily="34" charset="0"/>
                <a:ea typeface="Malgun Gothic" pitchFamily="34" charset="-122"/>
                <a:cs typeface="Malgun Gothic" pitchFamily="34" charset="-120"/>
              </a:rPr>
              <a:t>신호</a:t>
            </a:r>
            <a:endParaRPr lang="en-US" sz="1350" dirty="0"/>
          </a:p>
        </p:txBody>
      </p:sp>
      <p:sp>
        <p:nvSpPr>
          <p:cNvPr id="8" name="Text 5"/>
          <p:cNvSpPr/>
          <p:nvPr/>
        </p:nvSpPr>
        <p:spPr>
          <a:xfrm>
            <a:off x="722376" y="2286000"/>
            <a:ext cx="1755648" cy="1463040"/>
          </a:xfrm>
          <a:prstGeom prst="rect">
            <a:avLst/>
          </a:prstGeom>
          <a:noFill/>
          <a:ln/>
        </p:spPr>
        <p:txBody>
          <a:bodyPr wrap="square" lIns="0" tIns="0" rIns="0" bIns="0" rtlCol="0" anchor="t"/>
          <a:lstStyle/>
          <a:p>
            <a:pPr marL="0" indent="0">
              <a:lnSpc>
                <a:spcPct val="118000"/>
              </a:lnSpc>
              <a:buNone/>
            </a:pPr>
            <a:r>
              <a:rPr lang="en-US" sz="1000" dirty="0">
                <a:solidFill>
                  <a:srgbClr val="76675A"/>
                </a:solidFill>
                <a:latin typeface="Malgun Gothic" pitchFamily="34" charset="0"/>
                <a:ea typeface="Malgun Gothic" pitchFamily="34" charset="-122"/>
                <a:cs typeface="Malgun Gothic" pitchFamily="34" charset="-120"/>
              </a:rPr>
              <a:t>결품·폐기·리드타임 지연·시세 급등이 이벤트로 수집</a:t>
            </a:r>
            <a:endParaRPr lang="en-US" sz="1000" dirty="0"/>
          </a:p>
        </p:txBody>
      </p:sp>
      <p:sp>
        <p:nvSpPr>
          <p:cNvPr id="9" name="Shape 6"/>
          <p:cNvSpPr/>
          <p:nvPr/>
        </p:nvSpPr>
        <p:spPr>
          <a:xfrm>
            <a:off x="2688336" y="2487168"/>
            <a:ext cx="164592" cy="219456"/>
          </a:xfrm>
          <a:prstGeom prst="rightArrow">
            <a:avLst/>
          </a:prstGeom>
          <a:solidFill>
            <a:srgbClr val="DCCDBB"/>
          </a:solidFill>
          <a:ln/>
        </p:spPr>
        <p:txBody>
          <a:bodyPr/>
          <a:lstStyle/>
          <a:p>
            <a:endParaRPr lang="ko-KR" altLang="en-US"/>
          </a:p>
        </p:txBody>
      </p:sp>
      <p:sp>
        <p:nvSpPr>
          <p:cNvPr id="10" name="Shape 7"/>
          <p:cNvSpPr/>
          <p:nvPr/>
        </p:nvSpPr>
        <p:spPr>
          <a:xfrm>
            <a:off x="2880360" y="1481328"/>
            <a:ext cx="2157984" cy="2377440"/>
          </a:xfrm>
          <a:prstGeom prst="roundRect">
            <a:avLst>
              <a:gd name="adj" fmla="val 3814"/>
            </a:avLst>
          </a:prstGeom>
          <a:solidFill>
            <a:srgbClr val="F8F2EA"/>
          </a:solidFill>
          <a:ln/>
        </p:spPr>
        <p:txBody>
          <a:bodyPr/>
          <a:lstStyle/>
          <a:p>
            <a:endParaRPr lang="ko-KR" altLang="en-US"/>
          </a:p>
        </p:txBody>
      </p:sp>
      <p:sp>
        <p:nvSpPr>
          <p:cNvPr id="11" name="Shape 8"/>
          <p:cNvSpPr/>
          <p:nvPr/>
        </p:nvSpPr>
        <p:spPr>
          <a:xfrm>
            <a:off x="3099816" y="1682496"/>
            <a:ext cx="457200" cy="457200"/>
          </a:xfrm>
          <a:prstGeom prst="ellipse">
            <a:avLst/>
          </a:prstGeom>
          <a:solidFill>
            <a:srgbClr val="C07F1E"/>
          </a:solidFill>
          <a:ln/>
        </p:spPr>
        <p:txBody>
          <a:bodyPr/>
          <a:lstStyle/>
          <a:p>
            <a:endParaRPr lang="ko-KR" altLang="en-US"/>
          </a:p>
        </p:txBody>
      </p:sp>
      <p:pic>
        <p:nvPicPr>
          <p:cNvPr id="12" name="Image 1" descr="preencoded.png"/>
          <p:cNvPicPr>
            <a:picLocks noChangeAspect="1"/>
          </p:cNvPicPr>
          <p:nvPr/>
        </p:nvPicPr>
        <p:blipFill>
          <a:blip r:embed="rId4"/>
          <a:stretch>
            <a:fillRect/>
          </a:stretch>
        </p:blipFill>
        <p:spPr>
          <a:xfrm>
            <a:off x="3223260" y="1805940"/>
            <a:ext cx="210312" cy="210312"/>
          </a:xfrm>
          <a:prstGeom prst="rect">
            <a:avLst/>
          </a:prstGeom>
        </p:spPr>
      </p:pic>
      <p:sp>
        <p:nvSpPr>
          <p:cNvPr id="13" name="Text 9"/>
          <p:cNvSpPr/>
          <p:nvPr/>
        </p:nvSpPr>
        <p:spPr>
          <a:xfrm>
            <a:off x="3666744" y="1755648"/>
            <a:ext cx="1243584" cy="329184"/>
          </a:xfrm>
          <a:prstGeom prst="rect">
            <a:avLst/>
          </a:prstGeom>
          <a:noFill/>
          <a:ln/>
        </p:spPr>
        <p:txBody>
          <a:bodyPr wrap="square" lIns="0" tIns="0" rIns="0" bIns="0" rtlCol="0" anchor="ctr"/>
          <a:lstStyle/>
          <a:p>
            <a:pPr marL="0" indent="0">
              <a:buNone/>
            </a:pPr>
            <a:r>
              <a:rPr lang="en-US" sz="1350" b="1" dirty="0">
                <a:solidFill>
                  <a:srgbClr val="2E241C"/>
                </a:solidFill>
                <a:latin typeface="Malgun Gothic" pitchFamily="34" charset="0"/>
                <a:ea typeface="Malgun Gothic" pitchFamily="34" charset="-122"/>
                <a:cs typeface="Malgun Gothic" pitchFamily="34" charset="-120"/>
              </a:rPr>
              <a:t>진단</a:t>
            </a:r>
            <a:endParaRPr lang="en-US" sz="1350" dirty="0"/>
          </a:p>
        </p:txBody>
      </p:sp>
      <p:sp>
        <p:nvSpPr>
          <p:cNvPr id="14" name="Text 10"/>
          <p:cNvSpPr/>
          <p:nvPr/>
        </p:nvSpPr>
        <p:spPr>
          <a:xfrm>
            <a:off x="3099816" y="2286000"/>
            <a:ext cx="1755648" cy="1463040"/>
          </a:xfrm>
          <a:prstGeom prst="rect">
            <a:avLst/>
          </a:prstGeom>
          <a:noFill/>
          <a:ln/>
        </p:spPr>
        <p:txBody>
          <a:bodyPr wrap="square" lIns="0" tIns="0" rIns="0" bIns="0" rtlCol="0" anchor="t"/>
          <a:lstStyle/>
          <a:p>
            <a:pPr marL="0" indent="0">
              <a:lnSpc>
                <a:spcPct val="118000"/>
              </a:lnSpc>
              <a:buNone/>
            </a:pPr>
            <a:r>
              <a:rPr lang="en-US" sz="1000" dirty="0">
                <a:solidFill>
                  <a:srgbClr val="76675A"/>
                </a:solidFill>
                <a:latin typeface="Malgun Gothic" pitchFamily="34" charset="0"/>
                <a:ea typeface="Malgun Gothic" pitchFamily="34" charset="-122"/>
                <a:cs typeface="Malgun Gothic" pitchFamily="34" charset="-120"/>
              </a:rPr>
              <a:t>품목별 수요 변동성·공급 변동성 분해 — 어느 쪽이 문제인지 구분</a:t>
            </a:r>
            <a:endParaRPr lang="en-US" sz="1000" dirty="0"/>
          </a:p>
        </p:txBody>
      </p:sp>
      <p:sp>
        <p:nvSpPr>
          <p:cNvPr id="15" name="Shape 11"/>
          <p:cNvSpPr/>
          <p:nvPr/>
        </p:nvSpPr>
        <p:spPr>
          <a:xfrm>
            <a:off x="5065776" y="2487168"/>
            <a:ext cx="164592" cy="219456"/>
          </a:xfrm>
          <a:prstGeom prst="rightArrow">
            <a:avLst/>
          </a:prstGeom>
          <a:solidFill>
            <a:srgbClr val="DCCDBB"/>
          </a:solidFill>
          <a:ln/>
        </p:spPr>
        <p:txBody>
          <a:bodyPr/>
          <a:lstStyle/>
          <a:p>
            <a:endParaRPr lang="ko-KR" altLang="en-US"/>
          </a:p>
        </p:txBody>
      </p:sp>
      <p:sp>
        <p:nvSpPr>
          <p:cNvPr id="16" name="Shape 12"/>
          <p:cNvSpPr/>
          <p:nvPr/>
        </p:nvSpPr>
        <p:spPr>
          <a:xfrm>
            <a:off x="5257800" y="1481328"/>
            <a:ext cx="2157984" cy="2377440"/>
          </a:xfrm>
          <a:prstGeom prst="roundRect">
            <a:avLst>
              <a:gd name="adj" fmla="val 3814"/>
            </a:avLst>
          </a:prstGeom>
          <a:solidFill>
            <a:srgbClr val="F8F2EA"/>
          </a:solidFill>
          <a:ln/>
        </p:spPr>
        <p:txBody>
          <a:bodyPr/>
          <a:lstStyle/>
          <a:p>
            <a:endParaRPr lang="ko-KR" altLang="en-US"/>
          </a:p>
        </p:txBody>
      </p:sp>
      <p:sp>
        <p:nvSpPr>
          <p:cNvPr id="17" name="Shape 13"/>
          <p:cNvSpPr/>
          <p:nvPr/>
        </p:nvSpPr>
        <p:spPr>
          <a:xfrm>
            <a:off x="5477256" y="1682496"/>
            <a:ext cx="457200" cy="457200"/>
          </a:xfrm>
          <a:prstGeom prst="ellipse">
            <a:avLst/>
          </a:prstGeom>
          <a:solidFill>
            <a:srgbClr val="714B67"/>
          </a:solidFill>
          <a:ln/>
        </p:spPr>
        <p:txBody>
          <a:bodyPr/>
          <a:lstStyle/>
          <a:p>
            <a:endParaRPr lang="ko-KR" altLang="en-US"/>
          </a:p>
        </p:txBody>
      </p:sp>
      <p:pic>
        <p:nvPicPr>
          <p:cNvPr id="18" name="Image 2" descr="preencoded.png"/>
          <p:cNvPicPr>
            <a:picLocks noChangeAspect="1"/>
          </p:cNvPicPr>
          <p:nvPr/>
        </p:nvPicPr>
        <p:blipFill>
          <a:blip r:embed="rId5"/>
          <a:stretch>
            <a:fillRect/>
          </a:stretch>
        </p:blipFill>
        <p:spPr>
          <a:xfrm>
            <a:off x="5600700" y="1805940"/>
            <a:ext cx="210312" cy="210312"/>
          </a:xfrm>
          <a:prstGeom prst="rect">
            <a:avLst/>
          </a:prstGeom>
        </p:spPr>
      </p:pic>
      <p:sp>
        <p:nvSpPr>
          <p:cNvPr id="19" name="Text 14"/>
          <p:cNvSpPr/>
          <p:nvPr/>
        </p:nvSpPr>
        <p:spPr>
          <a:xfrm>
            <a:off x="6044184" y="1755648"/>
            <a:ext cx="1243584" cy="329184"/>
          </a:xfrm>
          <a:prstGeom prst="rect">
            <a:avLst/>
          </a:prstGeom>
          <a:noFill/>
          <a:ln/>
        </p:spPr>
        <p:txBody>
          <a:bodyPr wrap="square" lIns="0" tIns="0" rIns="0" bIns="0" rtlCol="0" anchor="ctr"/>
          <a:lstStyle/>
          <a:p>
            <a:pPr marL="0" indent="0">
              <a:buNone/>
            </a:pPr>
            <a:r>
              <a:rPr lang="en-US" sz="1350" b="1" dirty="0">
                <a:solidFill>
                  <a:srgbClr val="2E241C"/>
                </a:solidFill>
                <a:latin typeface="Malgun Gothic" pitchFamily="34" charset="0"/>
                <a:ea typeface="Malgun Gothic" pitchFamily="34" charset="-122"/>
                <a:cs typeface="Malgun Gothic" pitchFamily="34" charset="-120"/>
              </a:rPr>
              <a:t>보정</a:t>
            </a:r>
            <a:endParaRPr lang="en-US" sz="1350" dirty="0"/>
          </a:p>
        </p:txBody>
      </p:sp>
      <p:sp>
        <p:nvSpPr>
          <p:cNvPr id="20" name="Text 15"/>
          <p:cNvSpPr/>
          <p:nvPr/>
        </p:nvSpPr>
        <p:spPr>
          <a:xfrm>
            <a:off x="5477256" y="2286000"/>
            <a:ext cx="1755648" cy="1463040"/>
          </a:xfrm>
          <a:prstGeom prst="rect">
            <a:avLst/>
          </a:prstGeom>
          <a:noFill/>
          <a:ln/>
        </p:spPr>
        <p:txBody>
          <a:bodyPr wrap="square" lIns="0" tIns="0" rIns="0" bIns="0" rtlCol="0" anchor="t"/>
          <a:lstStyle/>
          <a:p>
            <a:pPr marL="0" indent="0">
              <a:lnSpc>
                <a:spcPct val="118000"/>
              </a:lnSpc>
              <a:buNone/>
            </a:pPr>
            <a:r>
              <a:rPr lang="en-US" sz="1000" dirty="0">
                <a:solidFill>
                  <a:srgbClr val="76675A"/>
                </a:solidFill>
                <a:latin typeface="Malgun Gothic" pitchFamily="34" charset="0"/>
                <a:ea typeface="Malgun Gothic" pitchFamily="34" charset="-122"/>
                <a:cs typeface="Malgun Gothic" pitchFamily="34" charset="-120"/>
              </a:rPr>
              <a:t>안전재고·ROP·배분 계수의 조정안 산출 (근거 첨부)</a:t>
            </a:r>
            <a:endParaRPr lang="en-US" sz="1000" dirty="0"/>
          </a:p>
        </p:txBody>
      </p:sp>
      <p:sp>
        <p:nvSpPr>
          <p:cNvPr id="21" name="Shape 16"/>
          <p:cNvSpPr/>
          <p:nvPr/>
        </p:nvSpPr>
        <p:spPr>
          <a:xfrm>
            <a:off x="7443216" y="2487168"/>
            <a:ext cx="164592" cy="219456"/>
          </a:xfrm>
          <a:prstGeom prst="rightArrow">
            <a:avLst/>
          </a:prstGeom>
          <a:solidFill>
            <a:srgbClr val="DCCDBB"/>
          </a:solidFill>
          <a:ln/>
        </p:spPr>
        <p:txBody>
          <a:bodyPr/>
          <a:lstStyle/>
          <a:p>
            <a:endParaRPr lang="ko-KR" altLang="en-US"/>
          </a:p>
        </p:txBody>
      </p:sp>
      <p:sp>
        <p:nvSpPr>
          <p:cNvPr id="22" name="Shape 17"/>
          <p:cNvSpPr/>
          <p:nvPr/>
        </p:nvSpPr>
        <p:spPr>
          <a:xfrm>
            <a:off x="7635240" y="1481328"/>
            <a:ext cx="2157984" cy="2377440"/>
          </a:xfrm>
          <a:prstGeom prst="roundRect">
            <a:avLst>
              <a:gd name="adj" fmla="val 3814"/>
            </a:avLst>
          </a:prstGeom>
          <a:solidFill>
            <a:srgbClr val="F8F2EA"/>
          </a:solidFill>
          <a:ln/>
        </p:spPr>
        <p:txBody>
          <a:bodyPr/>
          <a:lstStyle/>
          <a:p>
            <a:endParaRPr lang="ko-KR" altLang="en-US"/>
          </a:p>
        </p:txBody>
      </p:sp>
      <p:sp>
        <p:nvSpPr>
          <p:cNvPr id="23" name="Shape 18"/>
          <p:cNvSpPr/>
          <p:nvPr/>
        </p:nvSpPr>
        <p:spPr>
          <a:xfrm>
            <a:off x="7854696" y="1682496"/>
            <a:ext cx="457200" cy="457200"/>
          </a:xfrm>
          <a:prstGeom prst="ellipse">
            <a:avLst/>
          </a:prstGeom>
          <a:solidFill>
            <a:srgbClr val="E8A33D"/>
          </a:solidFill>
          <a:ln/>
        </p:spPr>
        <p:txBody>
          <a:bodyPr/>
          <a:lstStyle/>
          <a:p>
            <a:endParaRPr lang="ko-KR" altLang="en-US"/>
          </a:p>
        </p:txBody>
      </p:sp>
      <p:pic>
        <p:nvPicPr>
          <p:cNvPr id="24" name="Image 3" descr="preencoded.png"/>
          <p:cNvPicPr>
            <a:picLocks noChangeAspect="1"/>
          </p:cNvPicPr>
          <p:nvPr/>
        </p:nvPicPr>
        <p:blipFill>
          <a:blip r:embed="rId6"/>
          <a:stretch>
            <a:fillRect/>
          </a:stretch>
        </p:blipFill>
        <p:spPr>
          <a:xfrm>
            <a:off x="7978140" y="1805940"/>
            <a:ext cx="210312" cy="210312"/>
          </a:xfrm>
          <a:prstGeom prst="rect">
            <a:avLst/>
          </a:prstGeom>
        </p:spPr>
      </p:pic>
      <p:sp>
        <p:nvSpPr>
          <p:cNvPr id="25" name="Text 19"/>
          <p:cNvSpPr/>
          <p:nvPr/>
        </p:nvSpPr>
        <p:spPr>
          <a:xfrm>
            <a:off x="8421624" y="1755648"/>
            <a:ext cx="1243584" cy="329184"/>
          </a:xfrm>
          <a:prstGeom prst="rect">
            <a:avLst/>
          </a:prstGeom>
          <a:noFill/>
          <a:ln/>
        </p:spPr>
        <p:txBody>
          <a:bodyPr wrap="square" lIns="0" tIns="0" rIns="0" bIns="0" rtlCol="0" anchor="ctr"/>
          <a:lstStyle/>
          <a:p>
            <a:pPr marL="0" indent="0">
              <a:buNone/>
            </a:pPr>
            <a:r>
              <a:rPr lang="en-US" sz="1350" b="1" dirty="0">
                <a:solidFill>
                  <a:srgbClr val="2E241C"/>
                </a:solidFill>
                <a:latin typeface="Malgun Gothic" pitchFamily="34" charset="0"/>
                <a:ea typeface="Malgun Gothic" pitchFamily="34" charset="-122"/>
                <a:cs typeface="Malgun Gothic" pitchFamily="34" charset="-120"/>
              </a:rPr>
              <a:t>검증</a:t>
            </a:r>
            <a:endParaRPr lang="en-US" sz="1350" dirty="0"/>
          </a:p>
        </p:txBody>
      </p:sp>
      <p:sp>
        <p:nvSpPr>
          <p:cNvPr id="26" name="Text 20"/>
          <p:cNvSpPr/>
          <p:nvPr/>
        </p:nvSpPr>
        <p:spPr>
          <a:xfrm>
            <a:off x="7854696" y="2286000"/>
            <a:ext cx="1755648" cy="1463040"/>
          </a:xfrm>
          <a:prstGeom prst="rect">
            <a:avLst/>
          </a:prstGeom>
          <a:noFill/>
          <a:ln/>
        </p:spPr>
        <p:txBody>
          <a:bodyPr wrap="square" lIns="0" tIns="0" rIns="0" bIns="0" rtlCol="0" anchor="t"/>
          <a:lstStyle/>
          <a:p>
            <a:pPr marL="0" indent="0">
              <a:lnSpc>
                <a:spcPct val="118000"/>
              </a:lnSpc>
              <a:buNone/>
            </a:pPr>
            <a:r>
              <a:rPr lang="en-US" sz="1000" dirty="0">
                <a:solidFill>
                  <a:srgbClr val="76675A"/>
                </a:solidFill>
                <a:latin typeface="Malgun Gothic" pitchFamily="34" charset="0"/>
                <a:ea typeface="Malgun Gothic" pitchFamily="34" charset="-122"/>
                <a:cs typeface="Malgun Gothic" pitchFamily="34" charset="-120"/>
              </a:rPr>
              <a:t>Digital Twin 시뮬레이션 — 폐기·결품·재고일수 동시 확인</a:t>
            </a:r>
            <a:endParaRPr lang="en-US" sz="1000" dirty="0"/>
          </a:p>
        </p:txBody>
      </p:sp>
      <p:sp>
        <p:nvSpPr>
          <p:cNvPr id="27" name="Shape 21"/>
          <p:cNvSpPr/>
          <p:nvPr/>
        </p:nvSpPr>
        <p:spPr>
          <a:xfrm>
            <a:off x="9820656" y="2487168"/>
            <a:ext cx="164592" cy="219456"/>
          </a:xfrm>
          <a:prstGeom prst="rightArrow">
            <a:avLst/>
          </a:prstGeom>
          <a:solidFill>
            <a:srgbClr val="DCCDBB"/>
          </a:solidFill>
          <a:ln/>
        </p:spPr>
        <p:txBody>
          <a:bodyPr/>
          <a:lstStyle/>
          <a:p>
            <a:endParaRPr lang="ko-KR" altLang="en-US"/>
          </a:p>
        </p:txBody>
      </p:sp>
      <p:sp>
        <p:nvSpPr>
          <p:cNvPr id="28" name="Shape 22"/>
          <p:cNvSpPr/>
          <p:nvPr/>
        </p:nvSpPr>
        <p:spPr>
          <a:xfrm>
            <a:off x="10012680" y="1481328"/>
            <a:ext cx="2157984" cy="2377440"/>
          </a:xfrm>
          <a:prstGeom prst="roundRect">
            <a:avLst>
              <a:gd name="adj" fmla="val 3814"/>
            </a:avLst>
          </a:prstGeom>
          <a:solidFill>
            <a:srgbClr val="F8F2EA"/>
          </a:solidFill>
          <a:ln/>
        </p:spPr>
        <p:txBody>
          <a:bodyPr/>
          <a:lstStyle/>
          <a:p>
            <a:endParaRPr lang="ko-KR" altLang="en-US"/>
          </a:p>
        </p:txBody>
      </p:sp>
      <p:sp>
        <p:nvSpPr>
          <p:cNvPr id="29" name="Shape 23"/>
          <p:cNvSpPr/>
          <p:nvPr/>
        </p:nvSpPr>
        <p:spPr>
          <a:xfrm>
            <a:off x="10232136" y="1682496"/>
            <a:ext cx="457200" cy="457200"/>
          </a:xfrm>
          <a:prstGeom prst="ellipse">
            <a:avLst/>
          </a:prstGeom>
          <a:solidFill>
            <a:srgbClr val="9C5227"/>
          </a:solidFill>
          <a:ln/>
        </p:spPr>
        <p:txBody>
          <a:bodyPr/>
          <a:lstStyle/>
          <a:p>
            <a:endParaRPr lang="ko-KR" altLang="en-US"/>
          </a:p>
        </p:txBody>
      </p:sp>
      <p:pic>
        <p:nvPicPr>
          <p:cNvPr id="30" name="Image 4" descr="preencoded.png"/>
          <p:cNvPicPr>
            <a:picLocks noChangeAspect="1"/>
          </p:cNvPicPr>
          <p:nvPr/>
        </p:nvPicPr>
        <p:blipFill>
          <a:blip r:embed="rId7"/>
          <a:stretch>
            <a:fillRect/>
          </a:stretch>
        </p:blipFill>
        <p:spPr>
          <a:xfrm>
            <a:off x="10355580" y="1805940"/>
            <a:ext cx="210312" cy="210312"/>
          </a:xfrm>
          <a:prstGeom prst="rect">
            <a:avLst/>
          </a:prstGeom>
        </p:spPr>
      </p:pic>
      <p:sp>
        <p:nvSpPr>
          <p:cNvPr id="31" name="Text 24"/>
          <p:cNvSpPr/>
          <p:nvPr/>
        </p:nvSpPr>
        <p:spPr>
          <a:xfrm>
            <a:off x="10799064" y="1755648"/>
            <a:ext cx="1243584" cy="329184"/>
          </a:xfrm>
          <a:prstGeom prst="rect">
            <a:avLst/>
          </a:prstGeom>
          <a:noFill/>
          <a:ln/>
        </p:spPr>
        <p:txBody>
          <a:bodyPr wrap="square" lIns="0" tIns="0" rIns="0" bIns="0" rtlCol="0" anchor="ctr"/>
          <a:lstStyle/>
          <a:p>
            <a:pPr marL="0" indent="0">
              <a:buNone/>
            </a:pPr>
            <a:r>
              <a:rPr lang="en-US" sz="1350" b="1" dirty="0">
                <a:solidFill>
                  <a:srgbClr val="2E241C"/>
                </a:solidFill>
                <a:latin typeface="Malgun Gothic" pitchFamily="34" charset="0"/>
                <a:ea typeface="Malgun Gothic" pitchFamily="34" charset="-122"/>
                <a:cs typeface="Malgun Gothic" pitchFamily="34" charset="-120"/>
              </a:rPr>
              <a:t>승인·환류</a:t>
            </a:r>
            <a:endParaRPr lang="en-US" sz="1350" dirty="0"/>
          </a:p>
        </p:txBody>
      </p:sp>
      <p:sp>
        <p:nvSpPr>
          <p:cNvPr id="32" name="Text 25"/>
          <p:cNvSpPr/>
          <p:nvPr/>
        </p:nvSpPr>
        <p:spPr>
          <a:xfrm>
            <a:off x="10232136" y="2286000"/>
            <a:ext cx="1755648" cy="1463040"/>
          </a:xfrm>
          <a:prstGeom prst="rect">
            <a:avLst/>
          </a:prstGeom>
          <a:noFill/>
          <a:ln/>
        </p:spPr>
        <p:txBody>
          <a:bodyPr wrap="square" lIns="0" tIns="0" rIns="0" bIns="0" rtlCol="0" anchor="t"/>
          <a:lstStyle/>
          <a:p>
            <a:pPr marL="0" indent="0">
              <a:lnSpc>
                <a:spcPct val="118000"/>
              </a:lnSpc>
              <a:buNone/>
            </a:pPr>
            <a:r>
              <a:rPr lang="en-US" sz="1000" dirty="0">
                <a:solidFill>
                  <a:srgbClr val="76675A"/>
                </a:solidFill>
                <a:latin typeface="Malgun Gothic" pitchFamily="34" charset="0"/>
                <a:ea typeface="Malgun Gothic" pitchFamily="34" charset="-122"/>
                <a:cs typeface="Malgun Gothic" pitchFamily="34" charset="-120"/>
              </a:rPr>
              <a:t>HITL 승인 → 원장 파라미터 갱신 → 효과를 War Room이 추적</a:t>
            </a:r>
            <a:endParaRPr lang="en-US" sz="1000" dirty="0"/>
          </a:p>
        </p:txBody>
      </p:sp>
      <p:sp>
        <p:nvSpPr>
          <p:cNvPr id="33" name="Shape 26"/>
          <p:cNvSpPr/>
          <p:nvPr/>
        </p:nvSpPr>
        <p:spPr>
          <a:xfrm>
            <a:off x="502920" y="4114800"/>
            <a:ext cx="11201400" cy="1463040"/>
          </a:xfrm>
          <a:prstGeom prst="roundRect">
            <a:avLst>
              <a:gd name="adj" fmla="val 5625"/>
            </a:avLst>
          </a:prstGeom>
          <a:solidFill>
            <a:srgbClr val="2B1D12"/>
          </a:solidFill>
          <a:ln/>
        </p:spPr>
        <p:txBody>
          <a:bodyPr/>
          <a:lstStyle/>
          <a:p>
            <a:endParaRPr lang="ko-KR" altLang="en-US"/>
          </a:p>
        </p:txBody>
      </p:sp>
      <p:sp>
        <p:nvSpPr>
          <p:cNvPr id="34" name="Text 27"/>
          <p:cNvSpPr/>
          <p:nvPr/>
        </p:nvSpPr>
        <p:spPr>
          <a:xfrm>
            <a:off x="822960" y="4261104"/>
            <a:ext cx="10515600" cy="292608"/>
          </a:xfrm>
          <a:prstGeom prst="rect">
            <a:avLst/>
          </a:prstGeom>
          <a:noFill/>
          <a:ln/>
        </p:spPr>
        <p:txBody>
          <a:bodyPr wrap="square" lIns="0" tIns="0" rIns="0" bIns="0" rtlCol="0" anchor="ctr"/>
          <a:lstStyle/>
          <a:p>
            <a:pPr marL="0" indent="0">
              <a:buNone/>
            </a:pPr>
            <a:r>
              <a:rPr lang="en-US" sz="1350" b="1" dirty="0">
                <a:solidFill>
                  <a:srgbClr val="E8A33D"/>
                </a:solidFill>
                <a:latin typeface="Malgun Gothic" pitchFamily="34" charset="0"/>
                <a:ea typeface="Malgun Gothic" pitchFamily="34" charset="-122"/>
                <a:cs typeface="Malgun Gothic" pitchFamily="34" charset="-120"/>
              </a:rPr>
              <a:t>최적화 대상 3계층</a:t>
            </a:r>
            <a:endParaRPr lang="en-US" sz="1350" dirty="0"/>
          </a:p>
        </p:txBody>
      </p:sp>
      <p:sp>
        <p:nvSpPr>
          <p:cNvPr id="35" name="Text 28"/>
          <p:cNvSpPr/>
          <p:nvPr/>
        </p:nvSpPr>
        <p:spPr>
          <a:xfrm>
            <a:off x="822960" y="4590288"/>
            <a:ext cx="10561320" cy="822960"/>
          </a:xfrm>
          <a:prstGeom prst="rect">
            <a:avLst/>
          </a:prstGeom>
          <a:noFill/>
          <a:ln/>
        </p:spPr>
        <p:txBody>
          <a:bodyPr wrap="square" lIns="0" tIns="0" rIns="0" bIns="0" rtlCol="0" anchor="t"/>
          <a:lstStyle/>
          <a:p>
            <a:pPr marL="0" indent="0">
              <a:lnSpc>
                <a:spcPct val="135000"/>
              </a:lnSpc>
              <a:buNone/>
            </a:pPr>
            <a:r>
              <a:rPr lang="en-US" sz="1150" b="1" dirty="0">
                <a:solidFill>
                  <a:srgbClr val="E8A33D"/>
                </a:solidFill>
                <a:latin typeface="Malgun Gothic" pitchFamily="34" charset="0"/>
                <a:ea typeface="Malgun Gothic" pitchFamily="34" charset="-122"/>
                <a:cs typeface="Malgun Gothic" pitchFamily="34" charset="-120"/>
              </a:rPr>
              <a:t>원자재  </a:t>
            </a:r>
            <a:r>
              <a:rPr lang="en-US" sz="1150" dirty="0">
                <a:solidFill>
                  <a:srgbClr val="FFFFFF"/>
                </a:solidFill>
                <a:latin typeface="Malgun Gothic" pitchFamily="34" charset="0"/>
                <a:ea typeface="Malgun Gothic" pitchFamily="34" charset="-122"/>
                <a:cs typeface="Malgun Gothic" pitchFamily="34" charset="-120"/>
              </a:rPr>
              <a:t>발주점·발주량(시세·리드타임 반영)       </a:t>
            </a:r>
            <a:r>
              <a:rPr lang="en-US" sz="1150" b="1" dirty="0">
                <a:solidFill>
                  <a:srgbClr val="E8A33D"/>
                </a:solidFill>
                <a:latin typeface="Malgun Gothic" pitchFamily="34" charset="0"/>
                <a:ea typeface="Malgun Gothic" pitchFamily="34" charset="-122"/>
                <a:cs typeface="Malgun Gothic" pitchFamily="34" charset="-120"/>
              </a:rPr>
              <a:t>완제품(보존군)  </a:t>
            </a:r>
            <a:r>
              <a:rPr lang="en-US" sz="1150" dirty="0">
                <a:solidFill>
                  <a:srgbClr val="FFFFFF"/>
                </a:solidFill>
                <a:latin typeface="Malgun Gothic" pitchFamily="34" charset="0"/>
                <a:ea typeface="Malgun Gothic" pitchFamily="34" charset="-122"/>
                <a:cs typeface="Malgun Gothic" pitchFamily="34" charset="-120"/>
              </a:rPr>
              <a:t>세트·낱개 안전재고, 시즌(명절) 선행 생산       </a:t>
            </a:r>
            <a:r>
              <a:rPr lang="en-US" sz="1150" b="1" dirty="0">
                <a:solidFill>
                  <a:srgbClr val="E8A33D"/>
                </a:solidFill>
                <a:latin typeface="Malgun Gothic" pitchFamily="34" charset="0"/>
                <a:ea typeface="Malgun Gothic" pitchFamily="34" charset="-122"/>
                <a:cs typeface="Malgun Gothic" pitchFamily="34" charset="-120"/>
              </a:rPr>
              <a:t>지점 배분  </a:t>
            </a:r>
            <a:r>
              <a:rPr lang="en-US" sz="1150" dirty="0">
                <a:solidFill>
                  <a:srgbClr val="FFFFFF"/>
                </a:solidFill>
                <a:latin typeface="Malgun Gothic" pitchFamily="34" charset="0"/>
                <a:ea typeface="Malgun Gothic" pitchFamily="34" charset="-122"/>
                <a:cs typeface="Malgun Gothic" pitchFamily="34" charset="-120"/>
              </a:rPr>
              <a:t>본점→별빛샌드 1·2차 배송 물량과 시각</a:t>
            </a:r>
            <a:endParaRPr lang="en-US" sz="1150" dirty="0"/>
          </a:p>
        </p:txBody>
      </p:sp>
      <p:sp>
        <p:nvSpPr>
          <p:cNvPr id="36" name="Text 29"/>
          <p:cNvSpPr/>
          <p:nvPr/>
        </p:nvSpPr>
        <p:spPr>
          <a:xfrm>
            <a:off x="502920" y="5806440"/>
            <a:ext cx="11201400" cy="411480"/>
          </a:xfrm>
          <a:prstGeom prst="rect">
            <a:avLst/>
          </a:prstGeom>
          <a:noFill/>
          <a:ln/>
        </p:spPr>
        <p:txBody>
          <a:bodyPr wrap="square" lIns="0" tIns="0" rIns="0" bIns="0" rtlCol="0" anchor="ctr"/>
          <a:lstStyle/>
          <a:p>
            <a:pPr marL="0" indent="0">
              <a:buNone/>
            </a:pPr>
            <a:r>
              <a:rPr lang="en-US" sz="1200" i="1" dirty="0">
                <a:solidFill>
                  <a:srgbClr val="76675A"/>
                </a:solidFill>
                <a:latin typeface="Malgun Gothic" pitchFamily="34" charset="0"/>
                <a:ea typeface="Malgun Gothic" pitchFamily="34" charset="-122"/>
                <a:cs typeface="Malgun Gothic" pitchFamily="34" charset="-120"/>
              </a:rPr>
              <a:t>한 번의 컨설팅 결과가 아니라, 매일 배우는 파라미터 — '지식이 문서가 아니라 파라미터가 되면 지키는 데 의지가 필요 없다'</a:t>
            </a:r>
            <a:endParaRPr lang="en-US" sz="1200" dirty="0"/>
          </a:p>
        </p:txBody>
      </p:sp>
      <p:sp>
        <p:nvSpPr>
          <p:cNvPr id="37" name="Text 30"/>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38" name="Text 31"/>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DATA PIPELINE</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solidFill>
                  <a:srgbClr val="2E241C"/>
                </a:solidFill>
                <a:latin typeface="Malgun Gothic" pitchFamily="34" charset="0"/>
                <a:ea typeface="Malgun Gothic" pitchFamily="34" charset="-122"/>
                <a:cs typeface="Malgun Gothic" pitchFamily="34" charset="-120"/>
              </a:rPr>
              <a:t>트랜잭션 파이프라인 — 어떤 기록이 어떤 지능이 되는가</a:t>
            </a:r>
            <a:endParaRPr lang="en-US" sz="2500" dirty="0"/>
          </a:p>
        </p:txBody>
      </p:sp>
      <p:sp>
        <p:nvSpPr>
          <p:cNvPr id="4" name="Shape 2"/>
          <p:cNvSpPr/>
          <p:nvPr/>
        </p:nvSpPr>
        <p:spPr>
          <a:xfrm>
            <a:off x="502920" y="1444752"/>
            <a:ext cx="2880360" cy="365760"/>
          </a:xfrm>
          <a:prstGeom prst="roundRect">
            <a:avLst>
              <a:gd name="adj" fmla="val 15000"/>
            </a:avLst>
          </a:prstGeom>
          <a:solidFill>
            <a:srgbClr val="6E3A1C"/>
          </a:solidFill>
          <a:ln/>
        </p:spPr>
        <p:txBody>
          <a:bodyPr/>
          <a:lstStyle/>
          <a:p>
            <a:endParaRPr lang="ko-KR" altLang="en-US"/>
          </a:p>
        </p:txBody>
      </p:sp>
      <p:sp>
        <p:nvSpPr>
          <p:cNvPr id="5" name="Text 3"/>
          <p:cNvSpPr/>
          <p:nvPr/>
        </p:nvSpPr>
        <p:spPr>
          <a:xfrm>
            <a:off x="502920" y="1444752"/>
            <a:ext cx="288036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트랜잭션 (L1→L2)</a:t>
            </a:r>
            <a:endParaRPr lang="en-US" sz="1050" dirty="0"/>
          </a:p>
        </p:txBody>
      </p:sp>
      <p:sp>
        <p:nvSpPr>
          <p:cNvPr id="6" name="Shape 4"/>
          <p:cNvSpPr/>
          <p:nvPr/>
        </p:nvSpPr>
        <p:spPr>
          <a:xfrm>
            <a:off x="3520440" y="1444752"/>
            <a:ext cx="2743200" cy="365760"/>
          </a:xfrm>
          <a:prstGeom prst="roundRect">
            <a:avLst>
              <a:gd name="adj" fmla="val 15000"/>
            </a:avLst>
          </a:prstGeom>
          <a:solidFill>
            <a:srgbClr val="6E3A1C"/>
          </a:solidFill>
          <a:ln/>
        </p:spPr>
        <p:txBody>
          <a:bodyPr/>
          <a:lstStyle/>
          <a:p>
            <a:endParaRPr lang="ko-KR" altLang="en-US"/>
          </a:p>
        </p:txBody>
      </p:sp>
      <p:sp>
        <p:nvSpPr>
          <p:cNvPr id="7" name="Text 5"/>
          <p:cNvSpPr/>
          <p:nvPr/>
        </p:nvSpPr>
        <p:spPr>
          <a:xfrm>
            <a:off x="3520440" y="1444752"/>
            <a:ext cx="27432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이벤트화 (L3)</a:t>
            </a:r>
            <a:endParaRPr lang="en-US" sz="1050" dirty="0"/>
          </a:p>
        </p:txBody>
      </p:sp>
      <p:sp>
        <p:nvSpPr>
          <p:cNvPr id="8" name="Shape 6"/>
          <p:cNvSpPr/>
          <p:nvPr/>
        </p:nvSpPr>
        <p:spPr>
          <a:xfrm>
            <a:off x="6400800" y="1444752"/>
            <a:ext cx="2743200" cy="365760"/>
          </a:xfrm>
          <a:prstGeom prst="roundRect">
            <a:avLst>
              <a:gd name="adj" fmla="val 15000"/>
            </a:avLst>
          </a:prstGeom>
          <a:solidFill>
            <a:srgbClr val="6E3A1C"/>
          </a:solidFill>
          <a:ln/>
        </p:spPr>
        <p:txBody>
          <a:bodyPr/>
          <a:lstStyle/>
          <a:p>
            <a:endParaRPr lang="ko-KR" altLang="en-US"/>
          </a:p>
        </p:txBody>
      </p:sp>
      <p:sp>
        <p:nvSpPr>
          <p:cNvPr id="9" name="Text 7"/>
          <p:cNvSpPr/>
          <p:nvPr/>
        </p:nvSpPr>
        <p:spPr>
          <a:xfrm>
            <a:off x="6400800" y="1444752"/>
            <a:ext cx="27432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특징량·학습 (L3)</a:t>
            </a:r>
            <a:endParaRPr lang="en-US" sz="1050" dirty="0"/>
          </a:p>
        </p:txBody>
      </p:sp>
      <p:sp>
        <p:nvSpPr>
          <p:cNvPr id="10" name="Shape 8"/>
          <p:cNvSpPr/>
          <p:nvPr/>
        </p:nvSpPr>
        <p:spPr>
          <a:xfrm>
            <a:off x="9281160" y="1444752"/>
            <a:ext cx="2423160" cy="365760"/>
          </a:xfrm>
          <a:prstGeom prst="roundRect">
            <a:avLst>
              <a:gd name="adj" fmla="val 15000"/>
            </a:avLst>
          </a:prstGeom>
          <a:solidFill>
            <a:srgbClr val="6E3A1C"/>
          </a:solidFill>
          <a:ln/>
        </p:spPr>
        <p:txBody>
          <a:bodyPr/>
          <a:lstStyle/>
          <a:p>
            <a:endParaRPr lang="ko-KR" altLang="en-US"/>
          </a:p>
        </p:txBody>
      </p:sp>
      <p:sp>
        <p:nvSpPr>
          <p:cNvPr id="11" name="Text 9"/>
          <p:cNvSpPr/>
          <p:nvPr/>
        </p:nvSpPr>
        <p:spPr>
          <a:xfrm>
            <a:off x="9281160" y="1444752"/>
            <a:ext cx="242316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쓰는 지능 (L4·L5)</a:t>
            </a:r>
            <a:endParaRPr lang="en-US" sz="1050" dirty="0"/>
          </a:p>
        </p:txBody>
      </p:sp>
      <p:sp>
        <p:nvSpPr>
          <p:cNvPr id="12" name="Shape 10"/>
          <p:cNvSpPr/>
          <p:nvPr/>
        </p:nvSpPr>
        <p:spPr>
          <a:xfrm>
            <a:off x="502920" y="1883664"/>
            <a:ext cx="2880360" cy="493776"/>
          </a:xfrm>
          <a:prstGeom prst="roundRect">
            <a:avLst>
              <a:gd name="adj" fmla="val 16667"/>
            </a:avLst>
          </a:prstGeom>
          <a:solidFill>
            <a:srgbClr val="F8F2EA"/>
          </a:solidFill>
          <a:ln/>
        </p:spPr>
        <p:txBody>
          <a:bodyPr/>
          <a:lstStyle/>
          <a:p>
            <a:endParaRPr lang="ko-KR" altLang="en-US"/>
          </a:p>
        </p:txBody>
      </p:sp>
      <p:sp>
        <p:nvSpPr>
          <p:cNvPr id="13" name="Text 11"/>
          <p:cNvSpPr/>
          <p:nvPr/>
        </p:nvSpPr>
        <p:spPr>
          <a:xfrm>
            <a:off x="612648" y="1883664"/>
            <a:ext cx="2660904" cy="493776"/>
          </a:xfrm>
          <a:prstGeom prst="rect">
            <a:avLst/>
          </a:prstGeom>
          <a:noFill/>
          <a:ln/>
        </p:spPr>
        <p:txBody>
          <a:bodyPr wrap="square" lIns="0" tIns="0" rIns="0" bIns="0" rtlCol="0" anchor="ctr"/>
          <a:lstStyle/>
          <a:p>
            <a:pPr marL="0" indent="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POS·온라인·B2B 판매</a:t>
            </a:r>
            <a:endParaRPr lang="en-US" sz="930" dirty="0"/>
          </a:p>
        </p:txBody>
      </p:sp>
      <p:sp>
        <p:nvSpPr>
          <p:cNvPr id="14" name="Shape 12"/>
          <p:cNvSpPr/>
          <p:nvPr/>
        </p:nvSpPr>
        <p:spPr>
          <a:xfrm>
            <a:off x="3520440" y="1883664"/>
            <a:ext cx="2743200" cy="493776"/>
          </a:xfrm>
          <a:prstGeom prst="roundRect">
            <a:avLst>
              <a:gd name="adj" fmla="val 16667"/>
            </a:avLst>
          </a:prstGeom>
          <a:solidFill>
            <a:srgbClr val="F8F2EA"/>
          </a:solidFill>
          <a:ln/>
        </p:spPr>
        <p:txBody>
          <a:bodyPr/>
          <a:lstStyle/>
          <a:p>
            <a:endParaRPr lang="ko-KR" altLang="en-US"/>
          </a:p>
        </p:txBody>
      </p:sp>
      <p:sp>
        <p:nvSpPr>
          <p:cNvPr id="15" name="Text 13"/>
          <p:cNvSpPr/>
          <p:nvPr/>
        </p:nvSpPr>
        <p:spPr>
          <a:xfrm>
            <a:off x="3630168" y="1883664"/>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판매 라인 이벤트(실시간)</a:t>
            </a:r>
            <a:endParaRPr lang="en-US" sz="930" dirty="0"/>
          </a:p>
        </p:txBody>
      </p:sp>
      <p:sp>
        <p:nvSpPr>
          <p:cNvPr id="16" name="Shape 14"/>
          <p:cNvSpPr/>
          <p:nvPr/>
        </p:nvSpPr>
        <p:spPr>
          <a:xfrm>
            <a:off x="6400800" y="1883664"/>
            <a:ext cx="2743200" cy="493776"/>
          </a:xfrm>
          <a:prstGeom prst="roundRect">
            <a:avLst>
              <a:gd name="adj" fmla="val 16667"/>
            </a:avLst>
          </a:prstGeom>
          <a:solidFill>
            <a:srgbClr val="F8F2EA"/>
          </a:solidFill>
          <a:ln/>
        </p:spPr>
        <p:txBody>
          <a:bodyPr/>
          <a:lstStyle/>
          <a:p>
            <a:endParaRPr lang="ko-KR" altLang="en-US"/>
          </a:p>
        </p:txBody>
      </p:sp>
      <p:sp>
        <p:nvSpPr>
          <p:cNvPr id="17" name="Text 15"/>
          <p:cNvSpPr/>
          <p:nvPr/>
        </p:nvSpPr>
        <p:spPr>
          <a:xfrm>
            <a:off x="6510528" y="1883664"/>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품목×지점×시간대 수요 프로파일</a:t>
            </a:r>
            <a:endParaRPr lang="en-US" sz="930" dirty="0"/>
          </a:p>
        </p:txBody>
      </p:sp>
      <p:sp>
        <p:nvSpPr>
          <p:cNvPr id="18" name="Shape 16"/>
          <p:cNvSpPr/>
          <p:nvPr/>
        </p:nvSpPr>
        <p:spPr>
          <a:xfrm>
            <a:off x="9281160" y="1883664"/>
            <a:ext cx="2423160" cy="493776"/>
          </a:xfrm>
          <a:prstGeom prst="roundRect">
            <a:avLst>
              <a:gd name="adj" fmla="val 16667"/>
            </a:avLst>
          </a:prstGeom>
          <a:solidFill>
            <a:srgbClr val="F8F2EA"/>
          </a:solidFill>
          <a:ln/>
        </p:spPr>
        <p:txBody>
          <a:bodyPr/>
          <a:lstStyle/>
          <a:p>
            <a:endParaRPr lang="ko-KR" altLang="en-US"/>
          </a:p>
        </p:txBody>
      </p:sp>
      <p:sp>
        <p:nvSpPr>
          <p:cNvPr id="19" name="Text 17"/>
          <p:cNvSpPr/>
          <p:nvPr/>
        </p:nvSpPr>
        <p:spPr>
          <a:xfrm>
            <a:off x="9390888" y="1883664"/>
            <a:ext cx="2203704" cy="493776"/>
          </a:xfrm>
          <a:prstGeom prst="rect">
            <a:avLst/>
          </a:prstGeom>
          <a:noFill/>
          <a:ln/>
        </p:spPr>
        <p:txBody>
          <a:bodyPr wrap="square" lIns="0" tIns="0" rIns="0" bIns="0" rtlCol="0" anchor="ctr"/>
          <a:lstStyle/>
          <a:p>
            <a:pPr marL="0" indent="0">
              <a:lnSpc>
                <a:spcPct val="100000"/>
              </a:lnSpc>
              <a:buNone/>
            </a:pPr>
            <a:r>
              <a:rPr lang="en-US" sz="930" dirty="0">
                <a:solidFill>
                  <a:srgbClr val="9C5227"/>
                </a:solidFill>
                <a:latin typeface="Malgun Gothic" pitchFamily="34" charset="0"/>
                <a:ea typeface="Malgun Gothic" pitchFamily="34" charset="-122"/>
                <a:cs typeface="Malgun Gothic" pitchFamily="34" charset="-120"/>
              </a:rPr>
              <a:t>수요예측·배분</a:t>
            </a:r>
            <a:endParaRPr lang="en-US" sz="930" dirty="0"/>
          </a:p>
        </p:txBody>
      </p:sp>
      <p:sp>
        <p:nvSpPr>
          <p:cNvPr id="20" name="Shape 18"/>
          <p:cNvSpPr/>
          <p:nvPr/>
        </p:nvSpPr>
        <p:spPr>
          <a:xfrm>
            <a:off x="502920" y="2450592"/>
            <a:ext cx="288036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21" name="Text 19"/>
          <p:cNvSpPr/>
          <p:nvPr/>
        </p:nvSpPr>
        <p:spPr>
          <a:xfrm>
            <a:off x="612648" y="2450592"/>
            <a:ext cx="2660904" cy="493776"/>
          </a:xfrm>
          <a:prstGeom prst="rect">
            <a:avLst/>
          </a:prstGeom>
          <a:noFill/>
          <a:ln/>
        </p:spPr>
        <p:txBody>
          <a:bodyPr wrap="square" lIns="0" tIns="0" rIns="0" bIns="0" rtlCol="0" anchor="ctr"/>
          <a:lstStyle/>
          <a:p>
            <a:pPr marL="0" indent="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생산실적·작업지시</a:t>
            </a:r>
            <a:endParaRPr lang="en-US" sz="930" dirty="0"/>
          </a:p>
        </p:txBody>
      </p:sp>
      <p:sp>
        <p:nvSpPr>
          <p:cNvPr id="22" name="Shape 20"/>
          <p:cNvSpPr/>
          <p:nvPr/>
        </p:nvSpPr>
        <p:spPr>
          <a:xfrm>
            <a:off x="3520440" y="2450592"/>
            <a:ext cx="274320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23" name="Text 21"/>
          <p:cNvSpPr/>
          <p:nvPr/>
        </p:nvSpPr>
        <p:spPr>
          <a:xfrm>
            <a:off x="3630168" y="2450592"/>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생산 완료·수율 이벤트</a:t>
            </a:r>
            <a:endParaRPr lang="en-US" sz="930" dirty="0"/>
          </a:p>
        </p:txBody>
      </p:sp>
      <p:sp>
        <p:nvSpPr>
          <p:cNvPr id="24" name="Shape 22"/>
          <p:cNvSpPr/>
          <p:nvPr/>
        </p:nvSpPr>
        <p:spPr>
          <a:xfrm>
            <a:off x="6400800" y="2450592"/>
            <a:ext cx="274320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25" name="Text 23"/>
          <p:cNvSpPr/>
          <p:nvPr/>
        </p:nvSpPr>
        <p:spPr>
          <a:xfrm>
            <a:off x="6510528" y="2450592"/>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품목별 수율·생산 리드타임</a:t>
            </a:r>
            <a:endParaRPr lang="en-US" sz="930" dirty="0"/>
          </a:p>
        </p:txBody>
      </p:sp>
      <p:sp>
        <p:nvSpPr>
          <p:cNvPr id="26" name="Shape 24"/>
          <p:cNvSpPr/>
          <p:nvPr/>
        </p:nvSpPr>
        <p:spPr>
          <a:xfrm>
            <a:off x="9281160" y="2450592"/>
            <a:ext cx="242316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27" name="Text 25"/>
          <p:cNvSpPr/>
          <p:nvPr/>
        </p:nvSpPr>
        <p:spPr>
          <a:xfrm>
            <a:off x="9390888" y="2450592"/>
            <a:ext cx="2203704" cy="493776"/>
          </a:xfrm>
          <a:prstGeom prst="rect">
            <a:avLst/>
          </a:prstGeom>
          <a:noFill/>
          <a:ln/>
        </p:spPr>
        <p:txBody>
          <a:bodyPr wrap="square" lIns="0" tIns="0" rIns="0" bIns="0" rtlCol="0" anchor="ctr"/>
          <a:lstStyle/>
          <a:p>
            <a:pPr marL="0" indent="0">
              <a:lnSpc>
                <a:spcPct val="100000"/>
              </a:lnSpc>
              <a:buNone/>
            </a:pPr>
            <a:r>
              <a:rPr lang="en-US" sz="930" dirty="0">
                <a:solidFill>
                  <a:srgbClr val="9C5227"/>
                </a:solidFill>
                <a:latin typeface="Malgun Gothic" pitchFamily="34" charset="0"/>
                <a:ea typeface="Malgun Gothic" pitchFamily="34" charset="-122"/>
                <a:cs typeface="Malgun Gothic" pitchFamily="34" charset="-120"/>
              </a:rPr>
              <a:t>생산계획·원가</a:t>
            </a:r>
            <a:endParaRPr lang="en-US" sz="930" dirty="0"/>
          </a:p>
        </p:txBody>
      </p:sp>
      <p:sp>
        <p:nvSpPr>
          <p:cNvPr id="28" name="Shape 26"/>
          <p:cNvSpPr/>
          <p:nvPr/>
        </p:nvSpPr>
        <p:spPr>
          <a:xfrm>
            <a:off x="502920" y="3017520"/>
            <a:ext cx="2880360" cy="493776"/>
          </a:xfrm>
          <a:prstGeom prst="roundRect">
            <a:avLst>
              <a:gd name="adj" fmla="val 16667"/>
            </a:avLst>
          </a:prstGeom>
          <a:solidFill>
            <a:srgbClr val="F8F2EA"/>
          </a:solidFill>
          <a:ln/>
        </p:spPr>
        <p:txBody>
          <a:bodyPr/>
          <a:lstStyle/>
          <a:p>
            <a:endParaRPr lang="ko-KR" altLang="en-US"/>
          </a:p>
        </p:txBody>
      </p:sp>
      <p:sp>
        <p:nvSpPr>
          <p:cNvPr id="29" name="Text 27"/>
          <p:cNvSpPr/>
          <p:nvPr/>
        </p:nvSpPr>
        <p:spPr>
          <a:xfrm>
            <a:off x="612648" y="3017520"/>
            <a:ext cx="2660904" cy="493776"/>
          </a:xfrm>
          <a:prstGeom prst="rect">
            <a:avLst/>
          </a:prstGeom>
          <a:noFill/>
          <a:ln/>
        </p:spPr>
        <p:txBody>
          <a:bodyPr wrap="square" lIns="0" tIns="0" rIns="0" bIns="0" rtlCol="0" anchor="ctr"/>
          <a:lstStyle/>
          <a:p>
            <a:pPr marL="0" indent="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구매·입고 (로트)</a:t>
            </a:r>
            <a:endParaRPr lang="en-US" sz="930" dirty="0"/>
          </a:p>
        </p:txBody>
      </p:sp>
      <p:sp>
        <p:nvSpPr>
          <p:cNvPr id="30" name="Shape 28"/>
          <p:cNvSpPr/>
          <p:nvPr/>
        </p:nvSpPr>
        <p:spPr>
          <a:xfrm>
            <a:off x="3520440" y="3017520"/>
            <a:ext cx="2743200" cy="493776"/>
          </a:xfrm>
          <a:prstGeom prst="roundRect">
            <a:avLst>
              <a:gd name="adj" fmla="val 16667"/>
            </a:avLst>
          </a:prstGeom>
          <a:solidFill>
            <a:srgbClr val="F8F2EA"/>
          </a:solidFill>
          <a:ln/>
        </p:spPr>
        <p:txBody>
          <a:bodyPr/>
          <a:lstStyle/>
          <a:p>
            <a:endParaRPr lang="ko-KR" altLang="en-US"/>
          </a:p>
        </p:txBody>
      </p:sp>
      <p:sp>
        <p:nvSpPr>
          <p:cNvPr id="31" name="Text 29"/>
          <p:cNvSpPr/>
          <p:nvPr/>
        </p:nvSpPr>
        <p:spPr>
          <a:xfrm>
            <a:off x="3630168" y="3017520"/>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입고·단가 이벤트</a:t>
            </a:r>
            <a:endParaRPr lang="en-US" sz="930" dirty="0"/>
          </a:p>
        </p:txBody>
      </p:sp>
      <p:sp>
        <p:nvSpPr>
          <p:cNvPr id="32" name="Shape 30"/>
          <p:cNvSpPr/>
          <p:nvPr/>
        </p:nvSpPr>
        <p:spPr>
          <a:xfrm>
            <a:off x="6400800" y="3017520"/>
            <a:ext cx="2743200" cy="493776"/>
          </a:xfrm>
          <a:prstGeom prst="roundRect">
            <a:avLst>
              <a:gd name="adj" fmla="val 16667"/>
            </a:avLst>
          </a:prstGeom>
          <a:solidFill>
            <a:srgbClr val="F8F2EA"/>
          </a:solidFill>
          <a:ln/>
        </p:spPr>
        <p:txBody>
          <a:bodyPr/>
          <a:lstStyle/>
          <a:p>
            <a:endParaRPr lang="ko-KR" altLang="en-US"/>
          </a:p>
        </p:txBody>
      </p:sp>
      <p:sp>
        <p:nvSpPr>
          <p:cNvPr id="33" name="Text 31"/>
          <p:cNvSpPr/>
          <p:nvPr/>
        </p:nvSpPr>
        <p:spPr>
          <a:xfrm>
            <a:off x="6510528" y="3017520"/>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공급처 리드타임·단가 추이</a:t>
            </a:r>
            <a:endParaRPr lang="en-US" sz="930" dirty="0"/>
          </a:p>
        </p:txBody>
      </p:sp>
      <p:sp>
        <p:nvSpPr>
          <p:cNvPr id="34" name="Shape 32"/>
          <p:cNvSpPr/>
          <p:nvPr/>
        </p:nvSpPr>
        <p:spPr>
          <a:xfrm>
            <a:off x="9281160" y="3017520"/>
            <a:ext cx="2423160" cy="493776"/>
          </a:xfrm>
          <a:prstGeom prst="roundRect">
            <a:avLst>
              <a:gd name="adj" fmla="val 16667"/>
            </a:avLst>
          </a:prstGeom>
          <a:solidFill>
            <a:srgbClr val="F8F2EA"/>
          </a:solidFill>
          <a:ln/>
        </p:spPr>
        <p:txBody>
          <a:bodyPr/>
          <a:lstStyle/>
          <a:p>
            <a:endParaRPr lang="ko-KR" altLang="en-US"/>
          </a:p>
        </p:txBody>
      </p:sp>
      <p:sp>
        <p:nvSpPr>
          <p:cNvPr id="35" name="Text 33"/>
          <p:cNvSpPr/>
          <p:nvPr/>
        </p:nvSpPr>
        <p:spPr>
          <a:xfrm>
            <a:off x="9390888" y="3017520"/>
            <a:ext cx="2203704" cy="493776"/>
          </a:xfrm>
          <a:prstGeom prst="rect">
            <a:avLst/>
          </a:prstGeom>
          <a:noFill/>
          <a:ln/>
        </p:spPr>
        <p:txBody>
          <a:bodyPr wrap="square" lIns="0" tIns="0" rIns="0" bIns="0" rtlCol="0" anchor="ctr"/>
          <a:lstStyle/>
          <a:p>
            <a:pPr marL="0" indent="0">
              <a:lnSpc>
                <a:spcPct val="100000"/>
              </a:lnSpc>
              <a:buNone/>
            </a:pPr>
            <a:r>
              <a:rPr lang="en-US" sz="930" dirty="0">
                <a:solidFill>
                  <a:srgbClr val="9C5227"/>
                </a:solidFill>
                <a:latin typeface="Malgun Gothic" pitchFamily="34" charset="0"/>
                <a:ea typeface="Malgun Gothic" pitchFamily="34" charset="-122"/>
                <a:cs typeface="Malgun Gothic" pitchFamily="34" charset="-120"/>
              </a:rPr>
              <a:t>발주점·시세 경보</a:t>
            </a:r>
            <a:endParaRPr lang="en-US" sz="930" dirty="0"/>
          </a:p>
        </p:txBody>
      </p:sp>
      <p:sp>
        <p:nvSpPr>
          <p:cNvPr id="36" name="Shape 34"/>
          <p:cNvSpPr/>
          <p:nvPr/>
        </p:nvSpPr>
        <p:spPr>
          <a:xfrm>
            <a:off x="502920" y="3584448"/>
            <a:ext cx="288036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37" name="Text 35"/>
          <p:cNvSpPr/>
          <p:nvPr/>
        </p:nvSpPr>
        <p:spPr>
          <a:xfrm>
            <a:off x="612648" y="3584448"/>
            <a:ext cx="2660904" cy="493776"/>
          </a:xfrm>
          <a:prstGeom prst="rect">
            <a:avLst/>
          </a:prstGeom>
          <a:noFill/>
          <a:ln/>
        </p:spPr>
        <p:txBody>
          <a:bodyPr wrap="square" lIns="0" tIns="0" rIns="0" bIns="0" rtlCol="0" anchor="ctr"/>
          <a:lstStyle/>
          <a:p>
            <a:pPr marL="0" indent="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재고이동·지점배분</a:t>
            </a:r>
            <a:endParaRPr lang="en-US" sz="930" dirty="0"/>
          </a:p>
        </p:txBody>
      </p:sp>
      <p:sp>
        <p:nvSpPr>
          <p:cNvPr id="38" name="Shape 36"/>
          <p:cNvSpPr/>
          <p:nvPr/>
        </p:nvSpPr>
        <p:spPr>
          <a:xfrm>
            <a:off x="3520440" y="3584448"/>
            <a:ext cx="274320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39" name="Text 37"/>
          <p:cNvSpPr/>
          <p:nvPr/>
        </p:nvSpPr>
        <p:spPr>
          <a:xfrm>
            <a:off x="3630168" y="3584448"/>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이동 오더 이벤트</a:t>
            </a:r>
            <a:endParaRPr lang="en-US" sz="930" dirty="0"/>
          </a:p>
        </p:txBody>
      </p:sp>
      <p:sp>
        <p:nvSpPr>
          <p:cNvPr id="40" name="Shape 38"/>
          <p:cNvSpPr/>
          <p:nvPr/>
        </p:nvSpPr>
        <p:spPr>
          <a:xfrm>
            <a:off x="6400800" y="3584448"/>
            <a:ext cx="274320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41" name="Text 39"/>
          <p:cNvSpPr/>
          <p:nvPr/>
        </p:nvSpPr>
        <p:spPr>
          <a:xfrm>
            <a:off x="6510528" y="3584448"/>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지점별 소진 속도·회수율</a:t>
            </a:r>
            <a:endParaRPr lang="en-US" sz="930" dirty="0"/>
          </a:p>
        </p:txBody>
      </p:sp>
      <p:sp>
        <p:nvSpPr>
          <p:cNvPr id="42" name="Shape 40"/>
          <p:cNvSpPr/>
          <p:nvPr/>
        </p:nvSpPr>
        <p:spPr>
          <a:xfrm>
            <a:off x="9281160" y="3584448"/>
            <a:ext cx="242316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43" name="Text 41"/>
          <p:cNvSpPr/>
          <p:nvPr/>
        </p:nvSpPr>
        <p:spPr>
          <a:xfrm>
            <a:off x="9390888" y="3584448"/>
            <a:ext cx="2203704" cy="493776"/>
          </a:xfrm>
          <a:prstGeom prst="rect">
            <a:avLst/>
          </a:prstGeom>
          <a:noFill/>
          <a:ln/>
        </p:spPr>
        <p:txBody>
          <a:bodyPr wrap="square" lIns="0" tIns="0" rIns="0" bIns="0" rtlCol="0" anchor="ctr"/>
          <a:lstStyle/>
          <a:p>
            <a:pPr marL="0" indent="0">
              <a:lnSpc>
                <a:spcPct val="100000"/>
              </a:lnSpc>
              <a:buNone/>
            </a:pPr>
            <a:r>
              <a:rPr lang="en-US" sz="930" dirty="0">
                <a:solidFill>
                  <a:srgbClr val="9C5227"/>
                </a:solidFill>
                <a:latin typeface="Malgun Gothic" pitchFamily="34" charset="0"/>
                <a:ea typeface="Malgun Gothic" pitchFamily="34" charset="-122"/>
                <a:cs typeface="Malgun Gothic" pitchFamily="34" charset="-120"/>
              </a:rPr>
              <a:t>배분 최적화</a:t>
            </a:r>
            <a:endParaRPr lang="en-US" sz="930" dirty="0"/>
          </a:p>
        </p:txBody>
      </p:sp>
      <p:sp>
        <p:nvSpPr>
          <p:cNvPr id="44" name="Shape 42"/>
          <p:cNvSpPr/>
          <p:nvPr/>
        </p:nvSpPr>
        <p:spPr>
          <a:xfrm>
            <a:off x="502920" y="4151376"/>
            <a:ext cx="2880360" cy="493776"/>
          </a:xfrm>
          <a:prstGeom prst="roundRect">
            <a:avLst>
              <a:gd name="adj" fmla="val 16667"/>
            </a:avLst>
          </a:prstGeom>
          <a:solidFill>
            <a:srgbClr val="F8F2EA"/>
          </a:solidFill>
          <a:ln/>
        </p:spPr>
        <p:txBody>
          <a:bodyPr/>
          <a:lstStyle/>
          <a:p>
            <a:endParaRPr lang="ko-KR" altLang="en-US"/>
          </a:p>
        </p:txBody>
      </p:sp>
      <p:sp>
        <p:nvSpPr>
          <p:cNvPr id="45" name="Text 43"/>
          <p:cNvSpPr/>
          <p:nvPr/>
        </p:nvSpPr>
        <p:spPr>
          <a:xfrm>
            <a:off x="612648" y="4151376"/>
            <a:ext cx="2660904" cy="493776"/>
          </a:xfrm>
          <a:prstGeom prst="rect">
            <a:avLst/>
          </a:prstGeom>
          <a:noFill/>
          <a:ln/>
        </p:spPr>
        <p:txBody>
          <a:bodyPr wrap="square" lIns="0" tIns="0" rIns="0" bIns="0" rtlCol="0" anchor="ctr"/>
          <a:lstStyle/>
          <a:p>
            <a:pPr marL="0" indent="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반품·폐기 (사유코드)</a:t>
            </a:r>
            <a:endParaRPr lang="en-US" sz="930" dirty="0"/>
          </a:p>
        </p:txBody>
      </p:sp>
      <p:sp>
        <p:nvSpPr>
          <p:cNvPr id="46" name="Shape 44"/>
          <p:cNvSpPr/>
          <p:nvPr/>
        </p:nvSpPr>
        <p:spPr>
          <a:xfrm>
            <a:off x="3520440" y="4151376"/>
            <a:ext cx="2743200" cy="493776"/>
          </a:xfrm>
          <a:prstGeom prst="roundRect">
            <a:avLst>
              <a:gd name="adj" fmla="val 16667"/>
            </a:avLst>
          </a:prstGeom>
          <a:solidFill>
            <a:srgbClr val="F8F2EA"/>
          </a:solidFill>
          <a:ln/>
        </p:spPr>
        <p:txBody>
          <a:bodyPr/>
          <a:lstStyle/>
          <a:p>
            <a:endParaRPr lang="ko-KR" altLang="en-US"/>
          </a:p>
        </p:txBody>
      </p:sp>
      <p:sp>
        <p:nvSpPr>
          <p:cNvPr id="47" name="Text 45"/>
          <p:cNvSpPr/>
          <p:nvPr/>
        </p:nvSpPr>
        <p:spPr>
          <a:xfrm>
            <a:off x="3630168" y="4151376"/>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로스 이벤트(일 배치)</a:t>
            </a:r>
            <a:endParaRPr lang="en-US" sz="930" dirty="0"/>
          </a:p>
        </p:txBody>
      </p:sp>
      <p:sp>
        <p:nvSpPr>
          <p:cNvPr id="48" name="Shape 46"/>
          <p:cNvSpPr/>
          <p:nvPr/>
        </p:nvSpPr>
        <p:spPr>
          <a:xfrm>
            <a:off x="6400800" y="4151376"/>
            <a:ext cx="2743200" cy="493776"/>
          </a:xfrm>
          <a:prstGeom prst="roundRect">
            <a:avLst>
              <a:gd name="adj" fmla="val 16667"/>
            </a:avLst>
          </a:prstGeom>
          <a:solidFill>
            <a:srgbClr val="F8F2EA"/>
          </a:solidFill>
          <a:ln/>
        </p:spPr>
        <p:txBody>
          <a:bodyPr/>
          <a:lstStyle/>
          <a:p>
            <a:endParaRPr lang="ko-KR" altLang="en-US"/>
          </a:p>
        </p:txBody>
      </p:sp>
      <p:sp>
        <p:nvSpPr>
          <p:cNvPr id="49" name="Text 47"/>
          <p:cNvSpPr/>
          <p:nvPr/>
        </p:nvSpPr>
        <p:spPr>
          <a:xfrm>
            <a:off x="6510528" y="4151376"/>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품목×지점 폐기율·사유 분포</a:t>
            </a:r>
            <a:endParaRPr lang="en-US" sz="930" dirty="0"/>
          </a:p>
        </p:txBody>
      </p:sp>
      <p:sp>
        <p:nvSpPr>
          <p:cNvPr id="50" name="Shape 48"/>
          <p:cNvSpPr/>
          <p:nvPr/>
        </p:nvSpPr>
        <p:spPr>
          <a:xfrm>
            <a:off x="9281160" y="4151376"/>
            <a:ext cx="2423160" cy="493776"/>
          </a:xfrm>
          <a:prstGeom prst="roundRect">
            <a:avLst>
              <a:gd name="adj" fmla="val 16667"/>
            </a:avLst>
          </a:prstGeom>
          <a:solidFill>
            <a:srgbClr val="F8F2EA"/>
          </a:solidFill>
          <a:ln/>
        </p:spPr>
        <p:txBody>
          <a:bodyPr/>
          <a:lstStyle/>
          <a:p>
            <a:endParaRPr lang="ko-KR" altLang="en-US"/>
          </a:p>
        </p:txBody>
      </p:sp>
      <p:sp>
        <p:nvSpPr>
          <p:cNvPr id="51" name="Text 49"/>
          <p:cNvSpPr/>
          <p:nvPr/>
        </p:nvSpPr>
        <p:spPr>
          <a:xfrm>
            <a:off x="9390888" y="4151376"/>
            <a:ext cx="2203704" cy="493776"/>
          </a:xfrm>
          <a:prstGeom prst="rect">
            <a:avLst/>
          </a:prstGeom>
          <a:noFill/>
          <a:ln/>
        </p:spPr>
        <p:txBody>
          <a:bodyPr wrap="square" lIns="0" tIns="0" rIns="0" bIns="0" rtlCol="0" anchor="ctr"/>
          <a:lstStyle/>
          <a:p>
            <a:pPr marL="0" indent="0">
              <a:lnSpc>
                <a:spcPct val="100000"/>
              </a:lnSpc>
              <a:buNone/>
            </a:pPr>
            <a:r>
              <a:rPr lang="en-US" sz="930" dirty="0">
                <a:solidFill>
                  <a:srgbClr val="9C5227"/>
                </a:solidFill>
                <a:latin typeface="Malgun Gothic" pitchFamily="34" charset="0"/>
                <a:ea typeface="Malgun Gothic" pitchFamily="34" charset="-122"/>
                <a:cs typeface="Malgun Gothic" pitchFamily="34" charset="-120"/>
              </a:rPr>
              <a:t>생산 보정·DMAIC</a:t>
            </a:r>
            <a:endParaRPr lang="en-US" sz="930" dirty="0"/>
          </a:p>
        </p:txBody>
      </p:sp>
      <p:sp>
        <p:nvSpPr>
          <p:cNvPr id="52" name="Shape 50"/>
          <p:cNvSpPr/>
          <p:nvPr/>
        </p:nvSpPr>
        <p:spPr>
          <a:xfrm>
            <a:off x="502920" y="4718304"/>
            <a:ext cx="288036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53" name="Text 51"/>
          <p:cNvSpPr/>
          <p:nvPr/>
        </p:nvSpPr>
        <p:spPr>
          <a:xfrm>
            <a:off x="612648" y="4718304"/>
            <a:ext cx="2660904" cy="493776"/>
          </a:xfrm>
          <a:prstGeom prst="rect">
            <a:avLst/>
          </a:prstGeom>
          <a:noFill/>
          <a:ln/>
        </p:spPr>
        <p:txBody>
          <a:bodyPr wrap="square" lIns="0" tIns="0" rIns="0" bIns="0" rtlCol="0" anchor="ctr"/>
          <a:lstStyle/>
          <a:p>
            <a:pPr marL="0" indent="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수금·지급·분개</a:t>
            </a:r>
            <a:endParaRPr lang="en-US" sz="930" dirty="0"/>
          </a:p>
        </p:txBody>
      </p:sp>
      <p:sp>
        <p:nvSpPr>
          <p:cNvPr id="54" name="Shape 52"/>
          <p:cNvSpPr/>
          <p:nvPr/>
        </p:nvSpPr>
        <p:spPr>
          <a:xfrm>
            <a:off x="3520440" y="4718304"/>
            <a:ext cx="274320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55" name="Text 53"/>
          <p:cNvSpPr/>
          <p:nvPr/>
        </p:nvSpPr>
        <p:spPr>
          <a:xfrm>
            <a:off x="3630168" y="4718304"/>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회계 전표(일 마감)</a:t>
            </a:r>
            <a:endParaRPr lang="en-US" sz="930" dirty="0"/>
          </a:p>
        </p:txBody>
      </p:sp>
      <p:sp>
        <p:nvSpPr>
          <p:cNvPr id="56" name="Shape 54"/>
          <p:cNvSpPr/>
          <p:nvPr/>
        </p:nvSpPr>
        <p:spPr>
          <a:xfrm>
            <a:off x="6400800" y="4718304"/>
            <a:ext cx="274320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57" name="Text 55"/>
          <p:cNvSpPr/>
          <p:nvPr/>
        </p:nvSpPr>
        <p:spPr>
          <a:xfrm>
            <a:off x="6510528" y="4718304"/>
            <a:ext cx="2523744" cy="493776"/>
          </a:xfrm>
          <a:prstGeom prst="rect">
            <a:avLst/>
          </a:prstGeom>
          <a:noFill/>
          <a:ln/>
        </p:spPr>
        <p:txBody>
          <a:bodyPr wrap="square" lIns="0" tIns="0" rIns="0" bIns="0" rtlCol="0" anchor="ctr"/>
          <a:lstStyle/>
          <a:p>
            <a:pPr marL="0" indent="0">
              <a:lnSpc>
                <a:spcPct val="100000"/>
              </a:lnSpc>
              <a:buNone/>
            </a:pPr>
            <a:r>
              <a:rPr lang="en-US" sz="930" dirty="0">
                <a:solidFill>
                  <a:srgbClr val="2E241C"/>
                </a:solidFill>
                <a:latin typeface="Malgun Gothic" pitchFamily="34" charset="0"/>
                <a:ea typeface="Malgun Gothic" pitchFamily="34" charset="-122"/>
                <a:cs typeface="Malgun Gothic" pitchFamily="34" charset="-120"/>
              </a:rPr>
              <a:t>채널·거래처 손익, CCC</a:t>
            </a:r>
            <a:endParaRPr lang="en-US" sz="930" dirty="0"/>
          </a:p>
        </p:txBody>
      </p:sp>
      <p:sp>
        <p:nvSpPr>
          <p:cNvPr id="58" name="Shape 56"/>
          <p:cNvSpPr/>
          <p:nvPr/>
        </p:nvSpPr>
        <p:spPr>
          <a:xfrm>
            <a:off x="9281160" y="4718304"/>
            <a:ext cx="2423160" cy="493776"/>
          </a:xfrm>
          <a:prstGeom prst="roundRect">
            <a:avLst>
              <a:gd name="adj" fmla="val 16667"/>
            </a:avLst>
          </a:prstGeom>
          <a:solidFill>
            <a:srgbClr val="FFFFFF"/>
          </a:solidFill>
          <a:ln w="9525">
            <a:solidFill>
              <a:srgbClr val="DCCDBB"/>
            </a:solidFill>
            <a:prstDash val="solid"/>
          </a:ln>
        </p:spPr>
        <p:txBody>
          <a:bodyPr/>
          <a:lstStyle/>
          <a:p>
            <a:endParaRPr lang="ko-KR" altLang="en-US"/>
          </a:p>
        </p:txBody>
      </p:sp>
      <p:sp>
        <p:nvSpPr>
          <p:cNvPr id="59" name="Text 57"/>
          <p:cNvSpPr/>
          <p:nvPr/>
        </p:nvSpPr>
        <p:spPr>
          <a:xfrm>
            <a:off x="9390888" y="4718304"/>
            <a:ext cx="2203704" cy="493776"/>
          </a:xfrm>
          <a:prstGeom prst="rect">
            <a:avLst/>
          </a:prstGeom>
          <a:noFill/>
          <a:ln/>
        </p:spPr>
        <p:txBody>
          <a:bodyPr wrap="square" lIns="0" tIns="0" rIns="0" bIns="0" rtlCol="0" anchor="ctr"/>
          <a:lstStyle/>
          <a:p>
            <a:pPr marL="0" indent="0">
              <a:lnSpc>
                <a:spcPct val="100000"/>
              </a:lnSpc>
              <a:buNone/>
            </a:pPr>
            <a:r>
              <a:rPr lang="en-US" sz="930" dirty="0">
                <a:solidFill>
                  <a:srgbClr val="9C5227"/>
                </a:solidFill>
                <a:latin typeface="Malgun Gothic" pitchFamily="34" charset="0"/>
                <a:ea typeface="Malgun Gothic" pitchFamily="34" charset="-122"/>
                <a:cs typeface="Malgun Gothic" pitchFamily="34" charset="-120"/>
              </a:rPr>
              <a:t>여신 경보·일일 손익</a:t>
            </a:r>
            <a:endParaRPr lang="en-US" sz="930" dirty="0"/>
          </a:p>
        </p:txBody>
      </p:sp>
      <p:sp>
        <p:nvSpPr>
          <p:cNvPr id="60" name="Text 58"/>
          <p:cNvSpPr/>
          <p:nvPr/>
        </p:nvSpPr>
        <p:spPr>
          <a:xfrm>
            <a:off x="502920" y="5440680"/>
            <a:ext cx="11201400" cy="777240"/>
          </a:xfrm>
          <a:prstGeom prst="rect">
            <a:avLst/>
          </a:prstGeom>
          <a:noFill/>
          <a:ln/>
        </p:spPr>
        <p:txBody>
          <a:bodyPr wrap="square" lIns="0" tIns="0" rIns="0" bIns="0" rtlCol="0" anchor="t"/>
          <a:lstStyle/>
          <a:p>
            <a:pPr marL="0" indent="0">
              <a:lnSpc>
                <a:spcPct val="120000"/>
              </a:lnSpc>
              <a:buNone/>
            </a:pPr>
            <a:r>
              <a:rPr lang="en-US" sz="1150" b="1" dirty="0">
                <a:solidFill>
                  <a:srgbClr val="9C5227"/>
                </a:solidFill>
                <a:latin typeface="Malgun Gothic" pitchFamily="34" charset="0"/>
                <a:ea typeface="Malgun Gothic" pitchFamily="34" charset="-122"/>
                <a:cs typeface="Malgun Gothic" pitchFamily="34" charset="-120"/>
              </a:rPr>
              <a:t>운영 방식  </a:t>
            </a:r>
            <a:r>
              <a:rPr lang="en-US" sz="1150" dirty="0">
                <a:solidFill>
                  <a:srgbClr val="2E241C"/>
                </a:solidFill>
                <a:latin typeface="Malgun Gothic" pitchFamily="34" charset="0"/>
                <a:ea typeface="Malgun Gothic" pitchFamily="34" charset="-122"/>
                <a:cs typeface="Malgun Gothic" pitchFamily="34" charset="-120"/>
              </a:rPr>
              <a:t>실시간 이벤트(판매·재고)는 즉시 스트림으로, 정산성 데이터(회계·폐기)는 일 배치로 — 모든 특징량은 원장 트랜잭션에서만 생성되어 근거 추적이 가능하다(원장=단일 진실 원천). 이 표의 오른쪽 열이 곧 13·14장의 입력이다.</a:t>
            </a:r>
            <a:endParaRPr lang="en-US" sz="1150" dirty="0"/>
          </a:p>
        </p:txBody>
      </p:sp>
      <p:sp>
        <p:nvSpPr>
          <p:cNvPr id="61" name="Text 59"/>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62" name="Text 60"/>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E8A33D"/>
                </a:solidFill>
                <a:latin typeface="Malgun Gothic" pitchFamily="34" charset="0"/>
                <a:ea typeface="Malgun Gothic" pitchFamily="34" charset="-122"/>
                <a:cs typeface="Malgun Gothic" pitchFamily="34" charset="-120"/>
              </a:rPr>
              <a:t>ONTOLOGY · KNOWLEDGE GRAPH</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ko-KR" altLang="en-US" sz="2500" b="1" dirty="0">
                <a:latin typeface="Malgun Gothic" pitchFamily="34" charset="0"/>
                <a:ea typeface="Malgun Gothic" pitchFamily="34" charset="-122"/>
                <a:cs typeface="Malgun Gothic" pitchFamily="34" charset="-120"/>
              </a:rPr>
              <a:t>베이커리 </a:t>
            </a:r>
            <a:r>
              <a:rPr lang="en-US" sz="2500" b="1" dirty="0">
                <a:latin typeface="Malgun Gothic" pitchFamily="34" charset="0"/>
                <a:ea typeface="Malgun Gothic" pitchFamily="34" charset="-122"/>
                <a:cs typeface="Malgun Gothic" pitchFamily="34" charset="-120"/>
              </a:rPr>
              <a:t>T</a:t>
            </a:r>
            <a:r>
              <a:rPr lang="ko-KR" altLang="en-US" sz="2500" b="1" dirty="0">
                <a:latin typeface="Malgun Gothic" pitchFamily="34" charset="0"/>
                <a:ea typeface="Malgun Gothic" pitchFamily="34" charset="-122"/>
                <a:cs typeface="Malgun Gothic" pitchFamily="34" charset="-120"/>
              </a:rPr>
              <a:t>사</a:t>
            </a:r>
            <a:r>
              <a:rPr lang="en-US" sz="2500" b="1" dirty="0">
                <a:latin typeface="Malgun Gothic" pitchFamily="34" charset="0"/>
                <a:ea typeface="Malgun Gothic" pitchFamily="34" charset="-122"/>
                <a:cs typeface="Malgun Gothic" pitchFamily="34" charset="-120"/>
              </a:rPr>
              <a:t> 온톨로지 — 데이터가 의미로 연결되는 층</a:t>
            </a:r>
            <a:endParaRPr lang="en-US" sz="2500" dirty="0"/>
          </a:p>
        </p:txBody>
      </p:sp>
      <p:sp>
        <p:nvSpPr>
          <p:cNvPr id="4" name="Shape 2"/>
          <p:cNvSpPr/>
          <p:nvPr/>
        </p:nvSpPr>
        <p:spPr>
          <a:xfrm>
            <a:off x="502920" y="1463040"/>
            <a:ext cx="6035040" cy="4297680"/>
          </a:xfrm>
          <a:prstGeom prst="roundRect">
            <a:avLst>
              <a:gd name="adj" fmla="val 1915"/>
            </a:avLst>
          </a:prstGeom>
          <a:solidFill>
            <a:srgbClr val="3E2C1D"/>
          </a:solidFill>
          <a:ln/>
        </p:spPr>
        <p:txBody>
          <a:bodyPr/>
          <a:lstStyle/>
          <a:p>
            <a:endParaRPr lang="ko-KR" altLang="en-US"/>
          </a:p>
        </p:txBody>
      </p:sp>
      <p:sp>
        <p:nvSpPr>
          <p:cNvPr id="5" name="Text 3"/>
          <p:cNvSpPr/>
          <p:nvPr/>
        </p:nvSpPr>
        <p:spPr>
          <a:xfrm>
            <a:off x="758952" y="1627632"/>
            <a:ext cx="5394960" cy="292608"/>
          </a:xfrm>
          <a:prstGeom prst="rect">
            <a:avLst/>
          </a:prstGeom>
          <a:noFill/>
          <a:ln/>
        </p:spPr>
        <p:txBody>
          <a:bodyPr wrap="square" lIns="0" tIns="0" rIns="0" bIns="0" rtlCol="0" anchor="ctr"/>
          <a:lstStyle/>
          <a:p>
            <a:pPr marL="0" indent="0">
              <a:buNone/>
            </a:pPr>
            <a:r>
              <a:rPr lang="en-US" sz="1350" b="1" dirty="0">
                <a:solidFill>
                  <a:srgbClr val="E8A33D"/>
                </a:solidFill>
                <a:latin typeface="Malgun Gothic" pitchFamily="34" charset="0"/>
                <a:ea typeface="Malgun Gothic" pitchFamily="34" charset="-122"/>
                <a:cs typeface="Malgun Gothic" pitchFamily="34" charset="-120"/>
              </a:rPr>
              <a:t>도메인 클래스와 관계 (발췌)</a:t>
            </a:r>
            <a:endParaRPr lang="en-US" sz="1350" dirty="0"/>
          </a:p>
        </p:txBody>
      </p:sp>
      <p:sp>
        <p:nvSpPr>
          <p:cNvPr id="6" name="Shape 4"/>
          <p:cNvSpPr/>
          <p:nvPr/>
        </p:nvSpPr>
        <p:spPr>
          <a:xfrm>
            <a:off x="1051560" y="2286000"/>
            <a:ext cx="1234440" cy="777240"/>
          </a:xfrm>
          <a:prstGeom prst="ellipse">
            <a:avLst/>
          </a:prstGeom>
          <a:solidFill>
            <a:srgbClr val="9C5227"/>
          </a:solidFill>
          <a:ln w="9525">
            <a:solidFill>
              <a:srgbClr val="FFFFFF"/>
            </a:solidFill>
            <a:prstDash val="solid"/>
          </a:ln>
        </p:spPr>
        <p:txBody>
          <a:bodyPr/>
          <a:lstStyle/>
          <a:p>
            <a:endParaRPr lang="ko-KR" altLang="en-US"/>
          </a:p>
        </p:txBody>
      </p:sp>
      <p:sp>
        <p:nvSpPr>
          <p:cNvPr id="7" name="Text 5"/>
          <p:cNvSpPr/>
          <p:nvPr/>
        </p:nvSpPr>
        <p:spPr>
          <a:xfrm>
            <a:off x="1051560" y="2286000"/>
            <a:ext cx="1234440" cy="777240"/>
          </a:xfrm>
          <a:prstGeom prst="rect">
            <a:avLst/>
          </a:prstGeom>
          <a:noFill/>
          <a:ln/>
        </p:spPr>
        <p:txBody>
          <a:bodyPr wrap="square" lIns="0" tIns="0" rIns="0" bIns="0" rtlCol="0" anchor="ctr"/>
          <a:lstStyle/>
          <a:p>
            <a:pPr marL="0" indent="0" algn="ctr">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제품</a:t>
            </a:r>
            <a:endParaRPr lang="en-US" sz="900" dirty="0"/>
          </a:p>
          <a:p>
            <a:pPr marL="0" indent="0" algn="ctr">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(파이만쥬)</a:t>
            </a:r>
            <a:endParaRPr lang="en-US" sz="900" dirty="0"/>
          </a:p>
        </p:txBody>
      </p:sp>
      <p:sp>
        <p:nvSpPr>
          <p:cNvPr id="8" name="Shape 6"/>
          <p:cNvSpPr/>
          <p:nvPr/>
        </p:nvSpPr>
        <p:spPr>
          <a:xfrm>
            <a:off x="2743200" y="2011680"/>
            <a:ext cx="1234440" cy="777240"/>
          </a:xfrm>
          <a:prstGeom prst="ellipse">
            <a:avLst/>
          </a:prstGeom>
          <a:solidFill>
            <a:srgbClr val="C07F1E"/>
          </a:solidFill>
          <a:ln w="9525">
            <a:solidFill>
              <a:srgbClr val="FFFFFF"/>
            </a:solidFill>
            <a:prstDash val="solid"/>
          </a:ln>
        </p:spPr>
        <p:txBody>
          <a:bodyPr/>
          <a:lstStyle/>
          <a:p>
            <a:endParaRPr lang="ko-KR" altLang="en-US"/>
          </a:p>
        </p:txBody>
      </p:sp>
      <p:sp>
        <p:nvSpPr>
          <p:cNvPr id="9" name="Text 7"/>
          <p:cNvSpPr/>
          <p:nvPr/>
        </p:nvSpPr>
        <p:spPr>
          <a:xfrm>
            <a:off x="2743200" y="2011680"/>
            <a:ext cx="1234440" cy="777240"/>
          </a:xfrm>
          <a:prstGeom prst="rect">
            <a:avLst/>
          </a:prstGeom>
          <a:noFill/>
          <a:ln/>
        </p:spPr>
        <p:txBody>
          <a:bodyPr wrap="square" lIns="0" tIns="0" rIns="0" bIns="0" rtlCol="0" anchor="ctr"/>
          <a:lstStyle/>
          <a:p>
            <a:pPr marL="0" indent="0" algn="ctr">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레시피</a:t>
            </a:r>
            <a:endParaRPr lang="en-US" sz="900" dirty="0"/>
          </a:p>
          <a:p>
            <a:pPr marL="0" indent="0" algn="ctr">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(BOM)</a:t>
            </a:r>
            <a:endParaRPr lang="en-US" sz="900" dirty="0"/>
          </a:p>
        </p:txBody>
      </p:sp>
      <p:sp>
        <p:nvSpPr>
          <p:cNvPr id="10" name="Shape 8"/>
          <p:cNvSpPr/>
          <p:nvPr/>
        </p:nvSpPr>
        <p:spPr>
          <a:xfrm>
            <a:off x="4480560" y="2286000"/>
            <a:ext cx="1234440" cy="777240"/>
          </a:xfrm>
          <a:prstGeom prst="ellipse">
            <a:avLst/>
          </a:prstGeom>
          <a:solidFill>
            <a:srgbClr val="0E8F86"/>
          </a:solidFill>
          <a:ln w="9525">
            <a:solidFill>
              <a:srgbClr val="FFFFFF"/>
            </a:solidFill>
            <a:prstDash val="solid"/>
          </a:ln>
        </p:spPr>
        <p:txBody>
          <a:bodyPr/>
          <a:lstStyle/>
          <a:p>
            <a:endParaRPr lang="ko-KR" altLang="en-US"/>
          </a:p>
        </p:txBody>
      </p:sp>
      <p:sp>
        <p:nvSpPr>
          <p:cNvPr id="11" name="Text 9"/>
          <p:cNvSpPr/>
          <p:nvPr/>
        </p:nvSpPr>
        <p:spPr>
          <a:xfrm>
            <a:off x="4480560" y="2286000"/>
            <a:ext cx="1234440" cy="777240"/>
          </a:xfrm>
          <a:prstGeom prst="rect">
            <a:avLst/>
          </a:prstGeom>
          <a:noFill/>
          <a:ln/>
        </p:spPr>
        <p:txBody>
          <a:bodyPr wrap="square" lIns="0" tIns="0" rIns="0" bIns="0" rtlCol="0" anchor="ctr"/>
          <a:lstStyle/>
          <a:p>
            <a:pPr marL="0" indent="0" algn="ctr">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원료 로트</a:t>
            </a:r>
            <a:endParaRPr lang="en-US" sz="900" dirty="0"/>
          </a:p>
        </p:txBody>
      </p:sp>
      <p:sp>
        <p:nvSpPr>
          <p:cNvPr id="12" name="Shape 10"/>
          <p:cNvSpPr/>
          <p:nvPr/>
        </p:nvSpPr>
        <p:spPr>
          <a:xfrm>
            <a:off x="1051560" y="3931920"/>
            <a:ext cx="1234440" cy="777240"/>
          </a:xfrm>
          <a:prstGeom prst="ellipse">
            <a:avLst/>
          </a:prstGeom>
          <a:solidFill>
            <a:srgbClr val="714B67"/>
          </a:solidFill>
          <a:ln w="9525">
            <a:solidFill>
              <a:srgbClr val="FFFFFF"/>
            </a:solidFill>
            <a:prstDash val="solid"/>
          </a:ln>
        </p:spPr>
        <p:txBody>
          <a:bodyPr/>
          <a:lstStyle/>
          <a:p>
            <a:endParaRPr lang="ko-KR" altLang="en-US"/>
          </a:p>
        </p:txBody>
      </p:sp>
      <p:sp>
        <p:nvSpPr>
          <p:cNvPr id="13" name="Text 11"/>
          <p:cNvSpPr/>
          <p:nvPr/>
        </p:nvSpPr>
        <p:spPr>
          <a:xfrm>
            <a:off x="1051560" y="3931920"/>
            <a:ext cx="1234440" cy="777240"/>
          </a:xfrm>
          <a:prstGeom prst="rect">
            <a:avLst/>
          </a:prstGeom>
          <a:noFill/>
          <a:ln/>
        </p:spPr>
        <p:txBody>
          <a:bodyPr wrap="square" lIns="0" tIns="0" rIns="0" bIns="0" rtlCol="0" anchor="ctr"/>
          <a:lstStyle/>
          <a:p>
            <a:pPr marL="0" indent="0" algn="ctr">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매장·채널</a:t>
            </a:r>
            <a:endParaRPr lang="en-US" sz="900" dirty="0"/>
          </a:p>
        </p:txBody>
      </p:sp>
      <p:sp>
        <p:nvSpPr>
          <p:cNvPr id="14" name="Shape 12"/>
          <p:cNvSpPr/>
          <p:nvPr/>
        </p:nvSpPr>
        <p:spPr>
          <a:xfrm>
            <a:off x="2743200" y="4297680"/>
            <a:ext cx="1234440" cy="777240"/>
          </a:xfrm>
          <a:prstGeom prst="ellipse">
            <a:avLst/>
          </a:prstGeom>
          <a:solidFill>
            <a:srgbClr val="E8A33D"/>
          </a:solidFill>
          <a:ln w="9525">
            <a:solidFill>
              <a:srgbClr val="FFFFFF"/>
            </a:solidFill>
            <a:prstDash val="solid"/>
          </a:ln>
        </p:spPr>
        <p:txBody>
          <a:bodyPr/>
          <a:lstStyle/>
          <a:p>
            <a:endParaRPr lang="ko-KR" altLang="en-US"/>
          </a:p>
        </p:txBody>
      </p:sp>
      <p:sp>
        <p:nvSpPr>
          <p:cNvPr id="15" name="Text 13"/>
          <p:cNvSpPr/>
          <p:nvPr/>
        </p:nvSpPr>
        <p:spPr>
          <a:xfrm>
            <a:off x="2743200" y="4297680"/>
            <a:ext cx="1234440" cy="777240"/>
          </a:xfrm>
          <a:prstGeom prst="rect">
            <a:avLst/>
          </a:prstGeom>
          <a:noFill/>
          <a:ln/>
        </p:spPr>
        <p:txBody>
          <a:bodyPr wrap="square" lIns="0" tIns="0" rIns="0" bIns="0" rtlCol="0" anchor="ctr"/>
          <a:lstStyle/>
          <a:p>
            <a:pPr marL="0" indent="0" algn="ctr">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판매 이벤트</a:t>
            </a:r>
            <a:endParaRPr lang="en-US" sz="900" dirty="0"/>
          </a:p>
        </p:txBody>
      </p:sp>
      <p:sp>
        <p:nvSpPr>
          <p:cNvPr id="16" name="Shape 14"/>
          <p:cNvSpPr/>
          <p:nvPr/>
        </p:nvSpPr>
        <p:spPr>
          <a:xfrm>
            <a:off x="4480560" y="3931920"/>
            <a:ext cx="1234440" cy="777240"/>
          </a:xfrm>
          <a:prstGeom prst="ellipse">
            <a:avLst/>
          </a:prstGeom>
          <a:solidFill>
            <a:srgbClr val="0E8F86"/>
          </a:solidFill>
          <a:ln w="9525">
            <a:solidFill>
              <a:srgbClr val="FFFFFF"/>
            </a:solidFill>
            <a:prstDash val="solid"/>
          </a:ln>
        </p:spPr>
        <p:txBody>
          <a:bodyPr/>
          <a:lstStyle/>
          <a:p>
            <a:endParaRPr lang="ko-KR" altLang="en-US"/>
          </a:p>
        </p:txBody>
      </p:sp>
      <p:sp>
        <p:nvSpPr>
          <p:cNvPr id="17" name="Text 15"/>
          <p:cNvSpPr/>
          <p:nvPr/>
        </p:nvSpPr>
        <p:spPr>
          <a:xfrm>
            <a:off x="4480560" y="3931920"/>
            <a:ext cx="1234440" cy="777240"/>
          </a:xfrm>
          <a:prstGeom prst="rect">
            <a:avLst/>
          </a:prstGeom>
          <a:noFill/>
          <a:ln/>
        </p:spPr>
        <p:txBody>
          <a:bodyPr wrap="square" lIns="0" tIns="0" rIns="0" bIns="0" rtlCol="0" anchor="ctr"/>
          <a:lstStyle/>
          <a:p>
            <a:pPr marL="0" indent="0" algn="ctr">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거래처(B2B)</a:t>
            </a:r>
            <a:endParaRPr lang="en-US" sz="900" dirty="0"/>
          </a:p>
        </p:txBody>
      </p:sp>
      <p:sp>
        <p:nvSpPr>
          <p:cNvPr id="18" name="Shape 16"/>
          <p:cNvSpPr/>
          <p:nvPr/>
        </p:nvSpPr>
        <p:spPr>
          <a:xfrm>
            <a:off x="2743200" y="3108960"/>
            <a:ext cx="1234440" cy="777240"/>
          </a:xfrm>
          <a:prstGeom prst="ellipse">
            <a:avLst/>
          </a:prstGeom>
          <a:solidFill>
            <a:srgbClr val="A8493B"/>
          </a:solidFill>
          <a:ln w="9525">
            <a:solidFill>
              <a:srgbClr val="FFFFFF"/>
            </a:solidFill>
            <a:prstDash val="solid"/>
          </a:ln>
        </p:spPr>
        <p:txBody>
          <a:bodyPr/>
          <a:lstStyle/>
          <a:p>
            <a:endParaRPr lang="ko-KR" altLang="en-US"/>
          </a:p>
        </p:txBody>
      </p:sp>
      <p:sp>
        <p:nvSpPr>
          <p:cNvPr id="19" name="Text 17"/>
          <p:cNvSpPr/>
          <p:nvPr/>
        </p:nvSpPr>
        <p:spPr>
          <a:xfrm>
            <a:off x="2743200" y="3108960"/>
            <a:ext cx="1234440" cy="777240"/>
          </a:xfrm>
          <a:prstGeom prst="rect">
            <a:avLst/>
          </a:prstGeom>
          <a:noFill/>
          <a:ln/>
        </p:spPr>
        <p:txBody>
          <a:bodyPr wrap="square" lIns="0" tIns="0" rIns="0" bIns="0" rtlCol="0" anchor="ctr"/>
          <a:lstStyle/>
          <a:p>
            <a:pPr marL="0" indent="0" algn="ctr">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판단·규칙</a:t>
            </a:r>
            <a:endParaRPr lang="en-US" sz="900" dirty="0"/>
          </a:p>
          <a:p>
            <a:pPr marL="0" indent="0" algn="ctr">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(암묵지)</a:t>
            </a:r>
            <a:endParaRPr lang="en-US" sz="900" dirty="0"/>
          </a:p>
        </p:txBody>
      </p:sp>
      <p:sp>
        <p:nvSpPr>
          <p:cNvPr id="20" name="Shape 18"/>
          <p:cNvSpPr/>
          <p:nvPr/>
        </p:nvSpPr>
        <p:spPr>
          <a:xfrm>
            <a:off x="2286000" y="2606040"/>
            <a:ext cx="457200" cy="0"/>
          </a:xfrm>
          <a:prstGeom prst="line">
            <a:avLst/>
          </a:prstGeom>
          <a:noFill/>
          <a:ln w="15240">
            <a:solidFill>
              <a:srgbClr val="D8C6B2"/>
            </a:solidFill>
            <a:prstDash val="solid"/>
          </a:ln>
        </p:spPr>
        <p:txBody>
          <a:bodyPr/>
          <a:lstStyle/>
          <a:p>
            <a:endParaRPr lang="ko-KR" altLang="en-US"/>
          </a:p>
        </p:txBody>
      </p:sp>
      <p:sp>
        <p:nvSpPr>
          <p:cNvPr id="21" name="Shape 19"/>
          <p:cNvSpPr/>
          <p:nvPr/>
        </p:nvSpPr>
        <p:spPr>
          <a:xfrm>
            <a:off x="3977640" y="2395728"/>
            <a:ext cx="502920" cy="210312"/>
          </a:xfrm>
          <a:prstGeom prst="line">
            <a:avLst/>
          </a:prstGeom>
          <a:noFill/>
          <a:ln w="15240">
            <a:solidFill>
              <a:srgbClr val="D8C6B2"/>
            </a:solidFill>
            <a:prstDash val="solid"/>
          </a:ln>
        </p:spPr>
        <p:txBody>
          <a:bodyPr/>
          <a:lstStyle/>
          <a:p>
            <a:endParaRPr lang="ko-KR" altLang="en-US"/>
          </a:p>
        </p:txBody>
      </p:sp>
      <p:sp>
        <p:nvSpPr>
          <p:cNvPr id="22" name="Shape 20"/>
          <p:cNvSpPr/>
          <p:nvPr/>
        </p:nvSpPr>
        <p:spPr>
          <a:xfrm>
            <a:off x="1664208" y="3063240"/>
            <a:ext cx="0" cy="868680"/>
          </a:xfrm>
          <a:prstGeom prst="line">
            <a:avLst/>
          </a:prstGeom>
          <a:noFill/>
          <a:ln w="15240">
            <a:solidFill>
              <a:srgbClr val="D8C6B2"/>
            </a:solidFill>
            <a:prstDash val="solid"/>
          </a:ln>
        </p:spPr>
        <p:txBody>
          <a:bodyPr/>
          <a:lstStyle/>
          <a:p>
            <a:endParaRPr lang="ko-KR" altLang="en-US"/>
          </a:p>
        </p:txBody>
      </p:sp>
      <p:sp>
        <p:nvSpPr>
          <p:cNvPr id="23" name="Shape 21"/>
          <p:cNvSpPr/>
          <p:nvPr/>
        </p:nvSpPr>
        <p:spPr>
          <a:xfrm>
            <a:off x="2286000" y="4206240"/>
            <a:ext cx="457200" cy="320040"/>
          </a:xfrm>
          <a:prstGeom prst="line">
            <a:avLst/>
          </a:prstGeom>
          <a:noFill/>
          <a:ln w="15240">
            <a:solidFill>
              <a:srgbClr val="D8C6B2"/>
            </a:solidFill>
            <a:prstDash val="solid"/>
          </a:ln>
        </p:spPr>
        <p:txBody>
          <a:bodyPr/>
          <a:lstStyle/>
          <a:p>
            <a:endParaRPr lang="ko-KR" altLang="en-US"/>
          </a:p>
        </p:txBody>
      </p:sp>
      <p:sp>
        <p:nvSpPr>
          <p:cNvPr id="24" name="Shape 22"/>
          <p:cNvSpPr/>
          <p:nvPr/>
        </p:nvSpPr>
        <p:spPr>
          <a:xfrm>
            <a:off x="3977640" y="4526280"/>
            <a:ext cx="502920" cy="0"/>
          </a:xfrm>
          <a:prstGeom prst="line">
            <a:avLst/>
          </a:prstGeom>
          <a:noFill/>
          <a:ln w="15240">
            <a:solidFill>
              <a:srgbClr val="D8C6B2"/>
            </a:solidFill>
            <a:prstDash val="solid"/>
          </a:ln>
        </p:spPr>
        <p:txBody>
          <a:bodyPr/>
          <a:lstStyle/>
          <a:p>
            <a:endParaRPr lang="ko-KR" altLang="en-US"/>
          </a:p>
        </p:txBody>
      </p:sp>
      <p:sp>
        <p:nvSpPr>
          <p:cNvPr id="25" name="Shape 23"/>
          <p:cNvSpPr/>
          <p:nvPr/>
        </p:nvSpPr>
        <p:spPr>
          <a:xfrm>
            <a:off x="3355848" y="2788920"/>
            <a:ext cx="0" cy="320040"/>
          </a:xfrm>
          <a:prstGeom prst="line">
            <a:avLst/>
          </a:prstGeom>
          <a:noFill/>
          <a:ln w="15240">
            <a:solidFill>
              <a:srgbClr val="D8C6B2"/>
            </a:solidFill>
            <a:prstDash val="solid"/>
          </a:ln>
        </p:spPr>
        <p:txBody>
          <a:bodyPr/>
          <a:lstStyle/>
          <a:p>
            <a:endParaRPr lang="ko-KR" altLang="en-US"/>
          </a:p>
        </p:txBody>
      </p:sp>
      <p:sp>
        <p:nvSpPr>
          <p:cNvPr id="26" name="Shape 24"/>
          <p:cNvSpPr/>
          <p:nvPr/>
        </p:nvSpPr>
        <p:spPr>
          <a:xfrm>
            <a:off x="3355848" y="3886200"/>
            <a:ext cx="0" cy="411480"/>
          </a:xfrm>
          <a:prstGeom prst="line">
            <a:avLst/>
          </a:prstGeom>
          <a:noFill/>
          <a:ln w="15240">
            <a:solidFill>
              <a:srgbClr val="D8C6B2"/>
            </a:solidFill>
            <a:prstDash val="solid"/>
          </a:ln>
        </p:spPr>
        <p:txBody>
          <a:bodyPr/>
          <a:lstStyle/>
          <a:p>
            <a:endParaRPr lang="ko-KR" altLang="en-US"/>
          </a:p>
        </p:txBody>
      </p:sp>
      <p:sp>
        <p:nvSpPr>
          <p:cNvPr id="27" name="Text 25"/>
          <p:cNvSpPr/>
          <p:nvPr/>
        </p:nvSpPr>
        <p:spPr>
          <a:xfrm>
            <a:off x="758952" y="5257800"/>
            <a:ext cx="5394960" cy="274320"/>
          </a:xfrm>
          <a:prstGeom prst="rect">
            <a:avLst/>
          </a:prstGeom>
          <a:noFill/>
          <a:ln/>
        </p:spPr>
        <p:txBody>
          <a:bodyPr wrap="square" lIns="0" tIns="0" rIns="0" bIns="0" rtlCol="0" anchor="ctr"/>
          <a:lstStyle/>
          <a:p>
            <a:pPr marL="0" indent="0">
              <a:buNone/>
            </a:pPr>
            <a:r>
              <a:rPr lang="en-US" sz="950" i="1" dirty="0">
                <a:solidFill>
                  <a:srgbClr val="D8C6B2"/>
                </a:solidFill>
                <a:latin typeface="Malgun Gothic" pitchFamily="34" charset="0"/>
                <a:ea typeface="Malgun Gothic" pitchFamily="34" charset="-122"/>
                <a:cs typeface="Malgun Gothic" pitchFamily="34" charset="-120"/>
              </a:rPr>
              <a:t>hasRecipe · consumesLot · soldAt · orderedBy · governedBy …</a:t>
            </a:r>
            <a:endParaRPr lang="en-US" sz="950" dirty="0"/>
          </a:p>
        </p:txBody>
      </p:sp>
      <p:sp>
        <p:nvSpPr>
          <p:cNvPr id="28" name="Shape 26"/>
          <p:cNvSpPr/>
          <p:nvPr/>
        </p:nvSpPr>
        <p:spPr>
          <a:xfrm>
            <a:off x="6812280" y="1463040"/>
            <a:ext cx="4892040" cy="4297680"/>
          </a:xfrm>
          <a:prstGeom prst="roundRect">
            <a:avLst>
              <a:gd name="adj" fmla="val 1915"/>
            </a:avLst>
          </a:prstGeom>
          <a:solidFill>
            <a:srgbClr val="3E2C1D"/>
          </a:solidFill>
          <a:ln/>
        </p:spPr>
        <p:txBody>
          <a:bodyPr/>
          <a:lstStyle/>
          <a:p>
            <a:endParaRPr lang="ko-KR" altLang="en-US"/>
          </a:p>
        </p:txBody>
      </p:sp>
      <p:sp>
        <p:nvSpPr>
          <p:cNvPr id="29" name="Text 27"/>
          <p:cNvSpPr/>
          <p:nvPr/>
        </p:nvSpPr>
        <p:spPr>
          <a:xfrm>
            <a:off x="7040880" y="1627632"/>
            <a:ext cx="4480560" cy="292608"/>
          </a:xfrm>
          <a:prstGeom prst="rect">
            <a:avLst/>
          </a:prstGeom>
          <a:noFill/>
          <a:ln/>
        </p:spPr>
        <p:txBody>
          <a:bodyPr wrap="square" lIns="0" tIns="0" rIns="0" bIns="0" rtlCol="0" anchor="ctr"/>
          <a:lstStyle/>
          <a:p>
            <a:pPr marL="0" indent="0">
              <a:buNone/>
            </a:pPr>
            <a:r>
              <a:rPr lang="en-US" sz="1350" b="1" dirty="0">
                <a:solidFill>
                  <a:srgbClr val="E8A33D"/>
                </a:solidFill>
                <a:latin typeface="Malgun Gothic" pitchFamily="34" charset="0"/>
                <a:ea typeface="Malgun Gothic" pitchFamily="34" charset="-122"/>
                <a:cs typeface="Malgun Gothic" pitchFamily="34" charset="-120"/>
              </a:rPr>
              <a:t>지식그래프가 답하는 질문 (GraphRAG)</a:t>
            </a:r>
            <a:endParaRPr lang="en-US" sz="1350" dirty="0"/>
          </a:p>
        </p:txBody>
      </p:sp>
      <p:sp>
        <p:nvSpPr>
          <p:cNvPr id="30" name="Shape 28"/>
          <p:cNvSpPr/>
          <p:nvPr/>
        </p:nvSpPr>
        <p:spPr>
          <a:xfrm>
            <a:off x="7040880" y="2048256"/>
            <a:ext cx="4434840" cy="859536"/>
          </a:xfrm>
          <a:prstGeom prst="roundRect">
            <a:avLst>
              <a:gd name="adj" fmla="val 9574"/>
            </a:avLst>
          </a:prstGeom>
          <a:solidFill>
            <a:srgbClr val="2B1D12"/>
          </a:solidFill>
          <a:ln/>
        </p:spPr>
        <p:txBody>
          <a:bodyPr/>
          <a:lstStyle/>
          <a:p>
            <a:endParaRPr lang="ko-KR" altLang="en-US"/>
          </a:p>
        </p:txBody>
      </p:sp>
      <p:sp>
        <p:nvSpPr>
          <p:cNvPr id="31" name="Text 29"/>
          <p:cNvSpPr/>
          <p:nvPr/>
        </p:nvSpPr>
        <p:spPr>
          <a:xfrm>
            <a:off x="7223760" y="2112264"/>
            <a:ext cx="4114800" cy="749808"/>
          </a:xfrm>
          <a:prstGeom prst="rect">
            <a:avLst/>
          </a:prstGeom>
          <a:noFill/>
          <a:ln/>
        </p:spPr>
        <p:txBody>
          <a:bodyPr wrap="square" lIns="0" tIns="0" rIns="0" bIns="0" rtlCol="0" anchor="t"/>
          <a:lstStyle/>
          <a:p>
            <a:pPr marL="0" indent="0">
              <a:lnSpc>
                <a:spcPct val="115000"/>
              </a:lnSpc>
              <a:buNone/>
            </a:pPr>
            <a:r>
              <a:rPr lang="en-US" sz="980" dirty="0">
                <a:solidFill>
                  <a:srgbClr val="FFFFFF"/>
                </a:solidFill>
                <a:latin typeface="Malgun Gothic" pitchFamily="34" charset="0"/>
                <a:ea typeface="Malgun Gothic" pitchFamily="34" charset="-122"/>
                <a:cs typeface="Malgun Gothic" pitchFamily="34" charset="-120"/>
              </a:rPr>
              <a:t>"지난달 파이만쥬 B2B 반품 3건의 공통 원인은?" → 판매→로트→원료→공정 경로를 거슬러 근거와 함께 답한다</a:t>
            </a:r>
            <a:endParaRPr lang="en-US" sz="980" dirty="0"/>
          </a:p>
        </p:txBody>
      </p:sp>
      <p:sp>
        <p:nvSpPr>
          <p:cNvPr id="32" name="Shape 30"/>
          <p:cNvSpPr/>
          <p:nvPr/>
        </p:nvSpPr>
        <p:spPr>
          <a:xfrm>
            <a:off x="7040880" y="3008376"/>
            <a:ext cx="4434840" cy="859536"/>
          </a:xfrm>
          <a:prstGeom prst="roundRect">
            <a:avLst>
              <a:gd name="adj" fmla="val 9574"/>
            </a:avLst>
          </a:prstGeom>
          <a:solidFill>
            <a:srgbClr val="2B1D12"/>
          </a:solidFill>
          <a:ln/>
        </p:spPr>
        <p:txBody>
          <a:bodyPr/>
          <a:lstStyle/>
          <a:p>
            <a:endParaRPr lang="ko-KR" altLang="en-US"/>
          </a:p>
        </p:txBody>
      </p:sp>
      <p:sp>
        <p:nvSpPr>
          <p:cNvPr id="33" name="Text 31"/>
          <p:cNvSpPr/>
          <p:nvPr/>
        </p:nvSpPr>
        <p:spPr>
          <a:xfrm>
            <a:off x="7223760" y="3072384"/>
            <a:ext cx="4114800" cy="749808"/>
          </a:xfrm>
          <a:prstGeom prst="rect">
            <a:avLst/>
          </a:prstGeom>
          <a:noFill/>
          <a:ln/>
        </p:spPr>
        <p:txBody>
          <a:bodyPr wrap="square" lIns="0" tIns="0" rIns="0" bIns="0" rtlCol="0" anchor="t"/>
          <a:lstStyle/>
          <a:p>
            <a:pPr marL="0" indent="0">
              <a:lnSpc>
                <a:spcPct val="115000"/>
              </a:lnSpc>
              <a:buNone/>
            </a:pPr>
            <a:r>
              <a:rPr lang="en-US" sz="980" dirty="0">
                <a:solidFill>
                  <a:srgbClr val="FFFFFF"/>
                </a:solidFill>
                <a:latin typeface="Malgun Gothic" pitchFamily="34" charset="0"/>
                <a:ea typeface="Malgun Gothic" pitchFamily="34" charset="-122"/>
                <a:cs typeface="Malgun Gothic" pitchFamily="34" charset="-120"/>
              </a:rPr>
              <a:t>"명절 세트 물량, 작년 대비 어떻게 잡을까?" → 판매 이벤트+관광 캘린더+베테랑 규칙을 연결해 제안한다</a:t>
            </a:r>
            <a:endParaRPr lang="en-US" sz="980" dirty="0"/>
          </a:p>
        </p:txBody>
      </p:sp>
      <p:sp>
        <p:nvSpPr>
          <p:cNvPr id="34" name="Shape 32"/>
          <p:cNvSpPr/>
          <p:nvPr/>
        </p:nvSpPr>
        <p:spPr>
          <a:xfrm>
            <a:off x="7040880" y="3968496"/>
            <a:ext cx="4434840" cy="859536"/>
          </a:xfrm>
          <a:prstGeom prst="roundRect">
            <a:avLst>
              <a:gd name="adj" fmla="val 9574"/>
            </a:avLst>
          </a:prstGeom>
          <a:solidFill>
            <a:srgbClr val="2B1D12"/>
          </a:solidFill>
          <a:ln/>
        </p:spPr>
        <p:txBody>
          <a:bodyPr/>
          <a:lstStyle/>
          <a:p>
            <a:endParaRPr lang="ko-KR" altLang="en-US"/>
          </a:p>
        </p:txBody>
      </p:sp>
      <p:sp>
        <p:nvSpPr>
          <p:cNvPr id="35" name="Text 33"/>
          <p:cNvSpPr/>
          <p:nvPr/>
        </p:nvSpPr>
        <p:spPr>
          <a:xfrm>
            <a:off x="7223760" y="4032504"/>
            <a:ext cx="4114800" cy="749808"/>
          </a:xfrm>
          <a:prstGeom prst="rect">
            <a:avLst/>
          </a:prstGeom>
          <a:noFill/>
          <a:ln/>
        </p:spPr>
        <p:txBody>
          <a:bodyPr wrap="square" lIns="0" tIns="0" rIns="0" bIns="0" rtlCol="0" anchor="t"/>
          <a:lstStyle/>
          <a:p>
            <a:pPr marL="0" indent="0">
              <a:lnSpc>
                <a:spcPct val="115000"/>
              </a:lnSpc>
              <a:buNone/>
            </a:pPr>
            <a:r>
              <a:rPr lang="en-US" sz="980" dirty="0">
                <a:solidFill>
                  <a:srgbClr val="FFFFFF"/>
                </a:solidFill>
                <a:latin typeface="Malgun Gothic" pitchFamily="34" charset="0"/>
                <a:ea typeface="Malgun Gothic" pitchFamily="34" charset="-122"/>
                <a:cs typeface="Malgun Gothic" pitchFamily="34" charset="-120"/>
              </a:rPr>
              <a:t>"비 오는 주말, 별빛샌드 배분은?" → 확정된 암묵지 규칙(날씨 감축률)이 배분 계수로 반영되어 있다</a:t>
            </a:r>
            <a:endParaRPr lang="en-US" sz="980" dirty="0"/>
          </a:p>
        </p:txBody>
      </p:sp>
      <p:sp>
        <p:nvSpPr>
          <p:cNvPr id="36" name="Text 34"/>
          <p:cNvSpPr/>
          <p:nvPr/>
        </p:nvSpPr>
        <p:spPr>
          <a:xfrm>
            <a:off x="7040880" y="4983480"/>
            <a:ext cx="4480560" cy="731520"/>
          </a:xfrm>
          <a:prstGeom prst="rect">
            <a:avLst/>
          </a:prstGeom>
          <a:noFill/>
          <a:ln/>
        </p:spPr>
        <p:txBody>
          <a:bodyPr wrap="square" lIns="0" tIns="0" rIns="0" bIns="0" rtlCol="0" anchor="t"/>
          <a:lstStyle/>
          <a:p>
            <a:pPr marL="0" indent="0">
              <a:lnSpc>
                <a:spcPct val="115000"/>
              </a:lnSpc>
              <a:buNone/>
            </a:pPr>
            <a:r>
              <a:rPr lang="en-US" sz="900" i="1" dirty="0">
                <a:solidFill>
                  <a:srgbClr val="D8C6B2"/>
                </a:solidFill>
                <a:latin typeface="Malgun Gothic" pitchFamily="34" charset="0"/>
                <a:ea typeface="Malgun Gothic" pitchFamily="34" charset="-122"/>
                <a:cs typeface="Malgun Gothic" pitchFamily="34" charset="-120"/>
              </a:rPr>
              <a:t>구축 순서: Odoo 코드체계가 어휘가 되고(1단계부터 준비), 현장 인터뷰의 암묵지가 검증(확신도 70%·3회)을 거쳐 '판단·규칙' 노드로 편입된다 — Neo4j GraphRAG 부스터</a:t>
            </a:r>
            <a:endParaRPr lang="en-US" sz="900" dirty="0"/>
          </a:p>
        </p:txBody>
      </p:sp>
      <p:sp>
        <p:nvSpPr>
          <p:cNvPr id="37" name="Text 35"/>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latin typeface="Malgun Gothic" pitchFamily="34" charset="0"/>
                <a:ea typeface="Malgun Gothic" pitchFamily="34" charset="-122"/>
                <a:cs typeface="Malgun Gothic" pitchFamily="34" charset="-120"/>
              </a:rPr>
              <a:t>1950 </a:t>
            </a:r>
            <a:r>
              <a:rPr lang="ko-KR" altLang="en-US" sz="900" dirty="0">
                <a:latin typeface="Malgun Gothic" pitchFamily="34" charset="0"/>
                <a:ea typeface="Malgun Gothic" pitchFamily="34" charset="-122"/>
                <a:cs typeface="Malgun Gothic" pitchFamily="34" charset="-120"/>
              </a:rPr>
              <a:t>베이커리 </a:t>
            </a:r>
            <a:r>
              <a:rPr lang="en-US" sz="900" dirty="0">
                <a:latin typeface="Malgun Gothic" pitchFamily="34" charset="0"/>
                <a:ea typeface="Malgun Gothic" pitchFamily="34" charset="-122"/>
                <a:cs typeface="Malgun Gothic" pitchFamily="34" charset="-120"/>
              </a:rPr>
              <a:t>T</a:t>
            </a:r>
            <a:r>
              <a:rPr lang="ko-KR" altLang="en-US" sz="900" dirty="0">
                <a:latin typeface="Malgun Gothic" pitchFamily="34" charset="0"/>
                <a:ea typeface="Malgun Gothic" pitchFamily="34" charset="-122"/>
                <a:cs typeface="Malgun Gothic" pitchFamily="34" charset="-120"/>
              </a:rPr>
              <a:t>사</a:t>
            </a:r>
            <a:r>
              <a:rPr lang="en-US" sz="900" dirty="0">
                <a:latin typeface="Malgun Gothic" pitchFamily="34" charset="0"/>
                <a:ea typeface="Malgun Gothic" pitchFamily="34" charset="-122"/>
                <a:cs typeface="Malgun Gothic" pitchFamily="34" charset="-120"/>
              </a:rPr>
              <a:t> AX 프로젝트 제안 · 에이에스씨</a:t>
            </a:r>
            <a:endParaRPr lang="en-US" sz="900" dirty="0"/>
          </a:p>
        </p:txBody>
      </p:sp>
      <p:sp>
        <p:nvSpPr>
          <p:cNvPr id="38" name="Text 36"/>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D8C6B2"/>
                </a:solidFill>
                <a:latin typeface="Malgun Gothic" pitchFamily="34" charset="0"/>
                <a:ea typeface="Malgun Gothic" pitchFamily="34" charset="-122"/>
                <a:cs typeface="Malgun 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AI AGENTS</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solidFill>
                  <a:srgbClr val="2E241C"/>
                </a:solidFill>
                <a:latin typeface="Malgun Gothic" pitchFamily="34" charset="0"/>
                <a:ea typeface="Malgun Gothic" pitchFamily="34" charset="-122"/>
                <a:cs typeface="Malgun Gothic" pitchFamily="34" charset="-120"/>
              </a:rPr>
              <a:t>에이전트 포트폴리오 — 다섯 개의 일꾼, 하나의 관제탑</a:t>
            </a:r>
            <a:endParaRPr lang="en-US" sz="2500" dirty="0"/>
          </a:p>
        </p:txBody>
      </p:sp>
      <p:sp>
        <p:nvSpPr>
          <p:cNvPr id="4" name="Shape 2"/>
          <p:cNvSpPr/>
          <p:nvPr/>
        </p:nvSpPr>
        <p:spPr>
          <a:xfrm>
            <a:off x="502920" y="1463040"/>
            <a:ext cx="3621024" cy="1627632"/>
          </a:xfrm>
          <a:prstGeom prst="roundRect">
            <a:avLst>
              <a:gd name="adj" fmla="val 5056"/>
            </a:avLst>
          </a:prstGeom>
          <a:solidFill>
            <a:srgbClr val="F8F2EA"/>
          </a:solidFill>
          <a:ln/>
        </p:spPr>
        <p:txBody>
          <a:bodyPr/>
          <a:lstStyle/>
          <a:p>
            <a:endParaRPr lang="ko-KR" altLang="en-US"/>
          </a:p>
        </p:txBody>
      </p:sp>
      <p:sp>
        <p:nvSpPr>
          <p:cNvPr id="5" name="Text 3"/>
          <p:cNvSpPr/>
          <p:nvPr/>
        </p:nvSpPr>
        <p:spPr>
          <a:xfrm>
            <a:off x="704088" y="1572768"/>
            <a:ext cx="3218688" cy="292608"/>
          </a:xfrm>
          <a:prstGeom prst="rect">
            <a:avLst/>
          </a:prstGeom>
          <a:noFill/>
          <a:ln/>
        </p:spPr>
        <p:txBody>
          <a:bodyPr wrap="square" lIns="0" tIns="0" rIns="0" bIns="0" rtlCol="0" anchor="ctr"/>
          <a:lstStyle/>
          <a:p>
            <a:pPr marL="0" indent="0">
              <a:buNone/>
            </a:pPr>
            <a:r>
              <a:rPr lang="en-US" sz="1300" b="1" dirty="0">
                <a:solidFill>
                  <a:srgbClr val="0E8F86"/>
                </a:solidFill>
                <a:latin typeface="Malgun Gothic" pitchFamily="34" charset="0"/>
                <a:ea typeface="Malgun Gothic" pitchFamily="34" charset="-122"/>
                <a:cs typeface="Malgun Gothic" pitchFamily="34" charset="-120"/>
              </a:rPr>
              <a:t>수요예측 Agent</a:t>
            </a:r>
            <a:endParaRPr lang="en-US" sz="1300" dirty="0"/>
          </a:p>
        </p:txBody>
      </p:sp>
      <p:sp>
        <p:nvSpPr>
          <p:cNvPr id="6" name="Text 4"/>
          <p:cNvSpPr/>
          <p:nvPr/>
        </p:nvSpPr>
        <p:spPr>
          <a:xfrm>
            <a:off x="704088" y="1901952"/>
            <a:ext cx="3236976" cy="1143000"/>
          </a:xfrm>
          <a:prstGeom prst="rect">
            <a:avLst/>
          </a:prstGeom>
          <a:noFill/>
          <a:ln/>
        </p:spPr>
        <p:txBody>
          <a:bodyPr wrap="square" lIns="0" tIns="0" rIns="0" bIns="0" rtlCol="0" anchor="t"/>
          <a:lstStyle/>
          <a:p>
            <a:pPr marL="0" indent="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트리거  </a:t>
            </a:r>
            <a:r>
              <a:rPr lang="en-US" sz="1000" dirty="0">
                <a:solidFill>
                  <a:srgbClr val="2E241C"/>
                </a:solidFill>
                <a:latin typeface="Malgun Gothic" pitchFamily="34" charset="0"/>
                <a:ea typeface="Malgun Gothic" pitchFamily="34" charset="-122"/>
                <a:cs typeface="Malgun Gothic" pitchFamily="34" charset="-120"/>
              </a:rPr>
              <a:t>매일 밤 마감 후
</a:t>
            </a:r>
            <a:r>
              <a:rPr lang="en-US" sz="1000" b="1" dirty="0">
                <a:solidFill>
                  <a:srgbClr val="76675A"/>
                </a:solidFill>
                <a:latin typeface="Malgun Gothic" pitchFamily="34" charset="0"/>
                <a:ea typeface="Malgun Gothic" pitchFamily="34" charset="-122"/>
                <a:cs typeface="Malgun Gothic" pitchFamily="34" charset="-120"/>
              </a:rPr>
              <a:t>실행  </a:t>
            </a:r>
            <a:r>
              <a:rPr lang="en-US" sz="1000" dirty="0">
                <a:solidFill>
                  <a:srgbClr val="2E241C"/>
                </a:solidFill>
                <a:latin typeface="Malgun Gothic" pitchFamily="34" charset="0"/>
                <a:ea typeface="Malgun Gothic" pitchFamily="34" charset="-122"/>
                <a:cs typeface="Malgun Gothic" pitchFamily="34" charset="-120"/>
              </a:rPr>
              <a:t>익일·주간 예측 갱신 → 생산계획 초안 제출</a:t>
            </a:r>
            <a:endParaRPr lang="en-US" sz="1000" dirty="0"/>
          </a:p>
        </p:txBody>
      </p:sp>
      <p:sp>
        <p:nvSpPr>
          <p:cNvPr id="7" name="Shape 5"/>
          <p:cNvSpPr/>
          <p:nvPr/>
        </p:nvSpPr>
        <p:spPr>
          <a:xfrm>
            <a:off x="4325112" y="1463040"/>
            <a:ext cx="3621024" cy="1627632"/>
          </a:xfrm>
          <a:prstGeom prst="roundRect">
            <a:avLst>
              <a:gd name="adj" fmla="val 5056"/>
            </a:avLst>
          </a:prstGeom>
          <a:solidFill>
            <a:srgbClr val="F8F2EA"/>
          </a:solidFill>
          <a:ln/>
        </p:spPr>
        <p:txBody>
          <a:bodyPr/>
          <a:lstStyle/>
          <a:p>
            <a:endParaRPr lang="ko-KR" altLang="en-US"/>
          </a:p>
        </p:txBody>
      </p:sp>
      <p:sp>
        <p:nvSpPr>
          <p:cNvPr id="8" name="Text 6"/>
          <p:cNvSpPr/>
          <p:nvPr/>
        </p:nvSpPr>
        <p:spPr>
          <a:xfrm>
            <a:off x="4526280" y="1572768"/>
            <a:ext cx="3218688" cy="292608"/>
          </a:xfrm>
          <a:prstGeom prst="rect">
            <a:avLst/>
          </a:prstGeom>
          <a:noFill/>
          <a:ln/>
        </p:spPr>
        <p:txBody>
          <a:bodyPr wrap="square" lIns="0" tIns="0" rIns="0" bIns="0" rtlCol="0" anchor="ctr"/>
          <a:lstStyle/>
          <a:p>
            <a:pPr marL="0" indent="0">
              <a:buNone/>
            </a:pPr>
            <a:r>
              <a:rPr lang="en-US" sz="1300" b="1" dirty="0">
                <a:solidFill>
                  <a:srgbClr val="C07F1E"/>
                </a:solidFill>
                <a:latin typeface="Malgun Gothic" pitchFamily="34" charset="0"/>
                <a:ea typeface="Malgun Gothic" pitchFamily="34" charset="-122"/>
                <a:cs typeface="Malgun Gothic" pitchFamily="34" charset="-120"/>
              </a:rPr>
              <a:t>원자재보충 Agent</a:t>
            </a:r>
            <a:endParaRPr lang="en-US" sz="1300" dirty="0"/>
          </a:p>
        </p:txBody>
      </p:sp>
      <p:sp>
        <p:nvSpPr>
          <p:cNvPr id="9" name="Text 7"/>
          <p:cNvSpPr/>
          <p:nvPr/>
        </p:nvSpPr>
        <p:spPr>
          <a:xfrm>
            <a:off x="4526280" y="1901952"/>
            <a:ext cx="3236976" cy="1143000"/>
          </a:xfrm>
          <a:prstGeom prst="rect">
            <a:avLst/>
          </a:prstGeom>
          <a:noFill/>
          <a:ln/>
        </p:spPr>
        <p:txBody>
          <a:bodyPr wrap="square" lIns="0" tIns="0" rIns="0" bIns="0" rtlCol="0" anchor="t"/>
          <a:lstStyle/>
          <a:p>
            <a:pPr marL="0" indent="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트리거  </a:t>
            </a:r>
            <a:r>
              <a:rPr lang="en-US" sz="1000" dirty="0">
                <a:solidFill>
                  <a:srgbClr val="2E241C"/>
                </a:solidFill>
                <a:latin typeface="Malgun Gothic" pitchFamily="34" charset="0"/>
                <a:ea typeface="Malgun Gothic" pitchFamily="34" charset="-122"/>
                <a:cs typeface="Malgun Gothic" pitchFamily="34" charset="-120"/>
              </a:rPr>
              <a:t>ROP 도달·시세 급등
</a:t>
            </a:r>
            <a:r>
              <a:rPr lang="en-US" sz="1000" b="1" dirty="0">
                <a:solidFill>
                  <a:srgbClr val="76675A"/>
                </a:solidFill>
                <a:latin typeface="Malgun Gothic" pitchFamily="34" charset="0"/>
                <a:ea typeface="Malgun Gothic" pitchFamily="34" charset="-122"/>
                <a:cs typeface="Malgun Gothic" pitchFamily="34" charset="-120"/>
              </a:rPr>
              <a:t>실행  </a:t>
            </a:r>
            <a:r>
              <a:rPr lang="en-US" sz="1000" dirty="0">
                <a:solidFill>
                  <a:srgbClr val="2E241C"/>
                </a:solidFill>
                <a:latin typeface="Malgun Gothic" pitchFamily="34" charset="0"/>
                <a:ea typeface="Malgun Gothic" pitchFamily="34" charset="-122"/>
                <a:cs typeface="Malgun Gothic" pitchFamily="34" charset="-120"/>
              </a:rPr>
              <a:t>발주 초안+근거(소요·리드타임·단가 추이) 생성</a:t>
            </a:r>
            <a:endParaRPr lang="en-US" sz="1000" dirty="0"/>
          </a:p>
        </p:txBody>
      </p:sp>
      <p:sp>
        <p:nvSpPr>
          <p:cNvPr id="10" name="Shape 8"/>
          <p:cNvSpPr/>
          <p:nvPr/>
        </p:nvSpPr>
        <p:spPr>
          <a:xfrm>
            <a:off x="8147304" y="1463040"/>
            <a:ext cx="3621024" cy="1627632"/>
          </a:xfrm>
          <a:prstGeom prst="roundRect">
            <a:avLst>
              <a:gd name="adj" fmla="val 5056"/>
            </a:avLst>
          </a:prstGeom>
          <a:solidFill>
            <a:srgbClr val="F8F2EA"/>
          </a:solidFill>
          <a:ln/>
        </p:spPr>
        <p:txBody>
          <a:bodyPr/>
          <a:lstStyle/>
          <a:p>
            <a:endParaRPr lang="ko-KR" altLang="en-US"/>
          </a:p>
        </p:txBody>
      </p:sp>
      <p:sp>
        <p:nvSpPr>
          <p:cNvPr id="11" name="Text 9"/>
          <p:cNvSpPr/>
          <p:nvPr/>
        </p:nvSpPr>
        <p:spPr>
          <a:xfrm>
            <a:off x="8348472" y="1572768"/>
            <a:ext cx="3218688" cy="292608"/>
          </a:xfrm>
          <a:prstGeom prst="rect">
            <a:avLst/>
          </a:prstGeom>
          <a:noFill/>
          <a:ln/>
        </p:spPr>
        <p:txBody>
          <a:bodyPr wrap="square" lIns="0" tIns="0" rIns="0" bIns="0" rtlCol="0" anchor="ctr"/>
          <a:lstStyle/>
          <a:p>
            <a:pPr marL="0" indent="0">
              <a:buNone/>
            </a:pPr>
            <a:r>
              <a:rPr lang="en-US" sz="1300" b="1" dirty="0">
                <a:solidFill>
                  <a:srgbClr val="714B67"/>
                </a:solidFill>
                <a:latin typeface="Malgun Gothic" pitchFamily="34" charset="0"/>
                <a:ea typeface="Malgun Gothic" pitchFamily="34" charset="-122"/>
                <a:cs typeface="Malgun Gothic" pitchFamily="34" charset="-120"/>
              </a:rPr>
              <a:t>지점배분 Agent</a:t>
            </a:r>
            <a:endParaRPr lang="en-US" sz="1300" dirty="0"/>
          </a:p>
        </p:txBody>
      </p:sp>
      <p:sp>
        <p:nvSpPr>
          <p:cNvPr id="12" name="Text 10"/>
          <p:cNvSpPr/>
          <p:nvPr/>
        </p:nvSpPr>
        <p:spPr>
          <a:xfrm>
            <a:off x="8348472" y="1901952"/>
            <a:ext cx="3236976" cy="1143000"/>
          </a:xfrm>
          <a:prstGeom prst="rect">
            <a:avLst/>
          </a:prstGeom>
          <a:noFill/>
          <a:ln/>
        </p:spPr>
        <p:txBody>
          <a:bodyPr wrap="square" lIns="0" tIns="0" rIns="0" bIns="0" rtlCol="0" anchor="t"/>
          <a:lstStyle/>
          <a:p>
            <a:pPr marL="0" indent="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트리거  </a:t>
            </a:r>
            <a:r>
              <a:rPr lang="en-US" sz="1000" dirty="0">
                <a:solidFill>
                  <a:srgbClr val="2E241C"/>
                </a:solidFill>
                <a:latin typeface="Malgun Gothic" pitchFamily="34" charset="0"/>
                <a:ea typeface="Malgun Gothic" pitchFamily="34" charset="-122"/>
                <a:cs typeface="Malgun Gothic" pitchFamily="34" charset="-120"/>
              </a:rPr>
              <a:t>매일 새벽 배송 전
</a:t>
            </a:r>
            <a:r>
              <a:rPr lang="en-US" sz="1000" b="1" dirty="0">
                <a:solidFill>
                  <a:srgbClr val="76675A"/>
                </a:solidFill>
                <a:latin typeface="Malgun Gothic" pitchFamily="34" charset="0"/>
                <a:ea typeface="Malgun Gothic" pitchFamily="34" charset="-122"/>
                <a:cs typeface="Malgun Gothic" pitchFamily="34" charset="-120"/>
              </a:rPr>
              <a:t>실행  </a:t>
            </a:r>
            <a:r>
              <a:rPr lang="en-US" sz="1000" dirty="0">
                <a:solidFill>
                  <a:srgbClr val="2E241C"/>
                </a:solidFill>
                <a:latin typeface="Malgun Gothic" pitchFamily="34" charset="0"/>
                <a:ea typeface="Malgun Gothic" pitchFamily="34" charset="-122"/>
                <a:cs typeface="Malgun Gothic" pitchFamily="34" charset="-120"/>
              </a:rPr>
              <a:t>지점·채널별 배분안 — 전일 폐기·결품 반영 보정</a:t>
            </a:r>
            <a:endParaRPr lang="en-US" sz="1000" dirty="0"/>
          </a:p>
        </p:txBody>
      </p:sp>
      <p:sp>
        <p:nvSpPr>
          <p:cNvPr id="13" name="Shape 11"/>
          <p:cNvSpPr/>
          <p:nvPr/>
        </p:nvSpPr>
        <p:spPr>
          <a:xfrm>
            <a:off x="502920" y="3246120"/>
            <a:ext cx="3621024" cy="1627632"/>
          </a:xfrm>
          <a:prstGeom prst="roundRect">
            <a:avLst>
              <a:gd name="adj" fmla="val 5056"/>
            </a:avLst>
          </a:prstGeom>
          <a:solidFill>
            <a:srgbClr val="F8F2EA"/>
          </a:solidFill>
          <a:ln/>
        </p:spPr>
        <p:txBody>
          <a:bodyPr/>
          <a:lstStyle/>
          <a:p>
            <a:endParaRPr lang="ko-KR" altLang="en-US"/>
          </a:p>
        </p:txBody>
      </p:sp>
      <p:sp>
        <p:nvSpPr>
          <p:cNvPr id="14" name="Text 12"/>
          <p:cNvSpPr/>
          <p:nvPr/>
        </p:nvSpPr>
        <p:spPr>
          <a:xfrm>
            <a:off x="704088" y="3355848"/>
            <a:ext cx="3218688" cy="292608"/>
          </a:xfrm>
          <a:prstGeom prst="rect">
            <a:avLst/>
          </a:prstGeom>
          <a:noFill/>
          <a:ln/>
        </p:spPr>
        <p:txBody>
          <a:bodyPr wrap="square" lIns="0" tIns="0" rIns="0" bIns="0" rtlCol="0" anchor="ctr"/>
          <a:lstStyle/>
          <a:p>
            <a:pPr marL="0" indent="0">
              <a:buNone/>
            </a:pPr>
            <a:r>
              <a:rPr lang="en-US" sz="1300" b="1" dirty="0">
                <a:solidFill>
                  <a:srgbClr val="E8A33D"/>
                </a:solidFill>
                <a:latin typeface="Malgun Gothic" pitchFamily="34" charset="0"/>
                <a:ea typeface="Malgun Gothic" pitchFamily="34" charset="-122"/>
                <a:cs typeface="Malgun Gothic" pitchFamily="34" charset="-120"/>
              </a:rPr>
              <a:t>B2B수주 Agent</a:t>
            </a:r>
            <a:endParaRPr lang="en-US" sz="1300" dirty="0"/>
          </a:p>
        </p:txBody>
      </p:sp>
      <p:sp>
        <p:nvSpPr>
          <p:cNvPr id="15" name="Text 13"/>
          <p:cNvSpPr/>
          <p:nvPr/>
        </p:nvSpPr>
        <p:spPr>
          <a:xfrm>
            <a:off x="704088" y="3685032"/>
            <a:ext cx="3236976" cy="1143000"/>
          </a:xfrm>
          <a:prstGeom prst="rect">
            <a:avLst/>
          </a:prstGeom>
          <a:noFill/>
          <a:ln/>
        </p:spPr>
        <p:txBody>
          <a:bodyPr wrap="square" lIns="0" tIns="0" rIns="0" bIns="0" rtlCol="0" anchor="t"/>
          <a:lstStyle/>
          <a:p>
            <a:pPr marL="0" indent="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트리거  </a:t>
            </a:r>
            <a:r>
              <a:rPr lang="en-US" sz="1000" dirty="0">
                <a:solidFill>
                  <a:srgbClr val="2E241C"/>
                </a:solidFill>
                <a:latin typeface="Malgun Gothic" pitchFamily="34" charset="0"/>
                <a:ea typeface="Malgun Gothic" pitchFamily="34" charset="-122"/>
                <a:cs typeface="Malgun Gothic" pitchFamily="34" charset="-120"/>
              </a:rPr>
              <a:t>재주문 주기 도래
</a:t>
            </a:r>
            <a:r>
              <a:rPr lang="en-US" sz="1000" b="1" dirty="0">
                <a:solidFill>
                  <a:srgbClr val="76675A"/>
                </a:solidFill>
                <a:latin typeface="Malgun Gothic" pitchFamily="34" charset="0"/>
                <a:ea typeface="Malgun Gothic" pitchFamily="34" charset="-122"/>
                <a:cs typeface="Malgun Gothic" pitchFamily="34" charset="-120"/>
              </a:rPr>
              <a:t>실행  </a:t>
            </a:r>
            <a:r>
              <a:rPr lang="en-US" sz="1000" dirty="0">
                <a:solidFill>
                  <a:srgbClr val="2E241C"/>
                </a:solidFill>
                <a:latin typeface="Malgun Gothic" pitchFamily="34" charset="0"/>
                <a:ea typeface="Malgun Gothic" pitchFamily="34" charset="-122"/>
                <a:cs typeface="Malgun Gothic" pitchFamily="34" charset="-120"/>
              </a:rPr>
              <a:t>거래처별 수주 제안 초안 — 여신·단가 검증 포함</a:t>
            </a:r>
            <a:endParaRPr lang="en-US" sz="1000" dirty="0"/>
          </a:p>
        </p:txBody>
      </p:sp>
      <p:sp>
        <p:nvSpPr>
          <p:cNvPr id="16" name="Shape 14"/>
          <p:cNvSpPr/>
          <p:nvPr/>
        </p:nvSpPr>
        <p:spPr>
          <a:xfrm>
            <a:off x="4325112" y="3246120"/>
            <a:ext cx="3621024" cy="1627632"/>
          </a:xfrm>
          <a:prstGeom prst="roundRect">
            <a:avLst>
              <a:gd name="adj" fmla="val 5056"/>
            </a:avLst>
          </a:prstGeom>
          <a:solidFill>
            <a:srgbClr val="F8F2EA"/>
          </a:solidFill>
          <a:ln/>
        </p:spPr>
        <p:txBody>
          <a:bodyPr/>
          <a:lstStyle/>
          <a:p>
            <a:endParaRPr lang="ko-KR" altLang="en-US"/>
          </a:p>
        </p:txBody>
      </p:sp>
      <p:sp>
        <p:nvSpPr>
          <p:cNvPr id="17" name="Text 15"/>
          <p:cNvSpPr/>
          <p:nvPr/>
        </p:nvSpPr>
        <p:spPr>
          <a:xfrm>
            <a:off x="4526280" y="3355848"/>
            <a:ext cx="3218688" cy="292608"/>
          </a:xfrm>
          <a:prstGeom prst="rect">
            <a:avLst/>
          </a:prstGeom>
          <a:noFill/>
          <a:ln/>
        </p:spPr>
        <p:txBody>
          <a:bodyPr wrap="square" lIns="0" tIns="0" rIns="0" bIns="0" rtlCol="0" anchor="ctr"/>
          <a:lstStyle/>
          <a:p>
            <a:pPr marL="0" indent="0">
              <a:buNone/>
            </a:pPr>
            <a:r>
              <a:rPr lang="en-US" sz="1300" b="1" dirty="0">
                <a:solidFill>
                  <a:srgbClr val="9C5227"/>
                </a:solidFill>
                <a:latin typeface="Malgun Gothic" pitchFamily="34" charset="0"/>
                <a:ea typeface="Malgun Gothic" pitchFamily="34" charset="-122"/>
                <a:cs typeface="Malgun Gothic" pitchFamily="34" charset="-120"/>
              </a:rPr>
              <a:t>마감분개 Agent</a:t>
            </a:r>
            <a:endParaRPr lang="en-US" sz="1300" dirty="0"/>
          </a:p>
        </p:txBody>
      </p:sp>
      <p:sp>
        <p:nvSpPr>
          <p:cNvPr id="18" name="Text 16"/>
          <p:cNvSpPr/>
          <p:nvPr/>
        </p:nvSpPr>
        <p:spPr>
          <a:xfrm>
            <a:off x="4526280" y="3685032"/>
            <a:ext cx="3236976" cy="1143000"/>
          </a:xfrm>
          <a:prstGeom prst="rect">
            <a:avLst/>
          </a:prstGeom>
          <a:noFill/>
          <a:ln/>
        </p:spPr>
        <p:txBody>
          <a:bodyPr wrap="square" lIns="0" tIns="0" rIns="0" bIns="0" rtlCol="0" anchor="t"/>
          <a:lstStyle/>
          <a:p>
            <a:pPr marL="0" indent="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트리거  </a:t>
            </a:r>
            <a:r>
              <a:rPr lang="en-US" sz="1000" dirty="0">
                <a:solidFill>
                  <a:srgbClr val="2E241C"/>
                </a:solidFill>
                <a:latin typeface="Malgun Gothic" pitchFamily="34" charset="0"/>
                <a:ea typeface="Malgun Gothic" pitchFamily="34" charset="-122"/>
                <a:cs typeface="Malgun Gothic" pitchFamily="34" charset="-120"/>
              </a:rPr>
              <a:t>일 마감
</a:t>
            </a:r>
            <a:r>
              <a:rPr lang="en-US" sz="1000" b="1" dirty="0">
                <a:solidFill>
                  <a:srgbClr val="76675A"/>
                </a:solidFill>
                <a:latin typeface="Malgun Gothic" pitchFamily="34" charset="0"/>
                <a:ea typeface="Malgun Gothic" pitchFamily="34" charset="-122"/>
                <a:cs typeface="Malgun Gothic" pitchFamily="34" charset="-120"/>
              </a:rPr>
              <a:t>실행  </a:t>
            </a:r>
            <a:r>
              <a:rPr lang="en-US" sz="1000" dirty="0">
                <a:solidFill>
                  <a:srgbClr val="2E241C"/>
                </a:solidFill>
                <a:latin typeface="Malgun Gothic" pitchFamily="34" charset="0"/>
                <a:ea typeface="Malgun Gothic" pitchFamily="34" charset="-122"/>
                <a:cs typeface="Malgun Gothic" pitchFamily="34" charset="-120"/>
              </a:rPr>
              <a:t>판매·폐기·정산 자동 분개, 이상 전표만 사람에게</a:t>
            </a:r>
            <a:endParaRPr lang="en-US" sz="1000" dirty="0"/>
          </a:p>
        </p:txBody>
      </p:sp>
      <p:sp>
        <p:nvSpPr>
          <p:cNvPr id="19" name="Shape 17"/>
          <p:cNvSpPr/>
          <p:nvPr/>
        </p:nvSpPr>
        <p:spPr>
          <a:xfrm>
            <a:off x="8147304" y="3246120"/>
            <a:ext cx="3621024" cy="1627632"/>
          </a:xfrm>
          <a:prstGeom prst="roundRect">
            <a:avLst>
              <a:gd name="adj" fmla="val 5056"/>
            </a:avLst>
          </a:prstGeom>
          <a:solidFill>
            <a:srgbClr val="2B1D12"/>
          </a:solidFill>
          <a:ln/>
        </p:spPr>
        <p:txBody>
          <a:bodyPr/>
          <a:lstStyle/>
          <a:p>
            <a:endParaRPr lang="ko-KR" altLang="en-US"/>
          </a:p>
        </p:txBody>
      </p:sp>
      <p:sp>
        <p:nvSpPr>
          <p:cNvPr id="20" name="Text 18"/>
          <p:cNvSpPr/>
          <p:nvPr/>
        </p:nvSpPr>
        <p:spPr>
          <a:xfrm>
            <a:off x="8348472" y="3355848"/>
            <a:ext cx="3200400" cy="274320"/>
          </a:xfrm>
          <a:prstGeom prst="rect">
            <a:avLst/>
          </a:prstGeom>
          <a:noFill/>
          <a:ln/>
        </p:spPr>
        <p:txBody>
          <a:bodyPr wrap="square" lIns="0" tIns="0" rIns="0" bIns="0" rtlCol="0" anchor="ctr"/>
          <a:lstStyle/>
          <a:p>
            <a:pPr marL="0" indent="0">
              <a:buNone/>
            </a:pPr>
            <a:r>
              <a:rPr lang="en-US" sz="1300" b="1" dirty="0">
                <a:solidFill>
                  <a:srgbClr val="E8A33D"/>
                </a:solidFill>
                <a:latin typeface="Malgun Gothic" pitchFamily="34" charset="0"/>
                <a:ea typeface="Malgun Gothic" pitchFamily="34" charset="-122"/>
                <a:cs typeface="Malgun Gothic" pitchFamily="34" charset="-120"/>
              </a:rPr>
              <a:t>공통 규율</a:t>
            </a:r>
            <a:endParaRPr lang="en-US" sz="1300" dirty="0"/>
          </a:p>
        </p:txBody>
      </p:sp>
      <p:sp>
        <p:nvSpPr>
          <p:cNvPr id="21" name="Text 19"/>
          <p:cNvSpPr/>
          <p:nvPr/>
        </p:nvSpPr>
        <p:spPr>
          <a:xfrm>
            <a:off x="8348472" y="3666744"/>
            <a:ext cx="3246120" cy="1143000"/>
          </a:xfrm>
          <a:prstGeom prst="rect">
            <a:avLst/>
          </a:prstGeom>
          <a:noFill/>
          <a:ln/>
        </p:spPr>
        <p:txBody>
          <a:bodyPr wrap="square" lIns="0" tIns="0" rIns="0" bIns="0" rtlCol="0" anchor="t"/>
          <a:lstStyle/>
          <a:p>
            <a:pPr marL="0" indent="0">
              <a:lnSpc>
                <a:spcPct val="120000"/>
              </a:lnSpc>
              <a:buNone/>
            </a:pPr>
            <a:r>
              <a:rPr lang="en-US" sz="1050" b="1" dirty="0">
                <a:solidFill>
                  <a:srgbClr val="FFFFFF"/>
                </a:solidFill>
                <a:latin typeface="Malgun Gothic" pitchFamily="34" charset="0"/>
                <a:ea typeface="Malgun Gothic" pitchFamily="34" charset="-122"/>
                <a:cs typeface="Malgun Gothic" pitchFamily="34" charset="-120"/>
              </a:rPr>
              <a:t>모든 에이전트는 제안까지 — 실제 값 변경은 HITL 승인 순간에만. 제안·근거·승인·효과가 전부 기록된다.</a:t>
            </a:r>
            <a:endParaRPr lang="en-US" sz="1050" dirty="0"/>
          </a:p>
        </p:txBody>
      </p:sp>
      <p:sp>
        <p:nvSpPr>
          <p:cNvPr id="22" name="Shape 20"/>
          <p:cNvSpPr/>
          <p:nvPr/>
        </p:nvSpPr>
        <p:spPr>
          <a:xfrm>
            <a:off x="502920" y="5120640"/>
            <a:ext cx="11201400" cy="658368"/>
          </a:xfrm>
          <a:prstGeom prst="roundRect">
            <a:avLst>
              <a:gd name="adj" fmla="val 12500"/>
            </a:avLst>
          </a:prstGeom>
          <a:solidFill>
            <a:srgbClr val="3E2C1D"/>
          </a:solidFill>
          <a:ln/>
        </p:spPr>
        <p:txBody>
          <a:bodyPr/>
          <a:lstStyle/>
          <a:p>
            <a:endParaRPr lang="ko-KR" altLang="en-US"/>
          </a:p>
        </p:txBody>
      </p:sp>
      <p:sp>
        <p:nvSpPr>
          <p:cNvPr id="23" name="Text 21"/>
          <p:cNvSpPr/>
          <p:nvPr/>
        </p:nvSpPr>
        <p:spPr>
          <a:xfrm>
            <a:off x="822960" y="5193792"/>
            <a:ext cx="10607040" cy="530352"/>
          </a:xfrm>
          <a:prstGeom prst="rect">
            <a:avLst/>
          </a:prstGeom>
          <a:noFill/>
          <a:ln/>
        </p:spPr>
        <p:txBody>
          <a:bodyPr wrap="square" lIns="0" tIns="0" rIns="0" bIns="0" rtlCol="0" anchor="ctr"/>
          <a:lstStyle/>
          <a:p>
            <a:pPr marL="0" indent="0">
              <a:lnSpc>
                <a:spcPct val="115000"/>
              </a:lnSpc>
              <a:buNone/>
            </a:pPr>
            <a:r>
              <a:rPr lang="en-US" sz="1100" b="1" dirty="0">
                <a:solidFill>
                  <a:srgbClr val="E8A33D"/>
                </a:solidFill>
                <a:latin typeface="Malgun Gothic" pitchFamily="34" charset="0"/>
                <a:ea typeface="Malgun Gothic" pitchFamily="34" charset="-122"/>
                <a:cs typeface="Malgun Gothic" pitchFamily="34" charset="-120"/>
              </a:rPr>
              <a:t>War Room(관제탑)  </a:t>
            </a:r>
            <a:r>
              <a:rPr lang="en-US" sz="1100" dirty="0">
                <a:solidFill>
                  <a:srgbClr val="FFFFFF"/>
                </a:solidFill>
                <a:latin typeface="Malgun Gothic" pitchFamily="34" charset="0"/>
                <a:ea typeface="Malgun Gothic" pitchFamily="34" charset="-122"/>
                <a:cs typeface="Malgun Gothic" pitchFamily="34" charset="-120"/>
              </a:rPr>
              <a:t>다섯 에이전트의 제안·승인율·효과(폐기율·결품률·MAPE)를 한 화면에서 감시 — 이상 신호는 재진단 인터뷰로, 반복 확인된 판단은 그래프의 새 규칙으로. DMAIC 무한 루프의 실장</a:t>
            </a:r>
            <a:endParaRPr lang="en-US" sz="1100" dirty="0"/>
          </a:p>
        </p:txBody>
      </p:sp>
      <p:sp>
        <p:nvSpPr>
          <p:cNvPr id="24" name="Text 22"/>
          <p:cNvSpPr/>
          <p:nvPr/>
        </p:nvSpPr>
        <p:spPr>
          <a:xfrm>
            <a:off x="502920" y="5925312"/>
            <a:ext cx="11201400" cy="365760"/>
          </a:xfrm>
          <a:prstGeom prst="rect">
            <a:avLst/>
          </a:prstGeom>
          <a:noFill/>
          <a:ln/>
        </p:spPr>
        <p:txBody>
          <a:bodyPr wrap="square" lIns="0" tIns="0" rIns="0" bIns="0" rtlCol="0" anchor="ctr"/>
          <a:lstStyle/>
          <a:p>
            <a:pPr marL="0" indent="0">
              <a:buNone/>
            </a:pPr>
            <a:r>
              <a:rPr lang="en-US" sz="1150" i="1" dirty="0">
                <a:solidFill>
                  <a:srgbClr val="76675A"/>
                </a:solidFill>
                <a:latin typeface="Malgun Gothic" pitchFamily="34" charset="0"/>
                <a:ea typeface="Malgun Gothic" pitchFamily="34" charset="-122"/>
                <a:cs typeface="Malgun Gothic" pitchFamily="34" charset="-120"/>
              </a:rPr>
              <a:t>에이전트는 직원을 줄이는 도구가 아니라, 매일 반복되는 '옮겨적기와 계산'을 걷어내 사람이 빵과 고객에 집중하게 하는 도구다</a:t>
            </a:r>
            <a:endParaRPr lang="en-US" sz="1150" dirty="0"/>
          </a:p>
        </p:txBody>
      </p:sp>
      <p:sp>
        <p:nvSpPr>
          <p:cNvPr id="25" name="Text 23"/>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26" name="Text 24"/>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ROADMAP</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ko-KR" altLang="en-US" sz="2500" b="1" dirty="0">
                <a:solidFill>
                  <a:srgbClr val="2E241C"/>
                </a:solidFill>
                <a:latin typeface="Malgun Gothic" pitchFamily="34" charset="0"/>
                <a:ea typeface="Malgun Gothic" pitchFamily="34" charset="-122"/>
                <a:cs typeface="Malgun Gothic" pitchFamily="34" charset="-120"/>
              </a:rPr>
              <a:t>베이커리 </a:t>
            </a:r>
            <a:r>
              <a:rPr lang="en-US" sz="2500" b="1" dirty="0">
                <a:solidFill>
                  <a:srgbClr val="2E241C"/>
                </a:solidFill>
                <a:latin typeface="Malgun Gothic" pitchFamily="34" charset="0"/>
                <a:ea typeface="Malgun Gothic" pitchFamily="34" charset="-122"/>
                <a:cs typeface="Malgun Gothic" pitchFamily="34" charset="-120"/>
              </a:rPr>
              <a:t>T</a:t>
            </a:r>
            <a:r>
              <a:rPr lang="ko-KR" altLang="en-US" sz="2500" b="1" dirty="0">
                <a:solidFill>
                  <a:srgbClr val="2E241C"/>
                </a:solidFill>
                <a:latin typeface="Malgun Gothic" pitchFamily="34" charset="0"/>
                <a:ea typeface="Malgun Gothic" pitchFamily="34" charset="-122"/>
                <a:cs typeface="Malgun Gothic" pitchFamily="34" charset="-120"/>
              </a:rPr>
              <a:t>사</a:t>
            </a:r>
            <a:r>
              <a:rPr lang="en-US" sz="2500" b="1" dirty="0">
                <a:solidFill>
                  <a:srgbClr val="2E241C"/>
                </a:solidFill>
                <a:latin typeface="Malgun Gothic" pitchFamily="34" charset="0"/>
                <a:ea typeface="Malgun Gothic" pitchFamily="34" charset="-122"/>
                <a:cs typeface="Malgun Gothic" pitchFamily="34" charset="-120"/>
              </a:rPr>
              <a:t> 맞춤 5단계 — 본점에서 검증하고 별빛샌드로 확장</a:t>
            </a:r>
            <a:endParaRPr lang="en-US" sz="2500" dirty="0"/>
          </a:p>
        </p:txBody>
      </p:sp>
      <p:sp>
        <p:nvSpPr>
          <p:cNvPr id="4" name="Shape 2"/>
          <p:cNvSpPr/>
          <p:nvPr/>
        </p:nvSpPr>
        <p:spPr>
          <a:xfrm>
            <a:off x="502920" y="1481328"/>
            <a:ext cx="2157984" cy="3108960"/>
          </a:xfrm>
          <a:prstGeom prst="roundRect">
            <a:avLst>
              <a:gd name="adj" fmla="val 3814"/>
            </a:avLst>
          </a:prstGeom>
          <a:solidFill>
            <a:srgbClr val="F8F2EA"/>
          </a:solidFill>
          <a:ln/>
        </p:spPr>
        <p:txBody>
          <a:bodyPr/>
          <a:lstStyle/>
          <a:p>
            <a:endParaRPr lang="ko-KR" altLang="en-US"/>
          </a:p>
        </p:txBody>
      </p:sp>
      <p:sp>
        <p:nvSpPr>
          <p:cNvPr id="5" name="Shape 3"/>
          <p:cNvSpPr/>
          <p:nvPr/>
        </p:nvSpPr>
        <p:spPr>
          <a:xfrm>
            <a:off x="704088" y="1664208"/>
            <a:ext cx="457200" cy="457200"/>
          </a:xfrm>
          <a:prstGeom prst="ellipse">
            <a:avLst/>
          </a:prstGeom>
          <a:solidFill>
            <a:srgbClr val="0E8F86"/>
          </a:solidFill>
          <a:ln/>
        </p:spPr>
        <p:txBody>
          <a:bodyPr/>
          <a:lstStyle/>
          <a:p>
            <a:endParaRPr lang="ko-KR" altLang="en-US"/>
          </a:p>
        </p:txBody>
      </p:sp>
      <p:sp>
        <p:nvSpPr>
          <p:cNvPr id="6" name="Text 4"/>
          <p:cNvSpPr/>
          <p:nvPr/>
        </p:nvSpPr>
        <p:spPr>
          <a:xfrm>
            <a:off x="704088" y="16642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7" name="Text 5"/>
          <p:cNvSpPr/>
          <p:nvPr/>
        </p:nvSpPr>
        <p:spPr>
          <a:xfrm>
            <a:off x="1280160" y="1682496"/>
            <a:ext cx="1289304" cy="292608"/>
          </a:xfrm>
          <a:prstGeom prst="rect">
            <a:avLst/>
          </a:prstGeom>
          <a:noFill/>
          <a:ln/>
        </p:spPr>
        <p:txBody>
          <a:bodyPr wrap="square" lIns="0" tIns="0" rIns="0" bIns="0" rtlCol="0" anchor="ctr"/>
          <a:lstStyle/>
          <a:p>
            <a:pPr marL="0" indent="0">
              <a:buNone/>
            </a:pPr>
            <a:r>
              <a:rPr lang="en-US" sz="1500" b="1" dirty="0">
                <a:solidFill>
                  <a:srgbClr val="2E241C"/>
                </a:solidFill>
                <a:latin typeface="Malgun Gothic" pitchFamily="34" charset="0"/>
                <a:ea typeface="Malgun Gothic" pitchFamily="34" charset="-122"/>
                <a:cs typeface="Malgun Gothic" pitchFamily="34" charset="-120"/>
              </a:rPr>
              <a:t>진단</a:t>
            </a:r>
            <a:endParaRPr lang="en-US" sz="1500" dirty="0"/>
          </a:p>
        </p:txBody>
      </p:sp>
      <p:sp>
        <p:nvSpPr>
          <p:cNvPr id="8" name="Text 6"/>
          <p:cNvSpPr/>
          <p:nvPr/>
        </p:nvSpPr>
        <p:spPr>
          <a:xfrm>
            <a:off x="1280160" y="1975104"/>
            <a:ext cx="1289304" cy="237744"/>
          </a:xfrm>
          <a:prstGeom prst="rect">
            <a:avLst/>
          </a:prstGeom>
          <a:noFill/>
          <a:ln/>
        </p:spPr>
        <p:txBody>
          <a:bodyPr wrap="square" lIns="0" tIns="0" rIns="0" bIns="0" rtlCol="0" anchor="ctr"/>
          <a:lstStyle/>
          <a:p>
            <a:pPr marL="0" indent="0">
              <a:buNone/>
            </a:pPr>
            <a:r>
              <a:rPr lang="en-US" sz="1050" b="1" dirty="0">
                <a:solidFill>
                  <a:srgbClr val="0E8F86"/>
                </a:solidFill>
                <a:latin typeface="Malgun Gothic" pitchFamily="34" charset="0"/>
                <a:ea typeface="Malgun Gothic" pitchFamily="34" charset="-122"/>
                <a:cs typeface="Malgun Gothic" pitchFamily="34" charset="-120"/>
              </a:rPr>
              <a:t>2~4주</a:t>
            </a:r>
            <a:endParaRPr lang="en-US" sz="1050" dirty="0"/>
          </a:p>
        </p:txBody>
      </p:sp>
      <p:sp>
        <p:nvSpPr>
          <p:cNvPr id="9" name="Text 7"/>
          <p:cNvSpPr/>
          <p:nvPr/>
        </p:nvSpPr>
        <p:spPr>
          <a:xfrm>
            <a:off x="704088" y="2377440"/>
            <a:ext cx="1755648" cy="2011680"/>
          </a:xfrm>
          <a:prstGeom prst="rect">
            <a:avLst/>
          </a:prstGeom>
          <a:noFill/>
          <a:ln/>
        </p:spPr>
        <p:txBody>
          <a:bodyPr wrap="square" lIns="0" tIns="0" rIns="0" bIns="0" rtlCol="0" anchor="t"/>
          <a:lstStyle/>
          <a:p>
            <a:pPr marL="0" indent="0">
              <a:lnSpc>
                <a:spcPct val="118000"/>
              </a:lnSpc>
              <a:buNone/>
            </a:pPr>
            <a:r>
              <a:rPr lang="en-US" sz="980" dirty="0">
                <a:solidFill>
                  <a:srgbClr val="2E241C"/>
                </a:solidFill>
                <a:latin typeface="Malgun Gothic" pitchFamily="34" charset="0"/>
                <a:ea typeface="Malgun Gothic" pitchFamily="34" charset="-122"/>
                <a:cs typeface="Malgun Gothic" pitchFamily="34" charset="-120"/>
              </a:rPr>
              <a:t>본점·지점 현장 진단(동선·데이터 흐름) · 경영 질문 10개 문장화 · KGI 기준선 서명</a:t>
            </a:r>
            <a:endParaRPr lang="en-US" sz="980" dirty="0"/>
          </a:p>
        </p:txBody>
      </p:sp>
      <p:sp>
        <p:nvSpPr>
          <p:cNvPr id="10" name="Shape 8"/>
          <p:cNvSpPr/>
          <p:nvPr/>
        </p:nvSpPr>
        <p:spPr>
          <a:xfrm>
            <a:off x="2688336" y="2852928"/>
            <a:ext cx="164592" cy="219456"/>
          </a:xfrm>
          <a:prstGeom prst="rightArrow">
            <a:avLst/>
          </a:prstGeom>
          <a:solidFill>
            <a:srgbClr val="DCCDBB"/>
          </a:solidFill>
          <a:ln/>
        </p:spPr>
        <p:txBody>
          <a:bodyPr/>
          <a:lstStyle/>
          <a:p>
            <a:endParaRPr lang="ko-KR" altLang="en-US"/>
          </a:p>
        </p:txBody>
      </p:sp>
      <p:sp>
        <p:nvSpPr>
          <p:cNvPr id="11" name="Shape 9"/>
          <p:cNvSpPr/>
          <p:nvPr/>
        </p:nvSpPr>
        <p:spPr>
          <a:xfrm>
            <a:off x="2880360" y="1481328"/>
            <a:ext cx="2157984" cy="3108960"/>
          </a:xfrm>
          <a:prstGeom prst="roundRect">
            <a:avLst>
              <a:gd name="adj" fmla="val 3814"/>
            </a:avLst>
          </a:prstGeom>
          <a:solidFill>
            <a:srgbClr val="F8F2EA"/>
          </a:solidFill>
          <a:ln/>
        </p:spPr>
        <p:txBody>
          <a:bodyPr/>
          <a:lstStyle/>
          <a:p>
            <a:endParaRPr lang="ko-KR" altLang="en-US"/>
          </a:p>
        </p:txBody>
      </p:sp>
      <p:sp>
        <p:nvSpPr>
          <p:cNvPr id="12" name="Shape 10"/>
          <p:cNvSpPr/>
          <p:nvPr/>
        </p:nvSpPr>
        <p:spPr>
          <a:xfrm>
            <a:off x="3081528" y="1664208"/>
            <a:ext cx="457200" cy="457200"/>
          </a:xfrm>
          <a:prstGeom prst="ellipse">
            <a:avLst/>
          </a:prstGeom>
          <a:solidFill>
            <a:srgbClr val="714B67"/>
          </a:solidFill>
          <a:ln/>
        </p:spPr>
        <p:txBody>
          <a:bodyPr/>
          <a:lstStyle/>
          <a:p>
            <a:endParaRPr lang="ko-KR" altLang="en-US"/>
          </a:p>
        </p:txBody>
      </p:sp>
      <p:sp>
        <p:nvSpPr>
          <p:cNvPr id="13" name="Text 11"/>
          <p:cNvSpPr/>
          <p:nvPr/>
        </p:nvSpPr>
        <p:spPr>
          <a:xfrm>
            <a:off x="3081528" y="16642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14" name="Text 12"/>
          <p:cNvSpPr/>
          <p:nvPr/>
        </p:nvSpPr>
        <p:spPr>
          <a:xfrm>
            <a:off x="3657600" y="1682496"/>
            <a:ext cx="1289304" cy="292608"/>
          </a:xfrm>
          <a:prstGeom prst="rect">
            <a:avLst/>
          </a:prstGeom>
          <a:noFill/>
          <a:ln/>
        </p:spPr>
        <p:txBody>
          <a:bodyPr wrap="square" lIns="0" tIns="0" rIns="0" bIns="0" rtlCol="0" anchor="ctr"/>
          <a:lstStyle/>
          <a:p>
            <a:pPr marL="0" indent="0">
              <a:buNone/>
            </a:pPr>
            <a:r>
              <a:rPr lang="en-US" sz="1500" b="1" dirty="0">
                <a:solidFill>
                  <a:srgbClr val="2E241C"/>
                </a:solidFill>
                <a:latin typeface="Malgun Gothic" pitchFamily="34" charset="0"/>
                <a:ea typeface="Malgun Gothic" pitchFamily="34" charset="-122"/>
                <a:cs typeface="Malgun Gothic" pitchFamily="34" charset="-120"/>
              </a:rPr>
              <a:t>기반</a:t>
            </a:r>
            <a:endParaRPr lang="en-US" sz="1500" dirty="0"/>
          </a:p>
        </p:txBody>
      </p:sp>
      <p:sp>
        <p:nvSpPr>
          <p:cNvPr id="15" name="Text 13"/>
          <p:cNvSpPr/>
          <p:nvPr/>
        </p:nvSpPr>
        <p:spPr>
          <a:xfrm>
            <a:off x="3657600" y="1975104"/>
            <a:ext cx="1289304" cy="237744"/>
          </a:xfrm>
          <a:prstGeom prst="rect">
            <a:avLst/>
          </a:prstGeom>
          <a:noFill/>
          <a:ln/>
        </p:spPr>
        <p:txBody>
          <a:bodyPr wrap="square" lIns="0" tIns="0" rIns="0" bIns="0" rtlCol="0" anchor="ctr"/>
          <a:lstStyle/>
          <a:p>
            <a:pPr marL="0" indent="0">
              <a:buNone/>
            </a:pPr>
            <a:r>
              <a:rPr lang="en-US" sz="1050" b="1" dirty="0">
                <a:solidFill>
                  <a:srgbClr val="714B67"/>
                </a:solidFill>
                <a:latin typeface="Malgun Gothic" pitchFamily="34" charset="0"/>
                <a:ea typeface="Malgun Gothic" pitchFamily="34" charset="-122"/>
                <a:cs typeface="Malgun Gothic" pitchFamily="34" charset="-120"/>
              </a:rPr>
              <a:t>2~3개월</a:t>
            </a:r>
            <a:endParaRPr lang="en-US" sz="1050" dirty="0"/>
          </a:p>
        </p:txBody>
      </p:sp>
      <p:sp>
        <p:nvSpPr>
          <p:cNvPr id="16" name="Text 14"/>
          <p:cNvSpPr/>
          <p:nvPr/>
        </p:nvSpPr>
        <p:spPr>
          <a:xfrm>
            <a:off x="3081528" y="2377440"/>
            <a:ext cx="1755648" cy="2011680"/>
          </a:xfrm>
          <a:prstGeom prst="rect">
            <a:avLst/>
          </a:prstGeom>
          <a:noFill/>
          <a:ln/>
        </p:spPr>
        <p:txBody>
          <a:bodyPr wrap="square" lIns="0" tIns="0" rIns="0" bIns="0" rtlCol="0" anchor="t"/>
          <a:lstStyle/>
          <a:p>
            <a:pPr marL="0" indent="0">
              <a:lnSpc>
                <a:spcPct val="118000"/>
              </a:lnSpc>
              <a:buNone/>
            </a:pPr>
            <a:r>
              <a:rPr lang="en-US" sz="980" dirty="0">
                <a:solidFill>
                  <a:srgbClr val="2E241C"/>
                </a:solidFill>
                <a:latin typeface="Malgun Gothic" pitchFamily="34" charset="0"/>
                <a:ea typeface="Malgun Gothic" pitchFamily="34" charset="-122"/>
                <a:cs typeface="Malgun Gothic" pitchFamily="34" charset="-120"/>
              </a:rPr>
              <a:t>Odoo 1차: POS·판매·구매·재고·회계 · 품목/레시피/로트/폐기사유 코드체계 · 이중 입력 제거</a:t>
            </a:r>
            <a:endParaRPr lang="en-US" sz="980" dirty="0"/>
          </a:p>
        </p:txBody>
      </p:sp>
      <p:sp>
        <p:nvSpPr>
          <p:cNvPr id="17" name="Shape 15"/>
          <p:cNvSpPr/>
          <p:nvPr/>
        </p:nvSpPr>
        <p:spPr>
          <a:xfrm>
            <a:off x="5065776" y="2852928"/>
            <a:ext cx="164592" cy="219456"/>
          </a:xfrm>
          <a:prstGeom prst="rightArrow">
            <a:avLst/>
          </a:prstGeom>
          <a:solidFill>
            <a:srgbClr val="DCCDBB"/>
          </a:solidFill>
          <a:ln/>
        </p:spPr>
        <p:txBody>
          <a:bodyPr/>
          <a:lstStyle/>
          <a:p>
            <a:endParaRPr lang="ko-KR" altLang="en-US"/>
          </a:p>
        </p:txBody>
      </p:sp>
      <p:sp>
        <p:nvSpPr>
          <p:cNvPr id="18" name="Shape 16"/>
          <p:cNvSpPr/>
          <p:nvPr/>
        </p:nvSpPr>
        <p:spPr>
          <a:xfrm>
            <a:off x="5257800" y="1481328"/>
            <a:ext cx="2157984" cy="3108960"/>
          </a:xfrm>
          <a:prstGeom prst="roundRect">
            <a:avLst>
              <a:gd name="adj" fmla="val 3814"/>
            </a:avLst>
          </a:prstGeom>
          <a:solidFill>
            <a:srgbClr val="F8F2EA"/>
          </a:solidFill>
          <a:ln/>
        </p:spPr>
        <p:txBody>
          <a:bodyPr/>
          <a:lstStyle/>
          <a:p>
            <a:endParaRPr lang="ko-KR" altLang="en-US"/>
          </a:p>
        </p:txBody>
      </p:sp>
      <p:sp>
        <p:nvSpPr>
          <p:cNvPr id="19" name="Shape 17"/>
          <p:cNvSpPr/>
          <p:nvPr/>
        </p:nvSpPr>
        <p:spPr>
          <a:xfrm>
            <a:off x="5458968" y="1664208"/>
            <a:ext cx="457200" cy="457200"/>
          </a:xfrm>
          <a:prstGeom prst="ellipse">
            <a:avLst/>
          </a:prstGeom>
          <a:solidFill>
            <a:srgbClr val="9C5227"/>
          </a:solidFill>
          <a:ln/>
        </p:spPr>
        <p:txBody>
          <a:bodyPr/>
          <a:lstStyle/>
          <a:p>
            <a:endParaRPr lang="ko-KR" altLang="en-US"/>
          </a:p>
        </p:txBody>
      </p:sp>
      <p:sp>
        <p:nvSpPr>
          <p:cNvPr id="20" name="Text 18"/>
          <p:cNvSpPr/>
          <p:nvPr/>
        </p:nvSpPr>
        <p:spPr>
          <a:xfrm>
            <a:off x="5458968" y="16642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21" name="Text 19"/>
          <p:cNvSpPr/>
          <p:nvPr/>
        </p:nvSpPr>
        <p:spPr>
          <a:xfrm>
            <a:off x="6035040" y="1682496"/>
            <a:ext cx="1289304" cy="292608"/>
          </a:xfrm>
          <a:prstGeom prst="rect">
            <a:avLst/>
          </a:prstGeom>
          <a:noFill/>
          <a:ln/>
        </p:spPr>
        <p:txBody>
          <a:bodyPr wrap="square" lIns="0" tIns="0" rIns="0" bIns="0" rtlCol="0" anchor="ctr"/>
          <a:lstStyle/>
          <a:p>
            <a:pPr marL="0" indent="0">
              <a:buNone/>
            </a:pPr>
            <a:r>
              <a:rPr lang="en-US" sz="1500" b="1" dirty="0">
                <a:solidFill>
                  <a:srgbClr val="2E241C"/>
                </a:solidFill>
                <a:latin typeface="Malgun Gothic" pitchFamily="34" charset="0"/>
                <a:ea typeface="Malgun Gothic" pitchFamily="34" charset="-122"/>
                <a:cs typeface="Malgun Gothic" pitchFamily="34" charset="-120"/>
              </a:rPr>
              <a:t>적재</a:t>
            </a:r>
            <a:endParaRPr lang="en-US" sz="1500" dirty="0"/>
          </a:p>
        </p:txBody>
      </p:sp>
      <p:sp>
        <p:nvSpPr>
          <p:cNvPr id="22" name="Text 20"/>
          <p:cNvSpPr/>
          <p:nvPr/>
        </p:nvSpPr>
        <p:spPr>
          <a:xfrm>
            <a:off x="6035040" y="1975104"/>
            <a:ext cx="1289304" cy="237744"/>
          </a:xfrm>
          <a:prstGeom prst="rect">
            <a:avLst/>
          </a:prstGeom>
          <a:noFill/>
          <a:ln/>
        </p:spPr>
        <p:txBody>
          <a:bodyPr wrap="square" lIns="0" tIns="0" rIns="0" bIns="0" rtlCol="0" anchor="ctr"/>
          <a:lstStyle/>
          <a:p>
            <a:pPr marL="0" indent="0">
              <a:buNone/>
            </a:pPr>
            <a:r>
              <a:rPr lang="en-US" sz="1050" b="1" dirty="0">
                <a:solidFill>
                  <a:srgbClr val="9C5227"/>
                </a:solidFill>
                <a:latin typeface="Malgun Gothic" pitchFamily="34" charset="0"/>
                <a:ea typeface="Malgun Gothic" pitchFamily="34" charset="-122"/>
                <a:cs typeface="Malgun Gothic" pitchFamily="34" charset="-120"/>
              </a:rPr>
              <a:t>2~3개월</a:t>
            </a:r>
            <a:endParaRPr lang="en-US" sz="1050" dirty="0"/>
          </a:p>
        </p:txBody>
      </p:sp>
      <p:sp>
        <p:nvSpPr>
          <p:cNvPr id="23" name="Text 21"/>
          <p:cNvSpPr/>
          <p:nvPr/>
        </p:nvSpPr>
        <p:spPr>
          <a:xfrm>
            <a:off x="5458968" y="2377440"/>
            <a:ext cx="1755648" cy="2011680"/>
          </a:xfrm>
          <a:prstGeom prst="rect">
            <a:avLst/>
          </a:prstGeom>
          <a:noFill/>
          <a:ln/>
        </p:spPr>
        <p:txBody>
          <a:bodyPr wrap="square" lIns="0" tIns="0" rIns="0" bIns="0" rtlCol="0" anchor="t"/>
          <a:lstStyle/>
          <a:p>
            <a:pPr marL="0" indent="0">
              <a:lnSpc>
                <a:spcPct val="118000"/>
              </a:lnSpc>
              <a:buNone/>
            </a:pPr>
            <a:r>
              <a:rPr lang="en-US" sz="980" dirty="0">
                <a:solidFill>
                  <a:srgbClr val="2E241C"/>
                </a:solidFill>
                <a:latin typeface="Malgun Gothic" pitchFamily="34" charset="0"/>
                <a:ea typeface="Malgun Gothic" pitchFamily="34" charset="-122"/>
                <a:cs typeface="Malgun Gothic" pitchFamily="34" charset="-120"/>
              </a:rPr>
              <a:t>3채널 판매·생산·폐기 데이터 축적 · 재고 정확도 95%+ · 베테랑 인터뷰로 암묵지 씨앗 수집</a:t>
            </a:r>
            <a:endParaRPr lang="en-US" sz="980" dirty="0"/>
          </a:p>
        </p:txBody>
      </p:sp>
      <p:sp>
        <p:nvSpPr>
          <p:cNvPr id="24" name="Shape 22"/>
          <p:cNvSpPr/>
          <p:nvPr/>
        </p:nvSpPr>
        <p:spPr>
          <a:xfrm>
            <a:off x="7443216" y="2852928"/>
            <a:ext cx="164592" cy="219456"/>
          </a:xfrm>
          <a:prstGeom prst="rightArrow">
            <a:avLst/>
          </a:prstGeom>
          <a:solidFill>
            <a:srgbClr val="DCCDBB"/>
          </a:solidFill>
          <a:ln/>
        </p:spPr>
        <p:txBody>
          <a:bodyPr/>
          <a:lstStyle/>
          <a:p>
            <a:endParaRPr lang="ko-KR" altLang="en-US"/>
          </a:p>
        </p:txBody>
      </p:sp>
      <p:sp>
        <p:nvSpPr>
          <p:cNvPr id="25" name="Shape 23"/>
          <p:cNvSpPr/>
          <p:nvPr/>
        </p:nvSpPr>
        <p:spPr>
          <a:xfrm>
            <a:off x="7635240" y="1481328"/>
            <a:ext cx="2157984" cy="3108960"/>
          </a:xfrm>
          <a:prstGeom prst="roundRect">
            <a:avLst>
              <a:gd name="adj" fmla="val 3814"/>
            </a:avLst>
          </a:prstGeom>
          <a:solidFill>
            <a:srgbClr val="F8F2EA"/>
          </a:solidFill>
          <a:ln/>
        </p:spPr>
        <p:txBody>
          <a:bodyPr/>
          <a:lstStyle/>
          <a:p>
            <a:endParaRPr lang="ko-KR" altLang="en-US"/>
          </a:p>
        </p:txBody>
      </p:sp>
      <p:sp>
        <p:nvSpPr>
          <p:cNvPr id="26" name="Shape 24"/>
          <p:cNvSpPr/>
          <p:nvPr/>
        </p:nvSpPr>
        <p:spPr>
          <a:xfrm>
            <a:off x="7836408" y="1664208"/>
            <a:ext cx="457200" cy="457200"/>
          </a:xfrm>
          <a:prstGeom prst="ellipse">
            <a:avLst/>
          </a:prstGeom>
          <a:solidFill>
            <a:srgbClr val="E8A33D"/>
          </a:solidFill>
          <a:ln/>
        </p:spPr>
        <p:txBody>
          <a:bodyPr/>
          <a:lstStyle/>
          <a:p>
            <a:endParaRPr lang="ko-KR" altLang="en-US"/>
          </a:p>
        </p:txBody>
      </p:sp>
      <p:sp>
        <p:nvSpPr>
          <p:cNvPr id="27" name="Text 25"/>
          <p:cNvSpPr/>
          <p:nvPr/>
        </p:nvSpPr>
        <p:spPr>
          <a:xfrm>
            <a:off x="7836408" y="16642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28" name="Text 26"/>
          <p:cNvSpPr/>
          <p:nvPr/>
        </p:nvSpPr>
        <p:spPr>
          <a:xfrm>
            <a:off x="8412480" y="1682496"/>
            <a:ext cx="1289304" cy="292608"/>
          </a:xfrm>
          <a:prstGeom prst="rect">
            <a:avLst/>
          </a:prstGeom>
          <a:noFill/>
          <a:ln/>
        </p:spPr>
        <p:txBody>
          <a:bodyPr wrap="square" lIns="0" tIns="0" rIns="0" bIns="0" rtlCol="0" anchor="ctr"/>
          <a:lstStyle/>
          <a:p>
            <a:pPr marL="0" indent="0">
              <a:buNone/>
            </a:pPr>
            <a:r>
              <a:rPr lang="en-US" sz="1500" b="1" dirty="0">
                <a:solidFill>
                  <a:srgbClr val="2E241C"/>
                </a:solidFill>
                <a:latin typeface="Malgun Gothic" pitchFamily="34" charset="0"/>
                <a:ea typeface="Malgun Gothic" pitchFamily="34" charset="-122"/>
                <a:cs typeface="Malgun Gothic" pitchFamily="34" charset="-120"/>
              </a:rPr>
              <a:t>지능화</a:t>
            </a:r>
            <a:endParaRPr lang="en-US" sz="1500" dirty="0"/>
          </a:p>
        </p:txBody>
      </p:sp>
      <p:sp>
        <p:nvSpPr>
          <p:cNvPr id="29" name="Text 27"/>
          <p:cNvSpPr/>
          <p:nvPr/>
        </p:nvSpPr>
        <p:spPr>
          <a:xfrm>
            <a:off x="8412480" y="1975104"/>
            <a:ext cx="1289304" cy="237744"/>
          </a:xfrm>
          <a:prstGeom prst="rect">
            <a:avLst/>
          </a:prstGeom>
          <a:noFill/>
          <a:ln/>
        </p:spPr>
        <p:txBody>
          <a:bodyPr wrap="square" lIns="0" tIns="0" rIns="0" bIns="0" rtlCol="0" anchor="ctr"/>
          <a:lstStyle/>
          <a:p>
            <a:pPr marL="0" indent="0">
              <a:buNone/>
            </a:pPr>
            <a:r>
              <a:rPr lang="en-US" sz="1050" b="1" dirty="0">
                <a:solidFill>
                  <a:srgbClr val="E8A33D"/>
                </a:solidFill>
                <a:latin typeface="Malgun Gothic" pitchFamily="34" charset="0"/>
                <a:ea typeface="Malgun Gothic" pitchFamily="34" charset="-122"/>
                <a:cs typeface="Malgun Gothic" pitchFamily="34" charset="-120"/>
              </a:rPr>
              <a:t>3~6개월</a:t>
            </a:r>
            <a:endParaRPr lang="en-US" sz="1050" dirty="0"/>
          </a:p>
        </p:txBody>
      </p:sp>
      <p:sp>
        <p:nvSpPr>
          <p:cNvPr id="30" name="Text 28"/>
          <p:cNvSpPr/>
          <p:nvPr/>
        </p:nvSpPr>
        <p:spPr>
          <a:xfrm>
            <a:off x="7836408" y="2377440"/>
            <a:ext cx="1755648" cy="2011680"/>
          </a:xfrm>
          <a:prstGeom prst="rect">
            <a:avLst/>
          </a:prstGeom>
          <a:noFill/>
          <a:ln/>
        </p:spPr>
        <p:txBody>
          <a:bodyPr wrap="square" lIns="0" tIns="0" rIns="0" bIns="0" rtlCol="0" anchor="t"/>
          <a:lstStyle/>
          <a:p>
            <a:pPr marL="0" indent="0">
              <a:lnSpc>
                <a:spcPct val="118000"/>
              </a:lnSpc>
              <a:buNone/>
            </a:pPr>
            <a:r>
              <a:rPr lang="en-US" sz="980" dirty="0">
                <a:solidFill>
                  <a:srgbClr val="2E241C"/>
                </a:solidFill>
                <a:latin typeface="Malgun Gothic" pitchFamily="34" charset="0"/>
                <a:ea typeface="Malgun Gothic" pitchFamily="34" charset="-122"/>
                <a:cs typeface="Malgun Gothic" pitchFamily="34" charset="-120"/>
              </a:rPr>
              <a:t>수요예측 가동 → 보충·배분·B2B 에이전트 순차 투입 · 지식그래프 구축 · 첫 HITL 승인</a:t>
            </a:r>
            <a:endParaRPr lang="en-US" sz="980" dirty="0"/>
          </a:p>
        </p:txBody>
      </p:sp>
      <p:sp>
        <p:nvSpPr>
          <p:cNvPr id="31" name="Shape 29"/>
          <p:cNvSpPr/>
          <p:nvPr/>
        </p:nvSpPr>
        <p:spPr>
          <a:xfrm>
            <a:off x="9820656" y="2852928"/>
            <a:ext cx="164592" cy="219456"/>
          </a:xfrm>
          <a:prstGeom prst="rightArrow">
            <a:avLst/>
          </a:prstGeom>
          <a:solidFill>
            <a:srgbClr val="DCCDBB"/>
          </a:solidFill>
          <a:ln/>
        </p:spPr>
        <p:txBody>
          <a:bodyPr/>
          <a:lstStyle/>
          <a:p>
            <a:endParaRPr lang="ko-KR" altLang="en-US"/>
          </a:p>
        </p:txBody>
      </p:sp>
      <p:sp>
        <p:nvSpPr>
          <p:cNvPr id="32" name="Shape 30"/>
          <p:cNvSpPr/>
          <p:nvPr/>
        </p:nvSpPr>
        <p:spPr>
          <a:xfrm>
            <a:off x="10012680" y="1481328"/>
            <a:ext cx="2157984" cy="3108960"/>
          </a:xfrm>
          <a:prstGeom prst="roundRect">
            <a:avLst>
              <a:gd name="adj" fmla="val 3814"/>
            </a:avLst>
          </a:prstGeom>
          <a:solidFill>
            <a:srgbClr val="F8F2EA"/>
          </a:solidFill>
          <a:ln/>
        </p:spPr>
        <p:txBody>
          <a:bodyPr/>
          <a:lstStyle/>
          <a:p>
            <a:endParaRPr lang="ko-KR" altLang="en-US"/>
          </a:p>
        </p:txBody>
      </p:sp>
      <p:sp>
        <p:nvSpPr>
          <p:cNvPr id="33" name="Shape 31"/>
          <p:cNvSpPr/>
          <p:nvPr/>
        </p:nvSpPr>
        <p:spPr>
          <a:xfrm>
            <a:off x="10213848" y="1664208"/>
            <a:ext cx="457200" cy="457200"/>
          </a:xfrm>
          <a:prstGeom prst="ellipse">
            <a:avLst/>
          </a:prstGeom>
          <a:solidFill>
            <a:srgbClr val="C07F1E"/>
          </a:solidFill>
          <a:ln/>
        </p:spPr>
        <p:txBody>
          <a:bodyPr/>
          <a:lstStyle/>
          <a:p>
            <a:endParaRPr lang="ko-KR" altLang="en-US"/>
          </a:p>
        </p:txBody>
      </p:sp>
      <p:sp>
        <p:nvSpPr>
          <p:cNvPr id="34" name="Text 32"/>
          <p:cNvSpPr/>
          <p:nvPr/>
        </p:nvSpPr>
        <p:spPr>
          <a:xfrm>
            <a:off x="10213848" y="16642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5</a:t>
            </a:r>
            <a:endParaRPr lang="en-US" sz="1600" dirty="0"/>
          </a:p>
        </p:txBody>
      </p:sp>
      <p:sp>
        <p:nvSpPr>
          <p:cNvPr id="35" name="Text 33"/>
          <p:cNvSpPr/>
          <p:nvPr/>
        </p:nvSpPr>
        <p:spPr>
          <a:xfrm>
            <a:off x="10789920" y="1682496"/>
            <a:ext cx="1289304" cy="292608"/>
          </a:xfrm>
          <a:prstGeom prst="rect">
            <a:avLst/>
          </a:prstGeom>
          <a:noFill/>
          <a:ln/>
        </p:spPr>
        <p:txBody>
          <a:bodyPr wrap="square" lIns="0" tIns="0" rIns="0" bIns="0" rtlCol="0" anchor="ctr"/>
          <a:lstStyle/>
          <a:p>
            <a:pPr marL="0" indent="0">
              <a:buNone/>
            </a:pPr>
            <a:r>
              <a:rPr lang="en-US" sz="1500" b="1" dirty="0">
                <a:solidFill>
                  <a:srgbClr val="2E241C"/>
                </a:solidFill>
                <a:latin typeface="Malgun Gothic" pitchFamily="34" charset="0"/>
                <a:ea typeface="Malgun Gothic" pitchFamily="34" charset="-122"/>
                <a:cs typeface="Malgun Gothic" pitchFamily="34" charset="-120"/>
              </a:rPr>
              <a:t>환류</a:t>
            </a:r>
            <a:endParaRPr lang="en-US" sz="1500" dirty="0"/>
          </a:p>
        </p:txBody>
      </p:sp>
      <p:sp>
        <p:nvSpPr>
          <p:cNvPr id="36" name="Text 34"/>
          <p:cNvSpPr/>
          <p:nvPr/>
        </p:nvSpPr>
        <p:spPr>
          <a:xfrm>
            <a:off x="10789920" y="1975104"/>
            <a:ext cx="1289304" cy="237744"/>
          </a:xfrm>
          <a:prstGeom prst="rect">
            <a:avLst/>
          </a:prstGeom>
          <a:noFill/>
          <a:ln/>
        </p:spPr>
        <p:txBody>
          <a:bodyPr wrap="square" lIns="0" tIns="0" rIns="0" bIns="0" rtlCol="0" anchor="ctr"/>
          <a:lstStyle/>
          <a:p>
            <a:pPr marL="0" indent="0">
              <a:buNone/>
            </a:pPr>
            <a:r>
              <a:rPr lang="en-US" sz="1050" b="1" dirty="0">
                <a:solidFill>
                  <a:srgbClr val="C07F1E"/>
                </a:solidFill>
                <a:latin typeface="Malgun Gothic" pitchFamily="34" charset="0"/>
                <a:ea typeface="Malgun Gothic" pitchFamily="34" charset="-122"/>
                <a:cs typeface="Malgun Gothic" pitchFamily="34" charset="-120"/>
              </a:rPr>
              <a:t>상시</a:t>
            </a:r>
            <a:endParaRPr lang="en-US" sz="1050" dirty="0"/>
          </a:p>
        </p:txBody>
      </p:sp>
      <p:sp>
        <p:nvSpPr>
          <p:cNvPr id="37" name="Text 35"/>
          <p:cNvSpPr/>
          <p:nvPr/>
        </p:nvSpPr>
        <p:spPr>
          <a:xfrm>
            <a:off x="10213848" y="2377440"/>
            <a:ext cx="1755648" cy="2011680"/>
          </a:xfrm>
          <a:prstGeom prst="rect">
            <a:avLst/>
          </a:prstGeom>
          <a:noFill/>
          <a:ln/>
        </p:spPr>
        <p:txBody>
          <a:bodyPr wrap="square" lIns="0" tIns="0" rIns="0" bIns="0" rtlCol="0" anchor="t"/>
          <a:lstStyle/>
          <a:p>
            <a:pPr marL="0" indent="0">
              <a:lnSpc>
                <a:spcPct val="118000"/>
              </a:lnSpc>
              <a:buNone/>
            </a:pPr>
            <a:r>
              <a:rPr lang="en-US" sz="980" dirty="0">
                <a:solidFill>
                  <a:srgbClr val="2E241C"/>
                </a:solidFill>
                <a:latin typeface="Malgun Gothic" pitchFamily="34" charset="0"/>
                <a:ea typeface="Malgun Gothic" pitchFamily="34" charset="-122"/>
                <a:cs typeface="Malgun Gothic" pitchFamily="34" charset="-120"/>
              </a:rPr>
              <a:t>아침 브리핑 정착 · War Room 월간 리뷰 · 확정 규칙의 그래프 편입 — 대구 지점·신규 지점 복제</a:t>
            </a:r>
            <a:endParaRPr lang="en-US" sz="980" dirty="0"/>
          </a:p>
        </p:txBody>
      </p:sp>
      <p:sp>
        <p:nvSpPr>
          <p:cNvPr id="38" name="Shape 36"/>
          <p:cNvSpPr/>
          <p:nvPr/>
        </p:nvSpPr>
        <p:spPr>
          <a:xfrm>
            <a:off x="502920" y="4937760"/>
            <a:ext cx="11201400" cy="822960"/>
          </a:xfrm>
          <a:prstGeom prst="roundRect">
            <a:avLst>
              <a:gd name="adj" fmla="val 10000"/>
            </a:avLst>
          </a:prstGeom>
          <a:solidFill>
            <a:srgbClr val="2B1D12"/>
          </a:solidFill>
          <a:ln/>
        </p:spPr>
        <p:txBody>
          <a:bodyPr/>
          <a:lstStyle/>
          <a:p>
            <a:endParaRPr lang="ko-KR" altLang="en-US"/>
          </a:p>
        </p:txBody>
      </p:sp>
      <p:sp>
        <p:nvSpPr>
          <p:cNvPr id="39" name="Text 37"/>
          <p:cNvSpPr/>
          <p:nvPr/>
        </p:nvSpPr>
        <p:spPr>
          <a:xfrm>
            <a:off x="822960" y="5029200"/>
            <a:ext cx="10607040" cy="658368"/>
          </a:xfrm>
          <a:prstGeom prst="rect">
            <a:avLst/>
          </a:prstGeom>
          <a:noFill/>
          <a:ln/>
        </p:spPr>
        <p:txBody>
          <a:bodyPr wrap="square" lIns="0" tIns="0" rIns="0" bIns="0" rtlCol="0" anchor="ctr"/>
          <a:lstStyle/>
          <a:p>
            <a:pPr marL="0" indent="0">
              <a:lnSpc>
                <a:spcPct val="120000"/>
              </a:lnSpc>
              <a:buNone/>
            </a:pPr>
            <a:r>
              <a:rPr lang="en-US" sz="1200" b="1" dirty="0">
                <a:solidFill>
                  <a:srgbClr val="E8A33D"/>
                </a:solidFill>
                <a:latin typeface="Malgun Gothic" pitchFamily="34" charset="0"/>
                <a:ea typeface="Malgun Gothic" pitchFamily="34" charset="-122"/>
                <a:cs typeface="Malgun Gothic" pitchFamily="34" charset="-120"/>
              </a:rPr>
              <a:t>파일럿 범위 제안  </a:t>
            </a:r>
            <a:r>
              <a:rPr lang="en-US" sz="1200" dirty="0">
                <a:solidFill>
                  <a:srgbClr val="FFFFFF"/>
                </a:solidFill>
                <a:latin typeface="Malgun Gothic" pitchFamily="34" charset="0"/>
                <a:ea typeface="Malgun Gothic" pitchFamily="34" charset="-122"/>
                <a:cs typeface="Malgun Gothic" pitchFamily="34" charset="-120"/>
              </a:rPr>
              <a:t>본점 + 별빛샌드 1개 지점 · 주력 SKU 20개(파이만쥬 세트 포함) · B2B 상위 거래처 10곳 — 첫 승인(첫 환류)까지 6개월 이내, 전체 </a:t>
            </a:r>
            <a:r>
              <a:rPr lang="en-US" sz="1200" dirty="0" err="1">
                <a:solidFill>
                  <a:srgbClr val="FFFFFF"/>
                </a:solidFill>
                <a:latin typeface="Malgun Gothic" pitchFamily="34" charset="0"/>
                <a:ea typeface="Malgun Gothic" pitchFamily="34" charset="-122"/>
                <a:cs typeface="Malgun Gothic" pitchFamily="34" charset="-120"/>
              </a:rPr>
              <a:t>표준</a:t>
            </a:r>
            <a:r>
              <a:rPr lang="en-US" sz="1200" dirty="0">
                <a:solidFill>
                  <a:srgbClr val="FFFFFF"/>
                </a:solidFill>
                <a:latin typeface="Malgun Gothic" pitchFamily="34" charset="0"/>
                <a:ea typeface="Malgun Gothic" pitchFamily="34" charset="-122"/>
                <a:cs typeface="Malgun Gothic" pitchFamily="34" charset="-120"/>
              </a:rPr>
              <a:t> 12개월</a:t>
            </a:r>
            <a:endParaRPr lang="en-US" sz="1200" dirty="0"/>
          </a:p>
        </p:txBody>
      </p:sp>
      <p:sp>
        <p:nvSpPr>
          <p:cNvPr id="40" name="Text 38"/>
          <p:cNvSpPr/>
          <p:nvPr/>
        </p:nvSpPr>
        <p:spPr>
          <a:xfrm>
            <a:off x="502920" y="5943600"/>
            <a:ext cx="11201400" cy="347472"/>
          </a:xfrm>
          <a:prstGeom prst="rect">
            <a:avLst/>
          </a:prstGeom>
          <a:noFill/>
          <a:ln/>
        </p:spPr>
        <p:txBody>
          <a:bodyPr wrap="square" lIns="0" tIns="0" rIns="0" bIns="0" rtlCol="0" anchor="ctr"/>
          <a:lstStyle/>
          <a:p>
            <a:pPr marL="0" indent="0">
              <a:buNone/>
            </a:pPr>
            <a:r>
              <a:rPr lang="en-US" sz="1150" i="1" dirty="0">
                <a:solidFill>
                  <a:srgbClr val="76675A"/>
                </a:solidFill>
                <a:latin typeface="Malgun Gothic" pitchFamily="34" charset="0"/>
                <a:ea typeface="Malgun Gothic" pitchFamily="34" charset="-122"/>
                <a:cs typeface="Malgun Gothic" pitchFamily="34" charset="-120"/>
              </a:rPr>
              <a:t>검증된 파일럿을 지점 복제하는 구조 — 지점이 늘수록 도입 비용은 줄고 데이터 가치는 커진다</a:t>
            </a:r>
            <a:endParaRPr lang="en-US" sz="1150" dirty="0"/>
          </a:p>
        </p:txBody>
      </p:sp>
      <p:sp>
        <p:nvSpPr>
          <p:cNvPr id="41" name="Text 39"/>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42" name="Text 40"/>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marL="0" indent="0">
              <a:buNone/>
            </a:pPr>
            <a:r>
              <a:rPr lang="en-US" sz="1200" b="1" kern="0" spc="200" dirty="0">
                <a:solidFill>
                  <a:srgbClr val="0E8F86"/>
                </a:solidFill>
                <a:latin typeface="Malgun Gothic" pitchFamily="34" charset="0"/>
                <a:ea typeface="Malgun Gothic" pitchFamily="34" charset="-122"/>
                <a:cs typeface="Malgun Gothic" pitchFamily="34" charset="-120"/>
              </a:rPr>
              <a:t>EXPECTED OUTCOMES</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marL="0" indent="0">
              <a:buNone/>
            </a:pPr>
            <a:r>
              <a:rPr lang="en-US" sz="2500" b="1" dirty="0">
                <a:solidFill>
                  <a:srgbClr val="2E241C"/>
                </a:solidFill>
                <a:latin typeface="Malgun Gothic" pitchFamily="34" charset="0"/>
                <a:ea typeface="Malgun Gothic" pitchFamily="34" charset="-122"/>
                <a:cs typeface="Malgun Gothic" pitchFamily="34" charset="-120"/>
              </a:rPr>
              <a:t>무엇이 달라지는가 — 판정 KPI와 기대효과</a:t>
            </a:r>
            <a:endParaRPr lang="en-US" sz="2500" dirty="0"/>
          </a:p>
        </p:txBody>
      </p:sp>
      <p:sp>
        <p:nvSpPr>
          <p:cNvPr id="4" name="Shape 2"/>
          <p:cNvSpPr/>
          <p:nvPr/>
        </p:nvSpPr>
        <p:spPr>
          <a:xfrm>
            <a:off x="502920" y="1481328"/>
            <a:ext cx="3621024" cy="1298448"/>
          </a:xfrm>
          <a:prstGeom prst="roundRect">
            <a:avLst>
              <a:gd name="adj" fmla="val 6338"/>
            </a:avLst>
          </a:prstGeom>
          <a:solidFill>
            <a:srgbClr val="F8F2EA"/>
          </a:solidFill>
          <a:ln/>
        </p:spPr>
        <p:txBody>
          <a:bodyPr/>
          <a:lstStyle/>
          <a:p>
            <a:endParaRPr lang="ko-KR" altLang="en-US"/>
          </a:p>
        </p:txBody>
      </p:sp>
      <p:sp>
        <p:nvSpPr>
          <p:cNvPr id="5" name="Shape 3"/>
          <p:cNvSpPr/>
          <p:nvPr/>
        </p:nvSpPr>
        <p:spPr>
          <a:xfrm>
            <a:off x="722376" y="1700784"/>
            <a:ext cx="237744" cy="237744"/>
          </a:xfrm>
          <a:prstGeom prst="ellipse">
            <a:avLst/>
          </a:prstGeom>
          <a:solidFill>
            <a:srgbClr val="A8493B"/>
          </a:solidFill>
          <a:ln/>
        </p:spPr>
        <p:txBody>
          <a:bodyPr/>
          <a:lstStyle/>
          <a:p>
            <a:endParaRPr lang="ko-KR" altLang="en-US"/>
          </a:p>
        </p:txBody>
      </p:sp>
      <p:sp>
        <p:nvSpPr>
          <p:cNvPr id="6" name="Text 4"/>
          <p:cNvSpPr/>
          <p:nvPr/>
        </p:nvSpPr>
        <p:spPr>
          <a:xfrm>
            <a:off x="1069848" y="1609344"/>
            <a:ext cx="2889504" cy="402336"/>
          </a:xfrm>
          <a:prstGeom prst="rect">
            <a:avLst/>
          </a:prstGeom>
          <a:noFill/>
          <a:ln/>
        </p:spPr>
        <p:txBody>
          <a:bodyPr wrap="square" lIns="0" tIns="0" rIns="0" bIns="0" rtlCol="0" anchor="ctr"/>
          <a:lstStyle/>
          <a:p>
            <a:pPr marL="0" indent="0">
              <a:buNone/>
            </a:pPr>
            <a:r>
              <a:rPr lang="en-US" sz="1300" b="1" dirty="0">
                <a:solidFill>
                  <a:srgbClr val="2E241C"/>
                </a:solidFill>
                <a:latin typeface="Malgun Gothic" pitchFamily="34" charset="0"/>
                <a:ea typeface="Malgun Gothic" pitchFamily="34" charset="-122"/>
                <a:cs typeface="Malgun Gothic" pitchFamily="34" charset="-120"/>
              </a:rPr>
              <a:t>폐기율 · 결품률</a:t>
            </a:r>
            <a:endParaRPr lang="en-US" sz="1300" dirty="0"/>
          </a:p>
        </p:txBody>
      </p:sp>
      <p:sp>
        <p:nvSpPr>
          <p:cNvPr id="7" name="Text 5"/>
          <p:cNvSpPr/>
          <p:nvPr/>
        </p:nvSpPr>
        <p:spPr>
          <a:xfrm>
            <a:off x="722376" y="2103120"/>
            <a:ext cx="3182112" cy="603504"/>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동시 관리 — 생산·배분 보정의 직접 효과</a:t>
            </a:r>
            <a:endParaRPr lang="en-US" sz="1050" dirty="0"/>
          </a:p>
        </p:txBody>
      </p:sp>
      <p:sp>
        <p:nvSpPr>
          <p:cNvPr id="8" name="Shape 6"/>
          <p:cNvSpPr/>
          <p:nvPr/>
        </p:nvSpPr>
        <p:spPr>
          <a:xfrm>
            <a:off x="4325112" y="1481328"/>
            <a:ext cx="3621024" cy="1298448"/>
          </a:xfrm>
          <a:prstGeom prst="roundRect">
            <a:avLst>
              <a:gd name="adj" fmla="val 6338"/>
            </a:avLst>
          </a:prstGeom>
          <a:solidFill>
            <a:srgbClr val="F8F2EA"/>
          </a:solidFill>
          <a:ln/>
        </p:spPr>
        <p:txBody>
          <a:bodyPr/>
          <a:lstStyle/>
          <a:p>
            <a:endParaRPr lang="ko-KR" altLang="en-US"/>
          </a:p>
        </p:txBody>
      </p:sp>
      <p:sp>
        <p:nvSpPr>
          <p:cNvPr id="9" name="Shape 7"/>
          <p:cNvSpPr/>
          <p:nvPr/>
        </p:nvSpPr>
        <p:spPr>
          <a:xfrm>
            <a:off x="4544568" y="1700784"/>
            <a:ext cx="237744" cy="237744"/>
          </a:xfrm>
          <a:prstGeom prst="ellipse">
            <a:avLst/>
          </a:prstGeom>
          <a:solidFill>
            <a:srgbClr val="0E8F86"/>
          </a:solidFill>
          <a:ln/>
        </p:spPr>
        <p:txBody>
          <a:bodyPr/>
          <a:lstStyle/>
          <a:p>
            <a:endParaRPr lang="ko-KR" altLang="en-US"/>
          </a:p>
        </p:txBody>
      </p:sp>
      <p:sp>
        <p:nvSpPr>
          <p:cNvPr id="10" name="Text 8"/>
          <p:cNvSpPr/>
          <p:nvPr/>
        </p:nvSpPr>
        <p:spPr>
          <a:xfrm>
            <a:off x="4892040" y="1609344"/>
            <a:ext cx="2889504" cy="402336"/>
          </a:xfrm>
          <a:prstGeom prst="rect">
            <a:avLst/>
          </a:prstGeom>
          <a:noFill/>
          <a:ln/>
        </p:spPr>
        <p:txBody>
          <a:bodyPr wrap="square" lIns="0" tIns="0" rIns="0" bIns="0" rtlCol="0" anchor="ctr"/>
          <a:lstStyle/>
          <a:p>
            <a:pPr marL="0" indent="0">
              <a:buNone/>
            </a:pPr>
            <a:r>
              <a:rPr lang="en-US" sz="1300" b="1" dirty="0">
                <a:solidFill>
                  <a:srgbClr val="2E241C"/>
                </a:solidFill>
                <a:latin typeface="Malgun Gothic" pitchFamily="34" charset="0"/>
                <a:ea typeface="Malgun Gothic" pitchFamily="34" charset="-122"/>
                <a:cs typeface="Malgun Gothic" pitchFamily="34" charset="-120"/>
              </a:rPr>
              <a:t>예측 정확도 MAPE</a:t>
            </a:r>
            <a:endParaRPr lang="en-US" sz="1300" dirty="0"/>
          </a:p>
        </p:txBody>
      </p:sp>
      <p:sp>
        <p:nvSpPr>
          <p:cNvPr id="11" name="Text 9"/>
          <p:cNvSpPr/>
          <p:nvPr/>
        </p:nvSpPr>
        <p:spPr>
          <a:xfrm>
            <a:off x="4544568" y="2103120"/>
            <a:ext cx="3182112" cy="603504"/>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루프가 돌수록 개선 — 매월 공개</a:t>
            </a:r>
            <a:endParaRPr lang="en-US" sz="1050" dirty="0"/>
          </a:p>
        </p:txBody>
      </p:sp>
      <p:sp>
        <p:nvSpPr>
          <p:cNvPr id="12" name="Shape 10"/>
          <p:cNvSpPr/>
          <p:nvPr/>
        </p:nvSpPr>
        <p:spPr>
          <a:xfrm>
            <a:off x="8147304" y="1481328"/>
            <a:ext cx="3621024" cy="1298448"/>
          </a:xfrm>
          <a:prstGeom prst="roundRect">
            <a:avLst>
              <a:gd name="adj" fmla="val 6338"/>
            </a:avLst>
          </a:prstGeom>
          <a:solidFill>
            <a:srgbClr val="F8F2EA"/>
          </a:solidFill>
          <a:ln/>
        </p:spPr>
        <p:txBody>
          <a:bodyPr/>
          <a:lstStyle/>
          <a:p>
            <a:endParaRPr lang="ko-KR" altLang="en-US"/>
          </a:p>
        </p:txBody>
      </p:sp>
      <p:sp>
        <p:nvSpPr>
          <p:cNvPr id="13" name="Shape 11"/>
          <p:cNvSpPr/>
          <p:nvPr/>
        </p:nvSpPr>
        <p:spPr>
          <a:xfrm>
            <a:off x="8366760" y="1700784"/>
            <a:ext cx="237744" cy="237744"/>
          </a:xfrm>
          <a:prstGeom prst="ellipse">
            <a:avLst/>
          </a:prstGeom>
          <a:solidFill>
            <a:srgbClr val="714B67"/>
          </a:solidFill>
          <a:ln/>
        </p:spPr>
        <p:txBody>
          <a:bodyPr/>
          <a:lstStyle/>
          <a:p>
            <a:endParaRPr lang="ko-KR" altLang="en-US"/>
          </a:p>
        </p:txBody>
      </p:sp>
      <p:sp>
        <p:nvSpPr>
          <p:cNvPr id="14" name="Text 12"/>
          <p:cNvSpPr/>
          <p:nvPr/>
        </p:nvSpPr>
        <p:spPr>
          <a:xfrm>
            <a:off x="8714232" y="1609344"/>
            <a:ext cx="2889504" cy="402336"/>
          </a:xfrm>
          <a:prstGeom prst="rect">
            <a:avLst/>
          </a:prstGeom>
          <a:noFill/>
          <a:ln/>
        </p:spPr>
        <p:txBody>
          <a:bodyPr wrap="square" lIns="0" tIns="0" rIns="0" bIns="0" rtlCol="0" anchor="ctr"/>
          <a:lstStyle/>
          <a:p>
            <a:pPr marL="0" indent="0">
              <a:buNone/>
            </a:pPr>
            <a:r>
              <a:rPr lang="en-US" sz="1300" b="1" dirty="0">
                <a:solidFill>
                  <a:srgbClr val="2E241C"/>
                </a:solidFill>
                <a:latin typeface="Malgun Gothic" pitchFamily="34" charset="0"/>
                <a:ea typeface="Malgun Gothic" pitchFamily="34" charset="-122"/>
                <a:cs typeface="Malgun Gothic" pitchFamily="34" charset="-120"/>
              </a:rPr>
              <a:t>재고 정확도 95%+</a:t>
            </a:r>
            <a:endParaRPr lang="en-US" sz="1300" dirty="0"/>
          </a:p>
        </p:txBody>
      </p:sp>
      <p:sp>
        <p:nvSpPr>
          <p:cNvPr id="15" name="Text 13"/>
          <p:cNvSpPr/>
          <p:nvPr/>
        </p:nvSpPr>
        <p:spPr>
          <a:xfrm>
            <a:off x="8366760" y="2103120"/>
            <a:ext cx="3182112" cy="603504"/>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실사 차이 소멸 — 지능화의 관문</a:t>
            </a:r>
            <a:endParaRPr lang="en-US" sz="1050" dirty="0"/>
          </a:p>
        </p:txBody>
      </p:sp>
      <p:sp>
        <p:nvSpPr>
          <p:cNvPr id="16" name="Shape 14"/>
          <p:cNvSpPr/>
          <p:nvPr/>
        </p:nvSpPr>
        <p:spPr>
          <a:xfrm>
            <a:off x="502920" y="2944368"/>
            <a:ext cx="3621024" cy="1298448"/>
          </a:xfrm>
          <a:prstGeom prst="roundRect">
            <a:avLst>
              <a:gd name="adj" fmla="val 6338"/>
            </a:avLst>
          </a:prstGeom>
          <a:solidFill>
            <a:srgbClr val="F8F2EA"/>
          </a:solidFill>
          <a:ln/>
        </p:spPr>
        <p:txBody>
          <a:bodyPr/>
          <a:lstStyle/>
          <a:p>
            <a:endParaRPr lang="ko-KR" altLang="en-US"/>
          </a:p>
        </p:txBody>
      </p:sp>
      <p:sp>
        <p:nvSpPr>
          <p:cNvPr id="17" name="Shape 15"/>
          <p:cNvSpPr/>
          <p:nvPr/>
        </p:nvSpPr>
        <p:spPr>
          <a:xfrm>
            <a:off x="722376" y="3163824"/>
            <a:ext cx="237744" cy="237744"/>
          </a:xfrm>
          <a:prstGeom prst="ellipse">
            <a:avLst/>
          </a:prstGeom>
          <a:solidFill>
            <a:srgbClr val="C07F1E"/>
          </a:solidFill>
          <a:ln/>
        </p:spPr>
        <p:txBody>
          <a:bodyPr/>
          <a:lstStyle/>
          <a:p>
            <a:endParaRPr lang="ko-KR" altLang="en-US"/>
          </a:p>
        </p:txBody>
      </p:sp>
      <p:sp>
        <p:nvSpPr>
          <p:cNvPr id="18" name="Text 16"/>
          <p:cNvSpPr/>
          <p:nvPr/>
        </p:nvSpPr>
        <p:spPr>
          <a:xfrm>
            <a:off x="1069848" y="3072384"/>
            <a:ext cx="2889504" cy="402336"/>
          </a:xfrm>
          <a:prstGeom prst="rect">
            <a:avLst/>
          </a:prstGeom>
          <a:noFill/>
          <a:ln/>
        </p:spPr>
        <p:txBody>
          <a:bodyPr wrap="square" lIns="0" tIns="0" rIns="0" bIns="0" rtlCol="0" anchor="ctr"/>
          <a:lstStyle/>
          <a:p>
            <a:pPr marL="0" indent="0">
              <a:buNone/>
            </a:pPr>
            <a:r>
              <a:rPr lang="en-US" sz="1300" b="1" dirty="0">
                <a:solidFill>
                  <a:srgbClr val="2E241C"/>
                </a:solidFill>
                <a:latin typeface="Malgun Gothic" pitchFamily="34" charset="0"/>
                <a:ea typeface="Malgun Gothic" pitchFamily="34" charset="-122"/>
                <a:cs typeface="Malgun Gothic" pitchFamily="34" charset="-120"/>
              </a:rPr>
              <a:t>B2B 수주 리드타임</a:t>
            </a:r>
            <a:endParaRPr lang="en-US" sz="1300" dirty="0"/>
          </a:p>
        </p:txBody>
      </p:sp>
      <p:sp>
        <p:nvSpPr>
          <p:cNvPr id="19" name="Text 17"/>
          <p:cNvSpPr/>
          <p:nvPr/>
        </p:nvSpPr>
        <p:spPr>
          <a:xfrm>
            <a:off x="722376" y="3566160"/>
            <a:ext cx="3182112" cy="603504"/>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재주문 제안·자동 계산서로 단축</a:t>
            </a:r>
            <a:endParaRPr lang="en-US" sz="1050" dirty="0"/>
          </a:p>
        </p:txBody>
      </p:sp>
      <p:sp>
        <p:nvSpPr>
          <p:cNvPr id="20" name="Shape 18"/>
          <p:cNvSpPr/>
          <p:nvPr/>
        </p:nvSpPr>
        <p:spPr>
          <a:xfrm>
            <a:off x="4325112" y="2944368"/>
            <a:ext cx="3621024" cy="1298448"/>
          </a:xfrm>
          <a:prstGeom prst="roundRect">
            <a:avLst>
              <a:gd name="adj" fmla="val 6338"/>
            </a:avLst>
          </a:prstGeom>
          <a:solidFill>
            <a:srgbClr val="F8F2EA"/>
          </a:solidFill>
          <a:ln/>
        </p:spPr>
        <p:txBody>
          <a:bodyPr/>
          <a:lstStyle/>
          <a:p>
            <a:endParaRPr lang="ko-KR" altLang="en-US"/>
          </a:p>
        </p:txBody>
      </p:sp>
      <p:sp>
        <p:nvSpPr>
          <p:cNvPr id="21" name="Shape 19"/>
          <p:cNvSpPr/>
          <p:nvPr/>
        </p:nvSpPr>
        <p:spPr>
          <a:xfrm>
            <a:off x="4544568" y="3163824"/>
            <a:ext cx="237744" cy="237744"/>
          </a:xfrm>
          <a:prstGeom prst="ellipse">
            <a:avLst/>
          </a:prstGeom>
          <a:solidFill>
            <a:srgbClr val="9C5227"/>
          </a:solidFill>
          <a:ln/>
        </p:spPr>
        <p:txBody>
          <a:bodyPr/>
          <a:lstStyle/>
          <a:p>
            <a:endParaRPr lang="ko-KR" altLang="en-US"/>
          </a:p>
        </p:txBody>
      </p:sp>
      <p:sp>
        <p:nvSpPr>
          <p:cNvPr id="22" name="Text 20"/>
          <p:cNvSpPr/>
          <p:nvPr/>
        </p:nvSpPr>
        <p:spPr>
          <a:xfrm>
            <a:off x="4892040" y="3072384"/>
            <a:ext cx="2889504" cy="402336"/>
          </a:xfrm>
          <a:prstGeom prst="rect">
            <a:avLst/>
          </a:prstGeom>
          <a:noFill/>
          <a:ln/>
        </p:spPr>
        <p:txBody>
          <a:bodyPr wrap="square" lIns="0" tIns="0" rIns="0" bIns="0" rtlCol="0" anchor="ctr"/>
          <a:lstStyle/>
          <a:p>
            <a:pPr marL="0" indent="0">
              <a:buNone/>
            </a:pPr>
            <a:r>
              <a:rPr lang="en-US" sz="1300" b="1" dirty="0">
                <a:solidFill>
                  <a:srgbClr val="2E241C"/>
                </a:solidFill>
                <a:latin typeface="Malgun Gothic" pitchFamily="34" charset="0"/>
                <a:ea typeface="Malgun Gothic" pitchFamily="34" charset="-122"/>
                <a:cs typeface="Malgun Gothic" pitchFamily="34" charset="-120"/>
              </a:rPr>
              <a:t>마감 소요 시간</a:t>
            </a:r>
            <a:endParaRPr lang="en-US" sz="1300" dirty="0"/>
          </a:p>
        </p:txBody>
      </p:sp>
      <p:sp>
        <p:nvSpPr>
          <p:cNvPr id="23" name="Text 21"/>
          <p:cNvSpPr/>
          <p:nvPr/>
        </p:nvSpPr>
        <p:spPr>
          <a:xfrm>
            <a:off x="4544568" y="3566160"/>
            <a:ext cx="3182112" cy="603504"/>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일일 손익 자동화 — 월말 마감의 일상화</a:t>
            </a:r>
            <a:endParaRPr lang="en-US" sz="1050" dirty="0"/>
          </a:p>
        </p:txBody>
      </p:sp>
      <p:sp>
        <p:nvSpPr>
          <p:cNvPr id="24" name="Shape 22"/>
          <p:cNvSpPr/>
          <p:nvPr/>
        </p:nvSpPr>
        <p:spPr>
          <a:xfrm>
            <a:off x="8147304" y="2944368"/>
            <a:ext cx="3621024" cy="1298448"/>
          </a:xfrm>
          <a:prstGeom prst="roundRect">
            <a:avLst>
              <a:gd name="adj" fmla="val 6338"/>
            </a:avLst>
          </a:prstGeom>
          <a:solidFill>
            <a:srgbClr val="F8F2EA"/>
          </a:solidFill>
          <a:ln/>
        </p:spPr>
        <p:txBody>
          <a:bodyPr/>
          <a:lstStyle/>
          <a:p>
            <a:endParaRPr lang="ko-KR" altLang="en-US"/>
          </a:p>
        </p:txBody>
      </p:sp>
      <p:sp>
        <p:nvSpPr>
          <p:cNvPr id="25" name="Shape 23"/>
          <p:cNvSpPr/>
          <p:nvPr/>
        </p:nvSpPr>
        <p:spPr>
          <a:xfrm>
            <a:off x="8366760" y="3163824"/>
            <a:ext cx="237744" cy="237744"/>
          </a:xfrm>
          <a:prstGeom prst="ellipse">
            <a:avLst/>
          </a:prstGeom>
          <a:solidFill>
            <a:srgbClr val="E8A33D"/>
          </a:solidFill>
          <a:ln/>
        </p:spPr>
        <p:txBody>
          <a:bodyPr/>
          <a:lstStyle/>
          <a:p>
            <a:endParaRPr lang="ko-KR" altLang="en-US"/>
          </a:p>
        </p:txBody>
      </p:sp>
      <p:sp>
        <p:nvSpPr>
          <p:cNvPr id="26" name="Text 24"/>
          <p:cNvSpPr/>
          <p:nvPr/>
        </p:nvSpPr>
        <p:spPr>
          <a:xfrm>
            <a:off x="8714232" y="3072384"/>
            <a:ext cx="2889504" cy="402336"/>
          </a:xfrm>
          <a:prstGeom prst="rect">
            <a:avLst/>
          </a:prstGeom>
          <a:noFill/>
          <a:ln/>
        </p:spPr>
        <p:txBody>
          <a:bodyPr wrap="square" lIns="0" tIns="0" rIns="0" bIns="0" rtlCol="0" anchor="ctr"/>
          <a:lstStyle/>
          <a:p>
            <a:pPr marL="0" indent="0">
              <a:buNone/>
            </a:pPr>
            <a:r>
              <a:rPr lang="en-US" sz="1300" b="1" dirty="0">
                <a:solidFill>
                  <a:srgbClr val="2E241C"/>
                </a:solidFill>
                <a:latin typeface="Malgun Gothic" pitchFamily="34" charset="0"/>
                <a:ea typeface="Malgun Gothic" pitchFamily="34" charset="-122"/>
                <a:cs typeface="Malgun Gothic" pitchFamily="34" charset="-120"/>
              </a:rPr>
              <a:t>이중 입력 건수 제로</a:t>
            </a:r>
            <a:endParaRPr lang="en-US" sz="1300" dirty="0"/>
          </a:p>
        </p:txBody>
      </p:sp>
      <p:sp>
        <p:nvSpPr>
          <p:cNvPr id="27" name="Text 25"/>
          <p:cNvSpPr/>
          <p:nvPr/>
        </p:nvSpPr>
        <p:spPr>
          <a:xfrm>
            <a:off x="8366760" y="3566160"/>
            <a:ext cx="3182112" cy="603504"/>
          </a:xfrm>
          <a:prstGeom prst="rect">
            <a:avLst/>
          </a:prstGeom>
          <a:noFill/>
          <a:ln/>
        </p:spPr>
        <p:txBody>
          <a:bodyPr wrap="square" lIns="0" tIns="0" rIns="0" bIns="0" rtlCol="0" anchor="t"/>
          <a:lstStyle/>
          <a:p>
            <a:pPr marL="0" indent="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옮겨적기 소멸 — 2단계 성공 판정</a:t>
            </a:r>
            <a:endParaRPr lang="en-US" sz="1050" dirty="0"/>
          </a:p>
        </p:txBody>
      </p:sp>
      <p:sp>
        <p:nvSpPr>
          <p:cNvPr id="28" name="Shape 26"/>
          <p:cNvSpPr/>
          <p:nvPr/>
        </p:nvSpPr>
        <p:spPr>
          <a:xfrm>
            <a:off x="502920" y="4526280"/>
            <a:ext cx="11201400" cy="1188720"/>
          </a:xfrm>
          <a:prstGeom prst="roundRect">
            <a:avLst>
              <a:gd name="adj" fmla="val 6923"/>
            </a:avLst>
          </a:prstGeom>
          <a:solidFill>
            <a:srgbClr val="2B1D12"/>
          </a:solidFill>
          <a:ln/>
        </p:spPr>
        <p:txBody>
          <a:bodyPr/>
          <a:lstStyle/>
          <a:p>
            <a:endParaRPr lang="ko-KR" altLang="en-US"/>
          </a:p>
        </p:txBody>
      </p:sp>
      <p:sp>
        <p:nvSpPr>
          <p:cNvPr id="29" name="Text 27"/>
          <p:cNvSpPr/>
          <p:nvPr/>
        </p:nvSpPr>
        <p:spPr>
          <a:xfrm>
            <a:off x="822960" y="4645152"/>
            <a:ext cx="10607040" cy="960120"/>
          </a:xfrm>
          <a:prstGeom prst="rect">
            <a:avLst/>
          </a:prstGeom>
          <a:noFill/>
          <a:ln/>
        </p:spPr>
        <p:txBody>
          <a:bodyPr wrap="square" lIns="0" tIns="0" rIns="0" bIns="0" rtlCol="0" anchor="t"/>
          <a:lstStyle/>
          <a:p>
            <a:pPr marL="0" indent="0">
              <a:lnSpc>
                <a:spcPct val="125000"/>
              </a:lnSpc>
              <a:buNone/>
            </a:pPr>
            <a:r>
              <a:rPr lang="en-US" sz="1150" b="1" dirty="0">
                <a:solidFill>
                  <a:srgbClr val="E8A33D"/>
                </a:solidFill>
                <a:latin typeface="Malgun Gothic" pitchFamily="34" charset="0"/>
                <a:ea typeface="Malgun Gothic" pitchFamily="34" charset="-122"/>
                <a:cs typeface="Malgun Gothic" pitchFamily="34" charset="-120"/>
              </a:rPr>
              <a:t>정직한 약속  </a:t>
            </a:r>
            <a:r>
              <a:rPr lang="en-US" sz="1150" dirty="0">
                <a:solidFill>
                  <a:srgbClr val="FFFFFF"/>
                </a:solidFill>
                <a:latin typeface="Malgun Gothic" pitchFamily="34" charset="0"/>
                <a:ea typeface="Malgun Gothic" pitchFamily="34" charset="-122"/>
                <a:cs typeface="Malgun Gothic" pitchFamily="34" charset="-120"/>
              </a:rPr>
              <a:t>목표 수치는 진단 단계에서 귀사 기준선을 재고 함께 서명합니다. 참고로 정부 스마트공장 공개 성과(중기부 5,003개사)는 원가 −15.9% · 생산성 +30% · 납기준수 +15.5% — 업종·모수가 </a:t>
            </a:r>
            <a:r>
              <a:rPr lang="en-US" sz="1150" dirty="0" err="1">
                <a:solidFill>
                  <a:srgbClr val="FFFFFF"/>
                </a:solidFill>
                <a:latin typeface="Malgun Gothic" pitchFamily="34" charset="0"/>
                <a:ea typeface="Malgun Gothic" pitchFamily="34" charset="-122"/>
                <a:cs typeface="Malgun Gothic" pitchFamily="34" charset="-120"/>
              </a:rPr>
              <a:t>다르므로</a:t>
            </a:r>
            <a:r>
              <a:rPr lang="en-US" sz="1150" dirty="0">
                <a:solidFill>
                  <a:srgbClr val="FFFFFF"/>
                </a:solidFill>
                <a:latin typeface="Malgun Gothic" pitchFamily="34" charset="0"/>
                <a:ea typeface="Malgun Gothic" pitchFamily="34" charset="-122"/>
                <a:cs typeface="Malgun Gothic" pitchFamily="34" charset="-120"/>
              </a:rPr>
              <a:t> </a:t>
            </a:r>
            <a:r>
              <a:rPr lang="ko-KR" altLang="en-US" sz="1150" dirty="0">
                <a:solidFill>
                  <a:srgbClr val="FFFFFF"/>
                </a:solidFill>
                <a:latin typeface="Malgun Gothic" pitchFamily="34" charset="0"/>
                <a:ea typeface="Malgun Gothic" pitchFamily="34" charset="-122"/>
                <a:cs typeface="Malgun Gothic" pitchFamily="34" charset="-120"/>
              </a:rPr>
              <a:t>베이커리 </a:t>
            </a:r>
            <a:r>
              <a:rPr lang="en-US" altLang="ko-KR" sz="1150" dirty="0">
                <a:solidFill>
                  <a:srgbClr val="FFFFFF"/>
                </a:solidFill>
                <a:latin typeface="Malgun Gothic" pitchFamily="34" charset="0"/>
                <a:ea typeface="Malgun Gothic" pitchFamily="34" charset="-122"/>
                <a:cs typeface="Malgun Gothic" pitchFamily="34" charset="-120"/>
              </a:rPr>
              <a:t>T</a:t>
            </a:r>
            <a:r>
              <a:rPr lang="ko-KR" altLang="en-US" sz="1150" dirty="0">
                <a:solidFill>
                  <a:srgbClr val="FFFFFF"/>
                </a:solidFill>
                <a:latin typeface="Malgun Gothic" pitchFamily="34" charset="0"/>
                <a:ea typeface="Malgun Gothic" pitchFamily="34" charset="-122"/>
                <a:cs typeface="Malgun Gothic" pitchFamily="34" charset="-120"/>
              </a:rPr>
              <a:t>사의</a:t>
            </a:r>
            <a:r>
              <a:rPr lang="en-US" sz="1150" dirty="0">
                <a:solidFill>
                  <a:srgbClr val="FFFFFF"/>
                </a:solidFill>
                <a:latin typeface="Malgun Gothic" pitchFamily="34" charset="0"/>
                <a:ea typeface="Malgun Gothic" pitchFamily="34" charset="-122"/>
                <a:cs typeface="Malgun Gothic" pitchFamily="34" charset="-120"/>
              </a:rPr>
              <a:t> </a:t>
            </a:r>
            <a:r>
              <a:rPr lang="en-US" sz="1150" dirty="0" err="1">
                <a:solidFill>
                  <a:srgbClr val="FFFFFF"/>
                </a:solidFill>
                <a:latin typeface="Malgun Gothic" pitchFamily="34" charset="0"/>
                <a:ea typeface="Malgun Gothic" pitchFamily="34" charset="-122"/>
                <a:cs typeface="Malgun Gothic" pitchFamily="34" charset="-120"/>
              </a:rPr>
              <a:t>숫자는</a:t>
            </a:r>
            <a:r>
              <a:rPr lang="en-US" sz="1150" dirty="0">
                <a:solidFill>
                  <a:srgbClr val="FFFFFF"/>
                </a:solidFill>
                <a:latin typeface="Malgun Gothic" pitchFamily="34" charset="0"/>
                <a:ea typeface="Malgun Gothic" pitchFamily="34" charset="-122"/>
                <a:cs typeface="Malgun Gothic" pitchFamily="34" charset="-120"/>
              </a:rPr>
              <a:t> </a:t>
            </a:r>
            <a:r>
              <a:rPr lang="ko-KR" altLang="en-US" sz="1150" dirty="0">
                <a:solidFill>
                  <a:srgbClr val="FFFFFF"/>
                </a:solidFill>
                <a:latin typeface="Malgun Gothic" pitchFamily="34" charset="0"/>
                <a:ea typeface="Malgun Gothic" pitchFamily="34" charset="-122"/>
                <a:cs typeface="Malgun Gothic" pitchFamily="34" charset="-120"/>
              </a:rPr>
              <a:t>베이커리 </a:t>
            </a:r>
            <a:r>
              <a:rPr lang="en-US" altLang="ko-KR" sz="1150" dirty="0">
                <a:solidFill>
                  <a:srgbClr val="FFFFFF"/>
                </a:solidFill>
                <a:latin typeface="Malgun Gothic" pitchFamily="34" charset="0"/>
                <a:ea typeface="Malgun Gothic" pitchFamily="34" charset="-122"/>
                <a:cs typeface="Malgun Gothic" pitchFamily="34" charset="-120"/>
              </a:rPr>
              <a:t>T</a:t>
            </a:r>
            <a:r>
              <a:rPr lang="ko-KR" altLang="en-US" sz="1150" dirty="0">
                <a:solidFill>
                  <a:srgbClr val="FFFFFF"/>
                </a:solidFill>
                <a:latin typeface="Malgun Gothic" pitchFamily="34" charset="0"/>
                <a:ea typeface="Malgun Gothic" pitchFamily="34" charset="-122"/>
                <a:cs typeface="Malgun Gothic" pitchFamily="34" charset="-120"/>
              </a:rPr>
              <a:t>사의</a:t>
            </a:r>
            <a:r>
              <a:rPr lang="en-US" sz="1150" dirty="0">
                <a:solidFill>
                  <a:srgbClr val="FFFFFF"/>
                </a:solidFill>
                <a:latin typeface="Malgun Gothic" pitchFamily="34" charset="0"/>
                <a:ea typeface="Malgun Gothic" pitchFamily="34" charset="-122"/>
                <a:cs typeface="Malgun Gothic" pitchFamily="34" charset="-120"/>
              </a:rPr>
              <a:t> 데이터로 증명하겠습니다.</a:t>
            </a:r>
            <a:endParaRPr lang="en-US" sz="1150" dirty="0"/>
          </a:p>
        </p:txBody>
      </p:sp>
      <p:sp>
        <p:nvSpPr>
          <p:cNvPr id="30" name="Text 28"/>
          <p:cNvSpPr/>
          <p:nvPr/>
        </p:nvSpPr>
        <p:spPr>
          <a:xfrm>
            <a:off x="502920" y="5897880"/>
            <a:ext cx="11201400" cy="365760"/>
          </a:xfrm>
          <a:prstGeom prst="rect">
            <a:avLst/>
          </a:prstGeom>
          <a:noFill/>
          <a:ln/>
        </p:spPr>
        <p:txBody>
          <a:bodyPr wrap="square" lIns="0" tIns="0" rIns="0" bIns="0" rtlCol="0" anchor="ctr"/>
          <a:lstStyle/>
          <a:p>
            <a:pPr marL="0" indent="0">
              <a:buNone/>
            </a:pPr>
            <a:r>
              <a:rPr lang="en-US" sz="1250" b="1" i="1" dirty="0">
                <a:solidFill>
                  <a:srgbClr val="9C5227"/>
                </a:solidFill>
                <a:latin typeface="Malgun Gothic" pitchFamily="34" charset="0"/>
                <a:ea typeface="Malgun Gothic" pitchFamily="34" charset="-122"/>
                <a:cs typeface="Malgun Gothic" pitchFamily="34" charset="-120"/>
              </a:rPr>
              <a:t>가장 큰 자산: 70년의 감이 시스템의 규칙이 되어 — 사람이 바뀌어도, 지점이 늘어도 남는다</a:t>
            </a:r>
            <a:endParaRPr lang="en-US" sz="1250" dirty="0"/>
          </a:p>
        </p:txBody>
      </p:sp>
      <p:sp>
        <p:nvSpPr>
          <p:cNvPr id="31" name="Text 29"/>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76675A"/>
                </a:solidFill>
                <a:latin typeface="Malgun Gothic" pitchFamily="34" charset="0"/>
                <a:ea typeface="Malgun Gothic" pitchFamily="34" charset="-122"/>
                <a:cs typeface="Malgun Gothic" pitchFamily="34" charset="-120"/>
              </a:rPr>
              <a:t>1950 </a:t>
            </a:r>
            <a:r>
              <a:rPr lang="ko-KR" altLang="en-US" sz="900" dirty="0">
                <a:solidFill>
                  <a:srgbClr val="76675A"/>
                </a:solidFill>
                <a:latin typeface="Malgun Gothic" pitchFamily="34" charset="0"/>
                <a:ea typeface="Malgun Gothic" pitchFamily="34" charset="-122"/>
                <a:cs typeface="Malgun Gothic" pitchFamily="34" charset="-120"/>
              </a:rPr>
              <a:t>베이커리 </a:t>
            </a:r>
            <a:r>
              <a:rPr lang="en-US" sz="900" dirty="0">
                <a:solidFill>
                  <a:srgbClr val="76675A"/>
                </a:solidFill>
                <a:latin typeface="Malgun Gothic" pitchFamily="34" charset="0"/>
                <a:ea typeface="Malgun Gothic" pitchFamily="34" charset="-122"/>
                <a:cs typeface="Malgun Gothic" pitchFamily="34" charset="-120"/>
              </a:rPr>
              <a:t>T</a:t>
            </a:r>
            <a:r>
              <a:rPr lang="ko-KR" altLang="en-US" sz="900" dirty="0">
                <a:solidFill>
                  <a:srgbClr val="76675A"/>
                </a:solidFill>
                <a:latin typeface="Malgun Gothic" pitchFamily="34" charset="0"/>
                <a:ea typeface="Malgun Gothic" pitchFamily="34" charset="-122"/>
                <a:cs typeface="Malgun Gothic" pitchFamily="34" charset="-120"/>
              </a:rPr>
              <a:t>사</a:t>
            </a:r>
            <a:r>
              <a:rPr lang="en-US" sz="900" dirty="0">
                <a:solidFill>
                  <a:srgbClr val="76675A"/>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32" name="Text 30"/>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76675A"/>
                </a:solidFill>
                <a:latin typeface="Malgun Gothic" pitchFamily="34" charset="0"/>
                <a:ea typeface="Malgun Gothic" pitchFamily="34" charset="-122"/>
                <a:cs typeface="Malgun Gothic"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548640"/>
            <a:ext cx="7315200" cy="320040"/>
          </a:xfrm>
          <a:prstGeom prst="rect">
            <a:avLst/>
          </a:prstGeom>
          <a:noFill/>
          <a:ln/>
        </p:spPr>
        <p:txBody>
          <a:bodyPr wrap="square" lIns="0" tIns="0" rIns="0" bIns="0" rtlCol="0" anchor="ctr"/>
          <a:lstStyle/>
          <a:p>
            <a:pPr marL="0" indent="0">
              <a:buNone/>
            </a:pPr>
            <a:r>
              <a:rPr lang="en-US" sz="1300" b="1" kern="0" spc="300" dirty="0">
                <a:solidFill>
                  <a:srgbClr val="E8A33D"/>
                </a:solidFill>
                <a:latin typeface="Malgun Gothic" pitchFamily="34" charset="0"/>
                <a:ea typeface="Malgun Gothic" pitchFamily="34" charset="-122"/>
                <a:cs typeface="Malgun Gothic" pitchFamily="34" charset="-120"/>
              </a:rPr>
              <a:t>ANSWER &amp; NEXT STEP</a:t>
            </a:r>
            <a:endParaRPr lang="en-US" sz="1300" dirty="0"/>
          </a:p>
        </p:txBody>
      </p:sp>
      <p:sp>
        <p:nvSpPr>
          <p:cNvPr id="4" name="Shape 2"/>
          <p:cNvSpPr/>
          <p:nvPr/>
        </p:nvSpPr>
        <p:spPr>
          <a:xfrm>
            <a:off x="640080" y="2943225"/>
            <a:ext cx="7223760" cy="786384"/>
          </a:xfrm>
          <a:prstGeom prst="roundRect">
            <a:avLst>
              <a:gd name="adj" fmla="val 10465"/>
            </a:avLst>
          </a:prstGeom>
          <a:solidFill>
            <a:srgbClr val="3E2C1D"/>
          </a:solidFill>
          <a:ln/>
        </p:spPr>
        <p:txBody>
          <a:bodyPr/>
          <a:lstStyle/>
          <a:p>
            <a:endParaRPr lang="ko-KR" altLang="en-US"/>
          </a:p>
        </p:txBody>
      </p:sp>
      <p:sp>
        <p:nvSpPr>
          <p:cNvPr id="5" name="Text 3"/>
          <p:cNvSpPr/>
          <p:nvPr/>
        </p:nvSpPr>
        <p:spPr>
          <a:xfrm>
            <a:off x="868680" y="2988945"/>
            <a:ext cx="1737360" cy="694944"/>
          </a:xfrm>
          <a:prstGeom prst="rect">
            <a:avLst/>
          </a:prstGeom>
          <a:noFill/>
          <a:ln/>
        </p:spPr>
        <p:txBody>
          <a:bodyPr wrap="square" lIns="0" tIns="0" rIns="0" bIns="0" rtlCol="0" anchor="ctr"/>
          <a:lstStyle/>
          <a:p>
            <a:pPr marL="0" indent="0">
              <a:buNone/>
            </a:pPr>
            <a:r>
              <a:rPr lang="en-US" sz="1250" b="1" dirty="0">
                <a:solidFill>
                  <a:srgbClr val="E8A33D"/>
                </a:solidFill>
                <a:latin typeface="Malgun Gothic" pitchFamily="34" charset="0"/>
                <a:ea typeface="Malgun Gothic" pitchFamily="34" charset="-122"/>
                <a:cs typeface="Malgun Gothic" pitchFamily="34" charset="-120"/>
              </a:rPr>
              <a:t>재고 관리</a:t>
            </a:r>
            <a:endParaRPr lang="en-US" sz="1250" dirty="0"/>
          </a:p>
        </p:txBody>
      </p:sp>
      <p:sp>
        <p:nvSpPr>
          <p:cNvPr id="6" name="Text 4"/>
          <p:cNvSpPr/>
          <p:nvPr/>
        </p:nvSpPr>
        <p:spPr>
          <a:xfrm>
            <a:off x="2651760" y="2988945"/>
            <a:ext cx="5074920" cy="694944"/>
          </a:xfrm>
          <a:prstGeom prst="rect">
            <a:avLst/>
          </a:prstGeom>
          <a:noFill/>
          <a:ln/>
        </p:spPr>
        <p:txBody>
          <a:bodyPr wrap="square" lIns="0" tIns="0" rIns="0" bIns="0" rtlCol="0" anchor="ctr"/>
          <a:lstStyle/>
          <a:p>
            <a:pPr marL="0" indent="0">
              <a:lnSpc>
                <a:spcPct val="112000"/>
              </a:lnSpc>
              <a:buNone/>
            </a:pPr>
            <a:r>
              <a:rPr lang="en-US" sz="1000" dirty="0">
                <a:solidFill>
                  <a:srgbClr val="FFFFFF"/>
                </a:solidFill>
                <a:latin typeface="Malgun Gothic" pitchFamily="34" charset="0"/>
                <a:ea typeface="Malgun Gothic" pitchFamily="34" charset="-122"/>
                <a:cs typeface="Malgun Gothic" pitchFamily="34" charset="-120"/>
              </a:rPr>
              <a:t>원자재 로트·FEFO·MRP 역산과 완제품 이원 전략, 다지점 가용재고 — Odoo 표준 위 데이터 정비로</a:t>
            </a:r>
            <a:endParaRPr lang="en-US" sz="1000" dirty="0"/>
          </a:p>
        </p:txBody>
      </p:sp>
      <p:sp>
        <p:nvSpPr>
          <p:cNvPr id="7" name="Shape 5"/>
          <p:cNvSpPr/>
          <p:nvPr/>
        </p:nvSpPr>
        <p:spPr>
          <a:xfrm>
            <a:off x="640080" y="3839337"/>
            <a:ext cx="7223760" cy="786384"/>
          </a:xfrm>
          <a:prstGeom prst="roundRect">
            <a:avLst>
              <a:gd name="adj" fmla="val 10465"/>
            </a:avLst>
          </a:prstGeom>
          <a:solidFill>
            <a:srgbClr val="3E2C1D"/>
          </a:solidFill>
          <a:ln/>
        </p:spPr>
        <p:txBody>
          <a:bodyPr/>
          <a:lstStyle/>
          <a:p>
            <a:endParaRPr lang="ko-KR" altLang="en-US"/>
          </a:p>
        </p:txBody>
      </p:sp>
      <p:sp>
        <p:nvSpPr>
          <p:cNvPr id="8" name="Text 6"/>
          <p:cNvSpPr/>
          <p:nvPr/>
        </p:nvSpPr>
        <p:spPr>
          <a:xfrm>
            <a:off x="868680" y="3885057"/>
            <a:ext cx="1737360" cy="694944"/>
          </a:xfrm>
          <a:prstGeom prst="rect">
            <a:avLst/>
          </a:prstGeom>
          <a:noFill/>
          <a:ln/>
        </p:spPr>
        <p:txBody>
          <a:bodyPr wrap="square" lIns="0" tIns="0" rIns="0" bIns="0" rtlCol="0" anchor="ctr"/>
          <a:lstStyle/>
          <a:p>
            <a:pPr marL="0" indent="0">
              <a:buNone/>
            </a:pPr>
            <a:r>
              <a:rPr lang="en-US" sz="1250" b="1" dirty="0">
                <a:solidFill>
                  <a:srgbClr val="E8A33D"/>
                </a:solidFill>
                <a:latin typeface="Malgun Gothic" pitchFamily="34" charset="0"/>
                <a:ea typeface="Malgun Gothic" pitchFamily="34" charset="-122"/>
                <a:cs typeface="Malgun Gothic" pitchFamily="34" charset="-120"/>
              </a:rPr>
              <a:t>발주·회계 연동</a:t>
            </a:r>
            <a:endParaRPr lang="en-US" sz="1250" dirty="0"/>
          </a:p>
        </p:txBody>
      </p:sp>
      <p:sp>
        <p:nvSpPr>
          <p:cNvPr id="9" name="Text 7"/>
          <p:cNvSpPr/>
          <p:nvPr/>
        </p:nvSpPr>
        <p:spPr>
          <a:xfrm>
            <a:off x="2651760" y="3885057"/>
            <a:ext cx="5074920" cy="694944"/>
          </a:xfrm>
          <a:prstGeom prst="rect">
            <a:avLst/>
          </a:prstGeom>
          <a:noFill/>
          <a:ln/>
        </p:spPr>
        <p:txBody>
          <a:bodyPr wrap="square" lIns="0" tIns="0" rIns="0" bIns="0" rtlCol="0" anchor="ctr"/>
          <a:lstStyle/>
          <a:p>
            <a:pPr marL="0" indent="0">
              <a:lnSpc>
                <a:spcPct val="112000"/>
              </a:lnSpc>
              <a:buNone/>
            </a:pPr>
            <a:r>
              <a:rPr lang="en-US" sz="1000" dirty="0">
                <a:solidFill>
                  <a:srgbClr val="FFFFFF"/>
                </a:solidFill>
                <a:latin typeface="Malgun Gothic" pitchFamily="34" charset="0"/>
                <a:ea typeface="Malgun Gothic" pitchFamily="34" charset="-122"/>
                <a:cs typeface="Malgun Gothic" pitchFamily="34" charset="-120"/>
              </a:rPr>
              <a:t>3채널 O2C 자동화, 세금계산서·자동분개 — '이중 입력 제로'를 판정 기준으로</a:t>
            </a:r>
            <a:endParaRPr lang="en-US" sz="1000" dirty="0"/>
          </a:p>
        </p:txBody>
      </p:sp>
      <p:sp>
        <p:nvSpPr>
          <p:cNvPr id="10" name="Shape 8"/>
          <p:cNvSpPr/>
          <p:nvPr/>
        </p:nvSpPr>
        <p:spPr>
          <a:xfrm>
            <a:off x="640080" y="4735449"/>
            <a:ext cx="7223760" cy="786384"/>
          </a:xfrm>
          <a:prstGeom prst="roundRect">
            <a:avLst>
              <a:gd name="adj" fmla="val 10465"/>
            </a:avLst>
          </a:prstGeom>
          <a:solidFill>
            <a:srgbClr val="3E2C1D"/>
          </a:solidFill>
          <a:ln/>
        </p:spPr>
        <p:txBody>
          <a:bodyPr/>
          <a:lstStyle/>
          <a:p>
            <a:endParaRPr lang="ko-KR" altLang="en-US"/>
          </a:p>
        </p:txBody>
      </p:sp>
      <p:sp>
        <p:nvSpPr>
          <p:cNvPr id="11" name="Text 9"/>
          <p:cNvSpPr/>
          <p:nvPr/>
        </p:nvSpPr>
        <p:spPr>
          <a:xfrm>
            <a:off x="868680" y="4781169"/>
            <a:ext cx="1737360" cy="694944"/>
          </a:xfrm>
          <a:prstGeom prst="rect">
            <a:avLst/>
          </a:prstGeom>
          <a:noFill/>
          <a:ln/>
        </p:spPr>
        <p:txBody>
          <a:bodyPr wrap="square" lIns="0" tIns="0" rIns="0" bIns="0" rtlCol="0" anchor="ctr"/>
          <a:lstStyle/>
          <a:p>
            <a:pPr marL="0" indent="0">
              <a:buNone/>
            </a:pPr>
            <a:r>
              <a:rPr lang="en-US" sz="1250" b="1" dirty="0">
                <a:solidFill>
                  <a:srgbClr val="E8A33D"/>
                </a:solidFill>
                <a:latin typeface="Malgun Gothic" pitchFamily="34" charset="0"/>
                <a:ea typeface="Malgun Gothic" pitchFamily="34" charset="-122"/>
                <a:cs typeface="Malgun Gothic" pitchFamily="34" charset="-120"/>
              </a:rPr>
              <a:t>AI 실무 자동화</a:t>
            </a:r>
            <a:endParaRPr lang="en-US" sz="1250" dirty="0"/>
          </a:p>
        </p:txBody>
      </p:sp>
      <p:sp>
        <p:nvSpPr>
          <p:cNvPr id="12" name="Text 10"/>
          <p:cNvSpPr/>
          <p:nvPr/>
        </p:nvSpPr>
        <p:spPr>
          <a:xfrm>
            <a:off x="2651760" y="4781169"/>
            <a:ext cx="5074920" cy="694944"/>
          </a:xfrm>
          <a:prstGeom prst="rect">
            <a:avLst/>
          </a:prstGeom>
          <a:noFill/>
          <a:ln/>
        </p:spPr>
        <p:txBody>
          <a:bodyPr wrap="square" lIns="0" tIns="0" rIns="0" bIns="0" rtlCol="0" anchor="ctr"/>
          <a:lstStyle/>
          <a:p>
            <a:pPr marL="0" indent="0">
              <a:lnSpc>
                <a:spcPct val="112000"/>
              </a:lnSpc>
              <a:buNone/>
            </a:pPr>
            <a:r>
              <a:rPr lang="en-US" sz="1000" dirty="0">
                <a:solidFill>
                  <a:srgbClr val="FFFFFF"/>
                </a:solidFill>
                <a:latin typeface="Malgun Gothic" pitchFamily="34" charset="0"/>
                <a:ea typeface="Malgun Gothic" pitchFamily="34" charset="-122"/>
                <a:cs typeface="Malgun Gothic" pitchFamily="34" charset="-120"/>
              </a:rPr>
              <a:t>수요예측·영업자동화·재고 최적화를 파이프라인→지식그래프→5개 에이전트로, 승인은 언제나 사람이</a:t>
            </a:r>
            <a:endParaRPr lang="en-US" sz="1000" dirty="0"/>
          </a:p>
        </p:txBody>
      </p:sp>
      <p:sp>
        <p:nvSpPr>
          <p:cNvPr id="13" name="Shape 11"/>
          <p:cNvSpPr/>
          <p:nvPr/>
        </p:nvSpPr>
        <p:spPr>
          <a:xfrm>
            <a:off x="8092440" y="2943225"/>
            <a:ext cx="3611880" cy="2578608"/>
          </a:xfrm>
          <a:prstGeom prst="roundRect">
            <a:avLst>
              <a:gd name="adj" fmla="val 3191"/>
            </a:avLst>
          </a:prstGeom>
          <a:solidFill>
            <a:srgbClr val="3E2C1D"/>
          </a:solidFill>
          <a:ln/>
        </p:spPr>
        <p:txBody>
          <a:bodyPr/>
          <a:lstStyle/>
          <a:p>
            <a:endParaRPr lang="ko-KR" altLang="en-US"/>
          </a:p>
        </p:txBody>
      </p:sp>
      <p:sp>
        <p:nvSpPr>
          <p:cNvPr id="14" name="Text 12"/>
          <p:cNvSpPr/>
          <p:nvPr/>
        </p:nvSpPr>
        <p:spPr>
          <a:xfrm>
            <a:off x="8321040" y="3071241"/>
            <a:ext cx="3108960" cy="292608"/>
          </a:xfrm>
          <a:prstGeom prst="rect">
            <a:avLst/>
          </a:prstGeom>
          <a:noFill/>
          <a:ln/>
        </p:spPr>
        <p:txBody>
          <a:bodyPr wrap="square" lIns="0" tIns="0" rIns="0" bIns="0" rtlCol="0" anchor="ctr"/>
          <a:lstStyle/>
          <a:p>
            <a:pPr marL="0" indent="0">
              <a:buNone/>
            </a:pPr>
            <a:r>
              <a:rPr lang="en-US" sz="1400" b="1" dirty="0">
                <a:solidFill>
                  <a:srgbClr val="E8A33D"/>
                </a:solidFill>
                <a:latin typeface="Malgun Gothic" pitchFamily="34" charset="0"/>
                <a:ea typeface="Malgun Gothic" pitchFamily="34" charset="-122"/>
                <a:cs typeface="Malgun Gothic" pitchFamily="34" charset="-120"/>
              </a:rPr>
              <a:t>다음 단계</a:t>
            </a:r>
            <a:endParaRPr lang="en-US" sz="1400" dirty="0"/>
          </a:p>
        </p:txBody>
      </p:sp>
      <p:sp>
        <p:nvSpPr>
          <p:cNvPr id="15" name="Text 13"/>
          <p:cNvSpPr/>
          <p:nvPr/>
        </p:nvSpPr>
        <p:spPr>
          <a:xfrm>
            <a:off x="8321040" y="3418713"/>
            <a:ext cx="3200400" cy="2011680"/>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Malgun Gothic" pitchFamily="34" charset="0"/>
                <a:ea typeface="Malgun Gothic" pitchFamily="34" charset="-122"/>
                <a:cs typeface="Malgun Gothic" pitchFamily="34" charset="-120"/>
              </a:rPr>
              <a:t>① 초량 본점 현장 진단 워크숍 (무상 1일)</a:t>
            </a:r>
            <a:endParaRPr lang="en-US" sz="1050" dirty="0"/>
          </a:p>
          <a:p>
            <a:pPr marL="0" indent="0">
              <a:lnSpc>
                <a:spcPct val="135000"/>
              </a:lnSpc>
              <a:buNone/>
            </a:pPr>
            <a:r>
              <a:rPr lang="en-US" sz="1050" dirty="0">
                <a:solidFill>
                  <a:srgbClr val="FFFFFF"/>
                </a:solidFill>
                <a:latin typeface="Malgun Gothic" pitchFamily="34" charset="0"/>
                <a:ea typeface="Malgun Gothic" pitchFamily="34" charset="-122"/>
                <a:cs typeface="Malgun Gothic" pitchFamily="34" charset="-120"/>
              </a:rPr>
              <a:t>② 3중 진단 보고와 KGI 기준선 합의 (2~4주)</a:t>
            </a:r>
            <a:endParaRPr lang="en-US" sz="1050" dirty="0"/>
          </a:p>
          <a:p>
            <a:pPr marL="0" indent="0">
              <a:lnSpc>
                <a:spcPct val="135000"/>
              </a:lnSpc>
              <a:buNone/>
            </a:pPr>
            <a:r>
              <a:rPr lang="en-US" sz="1050" dirty="0">
                <a:solidFill>
                  <a:srgbClr val="FFFFFF"/>
                </a:solidFill>
                <a:latin typeface="Malgun Gothic" pitchFamily="34" charset="0"/>
                <a:ea typeface="Malgun Gothic" pitchFamily="34" charset="-122"/>
                <a:cs typeface="Malgun Gothic" pitchFamily="34" charset="-120"/>
              </a:rPr>
              <a:t>③ 파일럿 착수 — 본점+지점 1곳, SKU 20개</a:t>
            </a:r>
            <a:endParaRPr lang="en-US" sz="1050" dirty="0"/>
          </a:p>
        </p:txBody>
      </p:sp>
      <p:sp>
        <p:nvSpPr>
          <p:cNvPr id="16" name="Text 14"/>
          <p:cNvSpPr/>
          <p:nvPr/>
        </p:nvSpPr>
        <p:spPr>
          <a:xfrm>
            <a:off x="640080" y="1341953"/>
            <a:ext cx="10972800" cy="868680"/>
          </a:xfrm>
          <a:prstGeom prst="rect">
            <a:avLst/>
          </a:prstGeom>
          <a:noFill/>
          <a:ln/>
        </p:spPr>
        <p:txBody>
          <a:bodyPr wrap="square" lIns="0" tIns="0" rIns="0" bIns="0" rtlCol="0" anchor="ctr"/>
          <a:lstStyle/>
          <a:p>
            <a:pPr marL="0" indent="0" algn="ctr">
              <a:lnSpc>
                <a:spcPct val="130000"/>
              </a:lnSpc>
              <a:buNone/>
            </a:pPr>
            <a:r>
              <a:rPr lang="en-US" sz="2000" b="1" i="1" dirty="0">
                <a:latin typeface="Malgun Gothic" pitchFamily="34" charset="0"/>
                <a:ea typeface="Malgun Gothic" pitchFamily="34" charset="-122"/>
                <a:cs typeface="Malgun Gothic" pitchFamily="34" charset="-120"/>
              </a:rPr>
              <a:t>"70년의 빵 굽는 </a:t>
            </a:r>
            <a:r>
              <a:rPr lang="en-US" sz="2000" b="1" i="1" dirty="0" err="1">
                <a:latin typeface="Malgun Gothic" pitchFamily="34" charset="0"/>
                <a:ea typeface="Malgun Gothic" pitchFamily="34" charset="-122"/>
                <a:cs typeface="Malgun Gothic" pitchFamily="34" charset="-120"/>
              </a:rPr>
              <a:t>기술이</a:t>
            </a:r>
            <a:r>
              <a:rPr lang="en-US" sz="2000" b="1" i="1" dirty="0">
                <a:latin typeface="Malgun Gothic" pitchFamily="34" charset="0"/>
                <a:ea typeface="Malgun Gothic" pitchFamily="34" charset="-122"/>
                <a:cs typeface="Malgun Gothic" pitchFamily="34" charset="-120"/>
              </a:rPr>
              <a:t> </a:t>
            </a:r>
            <a:r>
              <a:rPr lang="ko-KR" altLang="en-US" sz="2000" b="1" i="1" dirty="0">
                <a:latin typeface="Malgun Gothic" pitchFamily="34" charset="0"/>
                <a:ea typeface="Malgun Gothic" pitchFamily="34" charset="-122"/>
                <a:cs typeface="Malgun Gothic" pitchFamily="34" charset="-120"/>
              </a:rPr>
              <a:t>베이커리 </a:t>
            </a:r>
            <a:r>
              <a:rPr lang="en-US" altLang="ko-KR" sz="2000" b="1" i="1" dirty="0">
                <a:latin typeface="Malgun Gothic" pitchFamily="34" charset="0"/>
                <a:ea typeface="Malgun Gothic" pitchFamily="34" charset="-122"/>
                <a:cs typeface="Malgun Gothic" pitchFamily="34" charset="-120"/>
              </a:rPr>
              <a:t>T</a:t>
            </a:r>
            <a:r>
              <a:rPr lang="ko-KR" altLang="en-US" sz="2000" b="1" i="1" dirty="0">
                <a:latin typeface="Malgun Gothic" pitchFamily="34" charset="0"/>
                <a:ea typeface="Malgun Gothic" pitchFamily="34" charset="-122"/>
                <a:cs typeface="Malgun Gothic" pitchFamily="34" charset="-120"/>
              </a:rPr>
              <a:t>사를</a:t>
            </a:r>
            <a:r>
              <a:rPr lang="en-US" sz="2000" b="1" i="1" dirty="0">
                <a:latin typeface="Malgun Gothic" pitchFamily="34" charset="0"/>
                <a:ea typeface="Malgun Gothic" pitchFamily="34" charset="-122"/>
                <a:cs typeface="Malgun Gothic" pitchFamily="34" charset="-120"/>
              </a:rPr>
              <a:t> 만들었습니다.</a:t>
            </a:r>
            <a:endParaRPr lang="en-US" sz="2000" dirty="0"/>
          </a:p>
          <a:p>
            <a:pPr marL="0" indent="0" algn="ctr">
              <a:lnSpc>
                <a:spcPct val="130000"/>
              </a:lnSpc>
              <a:buNone/>
            </a:pPr>
            <a:r>
              <a:rPr lang="en-US" sz="2000" b="1" i="1" dirty="0">
                <a:latin typeface="Malgun Gothic" pitchFamily="34" charset="0"/>
                <a:ea typeface="Malgun Gothic" pitchFamily="34" charset="-122"/>
                <a:cs typeface="Malgun Gothic" pitchFamily="34" charset="-120"/>
              </a:rPr>
              <a:t>이제 그 곁에, 기록하는 두 번째 Odoo ERP와 판단하는 세 번째 지능형ERP를 세울 차례입니다."</a:t>
            </a:r>
            <a:endParaRPr lang="en-US" sz="2000" dirty="0"/>
          </a:p>
        </p:txBody>
      </p:sp>
      <p:sp>
        <p:nvSpPr>
          <p:cNvPr id="17" name="Text 15"/>
          <p:cNvSpPr/>
          <p:nvPr/>
        </p:nvSpPr>
        <p:spPr>
          <a:xfrm>
            <a:off x="640080" y="5806440"/>
            <a:ext cx="10972800" cy="365760"/>
          </a:xfrm>
          <a:prstGeom prst="rect">
            <a:avLst/>
          </a:prstGeom>
          <a:noFill/>
          <a:ln/>
        </p:spPr>
        <p:txBody>
          <a:bodyPr wrap="square" lIns="0" tIns="0" rIns="0" bIns="0" rtlCol="0" anchor="ctr"/>
          <a:lstStyle/>
          <a:p>
            <a:pPr marL="0" indent="0" algn="ctr">
              <a:buNone/>
            </a:pPr>
            <a:r>
              <a:rPr lang="en-US" sz="1300" b="1" dirty="0">
                <a:solidFill>
                  <a:srgbClr val="D8C6B2"/>
                </a:solidFill>
                <a:latin typeface="Malgun Gothic" pitchFamily="34" charset="0"/>
                <a:ea typeface="Malgun Gothic" pitchFamily="34" charset="-122"/>
                <a:cs typeface="Malgun Gothic" pitchFamily="34" charset="-120"/>
              </a:rPr>
              <a:t>에이에스씨 · 부산·영남권 담당 송무준 · 『AI ERP 혁명 — Odoo와 지능형 ERP』 · 감사합니다</a:t>
            </a:r>
            <a:endParaRPr lang="en-US" sz="1300" dirty="0"/>
          </a:p>
        </p:txBody>
      </p:sp>
      <p:sp>
        <p:nvSpPr>
          <p:cNvPr id="18" name="Text 16"/>
          <p:cNvSpPr/>
          <p:nvPr/>
        </p:nvSpPr>
        <p:spPr>
          <a:xfrm>
            <a:off x="502920" y="6473952"/>
            <a:ext cx="5943600" cy="274320"/>
          </a:xfrm>
          <a:prstGeom prst="rect">
            <a:avLst/>
          </a:prstGeom>
          <a:noFill/>
          <a:ln/>
        </p:spPr>
        <p:txBody>
          <a:bodyPr wrap="square" lIns="0" tIns="0" rIns="0" bIns="0" rtlCol="0" anchor="ctr"/>
          <a:lstStyle/>
          <a:p>
            <a:pPr marL="0" indent="0">
              <a:buNone/>
            </a:pPr>
            <a:r>
              <a:rPr lang="en-US" sz="900" dirty="0">
                <a:solidFill>
                  <a:srgbClr val="D8C6B2"/>
                </a:solidFill>
                <a:latin typeface="Malgun Gothic" pitchFamily="34" charset="0"/>
                <a:ea typeface="Malgun Gothic" pitchFamily="34" charset="-122"/>
                <a:cs typeface="Malgun Gothic" pitchFamily="34" charset="-120"/>
              </a:rPr>
              <a:t>1950 </a:t>
            </a:r>
            <a:r>
              <a:rPr lang="ko-KR" altLang="en-US" sz="900" dirty="0">
                <a:solidFill>
                  <a:srgbClr val="D8C6B2"/>
                </a:solidFill>
                <a:latin typeface="Malgun Gothic" pitchFamily="34" charset="0"/>
                <a:ea typeface="Malgun Gothic" pitchFamily="34" charset="-122"/>
                <a:cs typeface="Malgun Gothic" pitchFamily="34" charset="-120"/>
              </a:rPr>
              <a:t>베이커리 </a:t>
            </a:r>
            <a:r>
              <a:rPr lang="en-US" sz="900" dirty="0">
                <a:solidFill>
                  <a:srgbClr val="D8C6B2"/>
                </a:solidFill>
                <a:latin typeface="Malgun Gothic" pitchFamily="34" charset="0"/>
                <a:ea typeface="Malgun Gothic" pitchFamily="34" charset="-122"/>
                <a:cs typeface="Malgun Gothic" pitchFamily="34" charset="-120"/>
              </a:rPr>
              <a:t>T</a:t>
            </a:r>
            <a:r>
              <a:rPr lang="ko-KR" altLang="en-US" sz="900" dirty="0">
                <a:solidFill>
                  <a:srgbClr val="D8C6B2"/>
                </a:solidFill>
                <a:latin typeface="Malgun Gothic" pitchFamily="34" charset="0"/>
                <a:ea typeface="Malgun Gothic" pitchFamily="34" charset="-122"/>
                <a:cs typeface="Malgun Gothic" pitchFamily="34" charset="-120"/>
              </a:rPr>
              <a:t>사</a:t>
            </a:r>
            <a:r>
              <a:rPr lang="en-US" sz="900" dirty="0">
                <a:solidFill>
                  <a:srgbClr val="D8C6B2"/>
                </a:solidFill>
                <a:latin typeface="Malgun Gothic" pitchFamily="34" charset="0"/>
                <a:ea typeface="Malgun Gothic" pitchFamily="34" charset="-122"/>
                <a:cs typeface="Malgun Gothic" pitchFamily="34" charset="-120"/>
              </a:rPr>
              <a:t> AX 프로젝트 제안 · 에이에스씨</a:t>
            </a:r>
            <a:endParaRPr lang="en-US" sz="900" dirty="0"/>
          </a:p>
        </p:txBody>
      </p:sp>
      <p:sp>
        <p:nvSpPr>
          <p:cNvPr id="19" name="Text 17"/>
          <p:cNvSpPr/>
          <p:nvPr/>
        </p:nvSpPr>
        <p:spPr>
          <a:xfrm>
            <a:off x="11430000" y="6473952"/>
            <a:ext cx="411480" cy="274320"/>
          </a:xfrm>
          <a:prstGeom prst="rect">
            <a:avLst/>
          </a:prstGeom>
          <a:noFill/>
          <a:ln/>
        </p:spPr>
        <p:txBody>
          <a:bodyPr wrap="square" lIns="0" tIns="0" rIns="0" bIns="0" rtlCol="0" anchor="ctr"/>
          <a:lstStyle/>
          <a:p>
            <a:pPr marL="0" indent="0" algn="r">
              <a:buNone/>
            </a:pPr>
            <a:r>
              <a:rPr lang="en-US" sz="900" dirty="0">
                <a:solidFill>
                  <a:srgbClr val="D8C6B2"/>
                </a:solidFill>
                <a:latin typeface="Malgun Gothic" pitchFamily="34" charset="0"/>
                <a:ea typeface="Malgun Gothic" pitchFamily="34" charset="-122"/>
                <a:cs typeface="Malgun Gothic"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25845-9488-B817-56A8-0FAA241ABE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C0896FD-605A-FA43-2B71-F77DB7FA1F5B}"/>
              </a:ext>
            </a:extLst>
          </p:cNvPr>
          <p:cNvSpPr/>
          <p:nvPr/>
        </p:nvSpPr>
        <p:spPr>
          <a:xfrm>
            <a:off x="0" y="0"/>
            <a:ext cx="12191695" cy="164592"/>
          </a:xfrm>
          <a:prstGeom prst="rect">
            <a:avLst/>
          </a:prstGeom>
          <a:solidFill>
            <a:srgbClr val="E8A33D"/>
          </a:solidFill>
          <a:ln/>
        </p:spPr>
        <p:txBody>
          <a:bodyPr/>
          <a:lstStyle/>
          <a:p>
            <a:endParaRPr lang="ko-KR" altLang="en-US"/>
          </a:p>
        </p:txBody>
      </p:sp>
      <p:sp>
        <p:nvSpPr>
          <p:cNvPr id="3" name="Text 1">
            <a:extLst>
              <a:ext uri="{FF2B5EF4-FFF2-40B4-BE49-F238E27FC236}">
                <a16:creationId xmlns:a16="http://schemas.microsoft.com/office/drawing/2014/main" id="{A1BF26DC-E7A0-F6A3-C762-FFB48E57B9D7}"/>
              </a:ext>
            </a:extLst>
          </p:cNvPr>
          <p:cNvSpPr/>
          <p:nvPr/>
        </p:nvSpPr>
        <p:spPr>
          <a:xfrm>
            <a:off x="822960" y="1280160"/>
            <a:ext cx="10058400" cy="457200"/>
          </a:xfrm>
          <a:prstGeom prst="rect">
            <a:avLst/>
          </a:prstGeom>
          <a:noFill/>
          <a:ln/>
        </p:spPr>
        <p:txBody>
          <a:bodyPr wrap="square" rtlCol="0" anchor="ctr"/>
          <a:lstStyle/>
          <a:p>
            <a:pPr marL="0" indent="0">
              <a:buNone/>
            </a:pPr>
            <a:r>
              <a:rPr lang="en-US" sz="1500" b="1" kern="0" spc="500" dirty="0">
                <a:solidFill>
                  <a:srgbClr val="E8A33D"/>
                </a:solidFill>
                <a:latin typeface="Noto Sans KR" pitchFamily="34" charset="0"/>
                <a:ea typeface="Noto Sans KR" pitchFamily="34" charset="-122"/>
                <a:cs typeface="Noto Sans KR" pitchFamily="34" charset="-120"/>
              </a:rPr>
              <a:t>BUILT &amp; LIVE — FINAL</a:t>
            </a:r>
            <a:endParaRPr lang="en-US" sz="1500" dirty="0"/>
          </a:p>
        </p:txBody>
      </p:sp>
      <p:sp>
        <p:nvSpPr>
          <p:cNvPr id="4" name="Text 2">
            <a:extLst>
              <a:ext uri="{FF2B5EF4-FFF2-40B4-BE49-F238E27FC236}">
                <a16:creationId xmlns:a16="http://schemas.microsoft.com/office/drawing/2014/main" id="{2FA63FE2-9D67-45CE-7EBE-66DCA5A8F5F9}"/>
              </a:ext>
            </a:extLst>
          </p:cNvPr>
          <p:cNvSpPr/>
          <p:nvPr/>
        </p:nvSpPr>
        <p:spPr>
          <a:xfrm>
            <a:off x="777240" y="1783080"/>
            <a:ext cx="10607040" cy="1005840"/>
          </a:xfrm>
          <a:prstGeom prst="rect">
            <a:avLst/>
          </a:prstGeom>
          <a:noFill/>
          <a:ln/>
        </p:spPr>
        <p:txBody>
          <a:bodyPr wrap="square" rtlCol="0" anchor="ctr"/>
          <a:lstStyle/>
          <a:p>
            <a:pPr marL="0" indent="0">
              <a:buNone/>
            </a:pPr>
            <a:r>
              <a:rPr lang="en-US" sz="5800" b="1" dirty="0">
                <a:latin typeface="Noto Sans KR" pitchFamily="34" charset="0"/>
                <a:ea typeface="Noto Sans KR" pitchFamily="34" charset="-122"/>
                <a:cs typeface="Noto Sans KR" pitchFamily="34" charset="-120"/>
              </a:rPr>
              <a:t>AX 플랫폼</a:t>
            </a:r>
            <a:endParaRPr lang="en-US" sz="5800" dirty="0"/>
          </a:p>
        </p:txBody>
      </p:sp>
      <p:sp>
        <p:nvSpPr>
          <p:cNvPr id="5" name="Text 3">
            <a:extLst>
              <a:ext uri="{FF2B5EF4-FFF2-40B4-BE49-F238E27FC236}">
                <a16:creationId xmlns:a16="http://schemas.microsoft.com/office/drawing/2014/main" id="{80A649D0-F26A-F719-181F-77694CD91A2C}"/>
              </a:ext>
            </a:extLst>
          </p:cNvPr>
          <p:cNvSpPr/>
          <p:nvPr/>
        </p:nvSpPr>
        <p:spPr>
          <a:xfrm>
            <a:off x="822960" y="2926080"/>
            <a:ext cx="10607040" cy="731520"/>
          </a:xfrm>
          <a:prstGeom prst="rect">
            <a:avLst/>
          </a:prstGeom>
          <a:noFill/>
          <a:ln/>
        </p:spPr>
        <p:txBody>
          <a:bodyPr wrap="square" rtlCol="0" anchor="ctr"/>
          <a:lstStyle/>
          <a:p>
            <a:pPr marL="0" indent="0">
              <a:buNone/>
            </a:pPr>
            <a:r>
              <a:rPr lang="en-US" sz="3000" b="1" dirty="0">
                <a:solidFill>
                  <a:srgbClr val="E8A33D"/>
                </a:solidFill>
                <a:latin typeface="Noto Sans KR" pitchFamily="34" charset="0"/>
                <a:ea typeface="Noto Sans KR" pitchFamily="34" charset="-122"/>
                <a:cs typeface="Noto Sans KR" pitchFamily="34" charset="-120"/>
              </a:rPr>
              <a:t>제안에서 구축 완료, 그리고 실운영까지</a:t>
            </a:r>
            <a:endParaRPr lang="en-US" sz="3000" dirty="0"/>
          </a:p>
        </p:txBody>
      </p:sp>
      <p:sp>
        <p:nvSpPr>
          <p:cNvPr id="6" name="Text 4">
            <a:extLst>
              <a:ext uri="{FF2B5EF4-FFF2-40B4-BE49-F238E27FC236}">
                <a16:creationId xmlns:a16="http://schemas.microsoft.com/office/drawing/2014/main" id="{386C8191-6C33-5087-9A99-A2568D153795}"/>
              </a:ext>
            </a:extLst>
          </p:cNvPr>
          <p:cNvSpPr/>
          <p:nvPr/>
        </p:nvSpPr>
        <p:spPr>
          <a:xfrm>
            <a:off x="822960" y="3794760"/>
            <a:ext cx="10607040" cy="457200"/>
          </a:xfrm>
          <a:prstGeom prst="rect">
            <a:avLst/>
          </a:prstGeom>
          <a:noFill/>
          <a:ln/>
        </p:spPr>
        <p:txBody>
          <a:bodyPr wrap="square" rtlCol="0" anchor="ctr"/>
          <a:lstStyle/>
          <a:p>
            <a:pPr marL="0" indent="0">
              <a:buNone/>
            </a:pPr>
            <a:r>
              <a:rPr lang="en-US" sz="1700" b="1" dirty="0">
                <a:latin typeface="Noto Sans KR" pitchFamily="34" charset="0"/>
                <a:ea typeface="Noto Sans KR" pitchFamily="34" charset="-122"/>
                <a:cs typeface="Noto Sans KR" pitchFamily="34" charset="-120"/>
              </a:rPr>
              <a:t>모듈 단위 설계 M0~M7 — 오픈소스로 지은 '근거 있는 판단의 공장'</a:t>
            </a:r>
            <a:endParaRPr lang="en-US" sz="1700" b="1" dirty="0"/>
          </a:p>
        </p:txBody>
      </p:sp>
      <p:sp>
        <p:nvSpPr>
          <p:cNvPr id="7" name="Text 5">
            <a:extLst>
              <a:ext uri="{FF2B5EF4-FFF2-40B4-BE49-F238E27FC236}">
                <a16:creationId xmlns:a16="http://schemas.microsoft.com/office/drawing/2014/main" id="{EEFA6D8B-80AF-38E3-BD0E-12CC558F7BBB}"/>
              </a:ext>
            </a:extLst>
          </p:cNvPr>
          <p:cNvSpPr/>
          <p:nvPr/>
        </p:nvSpPr>
        <p:spPr>
          <a:xfrm>
            <a:off x="822960" y="4709160"/>
            <a:ext cx="10607040" cy="457200"/>
          </a:xfrm>
          <a:prstGeom prst="rect">
            <a:avLst/>
          </a:prstGeom>
          <a:noFill/>
          <a:ln/>
        </p:spPr>
        <p:txBody>
          <a:bodyPr wrap="square" rtlCol="0" anchor="ctr"/>
          <a:lstStyle/>
          <a:p>
            <a:pPr marL="0" indent="0">
              <a:buNone/>
            </a:pPr>
            <a:r>
              <a:rPr lang="en-US" sz="1500" b="1" dirty="0" err="1">
                <a:latin typeface="Noto Sans KR" pitchFamily="34" charset="0"/>
                <a:ea typeface="Noto Sans KR" pitchFamily="34" charset="-122"/>
                <a:cs typeface="Noto Sans KR" pitchFamily="34" charset="-120"/>
              </a:rPr>
              <a:t>서버실</a:t>
            </a:r>
            <a:r>
              <a:rPr lang="en-US" sz="1500" b="1" dirty="0">
                <a:latin typeface="Noto Sans KR" pitchFamily="34" charset="0"/>
                <a:ea typeface="Noto Sans KR" pitchFamily="34" charset="-122"/>
                <a:cs typeface="Noto Sans KR" pitchFamily="34" charset="-120"/>
              </a:rPr>
              <a:t> </a:t>
            </a:r>
            <a:r>
              <a:rPr lang="en-US" sz="1500" b="1" dirty="0" err="1">
                <a:latin typeface="Noto Sans KR" pitchFamily="34" charset="0"/>
                <a:ea typeface="Noto Sans KR" pitchFamily="34" charset="-122"/>
                <a:cs typeface="Noto Sans KR" pitchFamily="34" charset="-120"/>
              </a:rPr>
              <a:t>운영</a:t>
            </a:r>
            <a:r>
              <a:rPr lang="en-US" sz="1500" b="1" dirty="0">
                <a:latin typeface="Noto Sans KR" pitchFamily="34" charset="0"/>
                <a:ea typeface="Noto Sans KR" pitchFamily="34" charset="-122"/>
                <a:cs typeface="Noto Sans KR" pitchFamily="34" charset="-120"/>
              </a:rPr>
              <a:t> · odooaierp.com 공개 · Claude Opus 서술 · 테스트 155 그린 · WAPE 7.0%</a:t>
            </a:r>
            <a:endParaRPr lang="en-US" sz="1500" dirty="0"/>
          </a:p>
        </p:txBody>
      </p:sp>
      <p:sp>
        <p:nvSpPr>
          <p:cNvPr id="8" name="Text 6">
            <a:extLst>
              <a:ext uri="{FF2B5EF4-FFF2-40B4-BE49-F238E27FC236}">
                <a16:creationId xmlns:a16="http://schemas.microsoft.com/office/drawing/2014/main" id="{D76A2238-7235-B4C5-5194-66EF1C9F9A15}"/>
              </a:ext>
            </a:extLst>
          </p:cNvPr>
          <p:cNvSpPr/>
          <p:nvPr/>
        </p:nvSpPr>
        <p:spPr>
          <a:xfrm>
            <a:off x="822960" y="5852160"/>
            <a:ext cx="10058400" cy="365760"/>
          </a:xfrm>
          <a:prstGeom prst="rect">
            <a:avLst/>
          </a:prstGeom>
          <a:noFill/>
          <a:ln/>
        </p:spPr>
        <p:txBody>
          <a:bodyPr wrap="square" rtlCol="0" anchor="ctr"/>
          <a:lstStyle/>
          <a:p>
            <a:pPr marL="0" indent="0">
              <a:buNone/>
            </a:pPr>
            <a:r>
              <a:rPr lang="en-US" sz="1300" dirty="0">
                <a:solidFill>
                  <a:srgbClr val="B9A78F"/>
                </a:solidFill>
                <a:latin typeface="Noto Sans KR" pitchFamily="34" charset="0"/>
                <a:ea typeface="Noto Sans KR" pitchFamily="34" charset="-122"/>
                <a:cs typeface="Noto Sans KR" pitchFamily="34" charset="-120"/>
              </a:rPr>
              <a:t>2026. 9 · 에이에스씨(ASC)</a:t>
            </a:r>
            <a:endParaRPr lang="en-US" sz="1300" dirty="0"/>
          </a:p>
        </p:txBody>
      </p:sp>
      <p:sp>
        <p:nvSpPr>
          <p:cNvPr id="9" name="Text 7">
            <a:extLst>
              <a:ext uri="{FF2B5EF4-FFF2-40B4-BE49-F238E27FC236}">
                <a16:creationId xmlns:a16="http://schemas.microsoft.com/office/drawing/2014/main" id="{AF6D7B6F-E424-2A5D-0916-0D38E4288FFA}"/>
              </a:ext>
            </a:extLst>
          </p:cNvPr>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B9A78F"/>
                </a:solidFill>
                <a:latin typeface="Noto Sans KR" pitchFamily="34" charset="0"/>
                <a:ea typeface="Noto Sans KR" pitchFamily="34" charset="-122"/>
                <a:cs typeface="Noto Sans KR" pitchFamily="34" charset="-120"/>
              </a:rPr>
              <a:t>1</a:t>
            </a:r>
            <a:endParaRPr lang="en-US" sz="1000" dirty="0"/>
          </a:p>
        </p:txBody>
      </p:sp>
    </p:spTree>
    <p:extLst>
      <p:ext uri="{BB962C8B-B14F-4D97-AF65-F5344CB8AC3E}">
        <p14:creationId xmlns:p14="http://schemas.microsoft.com/office/powerpoint/2010/main" val="2458103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OVERVIEW</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방법론을 소프트웨어로 굳혔다 — 제안이 구축이 되다</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sp>
        <p:nvSpPr>
          <p:cNvPr id="5" name="Text 3"/>
          <p:cNvSpPr/>
          <p:nvPr/>
        </p:nvSpPr>
        <p:spPr>
          <a:xfrm>
            <a:off x="502920" y="1600200"/>
            <a:ext cx="11155680" cy="822960"/>
          </a:xfrm>
          <a:prstGeom prst="rect">
            <a:avLst/>
          </a:prstGeom>
          <a:noFill/>
          <a:ln/>
        </p:spPr>
        <p:txBody>
          <a:bodyPr wrap="square" rtlCol="0" anchor="ctr"/>
          <a:lstStyle/>
          <a:p>
            <a:pPr marL="0" indent="0">
              <a:lnSpc>
                <a:spcPct val="130000"/>
              </a:lnSpc>
              <a:buNone/>
            </a:pPr>
            <a:r>
              <a:rPr lang="en-US" sz="1500" dirty="0">
                <a:solidFill>
                  <a:srgbClr val="2E241C"/>
                </a:solidFill>
                <a:latin typeface="Noto Sans KR" pitchFamily="34" charset="0"/>
                <a:ea typeface="Noto Sans KR" pitchFamily="34" charset="-122"/>
                <a:cs typeface="Noto Sans KR" pitchFamily="34" charset="-120"/>
              </a:rPr>
              <a:t>질문에서 출발해 — 엑셀·수작업 장표·Odoo 원장을 표준 데이터셋으로 모으고, 여러 알고리즘으로 마이닝하며, 지식그래프에 의미로 연결해, LLM이 근거와 함께 추론하고, 에이전트가 제안하되 사람이 승인한다.</a:t>
            </a:r>
            <a:endParaRPr lang="en-US" sz="1500" dirty="0"/>
          </a:p>
        </p:txBody>
      </p:sp>
      <p:sp>
        <p:nvSpPr>
          <p:cNvPr id="6" name="Shape 4"/>
          <p:cNvSpPr/>
          <p:nvPr/>
        </p:nvSpPr>
        <p:spPr>
          <a:xfrm>
            <a:off x="502920" y="2651760"/>
            <a:ext cx="1783080" cy="1280160"/>
          </a:xfrm>
          <a:prstGeom prst="roundRect">
            <a:avLst>
              <a:gd name="adj" fmla="val 7143"/>
            </a:avLst>
          </a:prstGeom>
          <a:solidFill>
            <a:srgbClr val="6E3A1C"/>
          </a:solidFill>
          <a:ln/>
        </p:spPr>
        <p:txBody>
          <a:bodyPr/>
          <a:lstStyle/>
          <a:p>
            <a:endParaRPr lang="ko-KR" altLang="en-US"/>
          </a:p>
        </p:txBody>
      </p:sp>
      <p:sp>
        <p:nvSpPr>
          <p:cNvPr id="7" name="Text 5"/>
          <p:cNvSpPr/>
          <p:nvPr/>
        </p:nvSpPr>
        <p:spPr>
          <a:xfrm>
            <a:off x="502920" y="2834640"/>
            <a:ext cx="1783080" cy="640080"/>
          </a:xfrm>
          <a:prstGeom prst="rect">
            <a:avLst/>
          </a:prstGeom>
          <a:noFill/>
          <a:ln/>
        </p:spPr>
        <p:txBody>
          <a:bodyPr wrap="square" rtlCol="0" anchor="ctr"/>
          <a:lstStyle/>
          <a:p>
            <a:pPr marL="0" indent="0" algn="ctr">
              <a:buNone/>
            </a:pPr>
            <a:r>
              <a:rPr lang="en-US" sz="1300" b="1" dirty="0">
                <a:solidFill>
                  <a:srgbClr val="FFFFFF"/>
                </a:solidFill>
                <a:latin typeface="Noto Sans KR" pitchFamily="34" charset="0"/>
                <a:ea typeface="Noto Sans KR" pitchFamily="34" charset="-122"/>
                <a:cs typeface="Noto Sans KR" pitchFamily="34" charset="-120"/>
              </a:rPr>
              <a:t>엑셀·장부·Odoo</a:t>
            </a:r>
            <a:endParaRPr lang="en-US" sz="1300" dirty="0"/>
          </a:p>
        </p:txBody>
      </p:sp>
      <p:sp>
        <p:nvSpPr>
          <p:cNvPr id="8" name="Text 6"/>
          <p:cNvSpPr/>
          <p:nvPr/>
        </p:nvSpPr>
        <p:spPr>
          <a:xfrm>
            <a:off x="502920" y="3429000"/>
            <a:ext cx="1783080" cy="320040"/>
          </a:xfrm>
          <a:prstGeom prst="rect">
            <a:avLst/>
          </a:prstGeom>
          <a:noFill/>
          <a:ln/>
        </p:spPr>
        <p:txBody>
          <a:bodyPr wrap="square" rtlCol="0" anchor="ctr"/>
          <a:lstStyle/>
          <a:p>
            <a:pPr marL="0" indent="0" algn="ctr">
              <a:buNone/>
            </a:pPr>
            <a:r>
              <a:rPr lang="en-US" sz="1100" dirty="0">
                <a:solidFill>
                  <a:srgbClr val="E8A33D"/>
                </a:solidFill>
                <a:latin typeface="Noto Sans KR" pitchFamily="34" charset="0"/>
                <a:ea typeface="Noto Sans KR" pitchFamily="34" charset="-122"/>
                <a:cs typeface="Noto Sans KR" pitchFamily="34" charset="-120"/>
              </a:rPr>
              <a:t>M1</a:t>
            </a:r>
            <a:endParaRPr lang="en-US" sz="1100" dirty="0"/>
          </a:p>
        </p:txBody>
      </p:sp>
      <p:sp>
        <p:nvSpPr>
          <p:cNvPr id="9" name="Text 7"/>
          <p:cNvSpPr/>
          <p:nvPr/>
        </p:nvSpPr>
        <p:spPr>
          <a:xfrm>
            <a:off x="2267712" y="2971800"/>
            <a:ext cx="228600" cy="457200"/>
          </a:xfrm>
          <a:prstGeom prst="rect">
            <a:avLst/>
          </a:prstGeom>
          <a:noFill/>
          <a:ln/>
        </p:spPr>
        <p:txBody>
          <a:bodyPr wrap="square" rtlCol="0" anchor="ctr"/>
          <a:lstStyle/>
          <a:p>
            <a:pPr marL="0" indent="0" algn="ctr">
              <a:buNone/>
            </a:pPr>
            <a:r>
              <a:rPr lang="en-US" sz="1300" b="1" dirty="0">
                <a:solidFill>
                  <a:srgbClr val="C07F1E"/>
                </a:solidFill>
                <a:latin typeface="Noto Sans KR" pitchFamily="34" charset="0"/>
                <a:ea typeface="Noto Sans KR" pitchFamily="34" charset="-122"/>
                <a:cs typeface="Noto Sans KR" pitchFamily="34" charset="-120"/>
              </a:rPr>
              <a:t>▶</a:t>
            </a:r>
            <a:endParaRPr lang="en-US" sz="1300" dirty="0"/>
          </a:p>
        </p:txBody>
      </p:sp>
      <p:sp>
        <p:nvSpPr>
          <p:cNvPr id="10" name="Shape 8"/>
          <p:cNvSpPr/>
          <p:nvPr/>
        </p:nvSpPr>
        <p:spPr>
          <a:xfrm>
            <a:off x="2404872" y="2651760"/>
            <a:ext cx="1783080" cy="1280160"/>
          </a:xfrm>
          <a:prstGeom prst="roundRect">
            <a:avLst>
              <a:gd name="adj" fmla="val 7143"/>
            </a:avLst>
          </a:prstGeom>
          <a:solidFill>
            <a:srgbClr val="6E3A1C"/>
          </a:solidFill>
          <a:ln/>
        </p:spPr>
        <p:txBody>
          <a:bodyPr/>
          <a:lstStyle/>
          <a:p>
            <a:endParaRPr lang="ko-KR" altLang="en-US"/>
          </a:p>
        </p:txBody>
      </p:sp>
      <p:sp>
        <p:nvSpPr>
          <p:cNvPr id="11" name="Text 9"/>
          <p:cNvSpPr/>
          <p:nvPr/>
        </p:nvSpPr>
        <p:spPr>
          <a:xfrm>
            <a:off x="2404872" y="2834640"/>
            <a:ext cx="1783080" cy="640080"/>
          </a:xfrm>
          <a:prstGeom prst="rect">
            <a:avLst/>
          </a:prstGeom>
          <a:noFill/>
          <a:ln/>
        </p:spPr>
        <p:txBody>
          <a:bodyPr wrap="square" rtlCol="0" anchor="ctr"/>
          <a:lstStyle/>
          <a:p>
            <a:pPr marL="0" indent="0" algn="ctr">
              <a:buNone/>
            </a:pPr>
            <a:r>
              <a:rPr lang="en-US" sz="1300" b="1" dirty="0">
                <a:solidFill>
                  <a:srgbClr val="FFFFFF"/>
                </a:solidFill>
                <a:latin typeface="Noto Sans KR" pitchFamily="34" charset="0"/>
                <a:ea typeface="Noto Sans KR" pitchFamily="34" charset="-122"/>
                <a:cs typeface="Noto Sans KR" pitchFamily="34" charset="-120"/>
              </a:rPr>
              <a:t>표준 데이터셋</a:t>
            </a:r>
            <a:endParaRPr lang="en-US" sz="1300" dirty="0"/>
          </a:p>
        </p:txBody>
      </p:sp>
      <p:sp>
        <p:nvSpPr>
          <p:cNvPr id="12" name="Text 10"/>
          <p:cNvSpPr/>
          <p:nvPr/>
        </p:nvSpPr>
        <p:spPr>
          <a:xfrm>
            <a:off x="2404872" y="3429000"/>
            <a:ext cx="1783080" cy="320040"/>
          </a:xfrm>
          <a:prstGeom prst="rect">
            <a:avLst/>
          </a:prstGeom>
          <a:noFill/>
          <a:ln/>
        </p:spPr>
        <p:txBody>
          <a:bodyPr wrap="square" rtlCol="0" anchor="ctr"/>
          <a:lstStyle/>
          <a:p>
            <a:pPr marL="0" indent="0" algn="ctr">
              <a:buNone/>
            </a:pPr>
            <a:r>
              <a:rPr lang="en-US" sz="1100" dirty="0">
                <a:solidFill>
                  <a:srgbClr val="E8A33D"/>
                </a:solidFill>
                <a:latin typeface="Noto Sans KR" pitchFamily="34" charset="0"/>
                <a:ea typeface="Noto Sans KR" pitchFamily="34" charset="-122"/>
                <a:cs typeface="Noto Sans KR" pitchFamily="34" charset="-120"/>
              </a:rPr>
              <a:t>M2</a:t>
            </a:r>
            <a:endParaRPr lang="en-US" sz="1100" dirty="0"/>
          </a:p>
        </p:txBody>
      </p:sp>
      <p:sp>
        <p:nvSpPr>
          <p:cNvPr id="13" name="Text 11"/>
          <p:cNvSpPr/>
          <p:nvPr/>
        </p:nvSpPr>
        <p:spPr>
          <a:xfrm>
            <a:off x="4169664" y="2971800"/>
            <a:ext cx="228600" cy="457200"/>
          </a:xfrm>
          <a:prstGeom prst="rect">
            <a:avLst/>
          </a:prstGeom>
          <a:noFill/>
          <a:ln/>
        </p:spPr>
        <p:txBody>
          <a:bodyPr wrap="square" rtlCol="0" anchor="ctr"/>
          <a:lstStyle/>
          <a:p>
            <a:pPr marL="0" indent="0" algn="ctr">
              <a:buNone/>
            </a:pPr>
            <a:r>
              <a:rPr lang="en-US" sz="1300" b="1" dirty="0">
                <a:solidFill>
                  <a:srgbClr val="C07F1E"/>
                </a:solidFill>
                <a:latin typeface="Noto Sans KR" pitchFamily="34" charset="0"/>
                <a:ea typeface="Noto Sans KR" pitchFamily="34" charset="-122"/>
                <a:cs typeface="Noto Sans KR" pitchFamily="34" charset="-120"/>
              </a:rPr>
              <a:t>▶</a:t>
            </a:r>
            <a:endParaRPr lang="en-US" sz="1300" dirty="0"/>
          </a:p>
        </p:txBody>
      </p:sp>
      <p:sp>
        <p:nvSpPr>
          <p:cNvPr id="14" name="Shape 12"/>
          <p:cNvSpPr/>
          <p:nvPr/>
        </p:nvSpPr>
        <p:spPr>
          <a:xfrm>
            <a:off x="4306824" y="2651760"/>
            <a:ext cx="1783080" cy="1280160"/>
          </a:xfrm>
          <a:prstGeom prst="roundRect">
            <a:avLst>
              <a:gd name="adj" fmla="val 7143"/>
            </a:avLst>
          </a:prstGeom>
          <a:solidFill>
            <a:srgbClr val="6E3A1C"/>
          </a:solidFill>
          <a:ln/>
        </p:spPr>
        <p:txBody>
          <a:bodyPr/>
          <a:lstStyle/>
          <a:p>
            <a:endParaRPr lang="ko-KR" altLang="en-US"/>
          </a:p>
        </p:txBody>
      </p:sp>
      <p:sp>
        <p:nvSpPr>
          <p:cNvPr id="15" name="Text 13"/>
          <p:cNvSpPr/>
          <p:nvPr/>
        </p:nvSpPr>
        <p:spPr>
          <a:xfrm>
            <a:off x="4306824" y="2834640"/>
            <a:ext cx="1783080" cy="640080"/>
          </a:xfrm>
          <a:prstGeom prst="rect">
            <a:avLst/>
          </a:prstGeom>
          <a:noFill/>
          <a:ln/>
        </p:spPr>
        <p:txBody>
          <a:bodyPr wrap="square" rtlCol="0" anchor="ctr"/>
          <a:lstStyle/>
          <a:p>
            <a:pPr marL="0" indent="0" algn="ctr">
              <a:buNone/>
            </a:pPr>
            <a:r>
              <a:rPr lang="en-US" sz="1300" b="1" dirty="0">
                <a:solidFill>
                  <a:srgbClr val="FFFFFF"/>
                </a:solidFill>
                <a:latin typeface="Noto Sans KR" pitchFamily="34" charset="0"/>
                <a:ea typeface="Noto Sans KR" pitchFamily="34" charset="-122"/>
                <a:cs typeface="Noto Sans KR" pitchFamily="34" charset="-120"/>
              </a:rPr>
              <a:t>분석·예측</a:t>
            </a:r>
            <a:endParaRPr lang="en-US" sz="1300" dirty="0"/>
          </a:p>
        </p:txBody>
      </p:sp>
      <p:sp>
        <p:nvSpPr>
          <p:cNvPr id="16" name="Text 14"/>
          <p:cNvSpPr/>
          <p:nvPr/>
        </p:nvSpPr>
        <p:spPr>
          <a:xfrm>
            <a:off x="4306824" y="3429000"/>
            <a:ext cx="1783080" cy="320040"/>
          </a:xfrm>
          <a:prstGeom prst="rect">
            <a:avLst/>
          </a:prstGeom>
          <a:noFill/>
          <a:ln/>
        </p:spPr>
        <p:txBody>
          <a:bodyPr wrap="square" rtlCol="0" anchor="ctr"/>
          <a:lstStyle/>
          <a:p>
            <a:pPr marL="0" indent="0" algn="ctr">
              <a:buNone/>
            </a:pPr>
            <a:r>
              <a:rPr lang="en-US" sz="1100" dirty="0">
                <a:solidFill>
                  <a:srgbClr val="E8A33D"/>
                </a:solidFill>
                <a:latin typeface="Noto Sans KR" pitchFamily="34" charset="0"/>
                <a:ea typeface="Noto Sans KR" pitchFamily="34" charset="-122"/>
                <a:cs typeface="Noto Sans KR" pitchFamily="34" charset="-120"/>
              </a:rPr>
              <a:t>M3·M4</a:t>
            </a:r>
            <a:endParaRPr lang="en-US" sz="1100" dirty="0"/>
          </a:p>
        </p:txBody>
      </p:sp>
      <p:sp>
        <p:nvSpPr>
          <p:cNvPr id="17" name="Text 15"/>
          <p:cNvSpPr/>
          <p:nvPr/>
        </p:nvSpPr>
        <p:spPr>
          <a:xfrm>
            <a:off x="6071616" y="2971800"/>
            <a:ext cx="228600" cy="457200"/>
          </a:xfrm>
          <a:prstGeom prst="rect">
            <a:avLst/>
          </a:prstGeom>
          <a:noFill/>
          <a:ln/>
        </p:spPr>
        <p:txBody>
          <a:bodyPr wrap="square" rtlCol="0" anchor="ctr"/>
          <a:lstStyle/>
          <a:p>
            <a:pPr marL="0" indent="0" algn="ctr">
              <a:buNone/>
            </a:pPr>
            <a:r>
              <a:rPr lang="en-US" sz="1300" b="1" dirty="0">
                <a:solidFill>
                  <a:srgbClr val="C07F1E"/>
                </a:solidFill>
                <a:latin typeface="Noto Sans KR" pitchFamily="34" charset="0"/>
                <a:ea typeface="Noto Sans KR" pitchFamily="34" charset="-122"/>
                <a:cs typeface="Noto Sans KR" pitchFamily="34" charset="-120"/>
              </a:rPr>
              <a:t>▶</a:t>
            </a:r>
            <a:endParaRPr lang="en-US" sz="1300" dirty="0"/>
          </a:p>
        </p:txBody>
      </p:sp>
      <p:sp>
        <p:nvSpPr>
          <p:cNvPr id="18" name="Shape 16"/>
          <p:cNvSpPr/>
          <p:nvPr/>
        </p:nvSpPr>
        <p:spPr>
          <a:xfrm>
            <a:off x="6208776" y="2651760"/>
            <a:ext cx="1783080" cy="1280160"/>
          </a:xfrm>
          <a:prstGeom prst="roundRect">
            <a:avLst>
              <a:gd name="adj" fmla="val 7143"/>
            </a:avLst>
          </a:prstGeom>
          <a:solidFill>
            <a:srgbClr val="6E3A1C"/>
          </a:solidFill>
          <a:ln/>
        </p:spPr>
        <p:txBody>
          <a:bodyPr/>
          <a:lstStyle/>
          <a:p>
            <a:endParaRPr lang="ko-KR" altLang="en-US"/>
          </a:p>
        </p:txBody>
      </p:sp>
      <p:sp>
        <p:nvSpPr>
          <p:cNvPr id="19" name="Text 17"/>
          <p:cNvSpPr/>
          <p:nvPr/>
        </p:nvSpPr>
        <p:spPr>
          <a:xfrm>
            <a:off x="6208776" y="2834640"/>
            <a:ext cx="1783080" cy="640080"/>
          </a:xfrm>
          <a:prstGeom prst="rect">
            <a:avLst/>
          </a:prstGeom>
          <a:noFill/>
          <a:ln/>
        </p:spPr>
        <p:txBody>
          <a:bodyPr wrap="square" rtlCol="0" anchor="ctr"/>
          <a:lstStyle/>
          <a:p>
            <a:pPr marL="0" indent="0" algn="ctr">
              <a:buNone/>
            </a:pPr>
            <a:r>
              <a:rPr lang="en-US" sz="1300" b="1" dirty="0">
                <a:solidFill>
                  <a:srgbClr val="FFFFFF"/>
                </a:solidFill>
                <a:latin typeface="Noto Sans KR" pitchFamily="34" charset="0"/>
                <a:ea typeface="Noto Sans KR" pitchFamily="34" charset="-122"/>
                <a:cs typeface="Noto Sans KR" pitchFamily="34" charset="-120"/>
              </a:rPr>
              <a:t>지식그래프</a:t>
            </a:r>
            <a:endParaRPr lang="en-US" sz="1300" dirty="0"/>
          </a:p>
        </p:txBody>
      </p:sp>
      <p:sp>
        <p:nvSpPr>
          <p:cNvPr id="20" name="Text 18"/>
          <p:cNvSpPr/>
          <p:nvPr/>
        </p:nvSpPr>
        <p:spPr>
          <a:xfrm>
            <a:off x="6208776" y="3429000"/>
            <a:ext cx="1783080" cy="320040"/>
          </a:xfrm>
          <a:prstGeom prst="rect">
            <a:avLst/>
          </a:prstGeom>
          <a:noFill/>
          <a:ln/>
        </p:spPr>
        <p:txBody>
          <a:bodyPr wrap="square" rtlCol="0" anchor="ctr"/>
          <a:lstStyle/>
          <a:p>
            <a:pPr marL="0" indent="0" algn="ctr">
              <a:buNone/>
            </a:pPr>
            <a:r>
              <a:rPr lang="en-US" sz="1100" dirty="0">
                <a:solidFill>
                  <a:srgbClr val="E8A33D"/>
                </a:solidFill>
                <a:latin typeface="Noto Sans KR" pitchFamily="34" charset="0"/>
                <a:ea typeface="Noto Sans KR" pitchFamily="34" charset="-122"/>
                <a:cs typeface="Noto Sans KR" pitchFamily="34" charset="-120"/>
              </a:rPr>
              <a:t>M5</a:t>
            </a:r>
            <a:endParaRPr lang="en-US" sz="1100" dirty="0"/>
          </a:p>
        </p:txBody>
      </p:sp>
      <p:sp>
        <p:nvSpPr>
          <p:cNvPr id="21" name="Text 19"/>
          <p:cNvSpPr/>
          <p:nvPr/>
        </p:nvSpPr>
        <p:spPr>
          <a:xfrm>
            <a:off x="7973568" y="2971800"/>
            <a:ext cx="228600" cy="457200"/>
          </a:xfrm>
          <a:prstGeom prst="rect">
            <a:avLst/>
          </a:prstGeom>
          <a:noFill/>
          <a:ln/>
        </p:spPr>
        <p:txBody>
          <a:bodyPr wrap="square" rtlCol="0" anchor="ctr"/>
          <a:lstStyle/>
          <a:p>
            <a:pPr marL="0" indent="0" algn="ctr">
              <a:buNone/>
            </a:pPr>
            <a:r>
              <a:rPr lang="en-US" sz="1300" b="1" dirty="0">
                <a:solidFill>
                  <a:srgbClr val="C07F1E"/>
                </a:solidFill>
                <a:latin typeface="Noto Sans KR" pitchFamily="34" charset="0"/>
                <a:ea typeface="Noto Sans KR" pitchFamily="34" charset="-122"/>
                <a:cs typeface="Noto Sans KR" pitchFamily="34" charset="-120"/>
              </a:rPr>
              <a:t>▶</a:t>
            </a:r>
            <a:endParaRPr lang="en-US" sz="1300" dirty="0"/>
          </a:p>
        </p:txBody>
      </p:sp>
      <p:sp>
        <p:nvSpPr>
          <p:cNvPr id="22" name="Shape 20"/>
          <p:cNvSpPr/>
          <p:nvPr/>
        </p:nvSpPr>
        <p:spPr>
          <a:xfrm>
            <a:off x="8110728" y="2651760"/>
            <a:ext cx="1783080" cy="1280160"/>
          </a:xfrm>
          <a:prstGeom prst="roundRect">
            <a:avLst>
              <a:gd name="adj" fmla="val 7143"/>
            </a:avLst>
          </a:prstGeom>
          <a:solidFill>
            <a:srgbClr val="6E3A1C"/>
          </a:solidFill>
          <a:ln/>
        </p:spPr>
        <p:txBody>
          <a:bodyPr/>
          <a:lstStyle/>
          <a:p>
            <a:endParaRPr lang="ko-KR" altLang="en-US"/>
          </a:p>
        </p:txBody>
      </p:sp>
      <p:sp>
        <p:nvSpPr>
          <p:cNvPr id="23" name="Text 21"/>
          <p:cNvSpPr/>
          <p:nvPr/>
        </p:nvSpPr>
        <p:spPr>
          <a:xfrm>
            <a:off x="8110728" y="2834640"/>
            <a:ext cx="1783080" cy="640080"/>
          </a:xfrm>
          <a:prstGeom prst="rect">
            <a:avLst/>
          </a:prstGeom>
          <a:noFill/>
          <a:ln/>
        </p:spPr>
        <p:txBody>
          <a:bodyPr wrap="square" rtlCol="0" anchor="ctr"/>
          <a:lstStyle/>
          <a:p>
            <a:pPr marL="0" indent="0" algn="ctr">
              <a:buNone/>
            </a:pPr>
            <a:r>
              <a:rPr lang="en-US" sz="1300" b="1" dirty="0">
                <a:solidFill>
                  <a:srgbClr val="FFFFFF"/>
                </a:solidFill>
                <a:latin typeface="Noto Sans KR" pitchFamily="34" charset="0"/>
                <a:ea typeface="Noto Sans KR" pitchFamily="34" charset="-122"/>
                <a:cs typeface="Noto Sans KR" pitchFamily="34" charset="-120"/>
              </a:rPr>
              <a:t>판단 카드</a:t>
            </a:r>
            <a:endParaRPr lang="en-US" sz="1300" dirty="0"/>
          </a:p>
        </p:txBody>
      </p:sp>
      <p:sp>
        <p:nvSpPr>
          <p:cNvPr id="24" name="Text 22"/>
          <p:cNvSpPr/>
          <p:nvPr/>
        </p:nvSpPr>
        <p:spPr>
          <a:xfrm>
            <a:off x="8110728" y="3429000"/>
            <a:ext cx="1783080" cy="320040"/>
          </a:xfrm>
          <a:prstGeom prst="rect">
            <a:avLst/>
          </a:prstGeom>
          <a:noFill/>
          <a:ln/>
        </p:spPr>
        <p:txBody>
          <a:bodyPr wrap="square" rtlCol="0" anchor="ctr"/>
          <a:lstStyle/>
          <a:p>
            <a:pPr marL="0" indent="0" algn="ctr">
              <a:buNone/>
            </a:pPr>
            <a:r>
              <a:rPr lang="en-US" sz="1100" dirty="0">
                <a:solidFill>
                  <a:srgbClr val="E8A33D"/>
                </a:solidFill>
                <a:latin typeface="Noto Sans KR" pitchFamily="34" charset="0"/>
                <a:ea typeface="Noto Sans KR" pitchFamily="34" charset="-122"/>
                <a:cs typeface="Noto Sans KR" pitchFamily="34" charset="-120"/>
              </a:rPr>
              <a:t>M6·M7</a:t>
            </a:r>
            <a:endParaRPr lang="en-US" sz="1100" dirty="0"/>
          </a:p>
        </p:txBody>
      </p:sp>
      <p:sp>
        <p:nvSpPr>
          <p:cNvPr id="25" name="Text 23"/>
          <p:cNvSpPr/>
          <p:nvPr/>
        </p:nvSpPr>
        <p:spPr>
          <a:xfrm>
            <a:off x="9875520" y="2971800"/>
            <a:ext cx="228600" cy="457200"/>
          </a:xfrm>
          <a:prstGeom prst="rect">
            <a:avLst/>
          </a:prstGeom>
          <a:noFill/>
          <a:ln/>
        </p:spPr>
        <p:txBody>
          <a:bodyPr wrap="square" rtlCol="0" anchor="ctr"/>
          <a:lstStyle/>
          <a:p>
            <a:pPr marL="0" indent="0" algn="ctr">
              <a:buNone/>
            </a:pPr>
            <a:r>
              <a:rPr lang="en-US" sz="1300" b="1" dirty="0">
                <a:solidFill>
                  <a:srgbClr val="C07F1E"/>
                </a:solidFill>
                <a:latin typeface="Noto Sans KR" pitchFamily="34" charset="0"/>
                <a:ea typeface="Noto Sans KR" pitchFamily="34" charset="-122"/>
                <a:cs typeface="Noto Sans KR" pitchFamily="34" charset="-120"/>
              </a:rPr>
              <a:t>▶</a:t>
            </a:r>
            <a:endParaRPr lang="en-US" sz="1300" dirty="0"/>
          </a:p>
        </p:txBody>
      </p:sp>
      <p:sp>
        <p:nvSpPr>
          <p:cNvPr id="26" name="Shape 24"/>
          <p:cNvSpPr/>
          <p:nvPr/>
        </p:nvSpPr>
        <p:spPr>
          <a:xfrm>
            <a:off x="10012680" y="2651760"/>
            <a:ext cx="1783080" cy="1280160"/>
          </a:xfrm>
          <a:prstGeom prst="roundRect">
            <a:avLst>
              <a:gd name="adj" fmla="val 7143"/>
            </a:avLst>
          </a:prstGeom>
          <a:solidFill>
            <a:srgbClr val="0E8F86"/>
          </a:solidFill>
          <a:ln/>
        </p:spPr>
        <p:txBody>
          <a:bodyPr/>
          <a:lstStyle/>
          <a:p>
            <a:endParaRPr lang="ko-KR" altLang="en-US"/>
          </a:p>
        </p:txBody>
      </p:sp>
      <p:sp>
        <p:nvSpPr>
          <p:cNvPr id="27" name="Text 25"/>
          <p:cNvSpPr/>
          <p:nvPr/>
        </p:nvSpPr>
        <p:spPr>
          <a:xfrm>
            <a:off x="10012680" y="2834640"/>
            <a:ext cx="1783080" cy="640080"/>
          </a:xfrm>
          <a:prstGeom prst="rect">
            <a:avLst/>
          </a:prstGeom>
          <a:noFill/>
          <a:ln/>
        </p:spPr>
        <p:txBody>
          <a:bodyPr wrap="square" rtlCol="0" anchor="ctr"/>
          <a:lstStyle/>
          <a:p>
            <a:pPr marL="0" indent="0" algn="ctr">
              <a:buNone/>
            </a:pPr>
            <a:r>
              <a:rPr lang="en-US" sz="1300" b="1" dirty="0">
                <a:solidFill>
                  <a:srgbClr val="FFFFFF"/>
                </a:solidFill>
                <a:latin typeface="Noto Sans KR" pitchFamily="34" charset="0"/>
                <a:ea typeface="Noto Sans KR" pitchFamily="34" charset="-122"/>
                <a:cs typeface="Noto Sans KR" pitchFamily="34" charset="-120"/>
              </a:rPr>
              <a:t>사람의 승인</a:t>
            </a:r>
            <a:endParaRPr lang="en-US" sz="1300" dirty="0"/>
          </a:p>
        </p:txBody>
      </p:sp>
      <p:sp>
        <p:nvSpPr>
          <p:cNvPr id="28" name="Text 26"/>
          <p:cNvSpPr/>
          <p:nvPr/>
        </p:nvSpPr>
        <p:spPr>
          <a:xfrm>
            <a:off x="10012680" y="3429000"/>
            <a:ext cx="1783080" cy="320040"/>
          </a:xfrm>
          <a:prstGeom prst="rect">
            <a:avLst/>
          </a:prstGeom>
          <a:noFill/>
          <a:ln/>
        </p:spPr>
        <p:txBody>
          <a:bodyPr wrap="square" rtlCol="0" anchor="ctr"/>
          <a:lstStyle/>
          <a:p>
            <a:pPr marL="0" indent="0" algn="ctr">
              <a:buNone/>
            </a:pPr>
            <a:r>
              <a:rPr lang="en-US" sz="1100" dirty="0">
                <a:solidFill>
                  <a:srgbClr val="D8F3F0"/>
                </a:solidFill>
                <a:latin typeface="Noto Sans KR" pitchFamily="34" charset="0"/>
                <a:ea typeface="Noto Sans KR" pitchFamily="34" charset="-122"/>
                <a:cs typeface="Noto Sans KR" pitchFamily="34" charset="-120"/>
              </a:rPr>
              <a:t>결정</a:t>
            </a:r>
            <a:endParaRPr lang="en-US" sz="1100" dirty="0"/>
          </a:p>
        </p:txBody>
      </p:sp>
      <p:sp>
        <p:nvSpPr>
          <p:cNvPr id="29" name="Shape 27"/>
          <p:cNvSpPr/>
          <p:nvPr/>
        </p:nvSpPr>
        <p:spPr>
          <a:xfrm>
            <a:off x="502920" y="4343400"/>
            <a:ext cx="11201400" cy="1737360"/>
          </a:xfrm>
          <a:prstGeom prst="roundRect">
            <a:avLst>
              <a:gd name="adj" fmla="val 5263"/>
            </a:avLst>
          </a:prstGeom>
          <a:solidFill>
            <a:srgbClr val="FDF3E0"/>
          </a:solidFill>
          <a:ln w="12700">
            <a:solidFill>
              <a:srgbClr val="DCCDBB"/>
            </a:solidFill>
            <a:prstDash val="solid"/>
          </a:ln>
        </p:spPr>
        <p:txBody>
          <a:bodyPr/>
          <a:lstStyle/>
          <a:p>
            <a:endParaRPr lang="ko-KR" altLang="en-US"/>
          </a:p>
        </p:txBody>
      </p:sp>
      <p:sp>
        <p:nvSpPr>
          <p:cNvPr id="30" name="Text 28"/>
          <p:cNvSpPr/>
          <p:nvPr/>
        </p:nvSpPr>
        <p:spPr>
          <a:xfrm>
            <a:off x="777240" y="4526280"/>
            <a:ext cx="10607040" cy="365760"/>
          </a:xfrm>
          <a:prstGeom prst="rect">
            <a:avLst/>
          </a:prstGeom>
          <a:noFill/>
          <a:ln/>
        </p:spPr>
        <p:txBody>
          <a:bodyPr wrap="square" rtlCol="0" anchor="ctr"/>
          <a:lstStyle/>
          <a:p>
            <a:pPr marL="0" indent="0">
              <a:buNone/>
            </a:pPr>
            <a:r>
              <a:rPr lang="en-US" sz="1400" b="1" dirty="0">
                <a:solidFill>
                  <a:srgbClr val="6E3A1C"/>
                </a:solidFill>
                <a:latin typeface="Noto Sans KR" pitchFamily="34" charset="0"/>
                <a:ea typeface="Noto Sans KR" pitchFamily="34" charset="-122"/>
                <a:cs typeface="Noto Sans KR" pitchFamily="34" charset="-120"/>
              </a:rPr>
              <a:t>이 방법론을 여덟 모듈(M0~M7)로 굳혔고 — 지금은 제안이 아니라 결과입니다:</a:t>
            </a:r>
            <a:endParaRPr lang="en-US" sz="1400" dirty="0"/>
          </a:p>
        </p:txBody>
      </p:sp>
      <p:sp>
        <p:nvSpPr>
          <p:cNvPr id="31" name="Text 29"/>
          <p:cNvSpPr/>
          <p:nvPr/>
        </p:nvSpPr>
        <p:spPr>
          <a:xfrm>
            <a:off x="822960" y="4983480"/>
            <a:ext cx="5394960" cy="457200"/>
          </a:xfrm>
          <a:prstGeom prst="rect">
            <a:avLst/>
          </a:prstGeom>
          <a:noFill/>
          <a:ln/>
        </p:spPr>
        <p:txBody>
          <a:bodyPr wrap="square" rtlCol="0" anchor="ctr"/>
          <a:lstStyle/>
          <a:p>
            <a:pPr marL="0" indent="0">
              <a:buNone/>
            </a:pPr>
            <a:r>
              <a:rPr lang="en-US" sz="1250" b="1" dirty="0">
                <a:solidFill>
                  <a:srgbClr val="0E8F86"/>
                </a:solidFill>
                <a:latin typeface="Noto Sans KR" pitchFamily="34" charset="0"/>
                <a:ea typeface="Noto Sans KR" pitchFamily="34" charset="-122"/>
                <a:cs typeface="Noto Sans KR" pitchFamily="34" charset="-120"/>
              </a:rPr>
              <a:t>✓ </a:t>
            </a:r>
            <a:r>
              <a:rPr lang="en-US" sz="1250" b="1" dirty="0">
                <a:solidFill>
                  <a:srgbClr val="2E241C"/>
                </a:solidFill>
                <a:latin typeface="Noto Sans KR" pitchFamily="34" charset="0"/>
                <a:ea typeface="Noto Sans KR" pitchFamily="34" charset="-122"/>
                <a:cs typeface="Noto Sans KR" pitchFamily="34" charset="-120"/>
              </a:rPr>
              <a:t>서버1 24시간 실운영 — </a:t>
            </a:r>
            <a:r>
              <a:rPr lang="en-US" sz="1250" dirty="0">
                <a:solidFill>
                  <a:srgbClr val="76675A"/>
                </a:solidFill>
                <a:latin typeface="Noto Sans KR" pitchFamily="34" charset="0"/>
                <a:ea typeface="Noto Sans KR" pitchFamily="34" charset="-122"/>
                <a:cs typeface="Noto Sans KR" pitchFamily="34" charset="-120"/>
              </a:rPr>
              <a:t>odooaierp.com 공개</a:t>
            </a:r>
            <a:endParaRPr lang="en-US" sz="1250" dirty="0"/>
          </a:p>
        </p:txBody>
      </p:sp>
      <p:sp>
        <p:nvSpPr>
          <p:cNvPr id="32" name="Text 30"/>
          <p:cNvSpPr/>
          <p:nvPr/>
        </p:nvSpPr>
        <p:spPr>
          <a:xfrm>
            <a:off x="6309360" y="4983480"/>
            <a:ext cx="5394960" cy="457200"/>
          </a:xfrm>
          <a:prstGeom prst="rect">
            <a:avLst/>
          </a:prstGeom>
          <a:noFill/>
          <a:ln/>
        </p:spPr>
        <p:txBody>
          <a:bodyPr wrap="square" rtlCol="0" anchor="ctr"/>
          <a:lstStyle/>
          <a:p>
            <a:pPr marL="0" indent="0">
              <a:buNone/>
            </a:pPr>
            <a:r>
              <a:rPr lang="en-US" sz="1250" b="1" dirty="0">
                <a:solidFill>
                  <a:srgbClr val="0E8F86"/>
                </a:solidFill>
                <a:latin typeface="Noto Sans KR" pitchFamily="34" charset="0"/>
                <a:ea typeface="Noto Sans KR" pitchFamily="34" charset="-122"/>
                <a:cs typeface="Noto Sans KR" pitchFamily="34" charset="-120"/>
              </a:rPr>
              <a:t>✓ </a:t>
            </a:r>
            <a:r>
              <a:rPr lang="en-US" sz="1250" b="1" dirty="0">
                <a:solidFill>
                  <a:srgbClr val="2E241C"/>
                </a:solidFill>
                <a:latin typeface="Noto Sans KR" pitchFamily="34" charset="0"/>
                <a:ea typeface="Noto Sans KR" pitchFamily="34" charset="-122"/>
                <a:cs typeface="Noto Sans KR" pitchFamily="34" charset="-120"/>
              </a:rPr>
              <a:t>전 파이프라인 데모 완주 — </a:t>
            </a:r>
            <a:r>
              <a:rPr lang="en-US" sz="1250" dirty="0">
                <a:solidFill>
                  <a:srgbClr val="76675A"/>
                </a:solidFill>
                <a:latin typeface="Noto Sans KR" pitchFamily="34" charset="0"/>
                <a:ea typeface="Noto Sans KR" pitchFamily="34" charset="-122"/>
                <a:cs typeface="Noto Sans KR" pitchFamily="34" charset="-120"/>
              </a:rPr>
              <a:t>WAPE 7.0%·이상탐지 13일 선행</a:t>
            </a:r>
            <a:endParaRPr lang="en-US" sz="1250" dirty="0"/>
          </a:p>
        </p:txBody>
      </p:sp>
      <p:sp>
        <p:nvSpPr>
          <p:cNvPr id="33" name="Text 31"/>
          <p:cNvSpPr/>
          <p:nvPr/>
        </p:nvSpPr>
        <p:spPr>
          <a:xfrm>
            <a:off x="822960" y="5532120"/>
            <a:ext cx="5394960" cy="457200"/>
          </a:xfrm>
          <a:prstGeom prst="rect">
            <a:avLst/>
          </a:prstGeom>
          <a:noFill/>
          <a:ln/>
        </p:spPr>
        <p:txBody>
          <a:bodyPr wrap="square" rtlCol="0" anchor="ctr"/>
          <a:lstStyle/>
          <a:p>
            <a:pPr marL="0" indent="0">
              <a:buNone/>
            </a:pPr>
            <a:r>
              <a:rPr lang="en-US" sz="1250" b="1" dirty="0">
                <a:solidFill>
                  <a:srgbClr val="0E8F86"/>
                </a:solidFill>
                <a:latin typeface="Noto Sans KR" pitchFamily="34" charset="0"/>
                <a:ea typeface="Noto Sans KR" pitchFamily="34" charset="-122"/>
                <a:cs typeface="Noto Sans KR" pitchFamily="34" charset="-120"/>
              </a:rPr>
              <a:t>✓ </a:t>
            </a:r>
            <a:r>
              <a:rPr lang="en-US" sz="1250" b="1" dirty="0">
                <a:solidFill>
                  <a:srgbClr val="2E241C"/>
                </a:solidFill>
                <a:latin typeface="Noto Sans KR" pitchFamily="34" charset="0"/>
                <a:ea typeface="Noto Sans KR" pitchFamily="34" charset="-122"/>
                <a:cs typeface="Noto Sans KR" pitchFamily="34" charset="-120"/>
              </a:rPr>
              <a:t>판단 카드·근거 인용 — </a:t>
            </a:r>
            <a:r>
              <a:rPr lang="en-US" sz="1250" dirty="0">
                <a:solidFill>
                  <a:srgbClr val="76675A"/>
                </a:solidFill>
                <a:latin typeface="Noto Sans KR" pitchFamily="34" charset="0"/>
                <a:ea typeface="Noto Sans KR" pitchFamily="34" charset="-122"/>
                <a:cs typeface="Noto Sans KR" pitchFamily="34" charset="-120"/>
              </a:rPr>
              <a:t>규칙 승격·SOP 개정</a:t>
            </a:r>
            <a:endParaRPr lang="en-US" sz="1250" dirty="0"/>
          </a:p>
        </p:txBody>
      </p:sp>
      <p:sp>
        <p:nvSpPr>
          <p:cNvPr id="34" name="Text 32"/>
          <p:cNvSpPr/>
          <p:nvPr/>
        </p:nvSpPr>
        <p:spPr>
          <a:xfrm>
            <a:off x="6309360" y="5532120"/>
            <a:ext cx="5394960" cy="457200"/>
          </a:xfrm>
          <a:prstGeom prst="rect">
            <a:avLst/>
          </a:prstGeom>
          <a:noFill/>
          <a:ln/>
        </p:spPr>
        <p:txBody>
          <a:bodyPr wrap="square" rtlCol="0" anchor="ctr"/>
          <a:lstStyle/>
          <a:p>
            <a:pPr marL="0" indent="0">
              <a:buNone/>
            </a:pPr>
            <a:r>
              <a:rPr lang="en-US" sz="1250" b="1" dirty="0">
                <a:solidFill>
                  <a:srgbClr val="0E8F86"/>
                </a:solidFill>
                <a:latin typeface="Noto Sans KR" pitchFamily="34" charset="0"/>
                <a:ea typeface="Noto Sans KR" pitchFamily="34" charset="-122"/>
                <a:cs typeface="Noto Sans KR" pitchFamily="34" charset="-120"/>
              </a:rPr>
              <a:t>✓ </a:t>
            </a:r>
            <a:r>
              <a:rPr lang="en-US" sz="1250" b="1" dirty="0">
                <a:solidFill>
                  <a:srgbClr val="2E241C"/>
                </a:solidFill>
                <a:latin typeface="Noto Sans KR" pitchFamily="34" charset="0"/>
                <a:ea typeface="Noto Sans KR" pitchFamily="34" charset="-122"/>
                <a:cs typeface="Noto Sans KR" pitchFamily="34" charset="-120"/>
              </a:rPr>
              <a:t>프로젝트·KPI 달성도 — </a:t>
            </a:r>
            <a:r>
              <a:rPr lang="en-US" sz="1250" dirty="0">
                <a:solidFill>
                  <a:srgbClr val="76675A"/>
                </a:solidFill>
                <a:latin typeface="Noto Sans KR" pitchFamily="34" charset="0"/>
                <a:ea typeface="Noto Sans KR" pitchFamily="34" charset="-122"/>
                <a:cs typeface="Noto Sans KR" pitchFamily="34" charset="-120"/>
              </a:rPr>
              <a:t>경영목표 3/4 달성</a:t>
            </a:r>
            <a:endParaRPr lang="en-US" sz="1250" dirty="0"/>
          </a:p>
        </p:txBody>
      </p:sp>
      <p:sp>
        <p:nvSpPr>
          <p:cNvPr id="35" name="Text 33"/>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2</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BENCHMARK</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err="1">
                <a:solidFill>
                  <a:srgbClr val="6E3A1C"/>
                </a:solidFill>
                <a:latin typeface="Noto Sans KR" pitchFamily="34" charset="0"/>
                <a:ea typeface="Noto Sans KR" pitchFamily="34" charset="-122"/>
                <a:cs typeface="Noto Sans KR" pitchFamily="34" charset="-120"/>
              </a:rPr>
              <a:t>다섯</a:t>
            </a:r>
            <a:r>
              <a:rPr lang="en-US" sz="2600" b="1" dirty="0">
                <a:solidFill>
                  <a:srgbClr val="6E3A1C"/>
                </a:solidFill>
                <a:latin typeface="Noto Sans KR" pitchFamily="34" charset="0"/>
                <a:ea typeface="Noto Sans KR" pitchFamily="34" charset="-122"/>
                <a:cs typeface="Noto Sans KR" pitchFamily="34" charset="-120"/>
              </a:rPr>
              <a:t> </a:t>
            </a:r>
            <a:r>
              <a:rPr lang="ko-KR" altLang="en-US" sz="2600" b="1" dirty="0">
                <a:solidFill>
                  <a:srgbClr val="6E3A1C"/>
                </a:solidFill>
                <a:latin typeface="Noto Sans KR" pitchFamily="34" charset="0"/>
                <a:ea typeface="Noto Sans KR" pitchFamily="34" charset="-122"/>
                <a:cs typeface="Noto Sans KR" pitchFamily="34" charset="-120"/>
              </a:rPr>
              <a:t>제품</a:t>
            </a:r>
            <a:r>
              <a:rPr lang="en-US" sz="2600" b="1" dirty="0" err="1">
                <a:solidFill>
                  <a:srgbClr val="6E3A1C"/>
                </a:solidFill>
                <a:latin typeface="Noto Sans KR" pitchFamily="34" charset="0"/>
                <a:ea typeface="Noto Sans KR" pitchFamily="34" charset="-122"/>
                <a:cs typeface="Noto Sans KR" pitchFamily="34" charset="-120"/>
              </a:rPr>
              <a:t>에게</a:t>
            </a:r>
            <a:r>
              <a:rPr lang="en-US" sz="2600" b="1" dirty="0">
                <a:solidFill>
                  <a:srgbClr val="6E3A1C"/>
                </a:solidFill>
                <a:latin typeface="Noto Sans KR" pitchFamily="34" charset="0"/>
                <a:ea typeface="Noto Sans KR" pitchFamily="34" charset="-122"/>
                <a:cs typeface="Noto Sans KR" pitchFamily="34" charset="-120"/>
              </a:rPr>
              <a:t> 배운 것 — 가져올 것과 AX가 지킨 원칙</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201400" cy="2304288"/>
        </p:xfrm>
        <a:graphic>
          <a:graphicData uri="http://schemas.openxmlformats.org/drawingml/2006/table">
            <a:tbl>
              <a:tblPr/>
              <a:tblGrid>
                <a:gridCol w="21031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983480">
                  <a:extLst>
                    <a:ext uri="{9D8B030D-6E8A-4147-A177-3AD203B41FA5}">
                      <a16:colId xmlns:a16="http://schemas.microsoft.com/office/drawing/2014/main" val="20002"/>
                    </a:ext>
                  </a:extLst>
                </a:gridCol>
              </a:tblGrid>
              <a:tr h="384048">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제품</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가져온 것</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AX가 실제 지킨 것</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6E3A1C"/>
                          </a:solidFill>
                          <a:latin typeface="Noto Sans KR" pitchFamily="34" charset="0"/>
                          <a:ea typeface="Noto Sans KR" pitchFamily="34" charset="-122"/>
                          <a:cs typeface="Noto Sans KR" pitchFamily="34" charset="-120"/>
                        </a:rPr>
                        <a:t>Palantir</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온톨로지 객체 + 운영 액션 결합</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b="1" dirty="0">
                          <a:solidFill>
                            <a:srgbClr val="0E8F86"/>
                          </a:solidFill>
                          <a:latin typeface="Noto Sans KR" pitchFamily="34" charset="0"/>
                          <a:ea typeface="Noto Sans KR" pitchFamily="34" charset="-122"/>
                          <a:cs typeface="Noto Sans KR" pitchFamily="34" charset="-120"/>
                        </a:rPr>
                        <a:t>지식그래프 4M + 원장까지 근거 사다리</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6E3A1C"/>
                          </a:solidFill>
                          <a:latin typeface="Noto Sans KR" pitchFamily="34" charset="0"/>
                          <a:ea typeface="Noto Sans KR" pitchFamily="34" charset="-122"/>
                          <a:cs typeface="Noto Sans KR" pitchFamily="34" charset="-120"/>
                        </a:rPr>
                        <a:t>삼성SDS</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분석 라이프사이클 통합(UX)</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buNone/>
                      </a:pPr>
                      <a:r>
                        <a:rPr lang="en-US" sz="1200" b="1" dirty="0">
                          <a:solidFill>
                            <a:srgbClr val="0E8F86"/>
                          </a:solidFill>
                          <a:latin typeface="Noto Sans KR" pitchFamily="34" charset="0"/>
                          <a:ea typeface="Noto Sans KR" pitchFamily="34" charset="-122"/>
                          <a:cs typeface="Noto Sans KR" pitchFamily="34" charset="-120"/>
                        </a:rPr>
                        <a:t>중소 제조 경량·2서버 협업(서버1+GPU)</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6E3A1C"/>
                          </a:solidFill>
                          <a:latin typeface="Noto Sans KR" pitchFamily="34" charset="0"/>
                          <a:ea typeface="Noto Sans KR" pitchFamily="34" charset="-122"/>
                          <a:cs typeface="Noto Sans KR" pitchFamily="34" charset="-120"/>
                        </a:rPr>
                        <a:t>Power BI</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KPI 카드·자연어 질문</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b="1" dirty="0">
                          <a:solidFill>
                            <a:srgbClr val="0E8F86"/>
                          </a:solidFill>
                          <a:latin typeface="Noto Sans KR" pitchFamily="34" charset="0"/>
                          <a:ea typeface="Noto Sans KR" pitchFamily="34" charset="-122"/>
                          <a:cs typeface="Noto Sans KR" pitchFamily="34" charset="-120"/>
                        </a:rPr>
                        <a:t>수치 생성 금지·인용 강제로 환각 차단</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b="1" dirty="0">
                          <a:solidFill>
                            <a:srgbClr val="6E3A1C"/>
                          </a:solidFill>
                          <a:latin typeface="Noto Sans KR" pitchFamily="34" charset="0"/>
                          <a:ea typeface="Noto Sans KR" pitchFamily="34" charset="-122"/>
                          <a:cs typeface="Noto Sans KR" pitchFamily="34" charset="-120"/>
                        </a:rPr>
                        <a:t>Odoo</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통합 ERP·승인 워크플로</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buNone/>
                      </a:pPr>
                      <a:r>
                        <a:rPr lang="en-US" sz="1200" b="1" dirty="0">
                          <a:solidFill>
                            <a:srgbClr val="0E8F86"/>
                          </a:solidFill>
                          <a:latin typeface="Noto Sans KR" pitchFamily="34" charset="0"/>
                          <a:ea typeface="Noto Sans KR" pitchFamily="34" charset="-122"/>
                          <a:cs typeface="Noto Sans KR" pitchFamily="34" charset="-120"/>
                        </a:rPr>
                        <a:t>승인함 카드 — 수치·구간·근거·대안 한 장</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extLst>
                  <a:ext uri="{0D108BD9-81ED-4DB2-BD59-A6C34878D82A}">
                    <a16:rowId xmlns:a16="http://schemas.microsoft.com/office/drawing/2014/main" val="10004"/>
                  </a:ext>
                </a:extLst>
              </a:tr>
              <a:tr h="384048">
                <a:tc>
                  <a:txBody>
                    <a:bodyPr/>
                    <a:lstStyle/>
                    <a:p>
                      <a:pPr marL="0" indent="0">
                        <a:buNone/>
                      </a:pPr>
                      <a:r>
                        <a:rPr lang="en-US" sz="1200" b="1" dirty="0">
                          <a:solidFill>
                            <a:srgbClr val="6E3A1C"/>
                          </a:solidFill>
                          <a:latin typeface="Noto Sans KR" pitchFamily="34" charset="0"/>
                          <a:ea typeface="Noto Sans KR" pitchFamily="34" charset="-122"/>
                          <a:cs typeface="Noto Sans KR" pitchFamily="34" charset="-120"/>
                        </a:rPr>
                        <a:t>마키나락스</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제조 버티컬 MLOps</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b="1" dirty="0">
                          <a:solidFill>
                            <a:srgbClr val="0E8F86"/>
                          </a:solidFill>
                          <a:latin typeface="Noto Sans KR" pitchFamily="34" charset="0"/>
                          <a:ea typeface="Noto Sans KR" pitchFamily="34" charset="-122"/>
                          <a:cs typeface="Noto Sans KR" pitchFamily="34" charset="-120"/>
                        </a:rPr>
                        <a:t>모델 카드·확신도 승격 루프·재학습 자동</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02920" y="5623560"/>
            <a:ext cx="11201400" cy="777240"/>
          </a:xfrm>
          <a:prstGeom prst="roundRect">
            <a:avLst>
              <a:gd name="adj" fmla="val 9412"/>
            </a:avLst>
          </a:prstGeom>
          <a:solidFill>
            <a:srgbClr val="FDF3E0"/>
          </a:solidFill>
          <a:ln w="12700">
            <a:solidFill>
              <a:srgbClr val="DCCDBB"/>
            </a:solidFill>
            <a:prstDash val="solid"/>
          </a:ln>
        </p:spPr>
        <p:txBody>
          <a:bodyPr/>
          <a:lstStyle/>
          <a:p>
            <a:endParaRPr lang="ko-KR" altLang="en-US"/>
          </a:p>
        </p:txBody>
      </p:sp>
      <p:sp>
        <p:nvSpPr>
          <p:cNvPr id="7" name="Text 4"/>
          <p:cNvSpPr/>
          <p:nvPr/>
        </p:nvSpPr>
        <p:spPr>
          <a:xfrm>
            <a:off x="731520" y="5742432"/>
            <a:ext cx="10698480" cy="548640"/>
          </a:xfrm>
          <a:prstGeom prst="rect">
            <a:avLst/>
          </a:prstGeom>
          <a:noFill/>
          <a:ln/>
        </p:spPr>
        <p:txBody>
          <a:bodyPr wrap="square" rtlCol="0" anchor="ctr"/>
          <a:lstStyle/>
          <a:p>
            <a:pPr marL="0" indent="0">
              <a:buNone/>
            </a:pPr>
            <a:r>
              <a:rPr lang="en-US" sz="1350" b="1" dirty="0">
                <a:solidFill>
                  <a:srgbClr val="A8493B"/>
                </a:solidFill>
                <a:latin typeface="Noto Sans KR" pitchFamily="34" charset="0"/>
                <a:ea typeface="Noto Sans KR" pitchFamily="34" charset="-122"/>
                <a:cs typeface="Noto Sans KR" pitchFamily="34" charset="-120"/>
              </a:rPr>
              <a:t>버릴 것: </a:t>
            </a:r>
            <a:r>
              <a:rPr lang="en-US" sz="1350" dirty="0">
                <a:solidFill>
                  <a:srgbClr val="2E241C"/>
                </a:solidFill>
                <a:latin typeface="Noto Sans KR" pitchFamily="34" charset="0"/>
                <a:ea typeface="Noto Sans KR" pitchFamily="34" charset="-122"/>
                <a:cs typeface="Noto Sans KR" pitchFamily="34" charset="-120"/>
              </a:rPr>
              <a:t>폐쇄 생태계·고비용 종속. </a:t>
            </a:r>
            <a:r>
              <a:rPr lang="en-US" sz="1350" b="1" dirty="0">
                <a:solidFill>
                  <a:srgbClr val="6E3A1C"/>
                </a:solidFill>
                <a:latin typeface="Noto Sans KR" pitchFamily="34" charset="0"/>
                <a:ea typeface="Noto Sans KR" pitchFamily="34" charset="-122"/>
                <a:cs typeface="Noto Sans KR" pitchFamily="34" charset="-120"/>
              </a:rPr>
              <a:t>지킨 원칙: </a:t>
            </a:r>
            <a:r>
              <a:rPr lang="en-US" sz="1350" dirty="0">
                <a:solidFill>
                  <a:srgbClr val="2E241C"/>
                </a:solidFill>
                <a:latin typeface="Noto Sans KR" pitchFamily="34" charset="0"/>
                <a:ea typeface="Noto Sans KR" pitchFamily="34" charset="-122"/>
                <a:cs typeface="Noto Sans KR" pitchFamily="34" charset="-120"/>
              </a:rPr>
              <a:t>근거 강제 · 수치 생성 금지 · 결정은 사람 — 오픈소스로.</a:t>
            </a:r>
            <a:endParaRPr lang="en-US" sz="1350" dirty="0"/>
          </a:p>
        </p:txBody>
      </p:sp>
      <p:sp>
        <p:nvSpPr>
          <p:cNvPr id="8" name="Text 5"/>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3</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4">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ARCHITECTURE</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여덟 모듈의 지도 — 데이터는 흐르고, 판단은 올라간다</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pic>
        <p:nvPicPr>
          <p:cNvPr id="5" name="Image 0" descr="/tmp/claude-0/-home-user-thirdbrain-web/bc639c69-a342-56eb-af6c-6a89fd170e25/scratchpad/diag_arch.png"/>
          <p:cNvPicPr>
            <a:picLocks noChangeAspect="1"/>
          </p:cNvPicPr>
          <p:nvPr/>
        </p:nvPicPr>
        <p:blipFill>
          <a:blip r:embed="rId3"/>
          <a:srcRect/>
          <a:stretch/>
        </p:blipFill>
        <p:spPr>
          <a:xfrm>
            <a:off x="640080" y="1600200"/>
            <a:ext cx="10927080" cy="4526280"/>
          </a:xfrm>
          <a:prstGeom prst="rect">
            <a:avLst/>
          </a:prstGeom>
        </p:spPr>
      </p:pic>
      <p:sp>
        <p:nvSpPr>
          <p:cNvPr id="6" name="Text 3"/>
          <p:cNvSpPr/>
          <p:nvPr/>
        </p:nvSpPr>
        <p:spPr>
          <a:xfrm>
            <a:off x="548640" y="6217920"/>
            <a:ext cx="10972800" cy="365760"/>
          </a:xfrm>
          <a:prstGeom prst="rect">
            <a:avLst/>
          </a:prstGeom>
          <a:noFill/>
          <a:ln/>
        </p:spPr>
        <p:txBody>
          <a:bodyPr wrap="square" rtlCol="0" anchor="ctr"/>
          <a:lstStyle/>
          <a:p>
            <a:pPr marL="0" indent="0" algn="ctr">
              <a:buNone/>
            </a:pPr>
            <a:r>
              <a:rPr lang="en-US" sz="1250" i="1" dirty="0">
                <a:solidFill>
                  <a:srgbClr val="76675A"/>
                </a:solidFill>
                <a:latin typeface="Noto Sans KR" pitchFamily="34" charset="0"/>
                <a:ea typeface="Noto Sans KR" pitchFamily="34" charset="-122"/>
                <a:cs typeface="Noto Sans KR" pitchFamily="34" charset="-120"/>
              </a:rPr>
              <a:t>판단은 위로(모듈이 앱에 판단 카드 공급), 데이터는 아래로(앱의 실적·승인이 재학습 재료) — M0가 전부를 받친다</a:t>
            </a:r>
            <a:endParaRPr lang="en-US" sz="1250" dirty="0"/>
          </a:p>
        </p:txBody>
      </p:sp>
      <p:sp>
        <p:nvSpPr>
          <p:cNvPr id="7" name="Text 4"/>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5">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MODULES 1/3 · 구축 완료</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기반과 입구 — M0 공통기반 · M1 수집 · M2 표준 데이터셋</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201400" cy="1536192"/>
        </p:xfrm>
        <a:graphic>
          <a:graphicData uri="http://schemas.openxmlformats.org/drawingml/2006/table">
            <a:tbl>
              <a:tblPr/>
              <a:tblGrid>
                <a:gridCol w="1097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tblGrid>
              <a:tr h="384048">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모듈</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이름</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구현 내용</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상태</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C07F1E"/>
                          </a:solidFill>
                          <a:latin typeface="Noto Sans KR" pitchFamily="34" charset="0"/>
                          <a:ea typeface="Noto Sans KR" pitchFamily="34" charset="-122"/>
                          <a:cs typeface="Noto Sans KR" pitchFamily="34" charset="-120"/>
                        </a:rPr>
                        <a:t>M0</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공통 기반</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SSO·권한·3-2-1 백업·복구 시험·커스터디 3장치(레지스트리·대장·반출게이트)</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E8F86"/>
                          </a:solidFill>
                          <a:latin typeface="Noto Sans KR" pitchFamily="34" charset="0"/>
                          <a:ea typeface="Noto Sans KR" pitchFamily="34" charset="-122"/>
                          <a:cs typeface="Noto Sans KR" pitchFamily="34" charset="-120"/>
                        </a:rPr>
                        <a:t>완료</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C07F1E"/>
                          </a:solidFill>
                          <a:latin typeface="Noto Sans KR" pitchFamily="34" charset="0"/>
                          <a:ea typeface="Noto Sans KR" pitchFamily="34" charset="-122"/>
                          <a:cs typeface="Noto Sans KR" pitchFamily="34" charset="-120"/>
                        </a:rPr>
                        <a:t>M1</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수집·인제스트</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엑셀 업로더·현장 장표·Odoo CDC·IoT — 개인정보 차단 목록</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lgn="ctr">
                        <a:buNone/>
                      </a:pPr>
                      <a:r>
                        <a:rPr lang="en-US" sz="1200" b="1" dirty="0">
                          <a:solidFill>
                            <a:srgbClr val="0E8F86"/>
                          </a:solidFill>
                          <a:latin typeface="Noto Sans KR" pitchFamily="34" charset="0"/>
                          <a:ea typeface="Noto Sans KR" pitchFamily="34" charset="-122"/>
                          <a:cs typeface="Noto Sans KR" pitchFamily="34" charset="-120"/>
                        </a:rPr>
                        <a:t>완료</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C07F1E"/>
                          </a:solidFill>
                          <a:latin typeface="Noto Sans KR" pitchFamily="34" charset="0"/>
                          <a:ea typeface="Noto Sans KR" pitchFamily="34" charset="-122"/>
                          <a:cs typeface="Noto Sans KR" pitchFamily="34" charset="-120"/>
                        </a:rPr>
                        <a:t>M2</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표준 데이터셋</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스키마 6계열·매핑·품질 게이트·특징량 저장소(미매핑률 0.1%)</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E8F86"/>
                          </a:solidFill>
                          <a:latin typeface="Noto Sans KR" pitchFamily="34" charset="0"/>
                          <a:ea typeface="Noto Sans KR" pitchFamily="34" charset="-122"/>
                          <a:cs typeface="Noto Sans KR" pitchFamily="34" charset="-120"/>
                        </a:rPr>
                        <a:t>완료</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3"/>
          <p:cNvSpPr/>
          <p:nvPr/>
        </p:nvSpPr>
        <p:spPr>
          <a:xfrm>
            <a:off x="502920" y="3291840"/>
            <a:ext cx="10972800" cy="365760"/>
          </a:xfrm>
          <a:prstGeom prst="rect">
            <a:avLst/>
          </a:prstGeom>
          <a:noFill/>
          <a:ln/>
        </p:spPr>
        <p:txBody>
          <a:bodyPr wrap="square" rtlCol="0" anchor="ctr"/>
          <a:lstStyle/>
          <a:p>
            <a:pPr marL="0" indent="0">
              <a:buNone/>
            </a:pPr>
            <a:r>
              <a:rPr lang="en-US" sz="1300" i="1" dirty="0">
                <a:solidFill>
                  <a:srgbClr val="76675A"/>
                </a:solidFill>
                <a:latin typeface="Noto Sans KR" pitchFamily="34" charset="0"/>
                <a:ea typeface="Noto Sans KR" pitchFamily="34" charset="-122"/>
                <a:cs typeface="Noto Sans KR" pitchFamily="34" charset="-120"/>
              </a:rPr>
              <a:t>실측: 복제 소크 무결(all_ok) 지속 · 미매핑률 0.1% · 백업/복구 리허설 통과</a:t>
            </a:r>
            <a:endParaRPr lang="en-US" sz="1300" dirty="0"/>
          </a:p>
        </p:txBody>
      </p:sp>
      <p:sp>
        <p:nvSpPr>
          <p:cNvPr id="7" name="Shape 4"/>
          <p:cNvSpPr/>
          <p:nvPr/>
        </p:nvSpPr>
        <p:spPr>
          <a:xfrm>
            <a:off x="502920" y="3794760"/>
            <a:ext cx="11201400" cy="2286000"/>
          </a:xfrm>
          <a:prstGeom prst="roundRect">
            <a:avLst>
              <a:gd name="adj" fmla="val 4000"/>
            </a:avLst>
          </a:prstGeom>
          <a:solidFill>
            <a:srgbClr val="FDF3E0"/>
          </a:solidFill>
          <a:ln w="12700">
            <a:solidFill>
              <a:srgbClr val="DCCDBB"/>
            </a:solidFill>
            <a:prstDash val="solid"/>
          </a:ln>
        </p:spPr>
        <p:txBody>
          <a:bodyPr/>
          <a:lstStyle/>
          <a:p>
            <a:endParaRPr lang="ko-KR" altLang="en-US"/>
          </a:p>
        </p:txBody>
      </p:sp>
      <p:sp>
        <p:nvSpPr>
          <p:cNvPr id="8" name="Text 5"/>
          <p:cNvSpPr/>
          <p:nvPr/>
        </p:nvSpPr>
        <p:spPr>
          <a:xfrm>
            <a:off x="777240" y="3977640"/>
            <a:ext cx="10607040" cy="365760"/>
          </a:xfrm>
          <a:prstGeom prst="rect">
            <a:avLst/>
          </a:prstGeom>
          <a:noFill/>
          <a:ln/>
        </p:spPr>
        <p:txBody>
          <a:bodyPr wrap="square" rtlCol="0" anchor="ctr"/>
          <a:lstStyle/>
          <a:p>
            <a:pPr marL="0" indent="0">
              <a:buNone/>
            </a:pPr>
            <a:r>
              <a:rPr lang="en-US" sz="1500" b="1" dirty="0">
                <a:solidFill>
                  <a:srgbClr val="6E3A1C"/>
                </a:solidFill>
                <a:latin typeface="Noto Sans KR" pitchFamily="34" charset="0"/>
                <a:ea typeface="Noto Sans KR" pitchFamily="34" charset="-122"/>
                <a:cs typeface="Noto Sans KR" pitchFamily="34" charset="-120"/>
              </a:rPr>
              <a:t>커스터디 3장치 — '반출 게이트'가 사설망을 지킨다</a:t>
            </a:r>
            <a:endParaRPr lang="en-US" sz="1500" dirty="0"/>
          </a:p>
        </p:txBody>
      </p:sp>
      <p:sp>
        <p:nvSpPr>
          <p:cNvPr id="9" name="Text 6"/>
          <p:cNvSpPr/>
          <p:nvPr/>
        </p:nvSpPr>
        <p:spPr>
          <a:xfrm>
            <a:off x="822960" y="4434840"/>
            <a:ext cx="10515600" cy="411480"/>
          </a:xfrm>
          <a:prstGeom prst="rect">
            <a:avLst/>
          </a:prstGeom>
          <a:noFill/>
          <a:ln/>
        </p:spPr>
        <p:txBody>
          <a:bodyPr wrap="square" rtlCol="0" anchor="ctr"/>
          <a:lstStyle/>
          <a:p>
            <a:pPr marL="0" indent="0">
              <a:buNone/>
            </a:pPr>
            <a:r>
              <a:rPr lang="en-US" sz="1300" b="1" dirty="0">
                <a:solidFill>
                  <a:srgbClr val="C07F1E"/>
                </a:solidFill>
                <a:latin typeface="Noto Sans KR" pitchFamily="34" charset="0"/>
                <a:ea typeface="Noto Sans KR" pitchFamily="34" charset="-122"/>
                <a:cs typeface="Noto Sans KR" pitchFamily="34" charset="-120"/>
              </a:rPr>
              <a:t>• </a:t>
            </a:r>
            <a:r>
              <a:rPr lang="en-US" sz="1300" dirty="0">
                <a:solidFill>
                  <a:srgbClr val="2E241C"/>
                </a:solidFill>
                <a:latin typeface="Noto Sans KR" pitchFamily="34" charset="0"/>
                <a:ea typeface="Noto Sans KR" pitchFamily="34" charset="-122"/>
                <a:cs typeface="Noto Sans KR" pitchFamily="34" charset="-120"/>
              </a:rPr>
              <a:t>레지스트리 — 어떤 스키마·모델이 있는지 대장으로 관리</a:t>
            </a:r>
            <a:endParaRPr lang="en-US" sz="1300" dirty="0"/>
          </a:p>
        </p:txBody>
      </p:sp>
      <p:sp>
        <p:nvSpPr>
          <p:cNvPr id="10" name="Text 7"/>
          <p:cNvSpPr/>
          <p:nvPr/>
        </p:nvSpPr>
        <p:spPr>
          <a:xfrm>
            <a:off x="822960" y="4892040"/>
            <a:ext cx="10515600" cy="411480"/>
          </a:xfrm>
          <a:prstGeom prst="rect">
            <a:avLst/>
          </a:prstGeom>
          <a:noFill/>
          <a:ln/>
        </p:spPr>
        <p:txBody>
          <a:bodyPr wrap="square" rtlCol="0" anchor="ctr"/>
          <a:lstStyle/>
          <a:p>
            <a:pPr marL="0" indent="0">
              <a:buNone/>
            </a:pPr>
            <a:r>
              <a:rPr lang="en-US" sz="1300" b="1" dirty="0">
                <a:solidFill>
                  <a:srgbClr val="C07F1E"/>
                </a:solidFill>
                <a:latin typeface="Noto Sans KR" pitchFamily="34" charset="0"/>
                <a:ea typeface="Noto Sans KR" pitchFamily="34" charset="-122"/>
                <a:cs typeface="Noto Sans KR" pitchFamily="34" charset="-120"/>
              </a:rPr>
              <a:t>• </a:t>
            </a:r>
            <a:r>
              <a:rPr lang="en-US" sz="1300" dirty="0">
                <a:solidFill>
                  <a:srgbClr val="2E241C"/>
                </a:solidFill>
                <a:latin typeface="Noto Sans KR" pitchFamily="34" charset="0"/>
                <a:ea typeface="Noto Sans KR" pitchFamily="34" charset="-122"/>
                <a:cs typeface="Noto Sans KR" pitchFamily="34" charset="-120"/>
              </a:rPr>
              <a:t>자산 대장 — 데이터·산출물의 출처·이동을 기록(감사)</a:t>
            </a:r>
            <a:endParaRPr lang="en-US" sz="1300" dirty="0"/>
          </a:p>
        </p:txBody>
      </p:sp>
      <p:sp>
        <p:nvSpPr>
          <p:cNvPr id="11" name="Text 8"/>
          <p:cNvSpPr/>
          <p:nvPr/>
        </p:nvSpPr>
        <p:spPr>
          <a:xfrm>
            <a:off x="822960" y="5349240"/>
            <a:ext cx="10515600" cy="411480"/>
          </a:xfrm>
          <a:prstGeom prst="rect">
            <a:avLst/>
          </a:prstGeom>
          <a:noFill/>
          <a:ln/>
        </p:spPr>
        <p:txBody>
          <a:bodyPr wrap="square" rtlCol="0" anchor="ctr"/>
          <a:lstStyle/>
          <a:p>
            <a:pPr marL="0" indent="0">
              <a:buNone/>
            </a:pPr>
            <a:r>
              <a:rPr lang="en-US" sz="1300" b="1" dirty="0">
                <a:solidFill>
                  <a:srgbClr val="C07F1E"/>
                </a:solidFill>
                <a:latin typeface="Noto Sans KR" pitchFamily="34" charset="0"/>
                <a:ea typeface="Noto Sans KR" pitchFamily="34" charset="-122"/>
                <a:cs typeface="Noto Sans KR" pitchFamily="34" charset="-120"/>
              </a:rPr>
              <a:t>• </a:t>
            </a:r>
            <a:r>
              <a:rPr lang="en-US" sz="1300" dirty="0">
                <a:solidFill>
                  <a:srgbClr val="2E241C"/>
                </a:solidFill>
                <a:latin typeface="Noto Sans KR" pitchFamily="34" charset="0"/>
                <a:ea typeface="Noto Sans KR" pitchFamily="34" charset="-122"/>
                <a:cs typeface="Noto Sans KR" pitchFamily="34" charset="-120"/>
              </a:rPr>
              <a:t>반출 게이트 — 사설망 밖으로 나가는 것을 통제(Claude 서술만 옵트인 반출)</a:t>
            </a:r>
            <a:endParaRPr lang="en-US" sz="1300" dirty="0"/>
          </a:p>
        </p:txBody>
      </p:sp>
      <p:sp>
        <p:nvSpPr>
          <p:cNvPr id="12" name="Text 9"/>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MODULES 2/3 · 구축 완료</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작업대와 서랍장 — M3 분석 스튜디오 · M4 학습 엔진</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201400" cy="1152144"/>
        </p:xfrm>
        <a:graphic>
          <a:graphicData uri="http://schemas.openxmlformats.org/drawingml/2006/table">
            <a:tbl>
              <a:tblPr/>
              <a:tblGrid>
                <a:gridCol w="1097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tblGrid>
              <a:tr h="384048">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모듈</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이름</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구현 내용</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실측</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C07F1E"/>
                          </a:solidFill>
                          <a:latin typeface="Noto Sans KR" pitchFamily="34" charset="0"/>
                          <a:ea typeface="Noto Sans KR" pitchFamily="34" charset="-122"/>
                          <a:cs typeface="Noto Sans KR" pitchFamily="34" charset="-120"/>
                        </a:rPr>
                        <a:t>M3</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분석 스튜디오</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EDA 팩(층별·파레토·관리도)·야간 마이닝→아침 브리핑·보드</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E8F86"/>
                          </a:solidFill>
                          <a:latin typeface="Noto Sans KR" pitchFamily="34" charset="0"/>
                          <a:ea typeface="Noto Sans KR" pitchFamily="34" charset="-122"/>
                          <a:cs typeface="Noto Sans KR" pitchFamily="34" charset="-120"/>
                        </a:rPr>
                        <a:t>완료</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C07F1E"/>
                          </a:solidFill>
                          <a:latin typeface="Noto Sans KR" pitchFamily="34" charset="0"/>
                          <a:ea typeface="Noto Sans KR" pitchFamily="34" charset="-122"/>
                          <a:cs typeface="Noto Sans KR" pitchFamily="34" charset="-120"/>
                        </a:rPr>
                        <a:t>M4</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학습 엔진</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수요예측(GBM 분위수)·이상탐지·모델 카드·RL 파일럿</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lgn="ctr">
                        <a:buNone/>
                      </a:pPr>
                      <a:r>
                        <a:rPr lang="en-US" sz="1200" b="1" dirty="0">
                          <a:solidFill>
                            <a:srgbClr val="0E8F86"/>
                          </a:solidFill>
                          <a:latin typeface="Noto Sans KR" pitchFamily="34" charset="0"/>
                          <a:ea typeface="Noto Sans KR" pitchFamily="34" charset="-122"/>
                          <a:cs typeface="Noto Sans KR" pitchFamily="34" charset="-120"/>
                        </a:rPr>
                        <a:t>완료</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extLst>
                  <a:ext uri="{0D108BD9-81ED-4DB2-BD59-A6C34878D82A}">
                    <a16:rowId xmlns:a16="http://schemas.microsoft.com/office/drawing/2014/main" val="10002"/>
                  </a:ext>
                </a:extLst>
              </a:tr>
            </a:tbl>
          </a:graphicData>
        </a:graphic>
      </p:graphicFrame>
      <p:sp>
        <p:nvSpPr>
          <p:cNvPr id="6" name="Shape 3"/>
          <p:cNvSpPr/>
          <p:nvPr/>
        </p:nvSpPr>
        <p:spPr>
          <a:xfrm>
            <a:off x="502920" y="3337560"/>
            <a:ext cx="5394960" cy="1234440"/>
          </a:xfrm>
          <a:prstGeom prst="roundRect">
            <a:avLst>
              <a:gd name="adj" fmla="val 7407"/>
            </a:avLst>
          </a:prstGeom>
          <a:solidFill>
            <a:srgbClr val="FFFFFF"/>
          </a:solidFill>
          <a:ln w="12700">
            <a:solidFill>
              <a:srgbClr val="DCCDBB"/>
            </a:solidFill>
            <a:prstDash val="solid"/>
          </a:ln>
        </p:spPr>
        <p:txBody>
          <a:bodyPr/>
          <a:lstStyle/>
          <a:p>
            <a:endParaRPr lang="ko-KR" altLang="en-US"/>
          </a:p>
        </p:txBody>
      </p:sp>
      <p:sp>
        <p:nvSpPr>
          <p:cNvPr id="5" name="Shape 4"/>
          <p:cNvSpPr/>
          <p:nvPr/>
        </p:nvSpPr>
        <p:spPr>
          <a:xfrm>
            <a:off x="502920" y="3337560"/>
            <a:ext cx="100584" cy="1234440"/>
          </a:xfrm>
          <a:prstGeom prst="rect">
            <a:avLst/>
          </a:prstGeom>
          <a:solidFill>
            <a:srgbClr val="0E8F86"/>
          </a:solidFill>
          <a:ln/>
        </p:spPr>
        <p:txBody>
          <a:bodyPr/>
          <a:lstStyle/>
          <a:p>
            <a:endParaRPr lang="ko-KR" altLang="en-US"/>
          </a:p>
        </p:txBody>
      </p:sp>
      <p:sp>
        <p:nvSpPr>
          <p:cNvPr id="8" name="Text 5"/>
          <p:cNvSpPr/>
          <p:nvPr/>
        </p:nvSpPr>
        <p:spPr>
          <a:xfrm>
            <a:off x="777240" y="3520440"/>
            <a:ext cx="4937760" cy="457200"/>
          </a:xfrm>
          <a:prstGeom prst="rect">
            <a:avLst/>
          </a:prstGeom>
          <a:noFill/>
          <a:ln/>
        </p:spPr>
        <p:txBody>
          <a:bodyPr wrap="square" rtlCol="0" anchor="ctr"/>
          <a:lstStyle/>
          <a:p>
            <a:pPr marL="0" indent="0">
              <a:buNone/>
            </a:pPr>
            <a:r>
              <a:rPr lang="en-US" sz="2200" b="1" dirty="0">
                <a:solidFill>
                  <a:srgbClr val="0E8F86"/>
                </a:solidFill>
                <a:latin typeface="Noto Sans KR" pitchFamily="34" charset="0"/>
                <a:ea typeface="Noto Sans KR" pitchFamily="34" charset="-122"/>
                <a:cs typeface="Noto Sans KR" pitchFamily="34" charset="-120"/>
              </a:rPr>
              <a:t>WAPE 7.0%</a:t>
            </a:r>
            <a:endParaRPr lang="en-US" sz="2200" dirty="0"/>
          </a:p>
        </p:txBody>
      </p:sp>
      <p:sp>
        <p:nvSpPr>
          <p:cNvPr id="9" name="Text 6"/>
          <p:cNvSpPr/>
          <p:nvPr/>
        </p:nvSpPr>
        <p:spPr>
          <a:xfrm>
            <a:off x="777240" y="4050792"/>
            <a:ext cx="4937760" cy="457200"/>
          </a:xfrm>
          <a:prstGeom prst="rect">
            <a:avLst/>
          </a:prstGeom>
          <a:noFill/>
          <a:ln/>
        </p:spPr>
        <p:txBody>
          <a:bodyPr wrap="square" rtlCol="0" anchor="ctr"/>
          <a:lstStyle/>
          <a:p>
            <a:pPr marL="0" indent="0">
              <a:buNone/>
            </a:pPr>
            <a:r>
              <a:rPr lang="en-US" sz="1250" dirty="0">
                <a:solidFill>
                  <a:srgbClr val="2E241C"/>
                </a:solidFill>
                <a:latin typeface="Noto Sans KR" pitchFamily="34" charset="0"/>
                <a:ea typeface="Noto Sans KR" pitchFamily="34" charset="-122"/>
                <a:cs typeface="Noto Sans KR" pitchFamily="34" charset="-120"/>
              </a:rPr>
              <a:t>수요예측 — 출발선 19.4% 대비 64% 개선</a:t>
            </a:r>
            <a:endParaRPr lang="en-US" sz="1250" dirty="0"/>
          </a:p>
        </p:txBody>
      </p:sp>
      <p:sp>
        <p:nvSpPr>
          <p:cNvPr id="10" name="Shape 7"/>
          <p:cNvSpPr/>
          <p:nvPr/>
        </p:nvSpPr>
        <p:spPr>
          <a:xfrm>
            <a:off x="6126480" y="3337560"/>
            <a:ext cx="5394960" cy="1234440"/>
          </a:xfrm>
          <a:prstGeom prst="roundRect">
            <a:avLst>
              <a:gd name="adj" fmla="val 7407"/>
            </a:avLst>
          </a:prstGeom>
          <a:solidFill>
            <a:srgbClr val="FFFFFF"/>
          </a:solidFill>
          <a:ln w="12700">
            <a:solidFill>
              <a:srgbClr val="DCCDBB"/>
            </a:solidFill>
            <a:prstDash val="solid"/>
          </a:ln>
        </p:spPr>
        <p:txBody>
          <a:bodyPr/>
          <a:lstStyle/>
          <a:p>
            <a:endParaRPr lang="ko-KR" altLang="en-US"/>
          </a:p>
        </p:txBody>
      </p:sp>
      <p:sp>
        <p:nvSpPr>
          <p:cNvPr id="11" name="Shape 8"/>
          <p:cNvSpPr/>
          <p:nvPr/>
        </p:nvSpPr>
        <p:spPr>
          <a:xfrm>
            <a:off x="6126480" y="3337560"/>
            <a:ext cx="100584" cy="1234440"/>
          </a:xfrm>
          <a:prstGeom prst="rect">
            <a:avLst/>
          </a:prstGeom>
          <a:solidFill>
            <a:srgbClr val="C07F1E"/>
          </a:solidFill>
          <a:ln/>
        </p:spPr>
        <p:txBody>
          <a:bodyPr/>
          <a:lstStyle/>
          <a:p>
            <a:endParaRPr lang="ko-KR" altLang="en-US"/>
          </a:p>
        </p:txBody>
      </p:sp>
      <p:sp>
        <p:nvSpPr>
          <p:cNvPr id="12" name="Text 9"/>
          <p:cNvSpPr/>
          <p:nvPr/>
        </p:nvSpPr>
        <p:spPr>
          <a:xfrm>
            <a:off x="6400800" y="3520440"/>
            <a:ext cx="4937760" cy="457200"/>
          </a:xfrm>
          <a:prstGeom prst="rect">
            <a:avLst/>
          </a:prstGeom>
          <a:noFill/>
          <a:ln/>
        </p:spPr>
        <p:txBody>
          <a:bodyPr wrap="square" rtlCol="0" anchor="ctr"/>
          <a:lstStyle/>
          <a:p>
            <a:pPr marL="0" indent="0">
              <a:buNone/>
            </a:pPr>
            <a:r>
              <a:rPr lang="en-US" sz="2200" b="1" dirty="0">
                <a:solidFill>
                  <a:srgbClr val="C07F1E"/>
                </a:solidFill>
                <a:latin typeface="Noto Sans KR" pitchFamily="34" charset="0"/>
                <a:ea typeface="Noto Sans KR" pitchFamily="34" charset="-122"/>
                <a:cs typeface="Noto Sans KR" pitchFamily="34" charset="-120"/>
              </a:rPr>
              <a:t>13일 선행</a:t>
            </a:r>
            <a:endParaRPr lang="en-US" sz="2200" dirty="0"/>
          </a:p>
        </p:txBody>
      </p:sp>
      <p:sp>
        <p:nvSpPr>
          <p:cNvPr id="13" name="Text 10"/>
          <p:cNvSpPr/>
          <p:nvPr/>
        </p:nvSpPr>
        <p:spPr>
          <a:xfrm>
            <a:off x="6400800" y="4050792"/>
            <a:ext cx="4937760" cy="457200"/>
          </a:xfrm>
          <a:prstGeom prst="rect">
            <a:avLst/>
          </a:prstGeom>
          <a:noFill/>
          <a:ln/>
        </p:spPr>
        <p:txBody>
          <a:bodyPr wrap="square" rtlCol="0" anchor="ctr"/>
          <a:lstStyle/>
          <a:p>
            <a:pPr marL="0" indent="0">
              <a:buNone/>
            </a:pPr>
            <a:r>
              <a:rPr lang="en-US" sz="1250" dirty="0">
                <a:solidFill>
                  <a:srgbClr val="2E241C"/>
                </a:solidFill>
                <a:latin typeface="Noto Sans KR" pitchFamily="34" charset="0"/>
                <a:ea typeface="Noto Sans KR" pitchFamily="34" charset="-122"/>
                <a:cs typeface="Noto Sans KR" pitchFamily="34" charset="-120"/>
              </a:rPr>
              <a:t>OVEN-2 고장 예지 — 재현율 100%</a:t>
            </a:r>
            <a:endParaRPr lang="en-US" sz="1250" dirty="0"/>
          </a:p>
        </p:txBody>
      </p:sp>
      <p:sp>
        <p:nvSpPr>
          <p:cNvPr id="14" name="Shape 11"/>
          <p:cNvSpPr/>
          <p:nvPr/>
        </p:nvSpPr>
        <p:spPr>
          <a:xfrm>
            <a:off x="502920" y="4709160"/>
            <a:ext cx="5394960" cy="1234440"/>
          </a:xfrm>
          <a:prstGeom prst="roundRect">
            <a:avLst>
              <a:gd name="adj" fmla="val 7407"/>
            </a:avLst>
          </a:prstGeom>
          <a:solidFill>
            <a:srgbClr val="FFFFFF"/>
          </a:solidFill>
          <a:ln w="12700">
            <a:solidFill>
              <a:srgbClr val="DCCDBB"/>
            </a:solidFill>
            <a:prstDash val="solid"/>
          </a:ln>
        </p:spPr>
        <p:txBody>
          <a:bodyPr/>
          <a:lstStyle/>
          <a:p>
            <a:endParaRPr lang="ko-KR" altLang="en-US"/>
          </a:p>
        </p:txBody>
      </p:sp>
      <p:sp>
        <p:nvSpPr>
          <p:cNvPr id="15" name="Shape 12"/>
          <p:cNvSpPr/>
          <p:nvPr/>
        </p:nvSpPr>
        <p:spPr>
          <a:xfrm>
            <a:off x="502920" y="4709160"/>
            <a:ext cx="100584" cy="1234440"/>
          </a:xfrm>
          <a:prstGeom prst="rect">
            <a:avLst/>
          </a:prstGeom>
          <a:solidFill>
            <a:srgbClr val="9C5227"/>
          </a:solidFill>
          <a:ln/>
        </p:spPr>
        <p:txBody>
          <a:bodyPr/>
          <a:lstStyle/>
          <a:p>
            <a:endParaRPr lang="ko-KR" altLang="en-US"/>
          </a:p>
        </p:txBody>
      </p:sp>
      <p:sp>
        <p:nvSpPr>
          <p:cNvPr id="16" name="Text 13"/>
          <p:cNvSpPr/>
          <p:nvPr/>
        </p:nvSpPr>
        <p:spPr>
          <a:xfrm>
            <a:off x="777240" y="4892040"/>
            <a:ext cx="4937760" cy="457200"/>
          </a:xfrm>
          <a:prstGeom prst="rect">
            <a:avLst/>
          </a:prstGeom>
          <a:noFill/>
          <a:ln/>
        </p:spPr>
        <p:txBody>
          <a:bodyPr wrap="square" rtlCol="0" anchor="ctr"/>
          <a:lstStyle/>
          <a:p>
            <a:pPr marL="0" indent="0">
              <a:buNone/>
            </a:pPr>
            <a:r>
              <a:rPr lang="en-US" sz="2200" b="1" dirty="0">
                <a:solidFill>
                  <a:srgbClr val="9C5227"/>
                </a:solidFill>
                <a:latin typeface="Noto Sans KR" pitchFamily="34" charset="0"/>
                <a:ea typeface="Noto Sans KR" pitchFamily="34" charset="-122"/>
                <a:cs typeface="Noto Sans KR" pitchFamily="34" charset="-120"/>
              </a:rPr>
              <a:t>오경보 2.8%</a:t>
            </a:r>
            <a:endParaRPr lang="en-US" sz="2200" dirty="0"/>
          </a:p>
        </p:txBody>
      </p:sp>
      <p:sp>
        <p:nvSpPr>
          <p:cNvPr id="17" name="Text 14"/>
          <p:cNvSpPr/>
          <p:nvPr/>
        </p:nvSpPr>
        <p:spPr>
          <a:xfrm>
            <a:off x="777240" y="5422392"/>
            <a:ext cx="4937760" cy="457200"/>
          </a:xfrm>
          <a:prstGeom prst="rect">
            <a:avLst/>
          </a:prstGeom>
          <a:noFill/>
          <a:ln/>
        </p:spPr>
        <p:txBody>
          <a:bodyPr wrap="square" rtlCol="0" anchor="ctr"/>
          <a:lstStyle/>
          <a:p>
            <a:pPr marL="0" indent="0">
              <a:buNone/>
            </a:pPr>
            <a:r>
              <a:rPr lang="en-US" sz="1250" dirty="0">
                <a:solidFill>
                  <a:srgbClr val="2E241C"/>
                </a:solidFill>
                <a:latin typeface="Noto Sans KR" pitchFamily="34" charset="0"/>
                <a:ea typeface="Noto Sans KR" pitchFamily="34" charset="-122"/>
                <a:cs typeface="Noto Sans KR" pitchFamily="34" charset="-120"/>
              </a:rPr>
              <a:t>정상 설비 오경보율 — 낮게 유지</a:t>
            </a:r>
            <a:endParaRPr lang="en-US" sz="1250" dirty="0"/>
          </a:p>
        </p:txBody>
      </p:sp>
      <p:sp>
        <p:nvSpPr>
          <p:cNvPr id="18" name="Shape 15"/>
          <p:cNvSpPr/>
          <p:nvPr/>
        </p:nvSpPr>
        <p:spPr>
          <a:xfrm>
            <a:off x="6126480" y="4709160"/>
            <a:ext cx="5394960" cy="1234440"/>
          </a:xfrm>
          <a:prstGeom prst="roundRect">
            <a:avLst>
              <a:gd name="adj" fmla="val 7407"/>
            </a:avLst>
          </a:prstGeom>
          <a:solidFill>
            <a:srgbClr val="FFFFFF"/>
          </a:solidFill>
          <a:ln w="12700">
            <a:solidFill>
              <a:srgbClr val="DCCDBB"/>
            </a:solidFill>
            <a:prstDash val="solid"/>
          </a:ln>
        </p:spPr>
        <p:txBody>
          <a:bodyPr/>
          <a:lstStyle/>
          <a:p>
            <a:endParaRPr lang="ko-KR" altLang="en-US"/>
          </a:p>
        </p:txBody>
      </p:sp>
      <p:sp>
        <p:nvSpPr>
          <p:cNvPr id="19" name="Shape 16"/>
          <p:cNvSpPr/>
          <p:nvPr/>
        </p:nvSpPr>
        <p:spPr>
          <a:xfrm>
            <a:off x="6126480" y="4709160"/>
            <a:ext cx="100584" cy="1234440"/>
          </a:xfrm>
          <a:prstGeom prst="rect">
            <a:avLst/>
          </a:prstGeom>
          <a:solidFill>
            <a:srgbClr val="6E3A1C"/>
          </a:solidFill>
          <a:ln/>
        </p:spPr>
        <p:txBody>
          <a:bodyPr/>
          <a:lstStyle/>
          <a:p>
            <a:endParaRPr lang="ko-KR" altLang="en-US"/>
          </a:p>
        </p:txBody>
      </p:sp>
      <p:sp>
        <p:nvSpPr>
          <p:cNvPr id="20" name="Text 17"/>
          <p:cNvSpPr/>
          <p:nvPr/>
        </p:nvSpPr>
        <p:spPr>
          <a:xfrm>
            <a:off x="6400800" y="4892040"/>
            <a:ext cx="4937760" cy="457200"/>
          </a:xfrm>
          <a:prstGeom prst="rect">
            <a:avLst/>
          </a:prstGeom>
          <a:noFill/>
          <a:ln/>
        </p:spPr>
        <p:txBody>
          <a:bodyPr wrap="square" rtlCol="0" anchor="ctr"/>
          <a:lstStyle/>
          <a:p>
            <a:pPr marL="0" indent="0">
              <a:buNone/>
            </a:pPr>
            <a:r>
              <a:rPr lang="en-US" sz="2200" b="1" dirty="0">
                <a:solidFill>
                  <a:srgbClr val="6E3A1C"/>
                </a:solidFill>
                <a:latin typeface="Noto Sans KR" pitchFamily="34" charset="0"/>
                <a:ea typeface="Noto Sans KR" pitchFamily="34" charset="-122"/>
                <a:cs typeface="Noto Sans KR" pitchFamily="34" charset="-120"/>
              </a:rPr>
              <a:t>Twin 검증</a:t>
            </a:r>
            <a:endParaRPr lang="en-US" sz="2200" dirty="0"/>
          </a:p>
        </p:txBody>
      </p:sp>
      <p:sp>
        <p:nvSpPr>
          <p:cNvPr id="21" name="Text 18"/>
          <p:cNvSpPr/>
          <p:nvPr/>
        </p:nvSpPr>
        <p:spPr>
          <a:xfrm>
            <a:off x="6400800" y="5422392"/>
            <a:ext cx="4937760" cy="457200"/>
          </a:xfrm>
          <a:prstGeom prst="rect">
            <a:avLst/>
          </a:prstGeom>
          <a:noFill/>
          <a:ln/>
        </p:spPr>
        <p:txBody>
          <a:bodyPr wrap="square" rtlCol="0" anchor="ctr"/>
          <a:lstStyle/>
          <a:p>
            <a:pPr marL="0" indent="0">
              <a:buNone/>
            </a:pPr>
            <a:r>
              <a:rPr lang="en-US" sz="1250" dirty="0">
                <a:solidFill>
                  <a:srgbClr val="2E241C"/>
                </a:solidFill>
                <a:latin typeface="Noto Sans KR" pitchFamily="34" charset="0"/>
                <a:ea typeface="Noto Sans KR" pitchFamily="34" charset="-122"/>
                <a:cs typeface="Noto Sans KR" pitchFamily="34" charset="-120"/>
              </a:rPr>
              <a:t>디지털 트윈 재생 검증 통과</a:t>
            </a:r>
            <a:endParaRPr lang="en-US" sz="1250" dirty="0"/>
          </a:p>
        </p:txBody>
      </p:sp>
      <p:sp>
        <p:nvSpPr>
          <p:cNvPr id="22" name="Text 19"/>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6</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7">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ALGORITHM MAP</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알고리즘 선택 지도 — 문제의 질문이 서랍을 고른다</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pic>
        <p:nvPicPr>
          <p:cNvPr id="5" name="Image 0" descr="/tmp/claude-0/-home-user-thirdbrain-web/bc639c69-a342-56eb-af6c-6a89fd170e25/scratchpad/diag_algo.png"/>
          <p:cNvPicPr>
            <a:picLocks noChangeAspect="1"/>
          </p:cNvPicPr>
          <p:nvPr/>
        </p:nvPicPr>
        <p:blipFill>
          <a:blip r:embed="rId3"/>
          <a:srcRect/>
          <a:stretch/>
        </p:blipFill>
        <p:spPr>
          <a:xfrm>
            <a:off x="640080" y="1600200"/>
            <a:ext cx="10927080" cy="4526280"/>
          </a:xfrm>
          <a:prstGeom prst="rect">
            <a:avLst/>
          </a:prstGeom>
        </p:spPr>
      </p:pic>
      <p:sp>
        <p:nvSpPr>
          <p:cNvPr id="6" name="Text 3"/>
          <p:cNvSpPr/>
          <p:nvPr/>
        </p:nvSpPr>
        <p:spPr>
          <a:xfrm>
            <a:off x="548640" y="6217920"/>
            <a:ext cx="10972800" cy="365760"/>
          </a:xfrm>
          <a:prstGeom prst="rect">
            <a:avLst/>
          </a:prstGeom>
          <a:noFill/>
          <a:ln/>
        </p:spPr>
        <p:txBody>
          <a:bodyPr wrap="square" rtlCol="0" anchor="ctr"/>
          <a:lstStyle/>
          <a:p>
            <a:pPr marL="0" indent="0" algn="ctr">
              <a:buNone/>
            </a:pPr>
            <a:r>
              <a:rPr lang="en-US" sz="1250" i="1" dirty="0">
                <a:solidFill>
                  <a:srgbClr val="76675A"/>
                </a:solidFill>
                <a:latin typeface="Noto Sans KR" pitchFamily="34" charset="0"/>
                <a:ea typeface="Noto Sans KR" pitchFamily="34" charset="-122"/>
                <a:cs typeface="Noto Sans KR" pitchFamily="34" charset="-120"/>
              </a:rPr>
              <a:t>수요예측·이상탐지·최적화·인과추론 — 문제 유형마다 검증된 알고리즘을 배치, 모델 카드로 관리</a:t>
            </a:r>
            <a:endParaRPr lang="en-US" sz="1250" dirty="0"/>
          </a:p>
        </p:txBody>
      </p:sp>
      <p:sp>
        <p:nvSpPr>
          <p:cNvPr id="7" name="Text 4"/>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7</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8">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MODULES 3/3 · 구축 완료</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의미와 실행 — M5 지식그래프 · M6 LLM 판단 · M7 에이전트</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201400" cy="1536192"/>
        </p:xfrm>
        <a:graphic>
          <a:graphicData uri="http://schemas.openxmlformats.org/drawingml/2006/table">
            <a:tbl>
              <a:tblPr/>
              <a:tblGrid>
                <a:gridCol w="1097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tblGrid>
              <a:tr h="384048">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모듈</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이름</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구현 내용</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tc>
                  <a:txBody>
                    <a:bodyPr/>
                    <a:lstStyle/>
                    <a:p>
                      <a:pPr marL="0" indent="0" algn="ctr">
                        <a:buNone/>
                      </a:pPr>
                      <a:r>
                        <a:rPr lang="en-US" sz="1250" b="1" dirty="0">
                          <a:solidFill>
                            <a:srgbClr val="FFFFFF"/>
                          </a:solidFill>
                          <a:latin typeface="Noto Sans KR" pitchFamily="34" charset="0"/>
                          <a:ea typeface="Noto Sans KR" pitchFamily="34" charset="-122"/>
                          <a:cs typeface="Noto Sans KR" pitchFamily="34" charset="-120"/>
                        </a:rPr>
                        <a:t>실측</a:t>
                      </a:r>
                      <a:endParaRPr lang="en-US" sz="125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6E3A1C"/>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C07F1E"/>
                          </a:solidFill>
                          <a:latin typeface="Noto Sans KR" pitchFamily="34" charset="0"/>
                          <a:ea typeface="Noto Sans KR" pitchFamily="34" charset="-122"/>
                          <a:cs typeface="Noto Sans KR" pitchFamily="34" charset="-120"/>
                        </a:rPr>
                        <a:t>M5</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지식그래프</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4M 스키마·FACT 적재·확신도 루프(70%·3회→승격)·근거 API</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E8F86"/>
                          </a:solidFill>
                          <a:latin typeface="Noto Sans KR" pitchFamily="34" charset="0"/>
                          <a:ea typeface="Noto Sans KR" pitchFamily="34" charset="-122"/>
                          <a:cs typeface="Noto Sans KR" pitchFamily="34" charset="-120"/>
                        </a:rPr>
                        <a:t>규칙 2건 승격</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C07F1E"/>
                          </a:solidFill>
                          <a:latin typeface="Noto Sans KR" pitchFamily="34" charset="0"/>
                          <a:ea typeface="Noto Sans KR" pitchFamily="34" charset="-122"/>
                          <a:cs typeface="Noto Sans KR" pitchFamily="34" charset="-120"/>
                        </a:rPr>
                        <a:t>M6</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LLM 판단</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GraphRAG·판단 카드 조립·인용 강제·반출 폴백(Claude/Ollama)</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tc>
                  <a:txBody>
                    <a:bodyPr/>
                    <a:lstStyle/>
                    <a:p>
                      <a:pPr marL="0" indent="0" algn="ctr">
                        <a:buNone/>
                      </a:pPr>
                      <a:r>
                        <a:rPr lang="en-US" sz="1200" b="1" dirty="0">
                          <a:solidFill>
                            <a:srgbClr val="0E8F86"/>
                          </a:solidFill>
                          <a:latin typeface="Noto Sans KR" pitchFamily="34" charset="0"/>
                          <a:ea typeface="Noto Sans KR" pitchFamily="34" charset="-122"/>
                          <a:cs typeface="Noto Sans KR" pitchFamily="34" charset="-120"/>
                        </a:rPr>
                        <a:t>회귀 30/30</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BF6EE"/>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C07F1E"/>
                          </a:solidFill>
                          <a:latin typeface="Noto Sans KR" pitchFamily="34" charset="0"/>
                          <a:ea typeface="Noto Sans KR" pitchFamily="34" charset="-122"/>
                          <a:cs typeface="Noto Sans KR" pitchFamily="34" charset="-120"/>
                        </a:rPr>
                        <a:t>M7</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에이전트·관제</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buNone/>
                      </a:pPr>
                      <a:r>
                        <a:rPr lang="en-US" sz="1200" dirty="0">
                          <a:solidFill>
                            <a:srgbClr val="2E241C"/>
                          </a:solidFill>
                          <a:latin typeface="Noto Sans KR" pitchFamily="34" charset="0"/>
                          <a:ea typeface="Noto Sans KR" pitchFamily="34" charset="-122"/>
                          <a:cs typeface="Noto Sans KR" pitchFamily="34" charset="-120"/>
                        </a:rPr>
                        <a:t>런타임·승인함·5종 에이전트·War Room·HITL</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E8F86"/>
                          </a:solidFill>
                          <a:latin typeface="Noto Sans KR" pitchFamily="34" charset="0"/>
                          <a:ea typeface="Noto Sans KR" pitchFamily="34" charset="-122"/>
                          <a:cs typeface="Noto Sans KR" pitchFamily="34" charset="-120"/>
                        </a:rPr>
                        <a:t>카드 11건</a:t>
                      </a:r>
                      <a:endParaRPr lang="en-US" sz="1200" dirty="0">
                        <a:latin typeface="Noto Sans KR" charset="0"/>
                        <a:ea typeface="Noto Sans KR" charset="0"/>
                        <a:cs typeface="Noto Sans KR" charset="0"/>
                      </a:endParaRPr>
                    </a:p>
                  </a:txBody>
                  <a:tcPr anchor="ctr">
                    <a:lnL w="12700" cap="flat" cmpd="sng" algn="ctr">
                      <a:solidFill>
                        <a:srgbClr val="DCCDBB"/>
                      </a:solidFill>
                      <a:prstDash val="solid"/>
                      <a:round/>
                      <a:headEnd type="none" w="med" len="med"/>
                      <a:tailEnd type="none" w="med" len="med"/>
                    </a:lnL>
                    <a:lnR w="12700" cap="flat" cmpd="sng" algn="ctr">
                      <a:solidFill>
                        <a:srgbClr val="DCCDBB"/>
                      </a:solidFill>
                      <a:prstDash val="solid"/>
                      <a:round/>
                      <a:headEnd type="none" w="med" len="med"/>
                      <a:tailEnd type="none" w="med" len="med"/>
                    </a:lnR>
                    <a:lnT w="12700" cap="flat" cmpd="sng" algn="ctr">
                      <a:solidFill>
                        <a:srgbClr val="DCCDBB"/>
                      </a:solidFill>
                      <a:prstDash val="solid"/>
                      <a:round/>
                      <a:headEnd type="none" w="med" len="med"/>
                      <a:tailEnd type="none" w="med" len="med"/>
                    </a:lnT>
                    <a:lnB w="12700" cap="flat" cmpd="sng" algn="ctr">
                      <a:solidFill>
                        <a:srgbClr val="DCCDB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02920" y="3383280"/>
            <a:ext cx="11201400" cy="2697480"/>
          </a:xfrm>
          <a:prstGeom prst="roundRect">
            <a:avLst>
              <a:gd name="adj" fmla="val 3390"/>
            </a:avLst>
          </a:prstGeom>
          <a:solidFill>
            <a:srgbClr val="FDF3E0"/>
          </a:solidFill>
          <a:ln w="12700">
            <a:solidFill>
              <a:srgbClr val="DCCDBB"/>
            </a:solidFill>
            <a:prstDash val="solid"/>
          </a:ln>
        </p:spPr>
        <p:txBody>
          <a:bodyPr/>
          <a:lstStyle/>
          <a:p>
            <a:endParaRPr lang="ko-KR" altLang="en-US"/>
          </a:p>
        </p:txBody>
      </p:sp>
      <p:sp>
        <p:nvSpPr>
          <p:cNvPr id="7" name="Text 4"/>
          <p:cNvSpPr/>
          <p:nvPr/>
        </p:nvSpPr>
        <p:spPr>
          <a:xfrm>
            <a:off x="777240" y="3566160"/>
            <a:ext cx="10607040" cy="365760"/>
          </a:xfrm>
          <a:prstGeom prst="rect">
            <a:avLst/>
          </a:prstGeom>
          <a:noFill/>
          <a:ln/>
        </p:spPr>
        <p:txBody>
          <a:bodyPr wrap="square" rtlCol="0" anchor="ctr"/>
          <a:lstStyle/>
          <a:p>
            <a:pPr marL="0" indent="0">
              <a:buNone/>
            </a:pPr>
            <a:r>
              <a:rPr lang="en-US" sz="1500" b="1" dirty="0">
                <a:solidFill>
                  <a:srgbClr val="6E3A1C"/>
                </a:solidFill>
                <a:latin typeface="Noto Sans KR" pitchFamily="34" charset="0"/>
                <a:ea typeface="Noto Sans KR" pitchFamily="34" charset="-122"/>
                <a:cs typeface="Noto Sans KR" pitchFamily="34" charset="-120"/>
              </a:rPr>
              <a:t>실증된 근거 사다리 (데모에서 실제로 나온 규칙)</a:t>
            </a:r>
            <a:endParaRPr lang="en-US" sz="1500" dirty="0"/>
          </a:p>
        </p:txBody>
      </p:sp>
      <p:sp>
        <p:nvSpPr>
          <p:cNvPr id="8" name="Text 5"/>
          <p:cNvSpPr/>
          <p:nvPr/>
        </p:nvSpPr>
        <p:spPr>
          <a:xfrm>
            <a:off x="822960" y="4023360"/>
            <a:ext cx="10607040" cy="438912"/>
          </a:xfrm>
          <a:prstGeom prst="rect">
            <a:avLst/>
          </a:prstGeom>
          <a:noFill/>
          <a:ln/>
        </p:spPr>
        <p:txBody>
          <a:bodyPr wrap="square" rtlCol="0" anchor="ctr"/>
          <a:lstStyle/>
          <a:p>
            <a:pPr marL="0" indent="0">
              <a:buNone/>
            </a:pPr>
            <a:r>
              <a:rPr lang="en-US" sz="1250" b="1" dirty="0">
                <a:solidFill>
                  <a:srgbClr val="C07F1E"/>
                </a:solidFill>
                <a:latin typeface="Noto Sans KR" pitchFamily="34" charset="0"/>
                <a:ea typeface="Noto Sans KR" pitchFamily="34" charset="-122"/>
                <a:cs typeface="Noto Sans KR" pitchFamily="34" charset="-120"/>
              </a:rPr>
              <a:t>① 규칙 — </a:t>
            </a:r>
            <a:r>
              <a:rPr lang="en-US" sz="1250" dirty="0">
                <a:solidFill>
                  <a:srgbClr val="2E241C"/>
                </a:solidFill>
                <a:latin typeface="Noto Sans KR" pitchFamily="34" charset="0"/>
                <a:ea typeface="Noto Sans KR" pitchFamily="34" charset="-122"/>
                <a:cs typeface="Noto Sans KR" pitchFamily="34" charset="-120"/>
              </a:rPr>
              <a:t>설비 OVEN-2 × 공급사 V2 조합에서 불량률이 유의하게 높다 (확신도 88%)</a:t>
            </a:r>
            <a:endParaRPr lang="en-US" sz="1250" dirty="0"/>
          </a:p>
        </p:txBody>
      </p:sp>
      <p:sp>
        <p:nvSpPr>
          <p:cNvPr id="5" name="Text 6"/>
          <p:cNvSpPr/>
          <p:nvPr/>
        </p:nvSpPr>
        <p:spPr>
          <a:xfrm>
            <a:off x="822960" y="4498848"/>
            <a:ext cx="10607040" cy="438912"/>
          </a:xfrm>
          <a:prstGeom prst="rect">
            <a:avLst/>
          </a:prstGeom>
          <a:noFill/>
          <a:ln/>
        </p:spPr>
        <p:txBody>
          <a:bodyPr wrap="square" rtlCol="0" anchor="ctr"/>
          <a:lstStyle/>
          <a:p>
            <a:pPr marL="0" indent="0">
              <a:buNone/>
            </a:pPr>
            <a:r>
              <a:rPr lang="en-US" sz="1250" b="1" dirty="0">
                <a:solidFill>
                  <a:srgbClr val="C07F1E"/>
                </a:solidFill>
                <a:latin typeface="Noto Sans KR" pitchFamily="34" charset="0"/>
                <a:ea typeface="Noto Sans KR" pitchFamily="34" charset="-122"/>
                <a:cs typeface="Noto Sans KR" pitchFamily="34" charset="-120"/>
              </a:rPr>
              <a:t>② 조합 — </a:t>
            </a:r>
            <a:r>
              <a:rPr lang="en-US" sz="1250" dirty="0">
                <a:solidFill>
                  <a:srgbClr val="2E241C"/>
                </a:solidFill>
                <a:latin typeface="Noto Sans KR" pitchFamily="34" charset="0"/>
                <a:ea typeface="Noto Sans KR" pitchFamily="34" charset="-122"/>
                <a:cs typeface="Noto Sans KR" pitchFamily="34" charset="-120"/>
              </a:rPr>
              <a:t>equipment_id=OVEN-2 × vendor=V2 (이 규칙이 가리키는 4M 조합)</a:t>
            </a:r>
            <a:endParaRPr lang="en-US" sz="1250" dirty="0"/>
          </a:p>
        </p:txBody>
      </p:sp>
      <p:sp>
        <p:nvSpPr>
          <p:cNvPr id="10" name="Text 7"/>
          <p:cNvSpPr/>
          <p:nvPr/>
        </p:nvSpPr>
        <p:spPr>
          <a:xfrm>
            <a:off x="822960" y="4974336"/>
            <a:ext cx="10607040" cy="438912"/>
          </a:xfrm>
          <a:prstGeom prst="rect">
            <a:avLst/>
          </a:prstGeom>
          <a:noFill/>
          <a:ln/>
        </p:spPr>
        <p:txBody>
          <a:bodyPr wrap="square" rtlCol="0" anchor="ctr"/>
          <a:lstStyle/>
          <a:p>
            <a:pPr marL="0" indent="0">
              <a:buNone/>
            </a:pPr>
            <a:r>
              <a:rPr lang="en-US" sz="1250" b="1" dirty="0">
                <a:solidFill>
                  <a:srgbClr val="C07F1E"/>
                </a:solidFill>
                <a:latin typeface="Noto Sans KR" pitchFamily="34" charset="0"/>
                <a:ea typeface="Noto Sans KR" pitchFamily="34" charset="-122"/>
                <a:cs typeface="Noto Sans KR" pitchFamily="34" charset="-120"/>
              </a:rPr>
              <a:t>③ 사실 — </a:t>
            </a:r>
            <a:r>
              <a:rPr lang="en-US" sz="1250" dirty="0">
                <a:solidFill>
                  <a:srgbClr val="2E241C"/>
                </a:solidFill>
                <a:latin typeface="Noto Sans KR" pitchFamily="34" charset="0"/>
                <a:ea typeface="Noto Sans KR" pitchFamily="34" charset="-122"/>
                <a:cs typeface="Noto Sans KR" pitchFamily="34" charset="-120"/>
              </a:rPr>
              <a:t>불량 이벤트 1,470건 · 불량 12,992개 (집계 구간)</a:t>
            </a:r>
            <a:endParaRPr lang="en-US" sz="1250" dirty="0"/>
          </a:p>
        </p:txBody>
      </p:sp>
      <p:sp>
        <p:nvSpPr>
          <p:cNvPr id="11" name="Text 8"/>
          <p:cNvSpPr/>
          <p:nvPr/>
        </p:nvSpPr>
        <p:spPr>
          <a:xfrm>
            <a:off x="822960" y="5449824"/>
            <a:ext cx="10607040" cy="438912"/>
          </a:xfrm>
          <a:prstGeom prst="rect">
            <a:avLst/>
          </a:prstGeom>
          <a:noFill/>
          <a:ln/>
        </p:spPr>
        <p:txBody>
          <a:bodyPr wrap="square" rtlCol="0" anchor="ctr"/>
          <a:lstStyle/>
          <a:p>
            <a:pPr marL="0" indent="0">
              <a:buNone/>
            </a:pPr>
            <a:r>
              <a:rPr lang="en-US" sz="1250" b="1" dirty="0">
                <a:solidFill>
                  <a:srgbClr val="C07F1E"/>
                </a:solidFill>
                <a:latin typeface="Noto Sans KR" pitchFamily="34" charset="0"/>
                <a:ea typeface="Noto Sans KR" pitchFamily="34" charset="-122"/>
                <a:cs typeface="Noto Sans KR" pitchFamily="34" charset="-120"/>
              </a:rPr>
              <a:t>④ 원장 — </a:t>
            </a:r>
            <a:r>
              <a:rPr lang="en-US" sz="1250" dirty="0">
                <a:solidFill>
                  <a:srgbClr val="2E241C"/>
                </a:solidFill>
                <a:latin typeface="Noto Sans KR" pitchFamily="34" charset="0"/>
                <a:ea typeface="Noto Sans KR" pitchFamily="34" charset="-122"/>
                <a:cs typeface="Noto Sans KR" pitchFamily="34" charset="-120"/>
              </a:rPr>
              <a:t>불량ID·제조오더 번호·일자·유형까지 (응답 7.6ms)</a:t>
            </a:r>
            <a:endParaRPr lang="en-US" sz="1250" dirty="0"/>
          </a:p>
        </p:txBody>
      </p:sp>
      <p:sp>
        <p:nvSpPr>
          <p:cNvPr id="12" name="Text 9"/>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8</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JUDGMENT CARD</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플랫폼의 최종 산출 — 판단 카드와 다섯 박자</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pic>
        <p:nvPicPr>
          <p:cNvPr id="5" name="Image 0" descr="/tmp/claude-0/-home-user-thirdbrain-web/bc639c69-a342-56eb-af6c-6a89fd170e25/scratchpad/diag_card.png"/>
          <p:cNvPicPr>
            <a:picLocks noChangeAspect="1"/>
          </p:cNvPicPr>
          <p:nvPr/>
        </p:nvPicPr>
        <p:blipFill>
          <a:blip r:embed="rId3"/>
          <a:srcRect/>
          <a:stretch/>
        </p:blipFill>
        <p:spPr>
          <a:xfrm>
            <a:off x="640080" y="1600200"/>
            <a:ext cx="10927080" cy="4526280"/>
          </a:xfrm>
          <a:prstGeom prst="rect">
            <a:avLst/>
          </a:prstGeom>
        </p:spPr>
      </p:pic>
      <p:sp>
        <p:nvSpPr>
          <p:cNvPr id="6" name="Text 3"/>
          <p:cNvSpPr/>
          <p:nvPr/>
        </p:nvSpPr>
        <p:spPr>
          <a:xfrm>
            <a:off x="548640" y="6217920"/>
            <a:ext cx="10972800" cy="365760"/>
          </a:xfrm>
          <a:prstGeom prst="rect">
            <a:avLst/>
          </a:prstGeom>
          <a:noFill/>
          <a:ln/>
        </p:spPr>
        <p:txBody>
          <a:bodyPr wrap="square" rtlCol="0" anchor="ctr"/>
          <a:lstStyle/>
          <a:p>
            <a:pPr marL="0" indent="0" algn="ctr">
              <a:buNone/>
            </a:pPr>
            <a:r>
              <a:rPr lang="en-US" sz="1250" i="1" dirty="0">
                <a:solidFill>
                  <a:srgbClr val="76675A"/>
                </a:solidFill>
                <a:latin typeface="Noto Sans KR" pitchFamily="34" charset="0"/>
                <a:ea typeface="Noto Sans KR" pitchFamily="34" charset="-122"/>
                <a:cs typeface="Noto Sans KR" pitchFamily="34" charset="-120"/>
              </a:rPr>
              <a:t>모든 모듈의 산출이 한 형식으로 수렴 — {제안·수치·구간·근거 경로·대안·승인자·상태}. M7만이 원장 파라미터를 쓴다</a:t>
            </a:r>
            <a:endParaRPr lang="en-US" sz="1250" dirty="0"/>
          </a:p>
        </p:txBody>
      </p:sp>
      <p:sp>
        <p:nvSpPr>
          <p:cNvPr id="7" name="Text 4"/>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9</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WHAT MAKES IT DIFFERENT</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'예쁜 대시보드'가 아니라 '근거의 공장'</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sp>
        <p:nvSpPr>
          <p:cNvPr id="5" name="Shape 3"/>
          <p:cNvSpPr/>
          <p:nvPr/>
        </p:nvSpPr>
        <p:spPr>
          <a:xfrm>
            <a:off x="502920" y="1828800"/>
            <a:ext cx="3566160" cy="3931920"/>
          </a:xfrm>
          <a:prstGeom prst="roundRect">
            <a:avLst>
              <a:gd name="adj" fmla="val 3077"/>
            </a:avLst>
          </a:prstGeom>
          <a:solidFill>
            <a:srgbClr val="FFFFFF"/>
          </a:solidFill>
          <a:ln w="12700">
            <a:solidFill>
              <a:srgbClr val="DCCDBB"/>
            </a:solidFill>
            <a:prstDash val="solid"/>
          </a:ln>
        </p:spPr>
        <p:txBody>
          <a:bodyPr/>
          <a:lstStyle/>
          <a:p>
            <a:endParaRPr lang="ko-KR" altLang="en-US"/>
          </a:p>
        </p:txBody>
      </p:sp>
      <p:sp>
        <p:nvSpPr>
          <p:cNvPr id="6" name="Shape 4"/>
          <p:cNvSpPr/>
          <p:nvPr/>
        </p:nvSpPr>
        <p:spPr>
          <a:xfrm>
            <a:off x="502920" y="1828800"/>
            <a:ext cx="3566160" cy="868680"/>
          </a:xfrm>
          <a:prstGeom prst="roundRect">
            <a:avLst>
              <a:gd name="adj" fmla="val 12632"/>
            </a:avLst>
          </a:prstGeom>
          <a:solidFill>
            <a:srgbClr val="C07F1E"/>
          </a:solidFill>
          <a:ln/>
        </p:spPr>
        <p:txBody>
          <a:bodyPr/>
          <a:lstStyle/>
          <a:p>
            <a:endParaRPr lang="ko-KR" altLang="en-US"/>
          </a:p>
        </p:txBody>
      </p:sp>
      <p:sp>
        <p:nvSpPr>
          <p:cNvPr id="7" name="Shape 5"/>
          <p:cNvSpPr/>
          <p:nvPr/>
        </p:nvSpPr>
        <p:spPr>
          <a:xfrm>
            <a:off x="502920" y="2286000"/>
            <a:ext cx="3566160" cy="411480"/>
          </a:xfrm>
          <a:prstGeom prst="rect">
            <a:avLst/>
          </a:prstGeom>
          <a:solidFill>
            <a:srgbClr val="C07F1E"/>
          </a:solidFill>
          <a:ln/>
        </p:spPr>
        <p:txBody>
          <a:bodyPr/>
          <a:lstStyle/>
          <a:p>
            <a:endParaRPr lang="ko-KR" altLang="en-US"/>
          </a:p>
        </p:txBody>
      </p:sp>
      <p:sp>
        <p:nvSpPr>
          <p:cNvPr id="8" name="Text 6"/>
          <p:cNvSpPr/>
          <p:nvPr/>
        </p:nvSpPr>
        <p:spPr>
          <a:xfrm>
            <a:off x="731520" y="1938528"/>
            <a:ext cx="640080" cy="640080"/>
          </a:xfrm>
          <a:prstGeom prst="rect">
            <a:avLst/>
          </a:prstGeom>
          <a:noFill/>
          <a:ln/>
        </p:spPr>
        <p:txBody>
          <a:bodyPr wrap="square" rtlCol="0" anchor="ctr"/>
          <a:lstStyle/>
          <a:p>
            <a:pPr marL="0" indent="0">
              <a:buNone/>
            </a:pPr>
            <a:r>
              <a:rPr lang="en-US" sz="3000" b="1" dirty="0">
                <a:solidFill>
                  <a:srgbClr val="FFFFFF"/>
                </a:solidFill>
                <a:latin typeface="Noto Sans KR" pitchFamily="34" charset="0"/>
                <a:ea typeface="Noto Sans KR" pitchFamily="34" charset="-122"/>
                <a:cs typeface="Noto Sans KR" pitchFamily="34" charset="-120"/>
              </a:rPr>
              <a:t>1</a:t>
            </a:r>
            <a:endParaRPr lang="en-US" sz="3000" dirty="0"/>
          </a:p>
        </p:txBody>
      </p:sp>
      <p:sp>
        <p:nvSpPr>
          <p:cNvPr id="9" name="Text 7"/>
          <p:cNvSpPr/>
          <p:nvPr/>
        </p:nvSpPr>
        <p:spPr>
          <a:xfrm>
            <a:off x="1417320" y="1965960"/>
            <a:ext cx="2560320" cy="640080"/>
          </a:xfrm>
          <a:prstGeom prst="rect">
            <a:avLst/>
          </a:prstGeom>
          <a:noFill/>
          <a:ln/>
        </p:spPr>
        <p:txBody>
          <a:bodyPr wrap="square" rtlCol="0" anchor="ctr"/>
          <a:lstStyle/>
          <a:p>
            <a:pPr marL="0" indent="0">
              <a:buNone/>
            </a:pPr>
            <a:r>
              <a:rPr lang="en-US" sz="1700" b="1" dirty="0">
                <a:solidFill>
                  <a:srgbClr val="FFFFFF"/>
                </a:solidFill>
                <a:latin typeface="Noto Sans KR" pitchFamily="34" charset="0"/>
                <a:ea typeface="Noto Sans KR" pitchFamily="34" charset="-122"/>
                <a:cs typeface="Noto Sans KR" pitchFamily="34" charset="-120"/>
              </a:rPr>
              <a:t>모든 문장에 근거</a:t>
            </a:r>
            <a:endParaRPr lang="en-US" sz="1700" dirty="0"/>
          </a:p>
        </p:txBody>
      </p:sp>
      <p:sp>
        <p:nvSpPr>
          <p:cNvPr id="10" name="Text 8"/>
          <p:cNvSpPr/>
          <p:nvPr/>
        </p:nvSpPr>
        <p:spPr>
          <a:xfrm>
            <a:off x="777240" y="2971800"/>
            <a:ext cx="3017520" cy="2651760"/>
          </a:xfrm>
          <a:prstGeom prst="rect">
            <a:avLst/>
          </a:prstGeom>
          <a:noFill/>
          <a:ln/>
        </p:spPr>
        <p:txBody>
          <a:bodyPr wrap="square" rtlCol="0" anchor="ctr"/>
          <a:lstStyle/>
          <a:p>
            <a:pPr marL="0" indent="0">
              <a:lnSpc>
                <a:spcPct val="125000"/>
              </a:lnSpc>
              <a:buNone/>
            </a:pPr>
            <a:r>
              <a:rPr lang="en-US" sz="1450" dirty="0">
                <a:solidFill>
                  <a:srgbClr val="2E241C"/>
                </a:solidFill>
                <a:latin typeface="Noto Sans KR" pitchFamily="34" charset="0"/>
                <a:ea typeface="Noto Sans KR" pitchFamily="34" charset="-122"/>
                <a:cs typeface="Noto Sans KR" pitchFamily="34" charset="-120"/>
              </a:rPr>
              <a:t>화면의 모든 수치·주장에 [근거:] 출처. 인용 없는 문장은 시스템이 차단.</a:t>
            </a:r>
            <a:endParaRPr lang="en-US" sz="1450" dirty="0"/>
          </a:p>
        </p:txBody>
      </p:sp>
      <p:sp>
        <p:nvSpPr>
          <p:cNvPr id="11" name="Shape 9"/>
          <p:cNvSpPr/>
          <p:nvPr/>
        </p:nvSpPr>
        <p:spPr>
          <a:xfrm>
            <a:off x="4297680" y="1828800"/>
            <a:ext cx="3566160" cy="3931920"/>
          </a:xfrm>
          <a:prstGeom prst="roundRect">
            <a:avLst>
              <a:gd name="adj" fmla="val 3077"/>
            </a:avLst>
          </a:prstGeom>
          <a:solidFill>
            <a:srgbClr val="FFFFFF"/>
          </a:solidFill>
          <a:ln w="12700">
            <a:solidFill>
              <a:srgbClr val="DCCDBB"/>
            </a:solidFill>
            <a:prstDash val="solid"/>
          </a:ln>
        </p:spPr>
        <p:txBody>
          <a:bodyPr/>
          <a:lstStyle/>
          <a:p>
            <a:endParaRPr lang="ko-KR" altLang="en-US"/>
          </a:p>
        </p:txBody>
      </p:sp>
      <p:sp>
        <p:nvSpPr>
          <p:cNvPr id="12" name="Shape 10"/>
          <p:cNvSpPr/>
          <p:nvPr/>
        </p:nvSpPr>
        <p:spPr>
          <a:xfrm>
            <a:off x="4297680" y="1828800"/>
            <a:ext cx="3566160" cy="868680"/>
          </a:xfrm>
          <a:prstGeom prst="roundRect">
            <a:avLst>
              <a:gd name="adj" fmla="val 12632"/>
            </a:avLst>
          </a:prstGeom>
          <a:solidFill>
            <a:srgbClr val="0E8F86"/>
          </a:solidFill>
          <a:ln/>
        </p:spPr>
        <p:txBody>
          <a:bodyPr/>
          <a:lstStyle/>
          <a:p>
            <a:endParaRPr lang="ko-KR" altLang="en-US"/>
          </a:p>
        </p:txBody>
      </p:sp>
      <p:sp>
        <p:nvSpPr>
          <p:cNvPr id="13" name="Shape 11"/>
          <p:cNvSpPr/>
          <p:nvPr/>
        </p:nvSpPr>
        <p:spPr>
          <a:xfrm>
            <a:off x="4297680" y="2286000"/>
            <a:ext cx="3566160" cy="411480"/>
          </a:xfrm>
          <a:prstGeom prst="rect">
            <a:avLst/>
          </a:prstGeom>
          <a:solidFill>
            <a:srgbClr val="0E8F86"/>
          </a:solidFill>
          <a:ln/>
        </p:spPr>
        <p:txBody>
          <a:bodyPr/>
          <a:lstStyle/>
          <a:p>
            <a:endParaRPr lang="ko-KR" altLang="en-US"/>
          </a:p>
        </p:txBody>
      </p:sp>
      <p:sp>
        <p:nvSpPr>
          <p:cNvPr id="14" name="Text 12"/>
          <p:cNvSpPr/>
          <p:nvPr/>
        </p:nvSpPr>
        <p:spPr>
          <a:xfrm>
            <a:off x="4526280" y="1938528"/>
            <a:ext cx="640080" cy="640080"/>
          </a:xfrm>
          <a:prstGeom prst="rect">
            <a:avLst/>
          </a:prstGeom>
          <a:noFill/>
          <a:ln/>
        </p:spPr>
        <p:txBody>
          <a:bodyPr wrap="square" rtlCol="0" anchor="ctr"/>
          <a:lstStyle/>
          <a:p>
            <a:pPr marL="0" indent="0">
              <a:buNone/>
            </a:pPr>
            <a:r>
              <a:rPr lang="en-US" sz="3000" b="1" dirty="0">
                <a:solidFill>
                  <a:srgbClr val="FFFFFF"/>
                </a:solidFill>
                <a:latin typeface="Noto Sans KR" pitchFamily="34" charset="0"/>
                <a:ea typeface="Noto Sans KR" pitchFamily="34" charset="-122"/>
                <a:cs typeface="Noto Sans KR" pitchFamily="34" charset="-120"/>
              </a:rPr>
              <a:t>2</a:t>
            </a:r>
            <a:endParaRPr lang="en-US" sz="3000" dirty="0"/>
          </a:p>
        </p:txBody>
      </p:sp>
      <p:sp>
        <p:nvSpPr>
          <p:cNvPr id="15" name="Text 13"/>
          <p:cNvSpPr/>
          <p:nvPr/>
        </p:nvSpPr>
        <p:spPr>
          <a:xfrm>
            <a:off x="5212080" y="1965960"/>
            <a:ext cx="2560320" cy="640080"/>
          </a:xfrm>
          <a:prstGeom prst="rect">
            <a:avLst/>
          </a:prstGeom>
          <a:noFill/>
          <a:ln/>
        </p:spPr>
        <p:txBody>
          <a:bodyPr wrap="square" rtlCol="0" anchor="ctr"/>
          <a:lstStyle/>
          <a:p>
            <a:pPr marL="0" indent="0">
              <a:buNone/>
            </a:pPr>
            <a:r>
              <a:rPr lang="en-US" sz="1700" b="1" dirty="0">
                <a:solidFill>
                  <a:srgbClr val="FFFFFF"/>
                </a:solidFill>
                <a:latin typeface="Noto Sans KR" pitchFamily="34" charset="0"/>
                <a:ea typeface="Noto Sans KR" pitchFamily="34" charset="-122"/>
                <a:cs typeface="Noto Sans KR" pitchFamily="34" charset="-120"/>
              </a:rPr>
              <a:t>AI는 숫자를 못 만든다</a:t>
            </a:r>
            <a:endParaRPr lang="en-US" sz="1700" dirty="0"/>
          </a:p>
        </p:txBody>
      </p:sp>
      <p:sp>
        <p:nvSpPr>
          <p:cNvPr id="16" name="Text 14"/>
          <p:cNvSpPr/>
          <p:nvPr/>
        </p:nvSpPr>
        <p:spPr>
          <a:xfrm>
            <a:off x="4572000" y="2971800"/>
            <a:ext cx="3017520" cy="2651760"/>
          </a:xfrm>
          <a:prstGeom prst="rect">
            <a:avLst/>
          </a:prstGeom>
          <a:noFill/>
          <a:ln/>
        </p:spPr>
        <p:txBody>
          <a:bodyPr wrap="square" rtlCol="0" anchor="ctr"/>
          <a:lstStyle/>
          <a:p>
            <a:pPr marL="0" indent="0">
              <a:lnSpc>
                <a:spcPct val="125000"/>
              </a:lnSpc>
              <a:buNone/>
            </a:pPr>
            <a:r>
              <a:rPr lang="en-US" sz="1450" dirty="0">
                <a:solidFill>
                  <a:srgbClr val="2E241C"/>
                </a:solidFill>
                <a:latin typeface="Noto Sans KR" pitchFamily="34" charset="0"/>
                <a:ea typeface="Noto Sans KR" pitchFamily="34" charset="-122"/>
                <a:cs typeface="Noto Sans KR" pitchFamily="34" charset="-120"/>
              </a:rPr>
              <a:t>LLM은 서술만 — 수치는 그래프·측정 엔진이 계산. 환각 원천 차단.</a:t>
            </a:r>
            <a:endParaRPr lang="en-US" sz="1450" dirty="0"/>
          </a:p>
        </p:txBody>
      </p:sp>
      <p:sp>
        <p:nvSpPr>
          <p:cNvPr id="17" name="Shape 15"/>
          <p:cNvSpPr/>
          <p:nvPr/>
        </p:nvSpPr>
        <p:spPr>
          <a:xfrm>
            <a:off x="8092440" y="1828800"/>
            <a:ext cx="3566160" cy="3931920"/>
          </a:xfrm>
          <a:prstGeom prst="roundRect">
            <a:avLst>
              <a:gd name="adj" fmla="val 3077"/>
            </a:avLst>
          </a:prstGeom>
          <a:solidFill>
            <a:srgbClr val="FFFFFF"/>
          </a:solidFill>
          <a:ln w="12700">
            <a:solidFill>
              <a:srgbClr val="DCCDBB"/>
            </a:solidFill>
            <a:prstDash val="solid"/>
          </a:ln>
        </p:spPr>
        <p:txBody>
          <a:bodyPr/>
          <a:lstStyle/>
          <a:p>
            <a:endParaRPr lang="ko-KR" altLang="en-US"/>
          </a:p>
        </p:txBody>
      </p:sp>
      <p:sp>
        <p:nvSpPr>
          <p:cNvPr id="18" name="Shape 16"/>
          <p:cNvSpPr/>
          <p:nvPr/>
        </p:nvSpPr>
        <p:spPr>
          <a:xfrm>
            <a:off x="8092440" y="1828800"/>
            <a:ext cx="3566160" cy="868680"/>
          </a:xfrm>
          <a:prstGeom prst="roundRect">
            <a:avLst>
              <a:gd name="adj" fmla="val 12632"/>
            </a:avLst>
          </a:prstGeom>
          <a:solidFill>
            <a:srgbClr val="A8493B"/>
          </a:solidFill>
          <a:ln/>
        </p:spPr>
        <p:txBody>
          <a:bodyPr/>
          <a:lstStyle/>
          <a:p>
            <a:endParaRPr lang="ko-KR" altLang="en-US"/>
          </a:p>
        </p:txBody>
      </p:sp>
      <p:sp>
        <p:nvSpPr>
          <p:cNvPr id="19" name="Shape 17"/>
          <p:cNvSpPr/>
          <p:nvPr/>
        </p:nvSpPr>
        <p:spPr>
          <a:xfrm>
            <a:off x="8092440" y="2286000"/>
            <a:ext cx="3566160" cy="411480"/>
          </a:xfrm>
          <a:prstGeom prst="rect">
            <a:avLst/>
          </a:prstGeom>
          <a:solidFill>
            <a:srgbClr val="A8493B"/>
          </a:solidFill>
          <a:ln/>
        </p:spPr>
        <p:txBody>
          <a:bodyPr/>
          <a:lstStyle/>
          <a:p>
            <a:endParaRPr lang="ko-KR" altLang="en-US"/>
          </a:p>
        </p:txBody>
      </p:sp>
      <p:sp>
        <p:nvSpPr>
          <p:cNvPr id="20" name="Text 18"/>
          <p:cNvSpPr/>
          <p:nvPr/>
        </p:nvSpPr>
        <p:spPr>
          <a:xfrm>
            <a:off x="8321040" y="1938528"/>
            <a:ext cx="640080" cy="640080"/>
          </a:xfrm>
          <a:prstGeom prst="rect">
            <a:avLst/>
          </a:prstGeom>
          <a:noFill/>
          <a:ln/>
        </p:spPr>
        <p:txBody>
          <a:bodyPr wrap="square" rtlCol="0" anchor="ctr"/>
          <a:lstStyle/>
          <a:p>
            <a:pPr marL="0" indent="0">
              <a:buNone/>
            </a:pPr>
            <a:r>
              <a:rPr lang="en-US" sz="3000" b="1" dirty="0">
                <a:solidFill>
                  <a:srgbClr val="FFFFFF"/>
                </a:solidFill>
                <a:latin typeface="Noto Sans KR" pitchFamily="34" charset="0"/>
                <a:ea typeface="Noto Sans KR" pitchFamily="34" charset="-122"/>
                <a:cs typeface="Noto Sans KR" pitchFamily="34" charset="-120"/>
              </a:rPr>
              <a:t>3</a:t>
            </a:r>
            <a:endParaRPr lang="en-US" sz="3000" dirty="0"/>
          </a:p>
        </p:txBody>
      </p:sp>
      <p:sp>
        <p:nvSpPr>
          <p:cNvPr id="21" name="Text 19"/>
          <p:cNvSpPr/>
          <p:nvPr/>
        </p:nvSpPr>
        <p:spPr>
          <a:xfrm>
            <a:off x="9006840" y="1965960"/>
            <a:ext cx="2560320" cy="640080"/>
          </a:xfrm>
          <a:prstGeom prst="rect">
            <a:avLst/>
          </a:prstGeom>
          <a:noFill/>
          <a:ln/>
        </p:spPr>
        <p:txBody>
          <a:bodyPr wrap="square" rtlCol="0" anchor="ctr"/>
          <a:lstStyle/>
          <a:p>
            <a:pPr marL="0" indent="0">
              <a:buNone/>
            </a:pPr>
            <a:r>
              <a:rPr lang="en-US" sz="1700" b="1" dirty="0">
                <a:solidFill>
                  <a:srgbClr val="FFFFFF"/>
                </a:solidFill>
                <a:latin typeface="Noto Sans KR" pitchFamily="34" charset="0"/>
                <a:ea typeface="Noto Sans KR" pitchFamily="34" charset="-122"/>
                <a:cs typeface="Noto Sans KR" pitchFamily="34" charset="-120"/>
              </a:rPr>
              <a:t>결정은 언제나 사람</a:t>
            </a:r>
            <a:endParaRPr lang="en-US" sz="1700" dirty="0"/>
          </a:p>
        </p:txBody>
      </p:sp>
      <p:sp>
        <p:nvSpPr>
          <p:cNvPr id="22" name="Text 20"/>
          <p:cNvSpPr/>
          <p:nvPr/>
        </p:nvSpPr>
        <p:spPr>
          <a:xfrm>
            <a:off x="8366760" y="2971800"/>
            <a:ext cx="3017520" cy="2651760"/>
          </a:xfrm>
          <a:prstGeom prst="rect">
            <a:avLst/>
          </a:prstGeom>
          <a:noFill/>
          <a:ln/>
        </p:spPr>
        <p:txBody>
          <a:bodyPr wrap="square" rtlCol="0" anchor="ctr"/>
          <a:lstStyle/>
          <a:p>
            <a:pPr marL="0" indent="0">
              <a:lnSpc>
                <a:spcPct val="125000"/>
              </a:lnSpc>
              <a:buNone/>
            </a:pPr>
            <a:r>
              <a:rPr lang="en-US" sz="1450" dirty="0">
                <a:solidFill>
                  <a:srgbClr val="2E241C"/>
                </a:solidFill>
                <a:latin typeface="Noto Sans KR" pitchFamily="34" charset="0"/>
                <a:ea typeface="Noto Sans KR" pitchFamily="34" charset="-122"/>
                <a:cs typeface="Noto Sans KR" pitchFamily="34" charset="-120"/>
              </a:rPr>
              <a:t>승인 순간에만 값이 바뀐다. 권한은 구조가 지키고 전 과정이 감사로 남는다.</a:t>
            </a:r>
            <a:endParaRPr lang="en-US" sz="1450" dirty="0"/>
          </a:p>
        </p:txBody>
      </p:sp>
      <p:sp>
        <p:nvSpPr>
          <p:cNvPr id="23" name="Text 21"/>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10</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1">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UI · 오늘</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① 오늘 — 하루가 이 한 화면에서</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sp>
        <p:nvSpPr>
          <p:cNvPr id="5" name="Shape 3"/>
          <p:cNvSpPr/>
          <p:nvPr/>
        </p:nvSpPr>
        <p:spPr>
          <a:xfrm>
            <a:off x="502920" y="1645920"/>
            <a:ext cx="7772400" cy="4617720"/>
          </a:xfrm>
          <a:prstGeom prst="roundRect">
            <a:avLst>
              <a:gd name="adj" fmla="val 1584"/>
            </a:avLst>
          </a:prstGeom>
          <a:solidFill>
            <a:srgbClr val="FFFFFF"/>
          </a:solidFill>
          <a:ln w="12700">
            <a:solidFill>
              <a:srgbClr val="DCCDBB"/>
            </a:solidFill>
            <a:prstDash val="solid"/>
          </a:ln>
        </p:spPr>
        <p:txBody>
          <a:bodyPr/>
          <a:lstStyle/>
          <a:p>
            <a:endParaRPr lang="ko-KR" altLang="en-US"/>
          </a:p>
        </p:txBody>
      </p:sp>
      <p:pic>
        <p:nvPicPr>
          <p:cNvPr id="6" name="Image 0" descr="/tmp/claude-0/-home-user-thirdbrain-web/bc639c69-a342-56eb-af6c-6a89fd170e25/scratchpad/demo_today.png"/>
          <p:cNvPicPr>
            <a:picLocks noChangeAspect="1"/>
          </p:cNvPicPr>
          <p:nvPr/>
        </p:nvPicPr>
        <p:blipFill>
          <a:blip r:embed="rId3"/>
          <a:srcRect/>
          <a:stretch/>
        </p:blipFill>
        <p:spPr>
          <a:xfrm>
            <a:off x="640080" y="1783080"/>
            <a:ext cx="7498080" cy="4343400"/>
          </a:xfrm>
          <a:prstGeom prst="rect">
            <a:avLst/>
          </a:prstGeom>
        </p:spPr>
      </p:pic>
      <p:sp>
        <p:nvSpPr>
          <p:cNvPr id="7" name="Shape 4"/>
          <p:cNvSpPr/>
          <p:nvPr/>
        </p:nvSpPr>
        <p:spPr>
          <a:xfrm>
            <a:off x="8503920" y="1645920"/>
            <a:ext cx="3200400" cy="4617720"/>
          </a:xfrm>
          <a:prstGeom prst="roundRect">
            <a:avLst>
              <a:gd name="adj" fmla="val 2857"/>
            </a:avLst>
          </a:prstGeom>
          <a:solidFill>
            <a:srgbClr val="FDF3E0"/>
          </a:solidFill>
          <a:ln w="12700">
            <a:solidFill>
              <a:srgbClr val="DCCDBB"/>
            </a:solidFill>
            <a:prstDash val="solid"/>
          </a:ln>
        </p:spPr>
        <p:txBody>
          <a:bodyPr/>
          <a:lstStyle/>
          <a:p>
            <a:endParaRPr lang="ko-KR" altLang="en-US"/>
          </a:p>
        </p:txBody>
      </p:sp>
      <p:sp>
        <p:nvSpPr>
          <p:cNvPr id="8" name="Text 5"/>
          <p:cNvSpPr/>
          <p:nvPr/>
        </p:nvSpPr>
        <p:spPr>
          <a:xfrm>
            <a:off x="8732520" y="1874520"/>
            <a:ext cx="2743200" cy="822960"/>
          </a:xfrm>
          <a:prstGeom prst="rect">
            <a:avLst/>
          </a:prstGeom>
          <a:noFill/>
          <a:ln/>
        </p:spPr>
        <p:txBody>
          <a:bodyPr wrap="square" rtlCol="0" anchor="ctr"/>
          <a:lstStyle/>
          <a:p>
            <a:pPr marL="0" indent="0">
              <a:buNone/>
            </a:pPr>
            <a:r>
              <a:rPr lang="en-US" sz="1550" b="1" dirty="0">
                <a:solidFill>
                  <a:srgbClr val="6E3A1C"/>
                </a:solidFill>
                <a:latin typeface="Noto Sans KR" pitchFamily="34" charset="0"/>
                <a:ea typeface="Noto Sans KR" pitchFamily="34" charset="-122"/>
                <a:cs typeface="Noto Sans KR" pitchFamily="34" charset="-120"/>
              </a:rPr>
              <a:t>역할별 홈</a:t>
            </a:r>
            <a:endParaRPr lang="en-US" sz="1550" dirty="0"/>
          </a:p>
        </p:txBody>
      </p:sp>
      <p:sp>
        <p:nvSpPr>
          <p:cNvPr id="9" name="Text 6"/>
          <p:cNvSpPr/>
          <p:nvPr/>
        </p:nvSpPr>
        <p:spPr>
          <a:xfrm>
            <a:off x="8732520" y="27889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0" name="Text 7"/>
          <p:cNvSpPr/>
          <p:nvPr/>
        </p:nvSpPr>
        <p:spPr>
          <a:xfrm>
            <a:off x="9006840" y="27889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로그인하면 역할에 맞는 '오늘'</a:t>
            </a:r>
            <a:endParaRPr lang="en-US" sz="1250" dirty="0"/>
          </a:p>
        </p:txBody>
      </p:sp>
      <p:sp>
        <p:nvSpPr>
          <p:cNvPr id="11" name="Text 8"/>
          <p:cNvSpPr/>
          <p:nvPr/>
        </p:nvSpPr>
        <p:spPr>
          <a:xfrm>
            <a:off x="8732520" y="37033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2" name="Text 9"/>
          <p:cNvSpPr/>
          <p:nvPr/>
        </p:nvSpPr>
        <p:spPr>
          <a:xfrm>
            <a:off x="9006840" y="37033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승인 대기·확인할 이름·미달 KPI를 할 일로</a:t>
            </a:r>
            <a:endParaRPr lang="en-US" sz="1250" dirty="0"/>
          </a:p>
        </p:txBody>
      </p:sp>
      <p:sp>
        <p:nvSpPr>
          <p:cNvPr id="13" name="Text 10"/>
          <p:cNvSpPr/>
          <p:nvPr/>
        </p:nvSpPr>
        <p:spPr>
          <a:xfrm>
            <a:off x="8732520" y="46177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4" name="Text 11"/>
          <p:cNvSpPr/>
          <p:nvPr/>
        </p:nvSpPr>
        <p:spPr>
          <a:xfrm>
            <a:off x="9006840" y="46177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상시 질문창</a:t>
            </a:r>
            <a:endParaRPr lang="en-US" sz="1250" dirty="0"/>
          </a:p>
        </p:txBody>
      </p:sp>
      <p:sp>
        <p:nvSpPr>
          <p:cNvPr id="15" name="Text 12"/>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11</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2">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UI · 판단</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② 승인함 — 오늘의 제안이 기다립니다</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sp>
        <p:nvSpPr>
          <p:cNvPr id="5" name="Shape 3"/>
          <p:cNvSpPr/>
          <p:nvPr/>
        </p:nvSpPr>
        <p:spPr>
          <a:xfrm>
            <a:off x="502920" y="1645920"/>
            <a:ext cx="7772400" cy="4617720"/>
          </a:xfrm>
          <a:prstGeom prst="roundRect">
            <a:avLst>
              <a:gd name="adj" fmla="val 1584"/>
            </a:avLst>
          </a:prstGeom>
          <a:solidFill>
            <a:srgbClr val="FFFFFF"/>
          </a:solidFill>
          <a:ln w="12700">
            <a:solidFill>
              <a:srgbClr val="DCCDBB"/>
            </a:solidFill>
            <a:prstDash val="solid"/>
          </a:ln>
        </p:spPr>
        <p:txBody>
          <a:bodyPr/>
          <a:lstStyle/>
          <a:p>
            <a:endParaRPr lang="ko-KR" altLang="en-US"/>
          </a:p>
        </p:txBody>
      </p:sp>
      <p:pic>
        <p:nvPicPr>
          <p:cNvPr id="6" name="Image 0" descr="/tmp/claude-0/-home-user-thirdbrain-web/bc639c69-a342-56eb-af6c-6a89fd170e25/scratchpad/demo_inbox.png"/>
          <p:cNvPicPr>
            <a:picLocks noChangeAspect="1"/>
          </p:cNvPicPr>
          <p:nvPr/>
        </p:nvPicPr>
        <p:blipFill>
          <a:blip r:embed="rId3"/>
          <a:srcRect/>
          <a:stretch/>
        </p:blipFill>
        <p:spPr>
          <a:xfrm>
            <a:off x="640080" y="1783080"/>
            <a:ext cx="7498080" cy="4343400"/>
          </a:xfrm>
          <a:prstGeom prst="rect">
            <a:avLst/>
          </a:prstGeom>
        </p:spPr>
      </p:pic>
      <p:sp>
        <p:nvSpPr>
          <p:cNvPr id="7" name="Shape 4"/>
          <p:cNvSpPr/>
          <p:nvPr/>
        </p:nvSpPr>
        <p:spPr>
          <a:xfrm>
            <a:off x="8503920" y="1645920"/>
            <a:ext cx="3200400" cy="4617720"/>
          </a:xfrm>
          <a:prstGeom prst="roundRect">
            <a:avLst>
              <a:gd name="adj" fmla="val 2857"/>
            </a:avLst>
          </a:prstGeom>
          <a:solidFill>
            <a:srgbClr val="FDF3E0"/>
          </a:solidFill>
          <a:ln w="12700">
            <a:solidFill>
              <a:srgbClr val="DCCDBB"/>
            </a:solidFill>
            <a:prstDash val="solid"/>
          </a:ln>
        </p:spPr>
        <p:txBody>
          <a:bodyPr/>
          <a:lstStyle/>
          <a:p>
            <a:endParaRPr lang="ko-KR" altLang="en-US"/>
          </a:p>
        </p:txBody>
      </p:sp>
      <p:sp>
        <p:nvSpPr>
          <p:cNvPr id="8" name="Text 5"/>
          <p:cNvSpPr/>
          <p:nvPr/>
        </p:nvSpPr>
        <p:spPr>
          <a:xfrm>
            <a:off x="8732520" y="1874520"/>
            <a:ext cx="2743200" cy="822960"/>
          </a:xfrm>
          <a:prstGeom prst="rect">
            <a:avLst/>
          </a:prstGeom>
          <a:noFill/>
          <a:ln/>
        </p:spPr>
        <p:txBody>
          <a:bodyPr wrap="square" rtlCol="0" anchor="ctr"/>
          <a:lstStyle/>
          <a:p>
            <a:pPr marL="0" indent="0">
              <a:buNone/>
            </a:pPr>
            <a:r>
              <a:rPr lang="en-US" sz="1550" b="1" dirty="0">
                <a:solidFill>
                  <a:srgbClr val="6E3A1C"/>
                </a:solidFill>
                <a:latin typeface="Noto Sans KR" pitchFamily="34" charset="0"/>
                <a:ea typeface="Noto Sans KR" pitchFamily="34" charset="-122"/>
                <a:cs typeface="Noto Sans KR" pitchFamily="34" charset="-120"/>
              </a:rPr>
              <a:t>판단 카드 승인함</a:t>
            </a:r>
            <a:endParaRPr lang="en-US" sz="1550" dirty="0"/>
          </a:p>
        </p:txBody>
      </p:sp>
      <p:sp>
        <p:nvSpPr>
          <p:cNvPr id="9" name="Text 6"/>
          <p:cNvSpPr/>
          <p:nvPr/>
        </p:nvSpPr>
        <p:spPr>
          <a:xfrm>
            <a:off x="8732520" y="27889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0" name="Text 7"/>
          <p:cNvSpPr/>
          <p:nvPr/>
        </p:nvSpPr>
        <p:spPr>
          <a:xfrm>
            <a:off x="9006840" y="27889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카드마다 수치+구간+근거+대안</a:t>
            </a:r>
            <a:endParaRPr lang="en-US" sz="1250" dirty="0"/>
          </a:p>
        </p:txBody>
      </p:sp>
      <p:sp>
        <p:nvSpPr>
          <p:cNvPr id="11" name="Text 8"/>
          <p:cNvSpPr/>
          <p:nvPr/>
        </p:nvSpPr>
        <p:spPr>
          <a:xfrm>
            <a:off x="8732520" y="37033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2" name="Text 9"/>
          <p:cNvSpPr/>
          <p:nvPr/>
        </p:nvSpPr>
        <p:spPr>
          <a:xfrm>
            <a:off x="9006840" y="37033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'왜?'로 원장까지 역추적</a:t>
            </a:r>
            <a:endParaRPr lang="en-US" sz="1250" dirty="0"/>
          </a:p>
        </p:txBody>
      </p:sp>
      <p:sp>
        <p:nvSpPr>
          <p:cNvPr id="13" name="Text 10"/>
          <p:cNvSpPr/>
          <p:nvPr/>
        </p:nvSpPr>
        <p:spPr>
          <a:xfrm>
            <a:off x="8732520" y="46177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4" name="Text 11"/>
          <p:cNvSpPr/>
          <p:nvPr/>
        </p:nvSpPr>
        <p:spPr>
          <a:xfrm>
            <a:off x="9006840" y="46177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승인→감사 로그 즉시 기록</a:t>
            </a:r>
            <a:endParaRPr lang="en-US" sz="1250" dirty="0"/>
          </a:p>
        </p:txBody>
      </p:sp>
      <p:sp>
        <p:nvSpPr>
          <p:cNvPr id="15" name="Text 12"/>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12</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3">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UI · 성과</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③ 프로젝트·KPI — 달성도를 숫자로</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sp>
        <p:nvSpPr>
          <p:cNvPr id="5" name="Shape 3"/>
          <p:cNvSpPr/>
          <p:nvPr/>
        </p:nvSpPr>
        <p:spPr>
          <a:xfrm>
            <a:off x="502920" y="1645920"/>
            <a:ext cx="7772400" cy="4617720"/>
          </a:xfrm>
          <a:prstGeom prst="roundRect">
            <a:avLst>
              <a:gd name="adj" fmla="val 1584"/>
            </a:avLst>
          </a:prstGeom>
          <a:solidFill>
            <a:srgbClr val="FFFFFF"/>
          </a:solidFill>
          <a:ln w="12700">
            <a:solidFill>
              <a:srgbClr val="DCCDBB"/>
            </a:solidFill>
            <a:prstDash val="solid"/>
          </a:ln>
        </p:spPr>
        <p:txBody>
          <a:bodyPr/>
          <a:lstStyle/>
          <a:p>
            <a:endParaRPr lang="ko-KR" altLang="en-US"/>
          </a:p>
        </p:txBody>
      </p:sp>
      <p:pic>
        <p:nvPicPr>
          <p:cNvPr id="6" name="Image 0" descr="/tmp/claude-0/-home-user-thirdbrain-web/bc639c69-a342-56eb-af6c-6a89fd170e25/scratchpad/kpi_dash_run.png"/>
          <p:cNvPicPr>
            <a:picLocks noChangeAspect="1"/>
          </p:cNvPicPr>
          <p:nvPr/>
        </p:nvPicPr>
        <p:blipFill>
          <a:blip r:embed="rId3"/>
          <a:srcRect/>
          <a:stretch/>
        </p:blipFill>
        <p:spPr>
          <a:xfrm>
            <a:off x="640080" y="1783080"/>
            <a:ext cx="7498080" cy="4343400"/>
          </a:xfrm>
          <a:prstGeom prst="rect">
            <a:avLst/>
          </a:prstGeom>
        </p:spPr>
      </p:pic>
      <p:sp>
        <p:nvSpPr>
          <p:cNvPr id="7" name="Shape 4"/>
          <p:cNvSpPr/>
          <p:nvPr/>
        </p:nvSpPr>
        <p:spPr>
          <a:xfrm>
            <a:off x="8503920" y="1645920"/>
            <a:ext cx="3200400" cy="4617720"/>
          </a:xfrm>
          <a:prstGeom prst="roundRect">
            <a:avLst>
              <a:gd name="adj" fmla="val 2857"/>
            </a:avLst>
          </a:prstGeom>
          <a:solidFill>
            <a:srgbClr val="FDF3E0"/>
          </a:solidFill>
          <a:ln w="12700">
            <a:solidFill>
              <a:srgbClr val="DCCDBB"/>
            </a:solidFill>
            <a:prstDash val="solid"/>
          </a:ln>
        </p:spPr>
        <p:txBody>
          <a:bodyPr/>
          <a:lstStyle/>
          <a:p>
            <a:endParaRPr lang="ko-KR" altLang="en-US"/>
          </a:p>
        </p:txBody>
      </p:sp>
      <p:sp>
        <p:nvSpPr>
          <p:cNvPr id="8" name="Text 5"/>
          <p:cNvSpPr/>
          <p:nvPr/>
        </p:nvSpPr>
        <p:spPr>
          <a:xfrm>
            <a:off x="8732520" y="1874520"/>
            <a:ext cx="2743200" cy="822960"/>
          </a:xfrm>
          <a:prstGeom prst="rect">
            <a:avLst/>
          </a:prstGeom>
          <a:noFill/>
          <a:ln/>
        </p:spPr>
        <p:txBody>
          <a:bodyPr wrap="square" rtlCol="0" anchor="ctr"/>
          <a:lstStyle/>
          <a:p>
            <a:pPr marL="0" indent="0">
              <a:buNone/>
            </a:pPr>
            <a:r>
              <a:rPr lang="en-US" sz="1550" b="1" dirty="0">
                <a:solidFill>
                  <a:srgbClr val="6E3A1C"/>
                </a:solidFill>
                <a:latin typeface="Noto Sans KR" pitchFamily="34" charset="0"/>
                <a:ea typeface="Noto Sans KR" pitchFamily="34" charset="-122"/>
                <a:cs typeface="Noto Sans KR" pitchFamily="34" charset="-120"/>
              </a:rPr>
              <a:t>KPI 달성도</a:t>
            </a:r>
            <a:endParaRPr lang="en-US" sz="1550" dirty="0"/>
          </a:p>
        </p:txBody>
      </p:sp>
      <p:sp>
        <p:nvSpPr>
          <p:cNvPr id="9" name="Text 6"/>
          <p:cNvSpPr/>
          <p:nvPr/>
        </p:nvSpPr>
        <p:spPr>
          <a:xfrm>
            <a:off x="8732520" y="27889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0" name="Text 7"/>
          <p:cNvSpPr/>
          <p:nvPr/>
        </p:nvSpPr>
        <p:spPr>
          <a:xfrm>
            <a:off x="9006840" y="27889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경영목표 3/4 달성(생산성·납기·품질)</a:t>
            </a:r>
            <a:endParaRPr lang="en-US" sz="1250" dirty="0"/>
          </a:p>
        </p:txBody>
      </p:sp>
      <p:sp>
        <p:nvSpPr>
          <p:cNvPr id="11" name="Text 8"/>
          <p:cNvSpPr/>
          <p:nvPr/>
        </p:nvSpPr>
        <p:spPr>
          <a:xfrm>
            <a:off x="8732520" y="37033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2" name="Text 9"/>
          <p:cNvSpPr/>
          <p:nvPr/>
        </p:nvSpPr>
        <p:spPr>
          <a:xfrm>
            <a:off x="9006840" y="37033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원가 미달 → 개선 카드 안내</a:t>
            </a:r>
            <a:endParaRPr lang="en-US" sz="1250" dirty="0"/>
          </a:p>
        </p:txBody>
      </p:sp>
      <p:sp>
        <p:nvSpPr>
          <p:cNvPr id="13" name="Text 10"/>
          <p:cNvSpPr/>
          <p:nvPr/>
        </p:nvSpPr>
        <p:spPr>
          <a:xfrm>
            <a:off x="8732520" y="46177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4" name="Text 11"/>
          <p:cNvSpPr/>
          <p:nvPr/>
        </p:nvSpPr>
        <p:spPr>
          <a:xfrm>
            <a:off x="9006840" y="46177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무한 개선 루프</a:t>
            </a:r>
            <a:endParaRPr lang="en-US" sz="1250" dirty="0"/>
          </a:p>
        </p:txBody>
      </p:sp>
      <p:sp>
        <p:nvSpPr>
          <p:cNvPr id="15" name="Text 12"/>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13</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4">
    <p:bg>
      <p:bgPr>
        <a:solidFill>
          <a:srgbClr val="F8F2EA"/>
        </a:solidFill>
        <a:effectLst/>
      </p:bgPr>
    </p:bg>
    <p:spTree>
      <p:nvGrpSpPr>
        <p:cNvPr id="1" name=""/>
        <p:cNvGrpSpPr/>
        <p:nvPr/>
      </p:nvGrpSpPr>
      <p:grpSpPr>
        <a:xfrm>
          <a:off x="0" y="0"/>
          <a:ext cx="0" cy="0"/>
          <a:chOff x="0" y="0"/>
          <a:chExt cx="0" cy="0"/>
        </a:xfrm>
      </p:grpSpPr>
      <p:sp>
        <p:nvSpPr>
          <p:cNvPr id="2" name="Text 0"/>
          <p:cNvSpPr/>
          <p:nvPr/>
        </p:nvSpPr>
        <p:spPr>
          <a:xfrm>
            <a:off x="502920" y="384048"/>
            <a:ext cx="10972800" cy="320040"/>
          </a:xfrm>
          <a:prstGeom prst="rect">
            <a:avLst/>
          </a:prstGeom>
          <a:noFill/>
          <a:ln/>
        </p:spPr>
        <p:txBody>
          <a:bodyPr wrap="square" rtlCol="0" anchor="ctr"/>
          <a:lstStyle/>
          <a:p>
            <a:pPr marL="0" indent="0">
              <a:buNone/>
            </a:pPr>
            <a:r>
              <a:rPr lang="en-US" sz="1250" b="1" kern="0" spc="300" dirty="0">
                <a:solidFill>
                  <a:srgbClr val="C07F1E"/>
                </a:solidFill>
                <a:latin typeface="Noto Sans KR" pitchFamily="34" charset="0"/>
                <a:ea typeface="Noto Sans KR" pitchFamily="34" charset="-122"/>
                <a:cs typeface="Noto Sans KR" pitchFamily="34" charset="-120"/>
              </a:rPr>
              <a:t>UI · 질문</a:t>
            </a:r>
            <a:endParaRPr lang="en-US" sz="1250" dirty="0"/>
          </a:p>
        </p:txBody>
      </p:sp>
      <p:sp>
        <p:nvSpPr>
          <p:cNvPr id="3" name="Text 1"/>
          <p:cNvSpPr/>
          <p:nvPr/>
        </p:nvSpPr>
        <p:spPr>
          <a:xfrm>
            <a:off x="457200" y="694944"/>
            <a:ext cx="11338560" cy="731520"/>
          </a:xfrm>
          <a:prstGeom prst="rect">
            <a:avLst/>
          </a:prstGeom>
          <a:noFill/>
          <a:ln/>
        </p:spPr>
        <p:txBody>
          <a:bodyPr wrap="square" rtlCol="0" anchor="ctr"/>
          <a:lstStyle/>
          <a:p>
            <a:pPr marL="0" indent="0">
              <a:buNone/>
            </a:pPr>
            <a:r>
              <a:rPr lang="en-US" sz="2600" b="1" dirty="0">
                <a:solidFill>
                  <a:srgbClr val="6E3A1C"/>
                </a:solidFill>
                <a:latin typeface="Noto Sans KR" pitchFamily="34" charset="0"/>
                <a:ea typeface="Noto Sans KR" pitchFamily="34" charset="-122"/>
                <a:cs typeface="Noto Sans KR" pitchFamily="34" charset="-120"/>
              </a:rPr>
              <a:t>④ 질문 — 근거를 인용해 답합니다</a:t>
            </a:r>
            <a:endParaRPr lang="en-US" sz="2600" dirty="0"/>
          </a:p>
        </p:txBody>
      </p:sp>
      <p:sp>
        <p:nvSpPr>
          <p:cNvPr id="4" name="Shape 2"/>
          <p:cNvSpPr/>
          <p:nvPr/>
        </p:nvSpPr>
        <p:spPr>
          <a:xfrm>
            <a:off x="502920" y="1463040"/>
            <a:ext cx="2011680" cy="0"/>
          </a:xfrm>
          <a:prstGeom prst="line">
            <a:avLst/>
          </a:prstGeom>
          <a:noFill/>
          <a:ln w="38100">
            <a:solidFill>
              <a:srgbClr val="E8A33D"/>
            </a:solidFill>
            <a:prstDash val="solid"/>
          </a:ln>
        </p:spPr>
        <p:txBody>
          <a:bodyPr/>
          <a:lstStyle/>
          <a:p>
            <a:endParaRPr lang="ko-KR" altLang="en-US"/>
          </a:p>
        </p:txBody>
      </p:sp>
      <p:sp>
        <p:nvSpPr>
          <p:cNvPr id="5" name="Shape 3"/>
          <p:cNvSpPr/>
          <p:nvPr/>
        </p:nvSpPr>
        <p:spPr>
          <a:xfrm>
            <a:off x="502920" y="1645920"/>
            <a:ext cx="7772400" cy="4617720"/>
          </a:xfrm>
          <a:prstGeom prst="roundRect">
            <a:avLst>
              <a:gd name="adj" fmla="val 1584"/>
            </a:avLst>
          </a:prstGeom>
          <a:solidFill>
            <a:srgbClr val="FFFFFF"/>
          </a:solidFill>
          <a:ln w="12700">
            <a:solidFill>
              <a:srgbClr val="DCCDBB"/>
            </a:solidFill>
            <a:prstDash val="solid"/>
          </a:ln>
        </p:spPr>
        <p:txBody>
          <a:bodyPr/>
          <a:lstStyle/>
          <a:p>
            <a:endParaRPr lang="ko-KR" altLang="en-US"/>
          </a:p>
        </p:txBody>
      </p:sp>
      <p:pic>
        <p:nvPicPr>
          <p:cNvPr id="6" name="Image 0" descr="/tmp/claude-0/-home-user-thirdbrain-web/bc639c69-a342-56eb-af6c-6a89fd170e25/scratchpad/scn_ask.png"/>
          <p:cNvPicPr>
            <a:picLocks noChangeAspect="1"/>
          </p:cNvPicPr>
          <p:nvPr/>
        </p:nvPicPr>
        <p:blipFill>
          <a:blip r:embed="rId3"/>
          <a:srcRect/>
          <a:stretch/>
        </p:blipFill>
        <p:spPr>
          <a:xfrm>
            <a:off x="640080" y="1783080"/>
            <a:ext cx="7498080" cy="4343400"/>
          </a:xfrm>
          <a:prstGeom prst="rect">
            <a:avLst/>
          </a:prstGeom>
        </p:spPr>
      </p:pic>
      <p:sp>
        <p:nvSpPr>
          <p:cNvPr id="7" name="Shape 4"/>
          <p:cNvSpPr/>
          <p:nvPr/>
        </p:nvSpPr>
        <p:spPr>
          <a:xfrm>
            <a:off x="8503920" y="1645920"/>
            <a:ext cx="3200400" cy="4617720"/>
          </a:xfrm>
          <a:prstGeom prst="roundRect">
            <a:avLst>
              <a:gd name="adj" fmla="val 2857"/>
            </a:avLst>
          </a:prstGeom>
          <a:solidFill>
            <a:srgbClr val="FDF3E0"/>
          </a:solidFill>
          <a:ln w="12700">
            <a:solidFill>
              <a:srgbClr val="DCCDBB"/>
            </a:solidFill>
            <a:prstDash val="solid"/>
          </a:ln>
        </p:spPr>
        <p:txBody>
          <a:bodyPr/>
          <a:lstStyle/>
          <a:p>
            <a:endParaRPr lang="ko-KR" altLang="en-US"/>
          </a:p>
        </p:txBody>
      </p:sp>
      <p:sp>
        <p:nvSpPr>
          <p:cNvPr id="8" name="Text 5"/>
          <p:cNvSpPr/>
          <p:nvPr/>
        </p:nvSpPr>
        <p:spPr>
          <a:xfrm>
            <a:off x="8732520" y="1874520"/>
            <a:ext cx="2743200" cy="822960"/>
          </a:xfrm>
          <a:prstGeom prst="rect">
            <a:avLst/>
          </a:prstGeom>
          <a:noFill/>
          <a:ln/>
        </p:spPr>
        <p:txBody>
          <a:bodyPr wrap="square" rtlCol="0" anchor="ctr"/>
          <a:lstStyle/>
          <a:p>
            <a:pPr marL="0" indent="0">
              <a:buNone/>
            </a:pPr>
            <a:r>
              <a:rPr lang="en-US" sz="1550" b="1" dirty="0">
                <a:solidFill>
                  <a:srgbClr val="6E3A1C"/>
                </a:solidFill>
                <a:latin typeface="Noto Sans KR" pitchFamily="34" charset="0"/>
                <a:ea typeface="Noto Sans KR" pitchFamily="34" charset="-122"/>
                <a:cs typeface="Noto Sans KR" pitchFamily="34" charset="-120"/>
              </a:rPr>
              <a:t>자연어 질문</a:t>
            </a:r>
            <a:endParaRPr lang="en-US" sz="1550" dirty="0"/>
          </a:p>
        </p:txBody>
      </p:sp>
      <p:sp>
        <p:nvSpPr>
          <p:cNvPr id="9" name="Text 6"/>
          <p:cNvSpPr/>
          <p:nvPr/>
        </p:nvSpPr>
        <p:spPr>
          <a:xfrm>
            <a:off x="8732520" y="27889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0" name="Text 7"/>
          <p:cNvSpPr/>
          <p:nvPr/>
        </p:nvSpPr>
        <p:spPr>
          <a:xfrm>
            <a:off x="9006840" y="27889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'OVEN-2 왜 불량?' 자연어로</a:t>
            </a:r>
            <a:endParaRPr lang="en-US" sz="1250" dirty="0"/>
          </a:p>
        </p:txBody>
      </p:sp>
      <p:sp>
        <p:nvSpPr>
          <p:cNvPr id="11" name="Text 8"/>
          <p:cNvSpPr/>
          <p:nvPr/>
        </p:nvSpPr>
        <p:spPr>
          <a:xfrm>
            <a:off x="8732520" y="37033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2" name="Text 9"/>
          <p:cNvSpPr/>
          <p:nvPr/>
        </p:nvSpPr>
        <p:spPr>
          <a:xfrm>
            <a:off x="9006840" y="37033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Claude Opus 서술·수치는 그래프</a:t>
            </a:r>
            <a:endParaRPr lang="en-US" sz="1250" dirty="0"/>
          </a:p>
        </p:txBody>
      </p:sp>
      <p:sp>
        <p:nvSpPr>
          <p:cNvPr id="13" name="Text 10"/>
          <p:cNvSpPr/>
          <p:nvPr/>
        </p:nvSpPr>
        <p:spPr>
          <a:xfrm>
            <a:off x="8732520" y="4617720"/>
            <a:ext cx="274320" cy="365760"/>
          </a:xfrm>
          <a:prstGeom prst="rect">
            <a:avLst/>
          </a:prstGeom>
          <a:noFill/>
          <a:ln/>
        </p:spPr>
        <p:txBody>
          <a:bodyPr wrap="square" rtlCol="0" anchor="ctr"/>
          <a:lstStyle/>
          <a:p>
            <a:pPr marL="0" indent="0">
              <a:buNone/>
            </a:pPr>
            <a:r>
              <a:rPr lang="en-US" sz="1400" b="1" dirty="0">
                <a:solidFill>
                  <a:srgbClr val="C07F1E"/>
                </a:solidFill>
                <a:latin typeface="Noto Sans KR" pitchFamily="34" charset="0"/>
                <a:ea typeface="Noto Sans KR" pitchFamily="34" charset="-122"/>
                <a:cs typeface="Noto Sans KR" pitchFamily="34" charset="-120"/>
              </a:rPr>
              <a:t>•</a:t>
            </a:r>
            <a:endParaRPr lang="en-US" sz="1400" dirty="0"/>
          </a:p>
        </p:txBody>
      </p:sp>
      <p:sp>
        <p:nvSpPr>
          <p:cNvPr id="14" name="Text 11"/>
          <p:cNvSpPr/>
          <p:nvPr/>
        </p:nvSpPr>
        <p:spPr>
          <a:xfrm>
            <a:off x="9006840" y="4617720"/>
            <a:ext cx="2514600" cy="868680"/>
          </a:xfrm>
          <a:prstGeom prst="rect">
            <a:avLst/>
          </a:prstGeom>
          <a:noFill/>
          <a:ln/>
        </p:spPr>
        <p:txBody>
          <a:bodyPr wrap="square" rtlCol="0" anchor="ctr"/>
          <a:lstStyle/>
          <a:p>
            <a:pPr marL="0" indent="0">
              <a:lnSpc>
                <a:spcPct val="110000"/>
              </a:lnSpc>
              <a:buNone/>
            </a:pPr>
            <a:r>
              <a:rPr lang="en-US" sz="1250" dirty="0">
                <a:solidFill>
                  <a:srgbClr val="2E241C"/>
                </a:solidFill>
                <a:latin typeface="Noto Sans KR" pitchFamily="34" charset="0"/>
                <a:ea typeface="Noto Sans KR" pitchFamily="34" charset="-122"/>
                <a:cs typeface="Noto Sans KR" pitchFamily="34" charset="-120"/>
              </a:rPr>
              <a:t>모든 답변에 [근거:] 인용</a:t>
            </a:r>
            <a:endParaRPr lang="en-US" sz="1250" dirty="0"/>
          </a:p>
        </p:txBody>
      </p:sp>
      <p:sp>
        <p:nvSpPr>
          <p:cNvPr id="15" name="Text 12"/>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76675A"/>
                </a:solidFill>
                <a:latin typeface="Noto Sans KR" pitchFamily="34" charset="0"/>
                <a:ea typeface="Noto Sans KR" pitchFamily="34" charset="-122"/>
                <a:cs typeface="Noto Sans KR" pitchFamily="34" charset="-120"/>
              </a:rPr>
              <a:t>14</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5">
    <p:bg>
      <p:bgPr>
        <a:solidFill>
          <a:srgbClr val="2B1D12"/>
        </a:solidFill>
        <a:effectLst/>
      </p:bgPr>
    </p:bg>
    <p:spTree>
      <p:nvGrpSpPr>
        <p:cNvPr id="1" name=""/>
        <p:cNvGrpSpPr/>
        <p:nvPr/>
      </p:nvGrpSpPr>
      <p:grpSpPr>
        <a:xfrm>
          <a:off x="0" y="0"/>
          <a:ext cx="0" cy="0"/>
          <a:chOff x="0" y="0"/>
          <a:chExt cx="0" cy="0"/>
        </a:xfrm>
      </p:grpSpPr>
      <p:sp>
        <p:nvSpPr>
          <p:cNvPr id="2" name="Text 0"/>
          <p:cNvSpPr/>
          <p:nvPr/>
        </p:nvSpPr>
        <p:spPr>
          <a:xfrm>
            <a:off x="502920" y="457200"/>
            <a:ext cx="10972800" cy="320040"/>
          </a:xfrm>
          <a:prstGeom prst="rect">
            <a:avLst/>
          </a:prstGeom>
          <a:noFill/>
          <a:ln/>
        </p:spPr>
        <p:txBody>
          <a:bodyPr wrap="square" rtlCol="0" anchor="ctr"/>
          <a:lstStyle/>
          <a:p>
            <a:pPr marL="0" indent="0">
              <a:buNone/>
            </a:pPr>
            <a:r>
              <a:rPr lang="en-US" sz="1250" b="1" kern="0" spc="300" dirty="0">
                <a:solidFill>
                  <a:srgbClr val="E8A33D"/>
                </a:solidFill>
                <a:latin typeface="Noto Sans KR" pitchFamily="34" charset="0"/>
                <a:ea typeface="Noto Sans KR" pitchFamily="34" charset="-122"/>
                <a:cs typeface="Noto Sans KR" pitchFamily="34" charset="-120"/>
              </a:rPr>
              <a:t>DEMO RESULT</a:t>
            </a:r>
            <a:endParaRPr lang="en-US" sz="1250" dirty="0"/>
          </a:p>
        </p:txBody>
      </p:sp>
      <p:sp>
        <p:nvSpPr>
          <p:cNvPr id="3" name="Text 1"/>
          <p:cNvSpPr/>
          <p:nvPr/>
        </p:nvSpPr>
        <p:spPr>
          <a:xfrm>
            <a:off x="457200" y="777240"/>
            <a:ext cx="10972800" cy="731520"/>
          </a:xfrm>
          <a:prstGeom prst="rect">
            <a:avLst/>
          </a:prstGeom>
          <a:noFill/>
          <a:ln/>
        </p:spPr>
        <p:txBody>
          <a:bodyPr wrap="square" rtlCol="0" anchor="ctr"/>
          <a:lstStyle/>
          <a:p>
            <a:pPr marL="0" indent="0">
              <a:buNone/>
            </a:pPr>
            <a:r>
              <a:rPr lang="en-US" sz="2600" b="1" dirty="0">
                <a:solidFill>
                  <a:srgbClr val="F8F2EA"/>
                </a:solidFill>
                <a:latin typeface="Noto Sans KR" pitchFamily="34" charset="0"/>
                <a:ea typeface="Noto Sans KR" pitchFamily="34" charset="-122"/>
                <a:cs typeface="Noto Sans KR" pitchFamily="34" charset="-120"/>
              </a:rPr>
              <a:t>전 파이프라인 실행 결과 — 합성 데모, 67초 완주</a:t>
            </a:r>
            <a:endParaRPr lang="en-US" sz="2600" dirty="0"/>
          </a:p>
        </p:txBody>
      </p:sp>
      <p:sp>
        <p:nvSpPr>
          <p:cNvPr id="4" name="Shape 2"/>
          <p:cNvSpPr/>
          <p:nvPr/>
        </p:nvSpPr>
        <p:spPr>
          <a:xfrm>
            <a:off x="502920" y="1554480"/>
            <a:ext cx="2011680" cy="0"/>
          </a:xfrm>
          <a:prstGeom prst="line">
            <a:avLst/>
          </a:prstGeom>
          <a:noFill/>
          <a:ln w="38100">
            <a:solidFill>
              <a:srgbClr val="E8A33D"/>
            </a:solidFill>
            <a:prstDash val="solid"/>
          </a:ln>
        </p:spPr>
        <p:txBody>
          <a:bodyPr/>
          <a:lstStyle/>
          <a:p>
            <a:endParaRPr lang="ko-KR" altLang="en-US"/>
          </a:p>
        </p:txBody>
      </p:sp>
      <p:sp>
        <p:nvSpPr>
          <p:cNvPr id="5" name="Shape 3"/>
          <p:cNvSpPr/>
          <p:nvPr/>
        </p:nvSpPr>
        <p:spPr>
          <a:xfrm>
            <a:off x="502920" y="1920240"/>
            <a:ext cx="3566160" cy="1783080"/>
          </a:xfrm>
          <a:prstGeom prst="roundRect">
            <a:avLst>
              <a:gd name="adj" fmla="val 5128"/>
            </a:avLst>
          </a:prstGeom>
          <a:solidFill>
            <a:srgbClr val="3A2A1B"/>
          </a:solidFill>
          <a:ln w="12700">
            <a:solidFill>
              <a:srgbClr val="55402A"/>
            </a:solidFill>
            <a:prstDash val="solid"/>
          </a:ln>
        </p:spPr>
        <p:txBody>
          <a:bodyPr/>
          <a:lstStyle/>
          <a:p>
            <a:endParaRPr lang="ko-KR" altLang="en-US"/>
          </a:p>
        </p:txBody>
      </p:sp>
      <p:sp>
        <p:nvSpPr>
          <p:cNvPr id="6" name="Text 4"/>
          <p:cNvSpPr/>
          <p:nvPr/>
        </p:nvSpPr>
        <p:spPr>
          <a:xfrm>
            <a:off x="777240" y="2176272"/>
            <a:ext cx="3063240" cy="640080"/>
          </a:xfrm>
          <a:prstGeom prst="rect">
            <a:avLst/>
          </a:prstGeom>
          <a:noFill/>
          <a:ln/>
        </p:spPr>
        <p:txBody>
          <a:bodyPr wrap="square" rtlCol="0" anchor="ctr"/>
          <a:lstStyle/>
          <a:p>
            <a:pPr marL="0" indent="0">
              <a:buNone/>
            </a:pPr>
            <a:r>
              <a:rPr lang="en-US" sz="2600" b="1" dirty="0">
                <a:solidFill>
                  <a:srgbClr val="E8A33D"/>
                </a:solidFill>
                <a:latin typeface="Noto Sans KR" pitchFamily="34" charset="0"/>
                <a:ea typeface="Noto Sans KR" pitchFamily="34" charset="-122"/>
                <a:cs typeface="Noto Sans KR" pitchFamily="34" charset="-120"/>
              </a:rPr>
              <a:t>WAPE 7.0%</a:t>
            </a:r>
            <a:endParaRPr lang="en-US" sz="2600" dirty="0"/>
          </a:p>
        </p:txBody>
      </p:sp>
      <p:sp>
        <p:nvSpPr>
          <p:cNvPr id="7" name="Text 5"/>
          <p:cNvSpPr/>
          <p:nvPr/>
        </p:nvSpPr>
        <p:spPr>
          <a:xfrm>
            <a:off x="777240" y="2880360"/>
            <a:ext cx="3063240" cy="640080"/>
          </a:xfrm>
          <a:prstGeom prst="rect">
            <a:avLst/>
          </a:prstGeom>
          <a:noFill/>
          <a:ln/>
        </p:spPr>
        <p:txBody>
          <a:bodyPr wrap="square" rtlCol="0" anchor="ctr"/>
          <a:lstStyle/>
          <a:p>
            <a:pPr marL="0" indent="0">
              <a:buNone/>
            </a:pPr>
            <a:r>
              <a:rPr lang="en-US" sz="1350" dirty="0">
                <a:solidFill>
                  <a:srgbClr val="EDE3D5"/>
                </a:solidFill>
                <a:latin typeface="Noto Sans KR" pitchFamily="34" charset="0"/>
                <a:ea typeface="Noto Sans KR" pitchFamily="34" charset="-122"/>
                <a:cs typeface="Noto Sans KR" pitchFamily="34" charset="-120"/>
              </a:rPr>
              <a:t>수요예측(출발선 19.4%)</a:t>
            </a:r>
            <a:endParaRPr lang="en-US" sz="1350" dirty="0"/>
          </a:p>
        </p:txBody>
      </p:sp>
      <p:sp>
        <p:nvSpPr>
          <p:cNvPr id="8" name="Shape 6"/>
          <p:cNvSpPr/>
          <p:nvPr/>
        </p:nvSpPr>
        <p:spPr>
          <a:xfrm>
            <a:off x="4297680" y="1920240"/>
            <a:ext cx="3566160" cy="1783080"/>
          </a:xfrm>
          <a:prstGeom prst="roundRect">
            <a:avLst>
              <a:gd name="adj" fmla="val 5128"/>
            </a:avLst>
          </a:prstGeom>
          <a:solidFill>
            <a:srgbClr val="3A2A1B"/>
          </a:solidFill>
          <a:ln w="12700">
            <a:solidFill>
              <a:srgbClr val="55402A"/>
            </a:solidFill>
            <a:prstDash val="solid"/>
          </a:ln>
        </p:spPr>
        <p:txBody>
          <a:bodyPr/>
          <a:lstStyle/>
          <a:p>
            <a:endParaRPr lang="ko-KR" altLang="en-US"/>
          </a:p>
        </p:txBody>
      </p:sp>
      <p:sp>
        <p:nvSpPr>
          <p:cNvPr id="9" name="Text 7"/>
          <p:cNvSpPr/>
          <p:nvPr/>
        </p:nvSpPr>
        <p:spPr>
          <a:xfrm>
            <a:off x="4572000" y="2176272"/>
            <a:ext cx="3063240" cy="640080"/>
          </a:xfrm>
          <a:prstGeom prst="rect">
            <a:avLst/>
          </a:prstGeom>
          <a:noFill/>
          <a:ln/>
        </p:spPr>
        <p:txBody>
          <a:bodyPr wrap="square" rtlCol="0" anchor="ctr"/>
          <a:lstStyle/>
          <a:p>
            <a:pPr marL="0" indent="0">
              <a:buNone/>
            </a:pPr>
            <a:r>
              <a:rPr lang="en-US" sz="2600" b="1" dirty="0">
                <a:solidFill>
                  <a:srgbClr val="E8A33D"/>
                </a:solidFill>
                <a:latin typeface="Noto Sans KR" pitchFamily="34" charset="0"/>
                <a:ea typeface="Noto Sans KR" pitchFamily="34" charset="-122"/>
                <a:cs typeface="Noto Sans KR" pitchFamily="34" charset="-120"/>
              </a:rPr>
              <a:t>13일 선행</a:t>
            </a:r>
            <a:endParaRPr lang="en-US" sz="2600" dirty="0"/>
          </a:p>
        </p:txBody>
      </p:sp>
      <p:sp>
        <p:nvSpPr>
          <p:cNvPr id="10" name="Text 8"/>
          <p:cNvSpPr/>
          <p:nvPr/>
        </p:nvSpPr>
        <p:spPr>
          <a:xfrm>
            <a:off x="4572000" y="2880360"/>
            <a:ext cx="3063240" cy="640080"/>
          </a:xfrm>
          <a:prstGeom prst="rect">
            <a:avLst/>
          </a:prstGeom>
          <a:noFill/>
          <a:ln/>
        </p:spPr>
        <p:txBody>
          <a:bodyPr wrap="square" rtlCol="0" anchor="ctr"/>
          <a:lstStyle/>
          <a:p>
            <a:pPr marL="0" indent="0">
              <a:buNone/>
            </a:pPr>
            <a:r>
              <a:rPr lang="en-US" sz="1350" dirty="0">
                <a:solidFill>
                  <a:srgbClr val="EDE3D5"/>
                </a:solidFill>
                <a:latin typeface="Noto Sans KR" pitchFamily="34" charset="0"/>
                <a:ea typeface="Noto Sans KR" pitchFamily="34" charset="-122"/>
                <a:cs typeface="Noto Sans KR" pitchFamily="34" charset="-120"/>
              </a:rPr>
              <a:t>OVEN-2 고장 예지</a:t>
            </a:r>
            <a:endParaRPr lang="en-US" sz="1350" dirty="0"/>
          </a:p>
        </p:txBody>
      </p:sp>
      <p:sp>
        <p:nvSpPr>
          <p:cNvPr id="11" name="Shape 9"/>
          <p:cNvSpPr/>
          <p:nvPr/>
        </p:nvSpPr>
        <p:spPr>
          <a:xfrm>
            <a:off x="8092440" y="1920240"/>
            <a:ext cx="3566160" cy="1783080"/>
          </a:xfrm>
          <a:prstGeom prst="roundRect">
            <a:avLst>
              <a:gd name="adj" fmla="val 5128"/>
            </a:avLst>
          </a:prstGeom>
          <a:solidFill>
            <a:srgbClr val="3A2A1B"/>
          </a:solidFill>
          <a:ln w="12700">
            <a:solidFill>
              <a:srgbClr val="55402A"/>
            </a:solidFill>
            <a:prstDash val="solid"/>
          </a:ln>
        </p:spPr>
        <p:txBody>
          <a:bodyPr/>
          <a:lstStyle/>
          <a:p>
            <a:endParaRPr lang="ko-KR" altLang="en-US"/>
          </a:p>
        </p:txBody>
      </p:sp>
      <p:sp>
        <p:nvSpPr>
          <p:cNvPr id="12" name="Text 10"/>
          <p:cNvSpPr/>
          <p:nvPr/>
        </p:nvSpPr>
        <p:spPr>
          <a:xfrm>
            <a:off x="8366760" y="2176272"/>
            <a:ext cx="3063240" cy="640080"/>
          </a:xfrm>
          <a:prstGeom prst="rect">
            <a:avLst/>
          </a:prstGeom>
          <a:noFill/>
          <a:ln/>
        </p:spPr>
        <p:txBody>
          <a:bodyPr wrap="square" rtlCol="0" anchor="ctr"/>
          <a:lstStyle/>
          <a:p>
            <a:pPr marL="0" indent="0">
              <a:buNone/>
            </a:pPr>
            <a:r>
              <a:rPr lang="en-US" sz="2600" b="1" dirty="0">
                <a:solidFill>
                  <a:srgbClr val="E8A33D"/>
                </a:solidFill>
                <a:latin typeface="Noto Sans KR" pitchFamily="34" charset="0"/>
                <a:ea typeface="Noto Sans KR" pitchFamily="34" charset="-122"/>
                <a:cs typeface="Noto Sans KR" pitchFamily="34" charset="-120"/>
              </a:rPr>
              <a:t>카드 11건</a:t>
            </a:r>
            <a:endParaRPr lang="en-US" sz="2600" dirty="0"/>
          </a:p>
        </p:txBody>
      </p:sp>
      <p:sp>
        <p:nvSpPr>
          <p:cNvPr id="13" name="Text 11"/>
          <p:cNvSpPr/>
          <p:nvPr/>
        </p:nvSpPr>
        <p:spPr>
          <a:xfrm>
            <a:off x="8366760" y="2880360"/>
            <a:ext cx="3063240" cy="640080"/>
          </a:xfrm>
          <a:prstGeom prst="rect">
            <a:avLst/>
          </a:prstGeom>
          <a:noFill/>
          <a:ln/>
        </p:spPr>
        <p:txBody>
          <a:bodyPr wrap="square" rtlCol="0" anchor="ctr"/>
          <a:lstStyle/>
          <a:p>
            <a:pPr marL="0" indent="0">
              <a:buNone/>
            </a:pPr>
            <a:r>
              <a:rPr lang="en-US" sz="1350" dirty="0">
                <a:solidFill>
                  <a:srgbClr val="EDE3D5"/>
                </a:solidFill>
                <a:latin typeface="Noto Sans KR" pitchFamily="34" charset="0"/>
                <a:ea typeface="Noto Sans KR" pitchFamily="34" charset="-122"/>
                <a:cs typeface="Noto Sans KR" pitchFamily="34" charset="-120"/>
              </a:rPr>
              <a:t>5종 에이전트 제안</a:t>
            </a:r>
            <a:endParaRPr lang="en-US" sz="1350" dirty="0"/>
          </a:p>
        </p:txBody>
      </p:sp>
      <p:sp>
        <p:nvSpPr>
          <p:cNvPr id="14" name="Shape 12"/>
          <p:cNvSpPr/>
          <p:nvPr/>
        </p:nvSpPr>
        <p:spPr>
          <a:xfrm>
            <a:off x="502920" y="3931920"/>
            <a:ext cx="3566160" cy="1783080"/>
          </a:xfrm>
          <a:prstGeom prst="roundRect">
            <a:avLst>
              <a:gd name="adj" fmla="val 5128"/>
            </a:avLst>
          </a:prstGeom>
          <a:solidFill>
            <a:srgbClr val="3A2A1B"/>
          </a:solidFill>
          <a:ln w="12700">
            <a:solidFill>
              <a:srgbClr val="55402A"/>
            </a:solidFill>
            <a:prstDash val="solid"/>
          </a:ln>
        </p:spPr>
        <p:txBody>
          <a:bodyPr/>
          <a:lstStyle/>
          <a:p>
            <a:endParaRPr lang="ko-KR" altLang="en-US"/>
          </a:p>
        </p:txBody>
      </p:sp>
      <p:sp>
        <p:nvSpPr>
          <p:cNvPr id="15" name="Text 13"/>
          <p:cNvSpPr/>
          <p:nvPr/>
        </p:nvSpPr>
        <p:spPr>
          <a:xfrm>
            <a:off x="777240" y="4187952"/>
            <a:ext cx="3063240" cy="640080"/>
          </a:xfrm>
          <a:prstGeom prst="rect">
            <a:avLst/>
          </a:prstGeom>
          <a:noFill/>
          <a:ln/>
        </p:spPr>
        <p:txBody>
          <a:bodyPr wrap="square" rtlCol="0" anchor="ctr"/>
          <a:lstStyle/>
          <a:p>
            <a:pPr marL="0" indent="0">
              <a:buNone/>
            </a:pPr>
            <a:r>
              <a:rPr lang="en-US" sz="2600" b="1" dirty="0">
                <a:solidFill>
                  <a:srgbClr val="E8A33D"/>
                </a:solidFill>
                <a:latin typeface="Noto Sans KR" pitchFamily="34" charset="0"/>
                <a:ea typeface="Noto Sans KR" pitchFamily="34" charset="-122"/>
                <a:cs typeface="Noto Sans KR" pitchFamily="34" charset="-120"/>
              </a:rPr>
              <a:t>규칙 2건</a:t>
            </a:r>
            <a:endParaRPr lang="en-US" sz="2600" dirty="0"/>
          </a:p>
        </p:txBody>
      </p:sp>
      <p:sp>
        <p:nvSpPr>
          <p:cNvPr id="16" name="Text 14"/>
          <p:cNvSpPr/>
          <p:nvPr/>
        </p:nvSpPr>
        <p:spPr>
          <a:xfrm>
            <a:off x="777240" y="4892040"/>
            <a:ext cx="3063240" cy="640080"/>
          </a:xfrm>
          <a:prstGeom prst="rect">
            <a:avLst/>
          </a:prstGeom>
          <a:noFill/>
          <a:ln/>
        </p:spPr>
        <p:txBody>
          <a:bodyPr wrap="square" rtlCol="0" anchor="ctr"/>
          <a:lstStyle/>
          <a:p>
            <a:pPr marL="0" indent="0">
              <a:buNone/>
            </a:pPr>
            <a:r>
              <a:rPr lang="en-US" sz="1350" dirty="0">
                <a:solidFill>
                  <a:srgbClr val="EDE3D5"/>
                </a:solidFill>
                <a:latin typeface="Noto Sans KR" pitchFamily="34" charset="0"/>
                <a:ea typeface="Noto Sans KR" pitchFamily="34" charset="-122"/>
                <a:cs typeface="Noto Sans KR" pitchFamily="34" charset="-120"/>
              </a:rPr>
              <a:t>확신도 승격→SOP 개정</a:t>
            </a:r>
            <a:endParaRPr lang="en-US" sz="1350" dirty="0"/>
          </a:p>
        </p:txBody>
      </p:sp>
      <p:sp>
        <p:nvSpPr>
          <p:cNvPr id="17" name="Shape 15"/>
          <p:cNvSpPr/>
          <p:nvPr/>
        </p:nvSpPr>
        <p:spPr>
          <a:xfrm>
            <a:off x="4297680" y="3931920"/>
            <a:ext cx="3566160" cy="1783080"/>
          </a:xfrm>
          <a:prstGeom prst="roundRect">
            <a:avLst>
              <a:gd name="adj" fmla="val 5128"/>
            </a:avLst>
          </a:prstGeom>
          <a:solidFill>
            <a:srgbClr val="3A2A1B"/>
          </a:solidFill>
          <a:ln w="12700">
            <a:solidFill>
              <a:srgbClr val="55402A"/>
            </a:solidFill>
            <a:prstDash val="solid"/>
          </a:ln>
        </p:spPr>
        <p:txBody>
          <a:bodyPr/>
          <a:lstStyle/>
          <a:p>
            <a:endParaRPr lang="ko-KR" altLang="en-US"/>
          </a:p>
        </p:txBody>
      </p:sp>
      <p:sp>
        <p:nvSpPr>
          <p:cNvPr id="18" name="Text 16"/>
          <p:cNvSpPr/>
          <p:nvPr/>
        </p:nvSpPr>
        <p:spPr>
          <a:xfrm>
            <a:off x="4572000" y="4187952"/>
            <a:ext cx="3063240" cy="640080"/>
          </a:xfrm>
          <a:prstGeom prst="rect">
            <a:avLst/>
          </a:prstGeom>
          <a:noFill/>
          <a:ln/>
        </p:spPr>
        <p:txBody>
          <a:bodyPr wrap="square" rtlCol="0" anchor="ctr"/>
          <a:lstStyle/>
          <a:p>
            <a:pPr marL="0" indent="0">
              <a:buNone/>
            </a:pPr>
            <a:r>
              <a:rPr lang="en-US" sz="2600" b="1" dirty="0">
                <a:solidFill>
                  <a:srgbClr val="E8A33D"/>
                </a:solidFill>
                <a:latin typeface="Noto Sans KR" pitchFamily="34" charset="0"/>
                <a:ea typeface="Noto Sans KR" pitchFamily="34" charset="-122"/>
                <a:cs typeface="Noto Sans KR" pitchFamily="34" charset="-120"/>
              </a:rPr>
              <a:t>회귀 30/30</a:t>
            </a:r>
            <a:endParaRPr lang="en-US" sz="2600" dirty="0"/>
          </a:p>
        </p:txBody>
      </p:sp>
      <p:sp>
        <p:nvSpPr>
          <p:cNvPr id="19" name="Text 17"/>
          <p:cNvSpPr/>
          <p:nvPr/>
        </p:nvSpPr>
        <p:spPr>
          <a:xfrm>
            <a:off x="4572000" y="4892040"/>
            <a:ext cx="3063240" cy="640080"/>
          </a:xfrm>
          <a:prstGeom prst="rect">
            <a:avLst/>
          </a:prstGeom>
          <a:noFill/>
          <a:ln/>
        </p:spPr>
        <p:txBody>
          <a:bodyPr wrap="square" rtlCol="0" anchor="ctr"/>
          <a:lstStyle/>
          <a:p>
            <a:pPr marL="0" indent="0">
              <a:buNone/>
            </a:pPr>
            <a:r>
              <a:rPr lang="en-US" sz="1350" dirty="0">
                <a:solidFill>
                  <a:srgbClr val="EDE3D5"/>
                </a:solidFill>
                <a:latin typeface="Noto Sans KR" pitchFamily="34" charset="0"/>
                <a:ea typeface="Noto Sans KR" pitchFamily="34" charset="-122"/>
                <a:cs typeface="Noto Sans KR" pitchFamily="34" charset="-120"/>
              </a:rPr>
              <a:t>판단 정합성 시험</a:t>
            </a:r>
            <a:endParaRPr lang="en-US" sz="1350" dirty="0"/>
          </a:p>
        </p:txBody>
      </p:sp>
      <p:sp>
        <p:nvSpPr>
          <p:cNvPr id="20" name="Shape 18"/>
          <p:cNvSpPr/>
          <p:nvPr/>
        </p:nvSpPr>
        <p:spPr>
          <a:xfrm>
            <a:off x="8092440" y="3931920"/>
            <a:ext cx="3566160" cy="1783080"/>
          </a:xfrm>
          <a:prstGeom prst="roundRect">
            <a:avLst>
              <a:gd name="adj" fmla="val 5128"/>
            </a:avLst>
          </a:prstGeom>
          <a:solidFill>
            <a:srgbClr val="3A2A1B"/>
          </a:solidFill>
          <a:ln w="12700">
            <a:solidFill>
              <a:srgbClr val="55402A"/>
            </a:solidFill>
            <a:prstDash val="solid"/>
          </a:ln>
        </p:spPr>
        <p:txBody>
          <a:bodyPr/>
          <a:lstStyle/>
          <a:p>
            <a:endParaRPr lang="ko-KR" altLang="en-US"/>
          </a:p>
        </p:txBody>
      </p:sp>
      <p:sp>
        <p:nvSpPr>
          <p:cNvPr id="21" name="Text 19"/>
          <p:cNvSpPr/>
          <p:nvPr/>
        </p:nvSpPr>
        <p:spPr>
          <a:xfrm>
            <a:off x="8366760" y="4187952"/>
            <a:ext cx="3063240" cy="640080"/>
          </a:xfrm>
          <a:prstGeom prst="rect">
            <a:avLst/>
          </a:prstGeom>
          <a:noFill/>
          <a:ln/>
        </p:spPr>
        <p:txBody>
          <a:bodyPr wrap="square" rtlCol="0" anchor="ctr"/>
          <a:lstStyle/>
          <a:p>
            <a:pPr marL="0" indent="0">
              <a:buNone/>
            </a:pPr>
            <a:r>
              <a:rPr lang="en-US" sz="2600" b="1" dirty="0">
                <a:solidFill>
                  <a:srgbClr val="E8A33D"/>
                </a:solidFill>
                <a:latin typeface="Noto Sans KR" pitchFamily="34" charset="0"/>
                <a:ea typeface="Noto Sans KR" pitchFamily="34" charset="-122"/>
                <a:cs typeface="Noto Sans KR" pitchFamily="34" charset="-120"/>
              </a:rPr>
              <a:t>KPI 3/4 달성</a:t>
            </a:r>
            <a:endParaRPr lang="en-US" sz="2600" dirty="0"/>
          </a:p>
        </p:txBody>
      </p:sp>
      <p:sp>
        <p:nvSpPr>
          <p:cNvPr id="22" name="Text 20"/>
          <p:cNvSpPr/>
          <p:nvPr/>
        </p:nvSpPr>
        <p:spPr>
          <a:xfrm>
            <a:off x="8366760" y="4892040"/>
            <a:ext cx="3063240" cy="640080"/>
          </a:xfrm>
          <a:prstGeom prst="rect">
            <a:avLst/>
          </a:prstGeom>
          <a:noFill/>
          <a:ln/>
        </p:spPr>
        <p:txBody>
          <a:bodyPr wrap="square" rtlCol="0" anchor="ctr"/>
          <a:lstStyle/>
          <a:p>
            <a:pPr marL="0" indent="0">
              <a:buNone/>
            </a:pPr>
            <a:r>
              <a:rPr lang="en-US" sz="1350" dirty="0">
                <a:solidFill>
                  <a:srgbClr val="EDE3D5"/>
                </a:solidFill>
                <a:latin typeface="Noto Sans KR" pitchFamily="34" charset="0"/>
                <a:ea typeface="Noto Sans KR" pitchFamily="34" charset="-122"/>
                <a:cs typeface="Noto Sans KR" pitchFamily="34" charset="-120"/>
              </a:rPr>
              <a:t>경영목표 달성도</a:t>
            </a:r>
            <a:endParaRPr lang="en-US" sz="1350" dirty="0"/>
          </a:p>
        </p:txBody>
      </p:sp>
      <p:sp>
        <p:nvSpPr>
          <p:cNvPr id="23" name="Text 21"/>
          <p:cNvSpPr/>
          <p:nvPr/>
        </p:nvSpPr>
        <p:spPr>
          <a:xfrm>
            <a:off x="502920" y="6126480"/>
            <a:ext cx="11155680" cy="365760"/>
          </a:xfrm>
          <a:prstGeom prst="rect">
            <a:avLst/>
          </a:prstGeom>
          <a:noFill/>
          <a:ln/>
        </p:spPr>
        <p:txBody>
          <a:bodyPr wrap="square" rtlCol="0" anchor="ctr"/>
          <a:lstStyle/>
          <a:p>
            <a:pPr marL="0" indent="0">
              <a:buNone/>
            </a:pPr>
            <a:r>
              <a:rPr lang="en-US" sz="1300" i="1" dirty="0">
                <a:solidFill>
                  <a:srgbClr val="B9A78F"/>
                </a:solidFill>
                <a:latin typeface="Noto Sans KR" pitchFamily="34" charset="0"/>
                <a:ea typeface="Noto Sans KR" pitchFamily="34" charset="-122"/>
                <a:cs typeface="Noto Sans KR" pitchFamily="34" charset="-120"/>
              </a:rPr>
              <a:t>합성 샘플 위에서 완전히 동작 — 실데이터 연결 즉시 같은 계산이 실수치로 돕니다</a:t>
            </a:r>
            <a:endParaRPr lang="en-US" sz="1300" dirty="0"/>
          </a:p>
        </p:txBody>
      </p:sp>
      <p:sp>
        <p:nvSpPr>
          <p:cNvPr id="24" name="Text 22"/>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B9A78F"/>
                </a:solidFill>
                <a:latin typeface="Noto Sans KR" pitchFamily="34" charset="0"/>
                <a:ea typeface="Noto Sans KR" pitchFamily="34" charset="-122"/>
                <a:cs typeface="Noto Sans KR" pitchFamily="34" charset="-120"/>
              </a:rPr>
              <a:t>15</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bg>
      <p:bgPr>
        <a:solidFill>
          <a:srgbClr val="2B1D12"/>
        </a:solidFill>
        <a:effectLst/>
      </p:bgPr>
    </p:bg>
    <p:spTree>
      <p:nvGrpSpPr>
        <p:cNvPr id="1" name=""/>
        <p:cNvGrpSpPr/>
        <p:nvPr/>
      </p:nvGrpSpPr>
      <p:grpSpPr>
        <a:xfrm>
          <a:off x="0" y="0"/>
          <a:ext cx="0" cy="0"/>
          <a:chOff x="0" y="0"/>
          <a:chExt cx="0" cy="0"/>
        </a:xfrm>
      </p:grpSpPr>
      <p:sp>
        <p:nvSpPr>
          <p:cNvPr id="2" name="Text 0"/>
          <p:cNvSpPr/>
          <p:nvPr/>
        </p:nvSpPr>
        <p:spPr>
          <a:xfrm>
            <a:off x="502920" y="457200"/>
            <a:ext cx="10972800" cy="320040"/>
          </a:xfrm>
          <a:prstGeom prst="rect">
            <a:avLst/>
          </a:prstGeom>
          <a:noFill/>
          <a:ln/>
        </p:spPr>
        <p:txBody>
          <a:bodyPr wrap="square" rtlCol="0" anchor="ctr"/>
          <a:lstStyle/>
          <a:p>
            <a:pPr marL="0" indent="0">
              <a:buNone/>
            </a:pPr>
            <a:r>
              <a:rPr lang="en-US" sz="1250" b="1" kern="0" spc="300" dirty="0">
                <a:solidFill>
                  <a:srgbClr val="E8A33D"/>
                </a:solidFill>
                <a:latin typeface="Noto Sans KR" pitchFamily="34" charset="0"/>
                <a:ea typeface="Noto Sans KR" pitchFamily="34" charset="-122"/>
                <a:cs typeface="Noto Sans KR" pitchFamily="34" charset="-120"/>
              </a:rPr>
              <a:t>LIVE NOW</a:t>
            </a:r>
            <a:endParaRPr lang="en-US" sz="1250" dirty="0"/>
          </a:p>
        </p:txBody>
      </p:sp>
      <p:sp>
        <p:nvSpPr>
          <p:cNvPr id="3" name="Text 1"/>
          <p:cNvSpPr/>
          <p:nvPr/>
        </p:nvSpPr>
        <p:spPr>
          <a:xfrm>
            <a:off x="457200" y="777240"/>
            <a:ext cx="10972800" cy="731520"/>
          </a:xfrm>
          <a:prstGeom prst="rect">
            <a:avLst/>
          </a:prstGeom>
          <a:noFill/>
          <a:ln/>
        </p:spPr>
        <p:txBody>
          <a:bodyPr wrap="square" rtlCol="0" anchor="ctr"/>
          <a:lstStyle/>
          <a:p>
            <a:pPr marL="0" indent="0">
              <a:buNone/>
            </a:pPr>
            <a:r>
              <a:rPr lang="en-US" sz="2600" b="1" dirty="0">
                <a:solidFill>
                  <a:srgbClr val="F8F2EA"/>
                </a:solidFill>
                <a:latin typeface="Noto Sans KR" pitchFamily="34" charset="0"/>
                <a:ea typeface="Noto Sans KR" pitchFamily="34" charset="-122"/>
                <a:cs typeface="Noto Sans KR" pitchFamily="34" charset="-120"/>
              </a:rPr>
              <a:t>지금, 살아있는 시스템</a:t>
            </a:r>
            <a:endParaRPr lang="en-US" sz="2600" dirty="0"/>
          </a:p>
        </p:txBody>
      </p:sp>
      <p:sp>
        <p:nvSpPr>
          <p:cNvPr id="4" name="Shape 2"/>
          <p:cNvSpPr/>
          <p:nvPr/>
        </p:nvSpPr>
        <p:spPr>
          <a:xfrm>
            <a:off x="502920" y="1554480"/>
            <a:ext cx="2011680" cy="0"/>
          </a:xfrm>
          <a:prstGeom prst="line">
            <a:avLst/>
          </a:prstGeom>
          <a:noFill/>
          <a:ln w="38100">
            <a:solidFill>
              <a:srgbClr val="E8A33D"/>
            </a:solidFill>
            <a:prstDash val="solid"/>
          </a:ln>
        </p:spPr>
        <p:txBody>
          <a:bodyPr/>
          <a:lstStyle/>
          <a:p>
            <a:endParaRPr lang="ko-KR" altLang="en-US"/>
          </a:p>
        </p:txBody>
      </p:sp>
      <p:sp>
        <p:nvSpPr>
          <p:cNvPr id="5" name="Shape 3"/>
          <p:cNvSpPr/>
          <p:nvPr/>
        </p:nvSpPr>
        <p:spPr>
          <a:xfrm>
            <a:off x="502920" y="1965960"/>
            <a:ext cx="3566160" cy="1737360"/>
          </a:xfrm>
          <a:prstGeom prst="roundRect">
            <a:avLst>
              <a:gd name="adj" fmla="val 5263"/>
            </a:avLst>
          </a:prstGeom>
          <a:solidFill>
            <a:srgbClr val="3A2A1B"/>
          </a:solidFill>
          <a:ln w="12700">
            <a:solidFill>
              <a:srgbClr val="55402A"/>
            </a:solidFill>
            <a:prstDash val="solid"/>
          </a:ln>
        </p:spPr>
        <p:txBody>
          <a:bodyPr/>
          <a:lstStyle/>
          <a:p>
            <a:endParaRPr lang="ko-KR" altLang="en-US"/>
          </a:p>
        </p:txBody>
      </p:sp>
      <p:sp>
        <p:nvSpPr>
          <p:cNvPr id="6" name="Text 4"/>
          <p:cNvSpPr/>
          <p:nvPr/>
        </p:nvSpPr>
        <p:spPr>
          <a:xfrm>
            <a:off x="758952" y="2221992"/>
            <a:ext cx="365760" cy="365760"/>
          </a:xfrm>
          <a:prstGeom prst="rect">
            <a:avLst/>
          </a:prstGeom>
          <a:noFill/>
          <a:ln/>
        </p:spPr>
        <p:txBody>
          <a:bodyPr wrap="square" rtlCol="0" anchor="ctr"/>
          <a:lstStyle/>
          <a:p>
            <a:pPr marL="0" indent="0">
              <a:buNone/>
            </a:pPr>
            <a:r>
              <a:rPr lang="en-US" sz="1300" dirty="0">
                <a:solidFill>
                  <a:srgbClr val="0E8F86"/>
                </a:solidFill>
                <a:latin typeface="Noto Sans KR" pitchFamily="34" charset="0"/>
                <a:ea typeface="Noto Sans KR" pitchFamily="34" charset="-122"/>
                <a:cs typeface="Noto Sans KR" pitchFamily="34" charset="-120"/>
              </a:rPr>
              <a:t>●</a:t>
            </a:r>
            <a:endParaRPr lang="en-US" sz="1300" dirty="0"/>
          </a:p>
        </p:txBody>
      </p:sp>
      <p:sp>
        <p:nvSpPr>
          <p:cNvPr id="7" name="Text 5"/>
          <p:cNvSpPr/>
          <p:nvPr/>
        </p:nvSpPr>
        <p:spPr>
          <a:xfrm>
            <a:off x="1161288" y="2194560"/>
            <a:ext cx="2743200" cy="502920"/>
          </a:xfrm>
          <a:prstGeom prst="rect">
            <a:avLst/>
          </a:prstGeom>
          <a:noFill/>
          <a:ln/>
        </p:spPr>
        <p:txBody>
          <a:bodyPr wrap="square" rtlCol="0" anchor="ctr"/>
          <a:lstStyle/>
          <a:p>
            <a:pPr marL="0" indent="0">
              <a:buNone/>
            </a:pPr>
            <a:r>
              <a:rPr lang="en-US" sz="1550" b="1" dirty="0" err="1">
                <a:solidFill>
                  <a:srgbClr val="E8A33D"/>
                </a:solidFill>
                <a:latin typeface="Noto Sans KR" pitchFamily="34" charset="0"/>
                <a:ea typeface="Noto Sans KR" pitchFamily="34" charset="-122"/>
                <a:cs typeface="Noto Sans KR" pitchFamily="34" charset="-120"/>
              </a:rPr>
              <a:t>서버</a:t>
            </a:r>
            <a:r>
              <a:rPr lang="en-US" sz="1550" b="1" dirty="0">
                <a:solidFill>
                  <a:srgbClr val="E8A33D"/>
                </a:solidFill>
                <a:latin typeface="Noto Sans KR" pitchFamily="34" charset="0"/>
                <a:ea typeface="Noto Sans KR" pitchFamily="34" charset="-122"/>
                <a:cs typeface="Noto Sans KR" pitchFamily="34" charset="-120"/>
              </a:rPr>
              <a:t>  24시간 가동</a:t>
            </a:r>
            <a:endParaRPr lang="en-US" sz="1550" dirty="0"/>
          </a:p>
        </p:txBody>
      </p:sp>
      <p:sp>
        <p:nvSpPr>
          <p:cNvPr id="8" name="Text 6"/>
          <p:cNvSpPr/>
          <p:nvPr/>
        </p:nvSpPr>
        <p:spPr>
          <a:xfrm>
            <a:off x="777240" y="2788920"/>
            <a:ext cx="3063240" cy="822960"/>
          </a:xfrm>
          <a:prstGeom prst="rect">
            <a:avLst/>
          </a:prstGeom>
          <a:noFill/>
          <a:ln/>
        </p:spPr>
        <p:txBody>
          <a:bodyPr wrap="square" rtlCol="0" anchor="ctr"/>
          <a:lstStyle/>
          <a:p>
            <a:pPr marL="0" indent="0">
              <a:lnSpc>
                <a:spcPct val="115000"/>
              </a:lnSpc>
              <a:buNone/>
            </a:pPr>
            <a:r>
              <a:rPr lang="en-US" sz="1250" dirty="0">
                <a:solidFill>
                  <a:srgbClr val="EDE3D5"/>
                </a:solidFill>
                <a:latin typeface="Noto Sans KR" pitchFamily="34" charset="0"/>
                <a:ea typeface="Noto Sans KR" pitchFamily="34" charset="-122"/>
                <a:cs typeface="Noto Sans KR" pitchFamily="34" charset="-120"/>
              </a:rPr>
              <a:t>업무 PC WSL2 — 로그인·화면·측정</a:t>
            </a:r>
            <a:endParaRPr lang="en-US" sz="1250" dirty="0"/>
          </a:p>
        </p:txBody>
      </p:sp>
      <p:sp>
        <p:nvSpPr>
          <p:cNvPr id="9" name="Shape 7"/>
          <p:cNvSpPr/>
          <p:nvPr/>
        </p:nvSpPr>
        <p:spPr>
          <a:xfrm>
            <a:off x="4297680" y="1965960"/>
            <a:ext cx="3566160" cy="1737360"/>
          </a:xfrm>
          <a:prstGeom prst="roundRect">
            <a:avLst>
              <a:gd name="adj" fmla="val 5263"/>
            </a:avLst>
          </a:prstGeom>
          <a:solidFill>
            <a:srgbClr val="3A2A1B"/>
          </a:solidFill>
          <a:ln w="12700">
            <a:solidFill>
              <a:srgbClr val="55402A"/>
            </a:solidFill>
            <a:prstDash val="solid"/>
          </a:ln>
        </p:spPr>
        <p:txBody>
          <a:bodyPr/>
          <a:lstStyle/>
          <a:p>
            <a:endParaRPr lang="ko-KR" altLang="en-US"/>
          </a:p>
        </p:txBody>
      </p:sp>
      <p:sp>
        <p:nvSpPr>
          <p:cNvPr id="10" name="Text 8"/>
          <p:cNvSpPr/>
          <p:nvPr/>
        </p:nvSpPr>
        <p:spPr>
          <a:xfrm>
            <a:off x="4553712" y="2221992"/>
            <a:ext cx="365760" cy="365760"/>
          </a:xfrm>
          <a:prstGeom prst="rect">
            <a:avLst/>
          </a:prstGeom>
          <a:noFill/>
          <a:ln/>
        </p:spPr>
        <p:txBody>
          <a:bodyPr wrap="square" rtlCol="0" anchor="ctr"/>
          <a:lstStyle/>
          <a:p>
            <a:pPr marL="0" indent="0">
              <a:buNone/>
            </a:pPr>
            <a:r>
              <a:rPr lang="en-US" sz="1300" dirty="0">
                <a:solidFill>
                  <a:srgbClr val="0E8F86"/>
                </a:solidFill>
                <a:latin typeface="Noto Sans KR" pitchFamily="34" charset="0"/>
                <a:ea typeface="Noto Sans KR" pitchFamily="34" charset="-122"/>
                <a:cs typeface="Noto Sans KR" pitchFamily="34" charset="-120"/>
              </a:rPr>
              <a:t>●</a:t>
            </a:r>
            <a:endParaRPr lang="en-US" sz="1300" dirty="0"/>
          </a:p>
        </p:txBody>
      </p:sp>
      <p:sp>
        <p:nvSpPr>
          <p:cNvPr id="11" name="Text 9"/>
          <p:cNvSpPr/>
          <p:nvPr/>
        </p:nvSpPr>
        <p:spPr>
          <a:xfrm>
            <a:off x="4956048" y="2194560"/>
            <a:ext cx="2743200" cy="502920"/>
          </a:xfrm>
          <a:prstGeom prst="rect">
            <a:avLst/>
          </a:prstGeom>
          <a:noFill/>
          <a:ln/>
        </p:spPr>
        <p:txBody>
          <a:bodyPr wrap="square" rtlCol="0" anchor="ctr"/>
          <a:lstStyle/>
          <a:p>
            <a:pPr marL="0" indent="0">
              <a:buNone/>
            </a:pPr>
            <a:r>
              <a:rPr lang="en-US" sz="1550" b="1" dirty="0">
                <a:solidFill>
                  <a:srgbClr val="E8A33D"/>
                </a:solidFill>
                <a:latin typeface="Noto Sans KR" pitchFamily="34" charset="0"/>
                <a:ea typeface="Noto Sans KR" pitchFamily="34" charset="-122"/>
                <a:cs typeface="Noto Sans KR" pitchFamily="34" charset="-120"/>
              </a:rPr>
              <a:t>odooaierp.com 공개</a:t>
            </a:r>
            <a:endParaRPr lang="en-US" sz="1550" dirty="0"/>
          </a:p>
        </p:txBody>
      </p:sp>
      <p:sp>
        <p:nvSpPr>
          <p:cNvPr id="12" name="Text 10"/>
          <p:cNvSpPr/>
          <p:nvPr/>
        </p:nvSpPr>
        <p:spPr>
          <a:xfrm>
            <a:off x="4572000" y="2788920"/>
            <a:ext cx="3063240" cy="822960"/>
          </a:xfrm>
          <a:prstGeom prst="rect">
            <a:avLst/>
          </a:prstGeom>
          <a:noFill/>
          <a:ln/>
        </p:spPr>
        <p:txBody>
          <a:bodyPr wrap="square" rtlCol="0" anchor="ctr"/>
          <a:lstStyle/>
          <a:p>
            <a:pPr marL="0" indent="0">
              <a:lnSpc>
                <a:spcPct val="115000"/>
              </a:lnSpc>
              <a:buNone/>
            </a:pPr>
            <a:r>
              <a:rPr lang="en-US" sz="1250" dirty="0">
                <a:solidFill>
                  <a:srgbClr val="EDE3D5"/>
                </a:solidFill>
                <a:latin typeface="Noto Sans KR" pitchFamily="34" charset="0"/>
                <a:ea typeface="Noto Sans KR" pitchFamily="34" charset="-122"/>
                <a:cs typeface="Noto Sans KR" pitchFamily="34" charset="-120"/>
              </a:rPr>
              <a:t>Cloudflare Tunnel — 폰 접속 확인</a:t>
            </a:r>
            <a:endParaRPr lang="en-US" sz="1250" dirty="0"/>
          </a:p>
        </p:txBody>
      </p:sp>
      <p:sp>
        <p:nvSpPr>
          <p:cNvPr id="13" name="Shape 11"/>
          <p:cNvSpPr/>
          <p:nvPr/>
        </p:nvSpPr>
        <p:spPr>
          <a:xfrm>
            <a:off x="8092440" y="1965960"/>
            <a:ext cx="3566160" cy="1737360"/>
          </a:xfrm>
          <a:prstGeom prst="roundRect">
            <a:avLst>
              <a:gd name="adj" fmla="val 5263"/>
            </a:avLst>
          </a:prstGeom>
          <a:solidFill>
            <a:srgbClr val="3A2A1B"/>
          </a:solidFill>
          <a:ln w="12700">
            <a:solidFill>
              <a:srgbClr val="55402A"/>
            </a:solidFill>
            <a:prstDash val="solid"/>
          </a:ln>
        </p:spPr>
        <p:txBody>
          <a:bodyPr/>
          <a:lstStyle/>
          <a:p>
            <a:endParaRPr lang="ko-KR" altLang="en-US"/>
          </a:p>
        </p:txBody>
      </p:sp>
      <p:sp>
        <p:nvSpPr>
          <p:cNvPr id="14" name="Text 12"/>
          <p:cNvSpPr/>
          <p:nvPr/>
        </p:nvSpPr>
        <p:spPr>
          <a:xfrm>
            <a:off x="8348472" y="2221992"/>
            <a:ext cx="365760" cy="365760"/>
          </a:xfrm>
          <a:prstGeom prst="rect">
            <a:avLst/>
          </a:prstGeom>
          <a:noFill/>
          <a:ln/>
        </p:spPr>
        <p:txBody>
          <a:bodyPr wrap="square" rtlCol="0" anchor="ctr"/>
          <a:lstStyle/>
          <a:p>
            <a:pPr marL="0" indent="0">
              <a:buNone/>
            </a:pPr>
            <a:r>
              <a:rPr lang="en-US" sz="1300" dirty="0">
                <a:solidFill>
                  <a:srgbClr val="0E8F86"/>
                </a:solidFill>
                <a:latin typeface="Noto Sans KR" pitchFamily="34" charset="0"/>
                <a:ea typeface="Noto Sans KR" pitchFamily="34" charset="-122"/>
                <a:cs typeface="Noto Sans KR" pitchFamily="34" charset="-120"/>
              </a:rPr>
              <a:t>●</a:t>
            </a:r>
            <a:endParaRPr lang="en-US" sz="1300" dirty="0"/>
          </a:p>
        </p:txBody>
      </p:sp>
      <p:sp>
        <p:nvSpPr>
          <p:cNvPr id="15" name="Text 13"/>
          <p:cNvSpPr/>
          <p:nvPr/>
        </p:nvSpPr>
        <p:spPr>
          <a:xfrm>
            <a:off x="8750808" y="2194560"/>
            <a:ext cx="2743200" cy="502920"/>
          </a:xfrm>
          <a:prstGeom prst="rect">
            <a:avLst/>
          </a:prstGeom>
          <a:noFill/>
          <a:ln/>
        </p:spPr>
        <p:txBody>
          <a:bodyPr wrap="square" rtlCol="0" anchor="ctr"/>
          <a:lstStyle/>
          <a:p>
            <a:pPr marL="0" indent="0">
              <a:buNone/>
            </a:pPr>
            <a:r>
              <a:rPr lang="en-US" sz="1550" b="1" dirty="0">
                <a:solidFill>
                  <a:srgbClr val="E8A33D"/>
                </a:solidFill>
                <a:latin typeface="Noto Sans KR" pitchFamily="34" charset="0"/>
                <a:ea typeface="Noto Sans KR" pitchFamily="34" charset="-122"/>
                <a:cs typeface="Noto Sans KR" pitchFamily="34" charset="-120"/>
              </a:rPr>
              <a:t>Claude Opus 서술</a:t>
            </a:r>
            <a:endParaRPr lang="en-US" sz="1550" dirty="0"/>
          </a:p>
        </p:txBody>
      </p:sp>
      <p:sp>
        <p:nvSpPr>
          <p:cNvPr id="16" name="Text 14"/>
          <p:cNvSpPr/>
          <p:nvPr/>
        </p:nvSpPr>
        <p:spPr>
          <a:xfrm>
            <a:off x="8366760" y="2788920"/>
            <a:ext cx="3063240" cy="822960"/>
          </a:xfrm>
          <a:prstGeom prst="rect">
            <a:avLst/>
          </a:prstGeom>
          <a:noFill/>
          <a:ln/>
        </p:spPr>
        <p:txBody>
          <a:bodyPr wrap="square" rtlCol="0" anchor="ctr"/>
          <a:lstStyle/>
          <a:p>
            <a:pPr marL="0" indent="0">
              <a:lnSpc>
                <a:spcPct val="115000"/>
              </a:lnSpc>
              <a:buNone/>
            </a:pPr>
            <a:r>
              <a:rPr lang="en-US" sz="1250" dirty="0">
                <a:solidFill>
                  <a:srgbClr val="EDE3D5"/>
                </a:solidFill>
                <a:latin typeface="Noto Sans KR" pitchFamily="34" charset="0"/>
                <a:ea typeface="Noto Sans KR" pitchFamily="34" charset="-122"/>
                <a:cs typeface="Noto Sans KR" pitchFamily="34" charset="-120"/>
              </a:rPr>
              <a:t>인용 강제 유지·반출 옵트인</a:t>
            </a:r>
            <a:endParaRPr lang="en-US" sz="1250" dirty="0"/>
          </a:p>
        </p:txBody>
      </p:sp>
      <p:sp>
        <p:nvSpPr>
          <p:cNvPr id="17" name="Shape 15"/>
          <p:cNvSpPr/>
          <p:nvPr/>
        </p:nvSpPr>
        <p:spPr>
          <a:xfrm>
            <a:off x="502920" y="3931920"/>
            <a:ext cx="3566160" cy="1737360"/>
          </a:xfrm>
          <a:prstGeom prst="roundRect">
            <a:avLst>
              <a:gd name="adj" fmla="val 5263"/>
            </a:avLst>
          </a:prstGeom>
          <a:solidFill>
            <a:srgbClr val="3A2A1B"/>
          </a:solidFill>
          <a:ln w="12700">
            <a:solidFill>
              <a:srgbClr val="55402A"/>
            </a:solidFill>
            <a:prstDash val="solid"/>
          </a:ln>
        </p:spPr>
        <p:txBody>
          <a:bodyPr/>
          <a:lstStyle/>
          <a:p>
            <a:endParaRPr lang="ko-KR" altLang="en-US"/>
          </a:p>
        </p:txBody>
      </p:sp>
      <p:sp>
        <p:nvSpPr>
          <p:cNvPr id="18" name="Text 16"/>
          <p:cNvSpPr/>
          <p:nvPr/>
        </p:nvSpPr>
        <p:spPr>
          <a:xfrm>
            <a:off x="758952" y="4187952"/>
            <a:ext cx="365760" cy="365760"/>
          </a:xfrm>
          <a:prstGeom prst="rect">
            <a:avLst/>
          </a:prstGeom>
          <a:noFill/>
          <a:ln/>
        </p:spPr>
        <p:txBody>
          <a:bodyPr wrap="square" rtlCol="0" anchor="ctr"/>
          <a:lstStyle/>
          <a:p>
            <a:pPr marL="0" indent="0">
              <a:buNone/>
            </a:pPr>
            <a:r>
              <a:rPr lang="en-US" sz="1300" dirty="0">
                <a:solidFill>
                  <a:srgbClr val="0E8F86"/>
                </a:solidFill>
                <a:latin typeface="Noto Sans KR" pitchFamily="34" charset="0"/>
                <a:ea typeface="Noto Sans KR" pitchFamily="34" charset="-122"/>
                <a:cs typeface="Noto Sans KR" pitchFamily="34" charset="-120"/>
              </a:rPr>
              <a:t>●</a:t>
            </a:r>
            <a:endParaRPr lang="en-US" sz="1300" dirty="0"/>
          </a:p>
        </p:txBody>
      </p:sp>
      <p:sp>
        <p:nvSpPr>
          <p:cNvPr id="19" name="Text 17"/>
          <p:cNvSpPr/>
          <p:nvPr/>
        </p:nvSpPr>
        <p:spPr>
          <a:xfrm>
            <a:off x="1161288" y="4160520"/>
            <a:ext cx="2743200" cy="502920"/>
          </a:xfrm>
          <a:prstGeom prst="rect">
            <a:avLst/>
          </a:prstGeom>
          <a:noFill/>
          <a:ln/>
        </p:spPr>
        <p:txBody>
          <a:bodyPr wrap="square" rtlCol="0" anchor="ctr"/>
          <a:lstStyle/>
          <a:p>
            <a:pPr marL="0" indent="0">
              <a:buNone/>
            </a:pPr>
            <a:r>
              <a:rPr lang="en-US" sz="1550" b="1" dirty="0">
                <a:solidFill>
                  <a:srgbClr val="E8A33D"/>
                </a:solidFill>
                <a:latin typeface="Noto Sans KR" pitchFamily="34" charset="0"/>
                <a:ea typeface="Noto Sans KR" pitchFamily="34" charset="-122"/>
                <a:cs typeface="Noto Sans KR" pitchFamily="34" charset="-120"/>
              </a:rPr>
              <a:t>복제 소크 무결</a:t>
            </a:r>
            <a:endParaRPr lang="en-US" sz="1550" dirty="0"/>
          </a:p>
        </p:txBody>
      </p:sp>
      <p:sp>
        <p:nvSpPr>
          <p:cNvPr id="20" name="Text 18"/>
          <p:cNvSpPr/>
          <p:nvPr/>
        </p:nvSpPr>
        <p:spPr>
          <a:xfrm>
            <a:off x="777240" y="4754880"/>
            <a:ext cx="3063240" cy="822960"/>
          </a:xfrm>
          <a:prstGeom prst="rect">
            <a:avLst/>
          </a:prstGeom>
          <a:noFill/>
          <a:ln/>
        </p:spPr>
        <p:txBody>
          <a:bodyPr wrap="square" rtlCol="0" anchor="ctr"/>
          <a:lstStyle/>
          <a:p>
            <a:pPr marL="0" indent="0">
              <a:lnSpc>
                <a:spcPct val="115000"/>
              </a:lnSpc>
              <a:buNone/>
            </a:pPr>
            <a:r>
              <a:rPr lang="en-US" sz="1250" dirty="0">
                <a:solidFill>
                  <a:srgbClr val="EDE3D5"/>
                </a:solidFill>
                <a:latin typeface="Noto Sans KR" pitchFamily="34" charset="0"/>
                <a:ea typeface="Noto Sans KR" pitchFamily="34" charset="-122"/>
                <a:cs typeface="Noto Sans KR" pitchFamily="34" charset="-120"/>
              </a:rPr>
              <a:t>CDC 정합 all_ok 지속</a:t>
            </a:r>
            <a:endParaRPr lang="en-US" sz="1250" dirty="0"/>
          </a:p>
        </p:txBody>
      </p:sp>
      <p:sp>
        <p:nvSpPr>
          <p:cNvPr id="21" name="Shape 19"/>
          <p:cNvSpPr/>
          <p:nvPr/>
        </p:nvSpPr>
        <p:spPr>
          <a:xfrm>
            <a:off x="4297680" y="3931920"/>
            <a:ext cx="3566160" cy="1737360"/>
          </a:xfrm>
          <a:prstGeom prst="roundRect">
            <a:avLst>
              <a:gd name="adj" fmla="val 5263"/>
            </a:avLst>
          </a:prstGeom>
          <a:solidFill>
            <a:srgbClr val="3A2A1B"/>
          </a:solidFill>
          <a:ln w="12700">
            <a:solidFill>
              <a:srgbClr val="55402A"/>
            </a:solidFill>
            <a:prstDash val="solid"/>
          </a:ln>
        </p:spPr>
        <p:txBody>
          <a:bodyPr/>
          <a:lstStyle/>
          <a:p>
            <a:endParaRPr lang="ko-KR" altLang="en-US"/>
          </a:p>
        </p:txBody>
      </p:sp>
      <p:sp>
        <p:nvSpPr>
          <p:cNvPr id="22" name="Text 20"/>
          <p:cNvSpPr/>
          <p:nvPr/>
        </p:nvSpPr>
        <p:spPr>
          <a:xfrm>
            <a:off x="4553712" y="4187952"/>
            <a:ext cx="365760" cy="365760"/>
          </a:xfrm>
          <a:prstGeom prst="rect">
            <a:avLst/>
          </a:prstGeom>
          <a:noFill/>
          <a:ln/>
        </p:spPr>
        <p:txBody>
          <a:bodyPr wrap="square" rtlCol="0" anchor="ctr"/>
          <a:lstStyle/>
          <a:p>
            <a:pPr marL="0" indent="0">
              <a:buNone/>
            </a:pPr>
            <a:r>
              <a:rPr lang="en-US" sz="1300" dirty="0">
                <a:solidFill>
                  <a:srgbClr val="0E8F86"/>
                </a:solidFill>
                <a:latin typeface="Noto Sans KR" pitchFamily="34" charset="0"/>
                <a:ea typeface="Noto Sans KR" pitchFamily="34" charset="-122"/>
                <a:cs typeface="Noto Sans KR" pitchFamily="34" charset="-120"/>
              </a:rPr>
              <a:t>●</a:t>
            </a:r>
            <a:endParaRPr lang="en-US" sz="1300" dirty="0"/>
          </a:p>
        </p:txBody>
      </p:sp>
      <p:sp>
        <p:nvSpPr>
          <p:cNvPr id="23" name="Text 21"/>
          <p:cNvSpPr/>
          <p:nvPr/>
        </p:nvSpPr>
        <p:spPr>
          <a:xfrm>
            <a:off x="4956048" y="4160520"/>
            <a:ext cx="2743200" cy="502920"/>
          </a:xfrm>
          <a:prstGeom prst="rect">
            <a:avLst/>
          </a:prstGeom>
          <a:noFill/>
          <a:ln/>
        </p:spPr>
        <p:txBody>
          <a:bodyPr wrap="square" rtlCol="0" anchor="ctr"/>
          <a:lstStyle/>
          <a:p>
            <a:pPr marL="0" indent="0">
              <a:buNone/>
            </a:pPr>
            <a:r>
              <a:rPr lang="en-US" sz="1550" b="1" dirty="0">
                <a:solidFill>
                  <a:srgbClr val="E8A33D"/>
                </a:solidFill>
                <a:latin typeface="Noto Sans KR" pitchFamily="34" charset="0"/>
                <a:ea typeface="Noto Sans KR" pitchFamily="34" charset="-122"/>
                <a:cs typeface="Noto Sans KR" pitchFamily="34" charset="-120"/>
              </a:rPr>
              <a:t>테스트 155 그린</a:t>
            </a:r>
            <a:endParaRPr lang="en-US" sz="1550" dirty="0"/>
          </a:p>
        </p:txBody>
      </p:sp>
      <p:sp>
        <p:nvSpPr>
          <p:cNvPr id="24" name="Text 22"/>
          <p:cNvSpPr/>
          <p:nvPr/>
        </p:nvSpPr>
        <p:spPr>
          <a:xfrm>
            <a:off x="4572000" y="4754880"/>
            <a:ext cx="3063240" cy="822960"/>
          </a:xfrm>
          <a:prstGeom prst="rect">
            <a:avLst/>
          </a:prstGeom>
          <a:noFill/>
          <a:ln/>
        </p:spPr>
        <p:txBody>
          <a:bodyPr wrap="square" rtlCol="0" anchor="ctr"/>
          <a:lstStyle/>
          <a:p>
            <a:pPr marL="0" indent="0">
              <a:lnSpc>
                <a:spcPct val="115000"/>
              </a:lnSpc>
              <a:buNone/>
            </a:pPr>
            <a:r>
              <a:rPr lang="en-US" sz="1250" dirty="0">
                <a:solidFill>
                  <a:srgbClr val="EDE3D5"/>
                </a:solidFill>
                <a:latin typeface="Noto Sans KR" pitchFamily="34" charset="0"/>
                <a:ea typeface="Noto Sans KR" pitchFamily="34" charset="-122"/>
                <a:cs typeface="Noto Sans KR" pitchFamily="34" charset="-120"/>
              </a:rPr>
              <a:t>PG 155 · SQLite 150+5skip</a:t>
            </a:r>
            <a:endParaRPr lang="en-US" sz="1250" dirty="0"/>
          </a:p>
        </p:txBody>
      </p:sp>
      <p:sp>
        <p:nvSpPr>
          <p:cNvPr id="25" name="Shape 23"/>
          <p:cNvSpPr/>
          <p:nvPr/>
        </p:nvSpPr>
        <p:spPr>
          <a:xfrm>
            <a:off x="8092440" y="3931920"/>
            <a:ext cx="3566160" cy="1737360"/>
          </a:xfrm>
          <a:prstGeom prst="roundRect">
            <a:avLst>
              <a:gd name="adj" fmla="val 5263"/>
            </a:avLst>
          </a:prstGeom>
          <a:solidFill>
            <a:srgbClr val="3A2A1B"/>
          </a:solidFill>
          <a:ln w="12700">
            <a:solidFill>
              <a:srgbClr val="55402A"/>
            </a:solidFill>
            <a:prstDash val="solid"/>
          </a:ln>
        </p:spPr>
        <p:txBody>
          <a:bodyPr/>
          <a:lstStyle/>
          <a:p>
            <a:endParaRPr lang="ko-KR" altLang="en-US"/>
          </a:p>
        </p:txBody>
      </p:sp>
      <p:sp>
        <p:nvSpPr>
          <p:cNvPr id="26" name="Text 24"/>
          <p:cNvSpPr/>
          <p:nvPr/>
        </p:nvSpPr>
        <p:spPr>
          <a:xfrm>
            <a:off x="8348472" y="4187952"/>
            <a:ext cx="365760" cy="365760"/>
          </a:xfrm>
          <a:prstGeom prst="rect">
            <a:avLst/>
          </a:prstGeom>
          <a:noFill/>
          <a:ln/>
        </p:spPr>
        <p:txBody>
          <a:bodyPr wrap="square" rtlCol="0" anchor="ctr"/>
          <a:lstStyle/>
          <a:p>
            <a:pPr marL="0" indent="0">
              <a:buNone/>
            </a:pPr>
            <a:r>
              <a:rPr lang="en-US" sz="1300" dirty="0">
                <a:solidFill>
                  <a:srgbClr val="0E8F86"/>
                </a:solidFill>
                <a:latin typeface="Noto Sans KR" pitchFamily="34" charset="0"/>
                <a:ea typeface="Noto Sans KR" pitchFamily="34" charset="-122"/>
                <a:cs typeface="Noto Sans KR" pitchFamily="34" charset="-120"/>
              </a:rPr>
              <a:t>●</a:t>
            </a:r>
            <a:endParaRPr lang="en-US" sz="1300" dirty="0"/>
          </a:p>
        </p:txBody>
      </p:sp>
      <p:sp>
        <p:nvSpPr>
          <p:cNvPr id="27" name="Text 25"/>
          <p:cNvSpPr/>
          <p:nvPr/>
        </p:nvSpPr>
        <p:spPr>
          <a:xfrm>
            <a:off x="8750808" y="4160520"/>
            <a:ext cx="2743200" cy="502920"/>
          </a:xfrm>
          <a:prstGeom prst="rect">
            <a:avLst/>
          </a:prstGeom>
          <a:noFill/>
          <a:ln/>
        </p:spPr>
        <p:txBody>
          <a:bodyPr wrap="square" rtlCol="0" anchor="ctr"/>
          <a:lstStyle/>
          <a:p>
            <a:pPr marL="0" indent="0">
              <a:buNone/>
            </a:pPr>
            <a:r>
              <a:rPr lang="en-US" sz="1550" b="1" dirty="0">
                <a:solidFill>
                  <a:srgbClr val="E8A33D"/>
                </a:solidFill>
                <a:latin typeface="Noto Sans KR" pitchFamily="34" charset="0"/>
                <a:ea typeface="Noto Sans KR" pitchFamily="34" charset="-122"/>
                <a:cs typeface="Noto Sans KR" pitchFamily="34" charset="-120"/>
              </a:rPr>
              <a:t>데모 시나리오 통과</a:t>
            </a:r>
            <a:endParaRPr lang="en-US" sz="1550" dirty="0"/>
          </a:p>
        </p:txBody>
      </p:sp>
      <p:sp>
        <p:nvSpPr>
          <p:cNvPr id="28" name="Text 26"/>
          <p:cNvSpPr/>
          <p:nvPr/>
        </p:nvSpPr>
        <p:spPr>
          <a:xfrm>
            <a:off x="8366760" y="4754880"/>
            <a:ext cx="3063240" cy="822960"/>
          </a:xfrm>
          <a:prstGeom prst="rect">
            <a:avLst/>
          </a:prstGeom>
          <a:noFill/>
          <a:ln/>
        </p:spPr>
        <p:txBody>
          <a:bodyPr wrap="square" rtlCol="0" anchor="ctr"/>
          <a:lstStyle/>
          <a:p>
            <a:pPr marL="0" indent="0">
              <a:lnSpc>
                <a:spcPct val="115000"/>
              </a:lnSpc>
              <a:buNone/>
            </a:pPr>
            <a:r>
              <a:rPr lang="en-US" sz="1250" dirty="0">
                <a:solidFill>
                  <a:srgbClr val="EDE3D5"/>
                </a:solidFill>
                <a:latin typeface="Noto Sans KR" pitchFamily="34" charset="0"/>
                <a:ea typeface="Noto Sans KR" pitchFamily="34" charset="-122"/>
                <a:cs typeface="Noto Sans KR" pitchFamily="34" charset="-120"/>
              </a:rPr>
              <a:t>M1→M7·KPI 달성·웹 워크스루</a:t>
            </a:r>
            <a:endParaRPr lang="en-US" sz="1250" dirty="0"/>
          </a:p>
        </p:txBody>
      </p:sp>
      <p:sp>
        <p:nvSpPr>
          <p:cNvPr id="29" name="Text 27"/>
          <p:cNvSpPr/>
          <p:nvPr/>
        </p:nvSpPr>
        <p:spPr>
          <a:xfrm>
            <a:off x="502920" y="6080760"/>
            <a:ext cx="11155680" cy="411480"/>
          </a:xfrm>
          <a:prstGeom prst="rect">
            <a:avLst/>
          </a:prstGeom>
          <a:noFill/>
          <a:ln/>
        </p:spPr>
        <p:txBody>
          <a:bodyPr wrap="square" rtlCol="0" anchor="ctr"/>
          <a:lstStyle/>
          <a:p>
            <a:pPr marL="0" indent="0">
              <a:buNone/>
            </a:pPr>
            <a:r>
              <a:rPr lang="en-US" sz="1500" b="1" i="1" dirty="0">
                <a:solidFill>
                  <a:srgbClr val="E8A33D"/>
                </a:solidFill>
                <a:latin typeface="Noto Sans KR" pitchFamily="34" charset="0"/>
                <a:ea typeface="Noto Sans KR" pitchFamily="34" charset="-122"/>
                <a:cs typeface="Noto Sans KR" pitchFamily="34" charset="-120"/>
              </a:rPr>
              <a:t>남은 것은 규모(데이터·고객)의 문제이지, 구축의 문제가 아닙니다</a:t>
            </a:r>
            <a:endParaRPr lang="en-US" sz="1500" dirty="0"/>
          </a:p>
        </p:txBody>
      </p:sp>
      <p:sp>
        <p:nvSpPr>
          <p:cNvPr id="30" name="Text 28"/>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B9A78F"/>
                </a:solidFill>
                <a:latin typeface="Noto Sans KR" pitchFamily="34" charset="0"/>
                <a:ea typeface="Noto Sans KR" pitchFamily="34" charset="-122"/>
                <a:cs typeface="Noto Sans KR" pitchFamily="34" charset="-120"/>
              </a:rPr>
              <a:t>18</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0">
    <p:bg>
      <p:bgPr>
        <a:solidFill>
          <a:srgbClr val="2B1D12"/>
        </a:solidFill>
        <a:effectLst/>
      </p:bgPr>
    </p:bg>
    <p:spTree>
      <p:nvGrpSpPr>
        <p:cNvPr id="1" name=""/>
        <p:cNvGrpSpPr/>
        <p:nvPr/>
      </p:nvGrpSpPr>
      <p:grpSpPr>
        <a:xfrm>
          <a:off x="0" y="0"/>
          <a:ext cx="0" cy="0"/>
          <a:chOff x="0" y="0"/>
          <a:chExt cx="0" cy="0"/>
        </a:xfrm>
      </p:grpSpPr>
      <p:sp>
        <p:nvSpPr>
          <p:cNvPr id="2" name="Shape 0"/>
          <p:cNvSpPr/>
          <p:nvPr/>
        </p:nvSpPr>
        <p:spPr>
          <a:xfrm>
            <a:off x="0" y="6693408"/>
            <a:ext cx="12191695" cy="164592"/>
          </a:xfrm>
          <a:prstGeom prst="rect">
            <a:avLst/>
          </a:prstGeom>
          <a:solidFill>
            <a:srgbClr val="E8A33D"/>
          </a:solidFill>
          <a:ln/>
        </p:spPr>
        <p:txBody>
          <a:bodyPr/>
          <a:lstStyle/>
          <a:p>
            <a:endParaRPr lang="ko-KR" altLang="en-US"/>
          </a:p>
        </p:txBody>
      </p:sp>
      <p:sp>
        <p:nvSpPr>
          <p:cNvPr id="3" name="Text 1"/>
          <p:cNvSpPr/>
          <p:nvPr/>
        </p:nvSpPr>
        <p:spPr>
          <a:xfrm>
            <a:off x="822960" y="1371600"/>
            <a:ext cx="10058400" cy="457200"/>
          </a:xfrm>
          <a:prstGeom prst="rect">
            <a:avLst/>
          </a:prstGeom>
          <a:noFill/>
          <a:ln/>
        </p:spPr>
        <p:txBody>
          <a:bodyPr wrap="square" rtlCol="0" anchor="ctr"/>
          <a:lstStyle/>
          <a:p>
            <a:pPr marL="0" indent="0">
              <a:buNone/>
            </a:pPr>
            <a:r>
              <a:rPr lang="en-US" sz="1500" b="1" kern="0" spc="500" dirty="0">
                <a:solidFill>
                  <a:srgbClr val="E8A33D"/>
                </a:solidFill>
                <a:latin typeface="Noto Sans KR" pitchFamily="34" charset="0"/>
                <a:ea typeface="Noto Sans KR" pitchFamily="34" charset="-122"/>
                <a:cs typeface="Noto Sans KR" pitchFamily="34" charset="-120"/>
              </a:rPr>
              <a:t>CLOSING</a:t>
            </a:r>
            <a:endParaRPr lang="en-US" sz="1500" dirty="0"/>
          </a:p>
        </p:txBody>
      </p:sp>
      <p:sp>
        <p:nvSpPr>
          <p:cNvPr id="4" name="Text 2"/>
          <p:cNvSpPr/>
          <p:nvPr/>
        </p:nvSpPr>
        <p:spPr>
          <a:xfrm>
            <a:off x="822960" y="2011680"/>
            <a:ext cx="10607040" cy="731520"/>
          </a:xfrm>
          <a:prstGeom prst="rect">
            <a:avLst/>
          </a:prstGeom>
          <a:noFill/>
          <a:ln/>
        </p:spPr>
        <p:txBody>
          <a:bodyPr wrap="square" rtlCol="0" anchor="ctr"/>
          <a:lstStyle/>
          <a:p>
            <a:pPr marL="0" indent="0">
              <a:buNone/>
            </a:pPr>
            <a:r>
              <a:rPr lang="en-US" sz="3400" b="1" dirty="0" err="1">
                <a:solidFill>
                  <a:srgbClr val="F8F2EA"/>
                </a:solidFill>
                <a:latin typeface="Noto Sans KR" pitchFamily="34" charset="0"/>
                <a:ea typeface="Noto Sans KR" pitchFamily="34" charset="-122"/>
                <a:cs typeface="Noto Sans KR" pitchFamily="34" charset="-120"/>
              </a:rPr>
              <a:t>방법론이</a:t>
            </a:r>
            <a:r>
              <a:rPr lang="en-US" sz="3400" b="1" dirty="0">
                <a:solidFill>
                  <a:srgbClr val="F8F2EA"/>
                </a:solidFill>
                <a:latin typeface="Noto Sans KR" pitchFamily="34" charset="0"/>
                <a:ea typeface="Noto Sans KR" pitchFamily="34" charset="-122"/>
                <a:cs typeface="Noto Sans KR" pitchFamily="34" charset="-120"/>
              </a:rPr>
              <a:t> </a:t>
            </a:r>
            <a:r>
              <a:rPr lang="ko-KR" altLang="en-US" sz="3400" b="1" dirty="0">
                <a:solidFill>
                  <a:srgbClr val="F8F2EA"/>
                </a:solidFill>
                <a:latin typeface="Noto Sans KR" pitchFamily="34" charset="0"/>
                <a:ea typeface="Noto Sans KR" pitchFamily="34" charset="-122"/>
                <a:cs typeface="Noto Sans KR" pitchFamily="34" charset="-120"/>
              </a:rPr>
              <a:t>우리 회사에 맞는 </a:t>
            </a:r>
            <a:r>
              <a:rPr lang="en-US" sz="3400" b="1" dirty="0">
                <a:solidFill>
                  <a:srgbClr val="F8F2EA"/>
                </a:solidFill>
                <a:latin typeface="Noto Sans KR" pitchFamily="34" charset="0"/>
                <a:ea typeface="Noto Sans KR" pitchFamily="34" charset="-122"/>
                <a:cs typeface="Noto Sans KR" pitchFamily="34" charset="-120"/>
              </a:rPr>
              <a:t>AX </a:t>
            </a:r>
            <a:r>
              <a:rPr lang="ko-KR" altLang="en-US" sz="3400" b="1" dirty="0">
                <a:solidFill>
                  <a:srgbClr val="F8F2EA"/>
                </a:solidFill>
                <a:latin typeface="Noto Sans KR" pitchFamily="34" charset="0"/>
                <a:ea typeface="Noto Sans KR" pitchFamily="34" charset="-122"/>
                <a:cs typeface="Noto Sans KR" pitchFamily="34" charset="-120"/>
              </a:rPr>
              <a:t>플랫폼</a:t>
            </a:r>
            <a:r>
              <a:rPr lang="en-US" sz="3400" b="1" dirty="0">
                <a:solidFill>
                  <a:srgbClr val="F8F2EA"/>
                </a:solidFill>
                <a:latin typeface="Noto Sans KR" pitchFamily="34" charset="0"/>
                <a:ea typeface="Noto Sans KR" pitchFamily="34" charset="-122"/>
                <a:cs typeface="Noto Sans KR" pitchFamily="34" charset="-120"/>
              </a:rPr>
              <a:t>이 될 때</a:t>
            </a:r>
            <a:endParaRPr lang="en-US" sz="3400" dirty="0"/>
          </a:p>
        </p:txBody>
      </p:sp>
      <p:sp>
        <p:nvSpPr>
          <p:cNvPr id="5" name="Text 3"/>
          <p:cNvSpPr/>
          <p:nvPr/>
        </p:nvSpPr>
        <p:spPr>
          <a:xfrm>
            <a:off x="822960" y="2926080"/>
            <a:ext cx="10607040" cy="914400"/>
          </a:xfrm>
          <a:prstGeom prst="rect">
            <a:avLst/>
          </a:prstGeom>
          <a:noFill/>
          <a:ln/>
        </p:spPr>
        <p:txBody>
          <a:bodyPr wrap="square" rtlCol="0" anchor="ctr"/>
          <a:lstStyle/>
          <a:p>
            <a:pPr marL="0" indent="0">
              <a:lnSpc>
                <a:spcPct val="130000"/>
              </a:lnSpc>
              <a:buNone/>
            </a:pPr>
            <a:r>
              <a:rPr lang="en-US" sz="1600" dirty="0">
                <a:solidFill>
                  <a:srgbClr val="D8C6B2"/>
                </a:solidFill>
                <a:latin typeface="Noto Sans KR" pitchFamily="34" charset="0"/>
                <a:ea typeface="Noto Sans KR" pitchFamily="34" charset="-122"/>
                <a:cs typeface="Noto Sans KR" pitchFamily="34" charset="-120"/>
              </a:rPr>
              <a:t>DMAIC는 M3와 게이트로, 3정5S는 M2의 품질 게이트로, 커스터디 헌장은 M0의 반출 게이트로, 판단 카드는 M6·M7의 스키마로 — 문서의 방법론이 구조로 굳었습니다.</a:t>
            </a:r>
            <a:endParaRPr lang="en-US" sz="1600" dirty="0"/>
          </a:p>
        </p:txBody>
      </p:sp>
      <p:sp>
        <p:nvSpPr>
          <p:cNvPr id="6" name="Text 4"/>
          <p:cNvSpPr/>
          <p:nvPr/>
        </p:nvSpPr>
        <p:spPr>
          <a:xfrm>
            <a:off x="822960" y="4114800"/>
            <a:ext cx="10607040" cy="548640"/>
          </a:xfrm>
          <a:prstGeom prst="rect">
            <a:avLst/>
          </a:prstGeom>
          <a:noFill/>
          <a:ln/>
        </p:spPr>
        <p:txBody>
          <a:bodyPr wrap="square" rtlCol="0" anchor="ctr"/>
          <a:lstStyle/>
          <a:p>
            <a:pPr marL="0" indent="0">
              <a:buNone/>
            </a:pPr>
            <a:r>
              <a:rPr lang="en-US" sz="2200" b="1" dirty="0">
                <a:solidFill>
                  <a:srgbClr val="E8A33D"/>
                </a:solidFill>
                <a:latin typeface="Noto Sans KR" pitchFamily="34" charset="0"/>
                <a:ea typeface="Noto Sans KR" pitchFamily="34" charset="-122"/>
                <a:cs typeface="Noto Sans KR" pitchFamily="34" charset="-120"/>
              </a:rPr>
              <a:t>"문서에 있으면 사람이 지켜야 하지만, 플랫폼이 되면 구조가 지킵니다."</a:t>
            </a:r>
            <a:endParaRPr lang="en-US" sz="2200" dirty="0"/>
          </a:p>
        </p:txBody>
      </p:sp>
      <p:sp>
        <p:nvSpPr>
          <p:cNvPr id="7" name="Text 5"/>
          <p:cNvSpPr/>
          <p:nvPr/>
        </p:nvSpPr>
        <p:spPr>
          <a:xfrm>
            <a:off x="822960" y="4846320"/>
            <a:ext cx="10607040" cy="457200"/>
          </a:xfrm>
          <a:prstGeom prst="rect">
            <a:avLst/>
          </a:prstGeom>
          <a:noFill/>
          <a:ln/>
        </p:spPr>
        <p:txBody>
          <a:bodyPr wrap="square" rtlCol="0" anchor="ctr"/>
          <a:lstStyle/>
          <a:p>
            <a:pPr marL="0" indent="0">
              <a:buNone/>
            </a:pPr>
            <a:r>
              <a:rPr lang="en-US" sz="1500" dirty="0">
                <a:solidFill>
                  <a:srgbClr val="D8C6B2"/>
                </a:solidFill>
                <a:latin typeface="Noto Sans KR" pitchFamily="34" charset="0"/>
                <a:ea typeface="Noto Sans KR" pitchFamily="34" charset="-122"/>
                <a:cs typeface="Noto Sans KR" pitchFamily="34" charset="-120"/>
              </a:rPr>
              <a:t>구조가 지키는 회사는 — 담당자가 바뀌어도, 지원이 끝나도, 축적을 잃지 않습니다.</a:t>
            </a:r>
            <a:endParaRPr lang="en-US" sz="1500" dirty="0"/>
          </a:p>
        </p:txBody>
      </p:sp>
      <p:sp>
        <p:nvSpPr>
          <p:cNvPr id="8" name="Text 6"/>
          <p:cNvSpPr/>
          <p:nvPr/>
        </p:nvSpPr>
        <p:spPr>
          <a:xfrm>
            <a:off x="822960" y="5852160"/>
            <a:ext cx="10058400" cy="365760"/>
          </a:xfrm>
          <a:prstGeom prst="rect">
            <a:avLst/>
          </a:prstGeom>
          <a:noFill/>
          <a:ln/>
        </p:spPr>
        <p:txBody>
          <a:bodyPr wrap="square" rtlCol="0" anchor="ctr"/>
          <a:lstStyle/>
          <a:p>
            <a:pPr marL="0" indent="0">
              <a:buNone/>
            </a:pPr>
            <a:r>
              <a:rPr lang="en-US" sz="1400" b="1" dirty="0">
                <a:solidFill>
                  <a:srgbClr val="E8A33D"/>
                </a:solidFill>
                <a:latin typeface="Noto Sans KR" pitchFamily="34" charset="0"/>
                <a:ea typeface="Noto Sans KR" pitchFamily="34" charset="-122"/>
                <a:cs typeface="Noto Sans KR" pitchFamily="34" charset="-120"/>
              </a:rPr>
              <a:t>에이에스씨(ASC) · odooaierp.com</a:t>
            </a:r>
            <a:endParaRPr lang="en-US" sz="1400" dirty="0"/>
          </a:p>
        </p:txBody>
      </p:sp>
      <p:sp>
        <p:nvSpPr>
          <p:cNvPr id="9" name="Text 7"/>
          <p:cNvSpPr/>
          <p:nvPr/>
        </p:nvSpPr>
        <p:spPr>
          <a:xfrm>
            <a:off x="11430000" y="6419088"/>
            <a:ext cx="548640" cy="292608"/>
          </a:xfrm>
          <a:prstGeom prst="rect">
            <a:avLst/>
          </a:prstGeom>
          <a:noFill/>
          <a:ln/>
        </p:spPr>
        <p:txBody>
          <a:bodyPr wrap="square" rtlCol="0" anchor="ctr"/>
          <a:lstStyle/>
          <a:p>
            <a:pPr marL="0" indent="0" algn="r">
              <a:buNone/>
            </a:pPr>
            <a:r>
              <a:rPr lang="en-US" sz="1000" dirty="0">
                <a:solidFill>
                  <a:srgbClr val="B9A78F"/>
                </a:solidFill>
                <a:latin typeface="Noto Sans KR" pitchFamily="34" charset="0"/>
                <a:ea typeface="Noto Sans KR" pitchFamily="34" charset="-122"/>
                <a:cs typeface="Noto Sans KR"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5246</Words>
  <Application>Microsoft Office PowerPoint</Application>
  <PresentationFormat>와이드스크린</PresentationFormat>
  <Paragraphs>644</Paragraphs>
  <Slides>34</Slides>
  <Notes>34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34</vt:i4>
      </vt:variant>
    </vt:vector>
  </HeadingPairs>
  <TitlesOfParts>
    <vt:vector size="38" baseType="lpstr">
      <vt:lpstr>Noto Sans KR</vt: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 플랫폼 최종 발표자료</dc:title>
  <dc:subject>PptxGenJS Presentation</dc:subject>
  <dc:creator>ASC</dc:creator>
  <cp:lastModifiedBy>이형근</cp:lastModifiedBy>
  <cp:revision>1</cp:revision>
  <dcterms:created xsi:type="dcterms:W3CDTF">2026-09-14T00:54:00Z</dcterms:created>
  <dcterms:modified xsi:type="dcterms:W3CDTF">2026-09-14T03:57:29Z</dcterms:modified>
</cp:coreProperties>
</file>