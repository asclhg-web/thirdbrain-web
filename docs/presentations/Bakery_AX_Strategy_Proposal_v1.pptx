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부산 세미나에서 40%가 'Odoo 도입 시 AX 추진방법' 질의. 그중 제빵회사의 제조·물류 AX 요청에 대한 1차 표준 제안. 현장 진단 후 2차 맞춤화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제빵업이 AX에 유리한 이유: 매일 계획-생산-판매-폐기의 전체 루프가 하루에 한 번 돈다 → 학습 데이터가 빠르게 쌓이고 개선 효과도 빠르게 검증된다.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10단계가 매일 반복 — 모든 단계에서 데이터가 발생하며, ①~⑩이 Odoo 단일 원장에 기록되면 그 자체가 AI 학습 데이터가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3부의 '경영 사각지대' 개념을 제빵업에 적용: POS·생산 기록은 결백한데 손실은 반복 — 기록될 자리가 없는 판단(생산량 결정, 발효 판단)이 사각지대.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좌측은 세미나에서 소개한 에이에스씨 실증 아키텍처(수집→Odoo→지능형→제어), 우측은 책의 3뇌 구조 — 같은 그림의 두 표현.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2부의 모듈별 컨설팅 구조를 제빵업에 적용. 핵심은 기능이 아니라 데이터 정비 — 각 모듈의 기준정보와 트랜잭션에 3정5S를 세우는 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1부 2장 그대로: 창고와 데이터베이스는 같은 병을 앓는다. 제빵업은 원료 창고 5S와 품목코드 5S를 동시에 추진 — 실물과 데이터가 만나는 유일한 현장이 재고.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1부 3장의 관리판·작업표를 베이커리 언어로 번역. 핵심은 '보이게 만들면 현장이 스스로 움직인다' — 폐기 보드가 아침 조회의 표준 안건이 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제빵업 AX의 심장. '내일 몇 개 구울 것인가'는 경영 질문의 표준형 — 예측 구간을 제시하고 사람이 확정(HITL)하는 구조로 시작, 신뢰가 쌓이면 자동화 범위 확대.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차별점: 해미푸드(식품 제조) KAMP 실증 경험 — 배합·반죽 상태 지능화와 포장 검사 지능화는 제빵업에 그대로 이식 가능한 검증된 유스케이스.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12장(재고 관리)의 제빵 번역. FEFO·로트·유통기한은 Odoo 재고 모듈의 표준 기능 — 커스터마이징이 아니라 데이터 정비가 관건.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1부 5장의 LLM 무한 루프를 폐기율 사례로 구체화. 세미나의 AI 에이전트 방법론(수집→탐색→검증→실행→환류)과 같은 뼈대.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세미나 SECI 슬라이드와 책 3부(TA·PTGDA)의 결합. 제빵업 차별 포인트: 베테랑 의존도가 높은 업종이라 암묵지 자산화의 ROI가 크다 — 은퇴 전 아카이빙은 미루면 원본이 소실된다.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21장 InventoryBufferAgent의 제빵 번역판. 수치는 예시. 핵심 메시지: 알림(Alert)이 아니라 실행(파라미터 갱신)까지, 단 승인은 반드시 사람이.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1부 6장 5단계 로드맵의 제빵 맞춤판. 성공 판정: 1단계=경영자 서명, 2단계=이중 입력 제거·월 마감, 3단계=재고 정확도 95%, 4단계=예측 커버리지, 5단계=KGI 개선.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23장 공통 성공요인 4(작게 시작·HITL·경영자 관여·코드체계)의 제빵 확장판. 공개 통계는 실측치이나 업종·모수가 다르므로 '참고'로만 — 책의 '정직한 평가' 원칙 준수.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부산·영남권 담당 송무준 저자가 직접 커버 가능한 권역임을 언급. 다음 단계는 부담 없는 1일 진단 워크숍 제안으로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234440"/>
            <a:ext cx="786384" cy="786384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804" y="1446764"/>
            <a:ext cx="361737" cy="3617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66960" y="2167128"/>
            <a:ext cx="786384" cy="78638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284" y="2379452"/>
            <a:ext cx="361737" cy="36173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2480" y="3099816"/>
            <a:ext cx="786384" cy="786384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804" y="3312140"/>
            <a:ext cx="361737" cy="36173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966960" y="4032504"/>
            <a:ext cx="786384" cy="78638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284" y="4244828"/>
            <a:ext cx="361737" cy="36173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412480" y="4965192"/>
            <a:ext cx="786384" cy="78638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804" y="5177516"/>
            <a:ext cx="361737" cy="36173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  ·  부산 세미나(9/15) 질의 대응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64008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</a:t>
            </a:r>
            <a:endParaRPr lang="en-US" sz="4400" dirty="0"/>
          </a:p>
        </p:txBody>
      </p:sp>
      <p:sp>
        <p:nvSpPr>
          <p:cNvPr id="14" name="Text 7"/>
          <p:cNvSpPr/>
          <p:nvPr/>
        </p:nvSpPr>
        <p:spPr>
          <a:xfrm>
            <a:off x="640080" y="25146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기반 지능형 ERP로 만드는 스마트 베이커리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제조·물류의 AX, 기록에서 판단까지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64008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 방법론  ×  에이에스씨 AI 실증사례(KAMP·NIPA) 통합 제안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4008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제안 — 일반 제빵업 표준 프로세스 기준 (귀사 현장 진단 후 맞춤 보완)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  ·  이형근 · 정인호 · 송무준  ·  2026. 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베이커리에 AX인가 — 제안의 배경과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세미나가 확인한 수요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세미나(9/15) 질의의 40% — "Odoo 도입 시 AX를 어떻게 추진하는가"</a:t>
            </a:r>
            <a:endParaRPr lang="en-US" sz="12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제빵업체: "제조·물류 중심의 AX 추진 방법론"을 요청</a:t>
            </a:r>
            <a:endParaRPr lang="en-US" sz="12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제빵업은 짧은 유통기한 × 일일 생산 사이클 × 수요 변동이라는, AX 효과가 가장 빨리 검증되는 업종</a:t>
            </a:r>
            <a:endParaRPr lang="en-US" sz="12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제안서는 일반 제빵업 표준 프로세스 기준의 1차 제안 — 현장 진단 후 귀사 맞춤으로 구체화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8132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0528" y="1737360"/>
            <a:ext cx="566928" cy="566928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599" y="189043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1645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제빵업의 이해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69480" y="1984248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프로세스 맵과 5대 경영 난제 — 폐기와 결품 사이의 경영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292608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0528" y="3182112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599" y="3335183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090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Odoo 기반 AX 전략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269480" y="3429000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원장 위 모듈 매핑 · 3정5S 데이터 기반 · 수요예측과 제조·물류 지능화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63640" y="43708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10528" y="462686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599" y="4779935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69480" y="45354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추진 로드맵과 성공 포인트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269480" y="4873752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로드맵(진단→환류) · 베테랑 암묵지의 온톨로지화 · KPI와 추진 체제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589788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원칙  </a:t>
            </a:r>
            <a:pPr indent="0" marL="0">
              <a:buNone/>
            </a:pPr>
            <a:r>
              <a:rPr lang="en-US" sz="1300" i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"기록하는 ERP에서 판단하는 ERP로" — 데이터 규율(3정5S) 위에 예측과 에이전트를 세운다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제빵업 표준 프로세스 — 하루에 한 번 도는 전체 루프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700784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83904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7739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원재료 조달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359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밀가루·유지·계란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포장재 · 시세 변동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06624" y="2231136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0" name="Shape 7"/>
          <p:cNvSpPr/>
          <p:nvPr/>
        </p:nvSpPr>
        <p:spPr>
          <a:xfrm>
            <a:off x="2880360" y="1517904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11" name="Shape 8"/>
          <p:cNvSpPr/>
          <p:nvPr/>
        </p:nvSpPr>
        <p:spPr>
          <a:xfrm>
            <a:off x="3099816" y="1700784"/>
            <a:ext cx="512064" cy="512064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73" y="1839041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7739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배합·반죽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99816" y="2359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레시피(배합비)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반죽 상태 관리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84064" y="2231136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6" name="Shape 12"/>
          <p:cNvSpPr/>
          <p:nvPr/>
        </p:nvSpPr>
        <p:spPr>
          <a:xfrm>
            <a:off x="5257800" y="1517904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17" name="Shape 13"/>
          <p:cNvSpPr/>
          <p:nvPr/>
        </p:nvSpPr>
        <p:spPr>
          <a:xfrm>
            <a:off x="5477256" y="1700784"/>
            <a:ext cx="512064" cy="512064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513" y="1839041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99048" y="17739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발효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77256" y="2359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온도·습도·시간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판단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461504" y="2231136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22" name="Shape 17"/>
          <p:cNvSpPr/>
          <p:nvPr/>
        </p:nvSpPr>
        <p:spPr>
          <a:xfrm>
            <a:off x="7635240" y="1517904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23" name="Shape 18"/>
          <p:cNvSpPr/>
          <p:nvPr/>
        </p:nvSpPr>
        <p:spPr>
          <a:xfrm>
            <a:off x="7854696" y="170078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953" y="1839041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76488" y="17739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성형·굽기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854696" y="2359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오븐 조건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가동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838944" y="2231136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28" name="Shape 22"/>
          <p:cNvSpPr/>
          <p:nvPr/>
        </p:nvSpPr>
        <p:spPr>
          <a:xfrm>
            <a:off x="10012680" y="1517904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32136" y="1700784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393" y="1839041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853928" y="17739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냉각·포장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232136" y="2359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상태 검사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표시사항(유통기한)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02920" y="3401568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34" name="Shape 27"/>
          <p:cNvSpPr/>
          <p:nvPr/>
        </p:nvSpPr>
        <p:spPr>
          <a:xfrm>
            <a:off x="722376" y="3584448"/>
            <a:ext cx="512064" cy="51206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33" y="3722705"/>
            <a:ext cx="235549" cy="23554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44168" y="36576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보관·재고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22376" y="42428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선입선출(FEFO)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원료·완제품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2706624" y="4114800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39" name="Shape 31"/>
          <p:cNvSpPr/>
          <p:nvPr/>
        </p:nvSpPr>
        <p:spPr>
          <a:xfrm>
            <a:off x="2880360" y="3401568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40" name="Shape 32"/>
          <p:cNvSpPr/>
          <p:nvPr/>
        </p:nvSpPr>
        <p:spPr>
          <a:xfrm>
            <a:off x="3099816" y="3584448"/>
            <a:ext cx="512064" cy="512064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073" y="3722705"/>
            <a:ext cx="235549" cy="235549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721608" y="36576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물류·배송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3099816" y="42428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배분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배송 루트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5084064" y="4114800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45" name="Shape 36"/>
          <p:cNvSpPr/>
          <p:nvPr/>
        </p:nvSpPr>
        <p:spPr>
          <a:xfrm>
            <a:off x="5257800" y="3401568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46" name="Shape 37"/>
          <p:cNvSpPr/>
          <p:nvPr/>
        </p:nvSpPr>
        <p:spPr>
          <a:xfrm>
            <a:off x="5477256" y="3584448"/>
            <a:ext cx="512064" cy="512064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5513" y="3722705"/>
            <a:ext cx="235549" cy="235549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099048" y="36576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판매·주문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5477256" y="42428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B2B 납품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주문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61504" y="4114800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51" name="Shape 41"/>
          <p:cNvSpPr/>
          <p:nvPr/>
        </p:nvSpPr>
        <p:spPr>
          <a:xfrm>
            <a:off x="7635240" y="3401568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52" name="Shape 42"/>
          <p:cNvSpPr/>
          <p:nvPr/>
        </p:nvSpPr>
        <p:spPr>
          <a:xfrm>
            <a:off x="7854696" y="3584448"/>
            <a:ext cx="512064" cy="512064"/>
          </a:xfrm>
          <a:prstGeom prst="ellipse">
            <a:avLst/>
          </a:prstGeom>
          <a:solidFill>
            <a:srgbClr val="A8493B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2953" y="3722705"/>
            <a:ext cx="235549" cy="235549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8476488" y="36576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반품·폐기</a:t>
            </a:r>
            <a:endParaRPr lang="en-US" sz="1250" dirty="0"/>
          </a:p>
        </p:txBody>
      </p:sp>
      <p:sp>
        <p:nvSpPr>
          <p:cNvPr id="55" name="Text 44"/>
          <p:cNvSpPr/>
          <p:nvPr/>
        </p:nvSpPr>
        <p:spPr>
          <a:xfrm>
            <a:off x="7854696" y="42428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마감 폐기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로스 집계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9838944" y="4114800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57" name="Shape 46"/>
          <p:cNvSpPr/>
          <p:nvPr/>
        </p:nvSpPr>
        <p:spPr>
          <a:xfrm>
            <a:off x="10012680" y="3401568"/>
            <a:ext cx="2157984" cy="1700784"/>
          </a:xfrm>
          <a:prstGeom prst="roundRect">
            <a:avLst>
              <a:gd name="adj" fmla="val 4839"/>
            </a:avLst>
          </a:prstGeom>
          <a:solidFill>
            <a:srgbClr val="F8F2EA"/>
          </a:solidFill>
          <a:ln/>
        </p:spPr>
      </p:sp>
      <p:sp>
        <p:nvSpPr>
          <p:cNvPr id="58" name="Shape 47"/>
          <p:cNvSpPr/>
          <p:nvPr/>
        </p:nvSpPr>
        <p:spPr>
          <a:xfrm>
            <a:off x="10232136" y="3584448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0393" y="3722705"/>
            <a:ext cx="235549" cy="235549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0853928" y="36576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정산·계획</a:t>
            </a:r>
            <a:endParaRPr lang="en-US" sz="1250" dirty="0"/>
          </a:p>
        </p:txBody>
      </p:sp>
      <p:sp>
        <p:nvSpPr>
          <p:cNvPr id="61" name="Text 49"/>
          <p:cNvSpPr/>
          <p:nvPr/>
        </p:nvSpPr>
        <p:spPr>
          <a:xfrm>
            <a:off x="10232136" y="42428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마감 원가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익일 생산계획</a:t>
            </a:r>
            <a:endParaRPr lang="en-US" sz="1000" dirty="0"/>
          </a:p>
        </p:txBody>
      </p:sp>
      <p:sp>
        <p:nvSpPr>
          <p:cNvPr id="62" name="Text 50"/>
          <p:cNvSpPr/>
          <p:nvPr/>
        </p:nvSpPr>
        <p:spPr>
          <a:xfrm>
            <a:off x="502920" y="587044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업의 특성 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 D+1~수일 · 다품종 소량 일일 생산 · 요일/날씨/행사에 따른 수요 변동 · HACCP 로트 추적 의무 — 10번의 계획이 매일 반복된다</a:t>
            </a:r>
            <a:endParaRPr lang="en-US" sz="1250" dirty="0"/>
          </a:p>
        </p:txBody>
      </p:sp>
      <p:sp>
        <p:nvSpPr>
          <p:cNvPr id="63" name="Text 5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제빵업의 5대 경영 난제 — 폐기와 결품 사이의 경영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3E2C1D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755648"/>
            <a:ext cx="530352" cy="530352"/>
          </a:xfrm>
          <a:prstGeom prst="ellipse">
            <a:avLst/>
          </a:prstGeom>
          <a:solidFill>
            <a:srgbClr val="A84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859" y="189884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82880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로스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0664" y="243230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못 팔면 버린다 — 폐기율은 이익률을 직접 갉아먹지만, 품목·매장·요일별 원인은 안 보인다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51790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3E2C1D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175564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51" y="189884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182880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 기회손실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62856" y="243230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품목이 오후에 빈다 — 폐기가 무서워 덜 구우면 매출을 잃는다. 폐기↔결품의 균형점이 감(感)에 달려 있다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47304" y="151790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3E2C1D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48" y="1755648"/>
            <a:ext cx="530352" cy="530352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243" y="189884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3416" y="182880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 시세·원가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85048" y="243230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밀가루·유지·계란 시세 변동이 마진을 흔든다 — 품목별 실제 원가와 손익이 월말에야, 그것도 대략 보인다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71246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3E2C1D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664" y="3950208"/>
            <a:ext cx="530352" cy="530352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59" y="409340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99032" y="402336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HACCP·로트 추적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" y="462686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이물·클레임 발생 시 원료 로트→배합→굽기→매장까지 역추적이 수작업 — 시간이 걸리고 구멍이 있다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71246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3E2C1D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3950208"/>
            <a:ext cx="530352" cy="530352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051" y="409340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402336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암묵지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62856" y="462686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 오는 날은 20% 덜 굽는다", "이 반죽은 오늘 발효가 빠르다" — 판단이 사람 안에만 있고, 퇴사하면 사라진다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47304" y="3712464"/>
            <a:ext cx="3621024" cy="2011680"/>
          </a:xfrm>
          <a:prstGeom prst="roundRect">
            <a:avLst>
              <a:gd name="adj" fmla="val 4091"/>
            </a:avLst>
          </a:prstGeom>
          <a:solidFill>
            <a:srgbClr val="E8A33D"/>
          </a:solidFill>
          <a:ln/>
        </p:spPr>
      </p:sp>
      <p:sp>
        <p:nvSpPr>
          <p:cNvPr id="30" name="Text 23"/>
          <p:cNvSpPr/>
          <p:nvPr/>
        </p:nvSpPr>
        <p:spPr>
          <a:xfrm>
            <a:off x="8403336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난제의 공통점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8403336" y="4279392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1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"데이터는 있는데 판단이 안 보이는" 문제다.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1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기록(POS·생산·폐기)은 흩어져 있고, 판단(얼마나 구울까)은 사람의 감에 있다 — AX의 표적.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 총괄 — 수집에서 제어까지, 세 개의 뇌로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아키텍처 (에이에스씨 실증 구조)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" y="2066544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E8F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396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수집 Gathering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POS·바코드·태블릿 실적 입력 + 오븐·발효실 온습도 IoT 센서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980944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540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운영 Odoo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판매·구매·재고·제조·회계 — 단일 PostgreSQL 원장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" y="3895344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684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지능 Intelligent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24281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수요예측·품질예측·설비예지 (일정·비용·품질·설비·공정)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" y="4809744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9C5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828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제어·환류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15721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생산계획·자동 발주·매장 배분으로 현장에 되돌린다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481328"/>
            <a:ext cx="5715000" cy="4251960"/>
          </a:xfrm>
          <a:prstGeom prst="roundRect">
            <a:avLst>
              <a:gd name="adj" fmla="val 1935"/>
            </a:avLst>
          </a:prstGeom>
          <a:solidFill>
            <a:srgbClr val="2B1D12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664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뇌 — 책의 관통 구조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0848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3E2C1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3952" y="2331720"/>
            <a:ext cx="512064" cy="512064"/>
          </a:xfrm>
          <a:prstGeom prst="ellipse">
            <a:avLst/>
          </a:prstGeom>
          <a:solidFill>
            <a:srgbClr val="76675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209" y="2469977"/>
            <a:ext cx="235549" cy="23554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78040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1st Brain — 베이커리 현장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178040" y="250545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제빵사의 경험 · 오븐과 발효실 · 매장의 감각. 데이터와 암묵지가 태어나는 곳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63640" y="327355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3E2C1D"/>
          </a:solidFill>
          <a:ln/>
        </p:spPr>
      </p:sp>
      <p:sp>
        <p:nvSpPr>
          <p:cNvPr id="26" name="Shape 23"/>
          <p:cNvSpPr/>
          <p:nvPr/>
        </p:nvSpPr>
        <p:spPr>
          <a:xfrm>
            <a:off x="6473952" y="3520440"/>
            <a:ext cx="512064" cy="51206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3658697"/>
            <a:ext cx="235549" cy="23554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78040" y="3383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2nd Brain — Odoo (형식지의 원장)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178040" y="369417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BOM·로트·판매·폐기·원가가 한 원장에. "무엇이 팔리고 버려졌는가"의 진실 원천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263640" y="446227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3E2C1D"/>
          </a:solidFill>
          <a:ln/>
        </p:spPr>
      </p:sp>
      <p:sp>
        <p:nvSpPr>
          <p:cNvPr id="31" name="Shape 27"/>
          <p:cNvSpPr/>
          <p:nvPr/>
        </p:nvSpPr>
        <p:spPr>
          <a:xfrm>
            <a:off x="6473952" y="470916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09" y="4847417"/>
            <a:ext cx="235549" cy="23554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78040" y="4572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3rd Brain — 온톨로지 판단 계층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7178040" y="488289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반복되는가"를 추론 — 수요예측, 생산량 보정 에이전트, 베테랑 암묵지의 자산화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= ②를 먼저 바로 세우고(데이터의 3정5S), 그 위에 ③④의 판단 루프를 얹는다 — 순서를 지키는 것이 성공의 절반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프로세스별 Odoo 모듈 매핑 — 단일 원장 위의 베이커리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00200"/>
            <a:ext cx="512064" cy="512064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" y="173845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270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판매·매장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6080" y="15270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판매 · 이커머스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52704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품목·시간대 판매, 마감 할인, B2B 납품 주문까지 한 원장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340864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459736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65" y="2597993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3865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조달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26080" y="238658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구매(Purchase)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77840" y="238658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 RFQ·단가 이력 — 시세 변동 추적, 리드타임 정량화, 자동 발주점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200400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F8F2EA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3319272"/>
            <a:ext cx="512064" cy="51206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3457529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2461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재고·물류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926080" y="3246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재고(Inventory) + 바코드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577840" y="32461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로트·유통기한 관리, FEFO 자동 출고, 매장 배분·반품·폐기의 이동 기록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059936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178808"/>
            <a:ext cx="512064" cy="512064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65" y="4317065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1056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926080" y="41056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제조(MRP) + 품질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77840" y="410565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레시피=BOM, 배합→굽기 작업지시, HACCP 체크포인트, 로트 정·역추적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919472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F8F2EA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" y="503834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5176601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496519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원가·재무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2926080" y="49651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회계(Accounting)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577840" y="49651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실제 원가와 일일 손익 — 폐기 로스를 계정으로 보이게 한다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" y="589788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원칙 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부담 없는 오픈소스로 시작, 질문이 요구할 때만 부스터(frePPLe 계획 · n8n/Dify 자동화 · Neo4j 지식그래프) 확장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5S 없이 AI 없다 — 베이커리 데이터의 3정5S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80644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642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첫날부터 세우는 코드체계 — "코드는 온톨로지의 어휘"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" y="2084832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3055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코드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2130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완제품·반제품(냉동생지)·원재료의 3계층 — 중복·별칭 제거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798064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437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레시피(BOM)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06040" y="28437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배합비·수율·공정 순서 — '머릿속 배합표'의 형식지화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" y="3511296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5701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로트·유통기한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040" y="35570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입고 로트 → 배합 로트 → 완제품 로트의 연결 고리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" y="4224528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7024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매장·거래처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40" y="42702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직영·가맹·B2B 채널 구분 — 채널별 손익의 전제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" y="4937760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9834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사유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9834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마감폐기·불량·반품의 코드화 — 로스가 계정이 되게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481328"/>
            <a:ext cx="512064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664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5S × 데이터 5S — 같은 병, 같은 처방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0" y="2212848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21214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1040" y="21214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쓰는 품목코드·중단 레시피의 빨간 패 작전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2889504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2798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21040" y="2798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코드체계 정비 — 데이터의 정위치·정품·정량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3566160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06640" y="3474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21040" y="3474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오류·결측 클렌징, 재고 실사로 장부=실물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0" y="4242816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41513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21040" y="4151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규정·검증 규칙의 표준화 (바코드 강제)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0" y="4919472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06640" y="4828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습관화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321040" y="4828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현장이 데이터를 지키는 문화 — 마감 5분 입력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수집 없이 학습 없고, 학습 없이 추론 없다 — 재고 정확도 95%+가 지능화 진입의 관문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보는 베이커리 — 이상(異常)이 즉시 드러나는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73936"/>
            <a:ext cx="566928" cy="566928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19270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생산 현황판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78024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 실적이 실시간 — 오늘 몇 판 계획, 지금 몇 판 완료, 지연은 붉게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17904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773936"/>
            <a:ext cx="566928" cy="566928"/>
          </a:xfrm>
          <a:prstGeom prst="ellipse">
            <a:avLst/>
          </a:prstGeom>
          <a:solidFill>
            <a:srgbClr val="A84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23" y="19270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65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폐기·결품 보드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73952" y="2478024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품목×매장×요일 폐기율과 결품 시각 — '어제 무엇을 버렸고 무엇이 모자랐나'가 아침에 보인다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39312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952" y="389534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23" y="404841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86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신선도·품질 보드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58952" y="459943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 임박 재고(D-1) 자동 경보, 발효실·쇼케이스 온습도 IoT 이상 알림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639312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3895344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23" y="404841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986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손익 보드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73952" y="459943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매출-원가-폐기로스 — 마감과 동시에 '오늘 얼마 벌었나'에 답한다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87044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진화의 사다리 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관리(대시보드) → 말하는 관리(자동 경보) → 추론하는 관리(원인과 예측을 함께 제시) — 모든 보드는 Odoo 원장 데이터에서 자동 생성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DEMAND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몇 개 구울 것인가 — 수요예측과 일일 생산계획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566160" cy="4251960"/>
          </a:xfrm>
          <a:prstGeom prst="roundRect">
            <a:avLst>
              <a:gd name="adj" fmla="val 2308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64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변수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084832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요일·시간대 판매 패턴 (POS 이력)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— 기온·강수와 품목군 상관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시즌·명절·지역 행사 캘린더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프로모션·신제품 출시 효과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고객 구성(오피스/주거/학교)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감 — 온톨로지로 변수화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481328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0E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6093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품목×매장 수요예측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62856" y="195681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내일·모레 판매량 예측 구간 제시 (MAPE로 정확도 상시 측정)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798064"/>
            <a:ext cx="310896" cy="164592"/>
          </a:xfrm>
          <a:prstGeom prst="downArrow">
            <a:avLst/>
          </a:prstGeom>
          <a:solidFill>
            <a:srgbClr val="DCCDBB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962656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9C5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30906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일일 생산계획 확정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3438144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+ 재고 + 생산능력(오븐·인력) → 품목별 생산량 제안, 사람이 승인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279392"/>
            <a:ext cx="310896" cy="164592"/>
          </a:xfrm>
          <a:prstGeom prst="downArrow">
            <a:avLst/>
          </a:prstGeom>
          <a:solidFill>
            <a:srgbClr val="DCCDB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4443984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45720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매장별 배분·배송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491947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판매 예측에 따라 배분 — 반품·폐기 이력이 다음 배분에 반영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1481328"/>
            <a:ext cx="3063240" cy="4251960"/>
          </a:xfrm>
          <a:prstGeom prst="roundRect">
            <a:avLst>
              <a:gd name="adj" fmla="val 2687"/>
            </a:avLst>
          </a:prstGeom>
          <a:solidFill>
            <a:srgbClr val="2B1D12"/>
          </a:solidFill>
          <a:ln/>
        </p:spPr>
      </p:sp>
      <p:sp>
        <p:nvSpPr>
          <p:cNvPr id="19" name="Text 17"/>
          <p:cNvSpPr/>
          <p:nvPr/>
        </p:nvSpPr>
        <p:spPr>
          <a:xfrm>
            <a:off x="8887968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균형의 KPI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87968" y="2103120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3E2C1D"/>
          </a:solidFill>
          <a:ln/>
        </p:spPr>
      </p:sp>
      <p:sp>
        <p:nvSpPr>
          <p:cNvPr id="21" name="Text 19"/>
          <p:cNvSpPr/>
          <p:nvPr/>
        </p:nvSpPr>
        <p:spPr>
          <a:xfrm>
            <a:off x="9089136" y="2194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89136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 굽는 쪽의 지표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87968" y="3063240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3E2C1D"/>
          </a:solidFill>
          <a:ln/>
        </p:spPr>
      </p:sp>
      <p:sp>
        <p:nvSpPr>
          <p:cNvPr id="24" name="Text 22"/>
          <p:cNvSpPr/>
          <p:nvPr/>
        </p:nvSpPr>
        <p:spPr>
          <a:xfrm>
            <a:off x="9089136" y="3154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89136" y="3474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굽는 쪽의 지표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87968" y="4023360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3E2C1D"/>
          </a:solidFill>
          <a:ln/>
        </p:spPr>
      </p:sp>
      <p:sp>
        <p:nvSpPr>
          <p:cNvPr id="27" name="Text 25"/>
          <p:cNvSpPr/>
          <p:nvPr/>
        </p:nvSpPr>
        <p:spPr>
          <a:xfrm>
            <a:off x="9089136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89136" y="4434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자체의 정확도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87968" y="5029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지표를 함께 봐야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루프가 폭주하지 않는다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예측은 처음부터 완벽하지 않다 — 루프 1회전마다 정확해지는 구조(DMAIC 상시 루프)를 만드는 것이 목표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MANUFACTURING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AX — 배합에서 포장까지, 실증된 지능화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73936"/>
            <a:ext cx="566928" cy="566928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19270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배합·반죽 공정 상태 지능화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18888" y="1792224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9C5227"/>
          </a:solidFill>
          <a:ln/>
        </p:spPr>
      </p:sp>
      <p:sp>
        <p:nvSpPr>
          <p:cNvPr id="9" name="Text 6"/>
          <p:cNvSpPr/>
          <p:nvPr/>
        </p:nvSpPr>
        <p:spPr>
          <a:xfrm>
            <a:off x="4818888" y="17922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실증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58952" y="2505456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배합비 준수·반죽 상태를 데이터로 감시 — 에이에스씨가 ㈜해미푸드에서 실증한 KAMP 우수사례 영역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517904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77393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23" y="1927007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65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발효·굽기 조건의 데이터화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0533888" y="1792224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10533888" y="17922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73952" y="2505456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발효실 온습도·시간, 오븐 온도 곡선을 IoT로 수집 — '베테랑의 판단'을 조건 데이터와 나란히 기록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3639312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9" name="Shape 15"/>
          <p:cNvSpPr/>
          <p:nvPr/>
        </p:nvSpPr>
        <p:spPr>
          <a:xfrm>
            <a:off x="758952" y="3895344"/>
            <a:ext cx="566928" cy="566928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23" y="4048415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986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상태 검사 지능화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4818888" y="3913632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0E8F86"/>
          </a:solidFill>
          <a:ln/>
        </p:spPr>
      </p:sp>
      <p:sp>
        <p:nvSpPr>
          <p:cNvPr id="23" name="Text 18"/>
          <p:cNvSpPr/>
          <p:nvPr/>
        </p:nvSpPr>
        <p:spPr>
          <a:xfrm>
            <a:off x="4818888" y="39136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실증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58952" y="4626864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머신비전으로 포장·표시사항(유통기한 인쇄) 불량 검출 — 해미푸드 실증의 두 번째 축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17920" y="3639312"/>
            <a:ext cx="5486400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26" name="Shape 21"/>
          <p:cNvSpPr/>
          <p:nvPr/>
        </p:nvSpPr>
        <p:spPr>
          <a:xfrm>
            <a:off x="6473952" y="3895344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23" y="4048415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986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예지보전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10533888" y="3913632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714B67"/>
          </a:solidFill>
          <a:ln/>
        </p:spPr>
      </p:sp>
      <p:sp>
        <p:nvSpPr>
          <p:cNvPr id="30" name="Text 24"/>
          <p:cNvSpPr/>
          <p:nvPr/>
        </p:nvSpPr>
        <p:spPr>
          <a:xfrm>
            <a:off x="10533888" y="39136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473952" y="4626864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오븐·믹서의 진동·전력·온도 센서로 이상 패턴 조기 탐지 — 성수기 설비 정지의 예방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02920" y="587044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기반은 Odoo 제조 원장 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BOM·작업지시·생산실적·HACCP 체크가 정돈되어 있어야 위 지능화가 학습할 데이터가 생긴다 — OEE와 로트 정·역추적은 기본기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LOGISTICS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물류·재고 AX — 신선도가 곧 재고 전략이다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755648"/>
            <a:ext cx="512064" cy="51206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8939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810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FEFO 자동화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" y="2414016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 빠른 순 자동 출고 — 바코드 스캔이 실수를 구조적으로 차단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517904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1755648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13" y="18939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810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안전재고·자동 발주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2856" y="2414016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 소요는 생산계획에서 역산(MRP) — 시세·리드타임 반영한 발주점, 승인만 사람이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47304" y="1517904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48" y="1755648"/>
            <a:ext cx="512064" cy="512064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05" y="18939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25128" y="1810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배분 최적화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85048" y="2414016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판매 예측 기반 배분 — 반품·폐기 데이터가 다음 날 배분량을 보정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639312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664" y="387705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401531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0744" y="393192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로트 추적·리콜 대응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0664" y="4535424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1건 → 원료 로트까지 역추적 수 분 내 — HACCP 감사 대응 자동화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639312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3877056"/>
            <a:ext cx="512064" cy="512064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13" y="4015313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393192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콜드체인 감시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62856" y="4535424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쇼케이스·배송 온도 IoT — 이탈 시 즉시 경보, 품질 사고의 사전 차단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47304" y="3639312"/>
            <a:ext cx="3621024" cy="1938528"/>
          </a:xfrm>
          <a:prstGeom prst="roundRect">
            <a:avLst>
              <a:gd name="adj" fmla="val 4245"/>
            </a:avLst>
          </a:prstGeom>
          <a:solidFill>
            <a:srgbClr val="F8F2E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5048" y="3877056"/>
            <a:ext cx="512064" cy="512064"/>
          </a:xfrm>
          <a:prstGeom prst="ellipse">
            <a:avLst/>
          </a:prstGeom>
          <a:solidFill>
            <a:srgbClr val="A8493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305" y="4015313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25128" y="393192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반품·폐기 루프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85048" y="4535424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사유 코드가 회계 계정과 연결 — 로스가 '보이는 비용'이 되어 개선 루프에 태워진다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재고는 실물 5S와 데이터 5S가 만나는 유일한 현장 — 재고 정확도가 무너지면 예측·발주·배분 전부가 무너진다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IMPROVEMENT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DMAIC 무한 루프 — '폐기율' 개선의 한 사이클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질문을 KPI로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이렇게 많이 버리나" → 폐기율을 CTQ로 정의, 기준선 측정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88336" y="252374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9" name="Shape 7"/>
          <p:cNvSpPr/>
          <p:nvPr/>
        </p:nvSpPr>
        <p:spPr>
          <a:xfrm>
            <a:off x="2880360" y="1517904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3원천 수집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판매·폐기 실적 + 생산 실적 + 현장의 말("금요일 단팥빵은 남는다")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5776" y="252374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7800" y="1517904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추론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품목×매장×요일×날씨 교차 분석 — 폐기의 80%를 만드는 20% 품목 식별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43216" y="252374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9" name="Shape 17"/>
          <p:cNvSpPr/>
          <p:nvPr/>
        </p:nvSpPr>
        <p:spPr>
          <a:xfrm>
            <a:off x="7635240" y="1517904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Improve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What-if 개선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18120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 보정·마감 할인 시점·배분 변경을 시뮬레이션 후 적용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820656" y="252374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12680" y="1517904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9556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표준화·감시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95560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개선을 시스템 파라미터로 저장 — 재발 시 자동 경보, 다음 사이클로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114800"/>
            <a:ext cx="11201400" cy="1508760"/>
          </a:xfrm>
          <a:prstGeom prst="roundRect">
            <a:avLst>
              <a:gd name="adj" fmla="val 5455"/>
            </a:avLst>
          </a:prstGeom>
          <a:solidFill>
            <a:srgbClr val="2B1D1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976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분기마다, LLM은 매일 밤 돌린다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2960" y="4645152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하던 개선 사이클은 분기 이벤트였다. 이 루프를 플랫폼에 심으면 — 매일 마감 후 LLM이 어제의 판매·폐기·생산 데이터로 위 다섯 단계를 상시로 돌리고, 아침 브리핑으로 이상과 개선안을 보고한다. 승인 게이트(HITL)와 폐기↔결품 동시 감시가 루프의 안전장치.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58978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개선은 이벤트가 아니라 상시 프로세스 — 루프 1회전마다 예측이 정확해진다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TACIT KNOWLEDGE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 제빵사의 감(感) — 사각지대를 자산으로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82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기록될 자리가 없던 판단들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952" y="2121408"/>
            <a:ext cx="49834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762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 오는 날은 크림류를 20% 덜 굽는다" — 점장의 발주 감각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2980944"/>
            <a:ext cx="49834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358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반죽은 오늘 발효가 빨라, 30분 당겨야 해" — 공장장의 손끝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" y="3840480"/>
            <a:ext cx="49834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953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"행사 전날엔 식빵 라인을 먼저 돌린다" — 생산반장의 순서 규칙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" y="4700016"/>
            <a:ext cx="49834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54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 거래처는 월말에 반품이 는다" — 영업의 경험칙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" y="5468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POS·생산 기록은 결백한데 손실은 반복 — 판단이 사람 안에만 있어서다. 베테랑 퇴사와 함께 사라진다.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481328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2B1D12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682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 → 검증 → 실행의 파이프라인 (책 3부 JEDAIX)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10528" y="2121408"/>
            <a:ext cx="4937760" cy="786384"/>
          </a:xfrm>
          <a:prstGeom prst="roundRect">
            <a:avLst>
              <a:gd name="adj" fmla="val 10465"/>
            </a:avLst>
          </a:prstGeom>
          <a:solidFill>
            <a:srgbClr val="3E2C1D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696" y="21854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대화로 수집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11696" y="2441448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Station 인터뷰 — 위화감을 언어로. "지난달 C매장에서 두 번 있었다"가 씨앗(Seed)이 된다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10528" y="3017520"/>
            <a:ext cx="4937760" cy="786384"/>
          </a:xfrm>
          <a:prstGeom prst="roundRect">
            <a:avLst>
              <a:gd name="adj" fmla="val 10465"/>
            </a:avLst>
          </a:prstGeom>
          <a:solidFill>
            <a:srgbClr val="3E2C1D"/>
          </a:solidFill>
          <a:ln/>
        </p:spPr>
      </p:sp>
      <p:sp>
        <p:nvSpPr>
          <p:cNvPr id="21" name="Text 19"/>
          <p:cNvSpPr/>
          <p:nvPr/>
        </p:nvSpPr>
        <p:spPr>
          <a:xfrm>
            <a:off x="6711696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통계로 확정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11696" y="333756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판단이 반복 확인(확신도 70%·3회)되면 확정 — 감이 아니라 근거가 된다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0528" y="3913632"/>
            <a:ext cx="4937760" cy="786384"/>
          </a:xfrm>
          <a:prstGeom prst="roundRect">
            <a:avLst>
              <a:gd name="adj" fmla="val 10465"/>
            </a:avLst>
          </a:prstGeom>
          <a:solidFill>
            <a:srgbClr val="3E2C1D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3977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손실의 금액화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11696" y="4233672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판단이 못 잡던 손실을 연환산 금액으로 — 의사결정을 움직이는 건 금액이다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10528" y="4809744"/>
            <a:ext cx="4937760" cy="786384"/>
          </a:xfrm>
          <a:prstGeom prst="roundRect">
            <a:avLst>
              <a:gd name="adj" fmla="val 10465"/>
            </a:avLst>
          </a:prstGeom>
          <a:solidFill>
            <a:srgbClr val="3E2C1D"/>
          </a:solidFill>
          <a:ln/>
        </p:spPr>
      </p:sp>
      <p:sp>
        <p:nvSpPr>
          <p:cNvPr id="27" name="Text 25"/>
          <p:cNvSpPr/>
          <p:nvPr/>
        </p:nvSpPr>
        <p:spPr>
          <a:xfrm>
            <a:off x="6711696" y="4873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파라미터로 실행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11696" y="5129784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규칙은 생산 보정계수·발주점으로 시스템에 이식 — 문서가 아니라 파라미터로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SECI(노나카): 암묵지의 표출화를 알고리즘으로 — "우리는 말할 수 있는 것보다 더 많이 알고 있다"(폴라니)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시나리오 — 알림으로 끝나지 않는 베이커리 에이전트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67512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 A매장 크루아상, 결품과 폐기가 같이 반복된다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" y="2267712"/>
            <a:ext cx="402336" cy="402336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감지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결품(11시 품절)과 마감 폐기(평일 8%)가 같은 매장에서 동시 발생 — 배분 시점의 문제라는 가설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154680"/>
            <a:ext cx="402336" cy="402336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정량화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요일×시간대 판매 곡선과 배송 도착 시각을 교차 — "오전 물량 부족, 오후 물량 과잉" 패턴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4041648"/>
            <a:ext cx="402336" cy="402336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77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보정계수 계산 + 시뮬레이션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415137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배송 물량 +30%, 2차 배송 −20% 안을 Digital Twin으로 검증 — 결품·폐기 동시 감소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" y="4928616"/>
            <a:ext cx="402336" cy="402336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7640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 (HITL)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71600" y="503834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점장·생산팀 승인 순간에만 배분 파라미터 갱신 — 이후 매일 배분에 자동 반영, 효과는 War Room이 감시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1481328"/>
            <a:ext cx="4251960" cy="4251960"/>
          </a:xfrm>
          <a:prstGeom prst="roundRect">
            <a:avLst>
              <a:gd name="adj" fmla="val 1935"/>
            </a:avLst>
          </a:prstGeom>
          <a:solidFill>
            <a:srgbClr val="2B1D1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6680" y="17373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3" y="1885493"/>
            <a:ext cx="252374" cy="25237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12480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자동화의 경계선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26680" y="2395728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생산량·배분·발주점 보정 — 에이전트가 제안, 사람이 승인 (자동 조정형)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출시, 오븐 증설, 매장 개폐점, 납품가 재협상 — 계산기의 몫이 아니다 → 경영 안건으로 자동 등록 (경영 판단형)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확정과 승인에 근거가 기록된다 — 감사 가능한 자동화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726680" y="4892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"지식이 문서가 아니라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파라미터가 되면, 지키는 데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의지가 필요 없다"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로드맵 — 5단계, 표준 9~15개월 (첫 성과는 6개월 이내)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2157984" cy="306324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19072"/>
            <a:ext cx="475488" cy="475488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07592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07592" y="20299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" y="2432304"/>
            <a:ext cx="1755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질문 정의("내일 몇 개 굽나", "얼마 버리나") · 현장 5S·데이터 성숙도 진단 · KGI 기준선 합의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88336" y="288950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1517904"/>
            <a:ext cx="2157984" cy="306324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81528" y="1719072"/>
            <a:ext cx="475488" cy="475488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13" name="Text 11"/>
          <p:cNvSpPr/>
          <p:nvPr/>
        </p:nvSpPr>
        <p:spPr>
          <a:xfrm>
            <a:off x="308152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85032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85032" y="20299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2~3개월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81528" y="2432304"/>
            <a:ext cx="1755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구축 1차: POS·판매·구매·재고 · 코드체계와 레시피 BOM 정비 · 바코드 입력 체계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65776" y="288950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57800" y="1517904"/>
            <a:ext cx="2157984" cy="306324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58968" y="1719072"/>
            <a:ext cx="475488" cy="475488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20" name="Text 18"/>
          <p:cNvSpPr/>
          <p:nvPr/>
        </p:nvSpPr>
        <p:spPr>
          <a:xfrm>
            <a:off x="545896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62472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62472" y="20299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2~3개월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58968" y="2432304"/>
            <a:ext cx="1755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판매·폐기·생산실적 축적 · 재고 정확도 95%+ · 현장의 말 수집 시작(온톨로지 씨앗)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43216" y="288950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1517904"/>
            <a:ext cx="2157984" cy="306324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26" name="Shape 24"/>
          <p:cNvSpPr/>
          <p:nvPr/>
        </p:nvSpPr>
        <p:spPr>
          <a:xfrm>
            <a:off x="7836408" y="171907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783640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39912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지능화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439912" y="20299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3~6개월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36408" y="2432304"/>
            <a:ext cx="1755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모델 가동 · 일일 생산계획 제안 · 배분·발주 에이전트 · DMAIC 루프 시작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20656" y="2889504"/>
            <a:ext cx="164592" cy="219456"/>
          </a:xfrm>
          <a:prstGeom prst="rightArrow">
            <a:avLst/>
          </a:prstGeom>
          <a:solidFill>
            <a:srgbClr val="DCCDB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12680" y="1517904"/>
            <a:ext cx="2157984" cy="3063240"/>
          </a:xfrm>
          <a:prstGeom prst="roundRect">
            <a:avLst>
              <a:gd name="adj" fmla="val 3814"/>
            </a:avLst>
          </a:prstGeom>
          <a:solidFill>
            <a:srgbClr val="F8F2E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13848" y="1719072"/>
            <a:ext cx="475488" cy="475488"/>
          </a:xfrm>
          <a:prstGeom prst="ellipse">
            <a:avLst/>
          </a:prstGeom>
          <a:solidFill>
            <a:srgbClr val="C07F1E"/>
          </a:solidFill>
          <a:ln/>
        </p:spPr>
      </p:sp>
      <p:sp>
        <p:nvSpPr>
          <p:cNvPr id="34" name="Text 32"/>
          <p:cNvSpPr/>
          <p:nvPr/>
        </p:nvSpPr>
        <p:spPr>
          <a:xfrm>
            <a:off x="10213848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817352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817352" y="20299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13848" y="2432304"/>
            <a:ext cx="1755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브리핑·승인 워크플로 정착 · 폐기/결품/MAPE 월간 리뷰 · KGI 개선 검증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892040"/>
            <a:ext cx="11201400" cy="868680"/>
          </a:xfrm>
          <a:prstGeom prst="roundRect">
            <a:avLst>
              <a:gd name="adj" fmla="val 9474"/>
            </a:avLst>
          </a:prstGeom>
          <a:solidFill>
            <a:srgbClr val="2B1D12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00176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시작해 얇게 완주 — 매장 2곳·주력 SKU 20개로 첫 루프를 6개월 내 완주한 뒤 확장. 폭포수가 아니라 나선형 반복.  ·  소규모(직영 1~3매장)는 경량 3주 모델로 POS·재고부터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5925312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기간은 50인 이하 제조 기준 경험치 — 데이터 성숙도에 따라 절반으로 줄거나 두 배로 늘 수 있다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성공 포인트 7 — 그리고 무엇으로 판정하는가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53796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37360"/>
            <a:ext cx="60350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작게 시작 — 매장 2곳·주력 SKU 20개로 첫 루프 완주, 그 다음 확장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코드체계는 첫날부터 — 품목·레시피·로트·폐기사유. "코드는 온톨로지의 어휘"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POS·폐기 데이터부터 — 가장 빨리 쌓이고 가장 빨리 효과가 보이는 데이터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폐기와 결품을 한 화면에 — 한쪽만 보는 최적화는 반드시 폭주한다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사람을 루프 안에 — 생산량 확정·배분 승인은 HITL, 자동화는 신뢰만큼만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현장의 말을 수집 — 베테랑의 감 10개를 온톨로지 씨앗으로 (은퇴 전에)</a:t>
            </a:r>
            <a:endParaRPr lang="en-US" sz="120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경영자의 관여 — 폐기율(원가) vs 결품률(매출)의 KPI 충돌은 대표만 재정한다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1554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판정 KPI (목표는 진단 후 기준선 대비 합의)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0" y="1938528"/>
            <a:ext cx="4389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176272"/>
            <a:ext cx="201168" cy="201168"/>
          </a:xfrm>
          <a:prstGeom prst="ellipse">
            <a:avLst/>
          </a:prstGeom>
          <a:solidFill>
            <a:srgbClr val="A8493B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98424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46920" y="1984248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 직결 — 1차 표적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0" y="2724912"/>
            <a:ext cx="4389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9626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277063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결품률·기회손실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46920" y="2770632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폐기와 반드시 동시 관리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0" y="3511296"/>
            <a:ext cx="4389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749040"/>
            <a:ext cx="201168" cy="201168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355701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정확도 MAPE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46920" y="355701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루프가 도는지의 증거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4389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4535424"/>
            <a:ext cx="201168" cy="201168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434340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정확도 95%+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46920" y="4343400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지능화 진입 관문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0" y="5084064"/>
            <a:ext cx="4389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5321808"/>
            <a:ext cx="201168" cy="201168"/>
          </a:xfrm>
          <a:prstGeom prst="ellipse">
            <a:avLst/>
          </a:prstGeom>
          <a:solidFill>
            <a:srgbClr val="9C5227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512978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재고회전·당일 손익 가시화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46920" y="512978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마감과 동시에 답하는 경영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58704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정부 스마트공장 공개 성과(중기부 5,003개사) — 원가 −15.9% · 생산성 +30% · 납기준수 +15.5%. 제빵업 목표치는 진단 단계에서 귀사 기준선으로 설정한다.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에이에스씨인가 — 그리고 내일 시작하는 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3E2C1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실행 역량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74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KAMP(인공지능 중소벤처 제조플랫폼) 지정 우수사례 2건 — 그중 ㈜해미푸드는 식품 제조(배합·반죽 지능화, 포장 검사)로 제빵업에 직결</a:t>
            </a:r>
            <a:endParaRPr lang="en-US" sz="1050" dirty="0"/>
          </a:p>
          <a:p>
            <a:pPr marL="127000" indent="-1270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NIPA(정보통신산업진흥원)·중기부 AI 지능화 실증 지원사업 수행</a:t>
            </a:r>
            <a:endParaRPr lang="en-US" sz="1050" dirty="0"/>
          </a:p>
          <a:p>
            <a:pPr marL="127000" indent="-1270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 저자 3인의 방법론 — 30년 ERP·MES·SCM 현장 + 온톨로지 AX 설계</a:t>
            </a:r>
            <a:endParaRPr lang="en-US" sz="1050" dirty="0"/>
          </a:p>
          <a:p>
            <a:pPr marL="127000" indent="-1270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체제: 전라권(이형근) · 서울·경기·충남권(정인호) · 부산·영남권(송무준)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517904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3E2C1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7190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제안하는 다음 단계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139696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13969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진단 워크숍(무상 1일) — 공장·매장 동선과 데이터 흐름 관찰, 경영 질문 10개 문장화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29400" y="2980944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98094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진단 보고 — 경영 질문·데이터 성숙도·현장 5S. KGI 기준선과 파일럿 범위(매장 2곳·SKU 20개) 합의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382219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382219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'기반' 착수 — 상세 일정·체제·비용은 진단 결과와 함께 제시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0292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빵집을 대체하지 않는다. 서드브레인을 가진 빵집이, 그렇지 않은 빵집을 대체한다."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 · 『AI ERP 혁명 — Odoo와 지능형 ERP』 이형근 · 정인호 · 송무준  ·  감사합니다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제빵업 AX 추진전략 제안서 · 에이에스씨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2026-09-08T01:56:58Z</dcterms:created>
  <dcterms:modified xsi:type="dcterms:W3CDTF">2026-09-08T01:56:58Z</dcterms:modified>
</cp:coreProperties>
</file>