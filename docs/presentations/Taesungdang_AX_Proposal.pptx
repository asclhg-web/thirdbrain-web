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태성당 질의에 대한 2차 맞춤 제안. 결론(가능합니다)을 표지에서 먼저 제시.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공개 정보 기반 프로필. 질의 세 요소를 제안서 장 구성과 1:1 매핑해 답의 구조를 먼저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특수성을 난제가 아니라 기회로 재프레임. 각 행의 오른쪽이 곧 프로젝트 백로그가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이후 슬라이드는 이 그림의 상세: 5~7장이 L1-L2, 8~11장이 L3, 12장이 L4, 13장이 L5.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질의 ①의 전반부. Odoo 재고+구매 표준 기능으로 커버 — 관건은 기능이 아니라 코드체계와 입력 습관(3정5S).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질의 ①의 후반부. 태성당 특수성(다지점+선물세트+3채널)이 그대로 반영된 설계. 별빛샌드 지점 확장이 계속되면 이 구조가 확장 비용을 결정한다.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질의 ②의 답. 태성당 3채널이 하나의 O2C로 수렴. 국내 세금계산서는 파트너 로컬라이제이션 모듈로 처리 — 정직한 평가로 언급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질의 ③의 첫 프로젝트. 관광 캘린더가 태성당 고유의 특징량 — 빵지순례 수요를 변수로 만드는 것이 차별점.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영업자동화 = B2B(사람 중심 파이프라인 자동 보조) + 이커머스(완전 자동 시나리오). 리뷰 키워드→품질 안건 등록이 13장 온톨로지 seed 입구와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AI 프로젝트의 마지막. 8·9·10장의 프로젝트가 전부 11장의 트랜잭션 파이프라인 위에서 돈다는 것을 다음 장에서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요청하신 '데이터 트랜잭션을 관여한 파이프라인 구성'의 핵심 슬라이드. 6개 트랜잭션 계열이 각각 어떤 이벤트→특징량→지능으로 변환되는지 1:1로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책 3부 JEDAIX 방법론의 태성당 적용. 핵심 차별: 그래프가 형식지(원장)와 암묵지(검증된 판단)를 한 층에서 연결 — 그래서 '왜'라는 질문에 근거로 답할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질의 ③의 종합 답. 5개 에이전트가 8~10장의 세 프로젝트를 상시 운영형으로 바꾼다. 증강(augment)이지 감축이 아님을 명시 — 조직 수용성 포인트.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태성당 확장 전략(별빛샌드)과 정합: 파일럿→복제 구조. 대구 지점은 5단계에서 복제 대상으로 명시.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책의 '정직한 평가' 원칙 — 과장된 수치 약속 대신 기준선 합의와 공개 통계 참고를 구분해 제시.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질의에 대한 최종 답과 다음 단계. 서드브레인 메시지를 태성당 서사(70년 전통)로 각색해 마무리.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1280160"/>
            <a:ext cx="749808" cy="749808"/>
          </a:xfrm>
          <a:prstGeom prst="ellipse">
            <a:avLst/>
          </a:prstGeom>
          <a:solidFill>
            <a:srgbClr val="9C5227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06368" y="1482608"/>
            <a:ext cx="344912" cy="34491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012680" y="2194560"/>
            <a:ext cx="749808" cy="749808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5128" y="2397008"/>
            <a:ext cx="344912" cy="34491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8503920" y="3108960"/>
            <a:ext cx="749808" cy="749808"/>
          </a:xfrm>
          <a:prstGeom prst="ellipse">
            <a:avLst/>
          </a:prstGeom>
          <a:solidFill>
            <a:srgbClr val="0E8F86"/>
          </a:solidFill>
          <a:ln/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6368" y="3311408"/>
            <a:ext cx="344912" cy="344912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10012680" y="4023360"/>
            <a:ext cx="749808" cy="749808"/>
          </a:xfrm>
          <a:prstGeom prst="ellipse">
            <a:avLst/>
          </a:prstGeom>
          <a:solidFill>
            <a:srgbClr val="714B67"/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15128" y="4225808"/>
            <a:ext cx="344912" cy="344912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8503920" y="4937760"/>
            <a:ext cx="749808" cy="749808"/>
          </a:xfrm>
          <a:prstGeom prst="ellipse">
            <a:avLst/>
          </a:prstGeom>
          <a:solidFill>
            <a:srgbClr val="C07F1E"/>
          </a:solidFill>
          <a:ln/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6368" y="5140208"/>
            <a:ext cx="344912" cy="344912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640080" y="8686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CUSTOM PROPOSAL  ·  주식회사 태성당 귀중</a:t>
            </a:r>
            <a:endParaRPr lang="en-US" sz="1300" dirty="0"/>
          </a:p>
        </p:txBody>
      </p:sp>
      <p:sp>
        <p:nvSpPr>
          <p:cNvPr id="13" name="Text 6"/>
          <p:cNvSpPr/>
          <p:nvPr/>
        </p:nvSpPr>
        <p:spPr>
          <a:xfrm>
            <a:off x="640080" y="12801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1950 태성당 AX 프로젝트 제안</a:t>
            </a:r>
            <a:endParaRPr lang="en-US" sz="4000" dirty="0"/>
          </a:p>
        </p:txBody>
      </p:sp>
      <p:sp>
        <p:nvSpPr>
          <p:cNvPr id="14" name="Text 7"/>
          <p:cNvSpPr/>
          <p:nvPr/>
        </p:nvSpPr>
        <p:spPr>
          <a:xfrm>
            <a:off x="640080" y="2286000"/>
            <a:ext cx="7589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D8C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재고·발주·회계를 하나의 원장으로 —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D8C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파이프라인에서 온톨로지·지식그래프, AI 에이전트까지</a:t>
            </a:r>
            <a:endParaRPr lang="en-US" sz="1800" dirty="0"/>
          </a:p>
        </p:txBody>
      </p:sp>
      <p:sp>
        <p:nvSpPr>
          <p:cNvPr id="15" name="Shape 8"/>
          <p:cNvSpPr/>
          <p:nvPr/>
        </p:nvSpPr>
        <p:spPr>
          <a:xfrm>
            <a:off x="640080" y="3429000"/>
            <a:ext cx="7498080" cy="1234440"/>
          </a:xfrm>
          <a:prstGeom prst="roundRect">
            <a:avLst>
              <a:gd name="adj" fmla="val 6667"/>
            </a:avLst>
          </a:prstGeom>
          <a:solidFill>
            <a:srgbClr val="3E2C1D"/>
          </a:solidFill>
          <a:ln/>
        </p:spPr>
      </p:sp>
      <p:sp>
        <p:nvSpPr>
          <p:cNvPr id="16" name="Text 9"/>
          <p:cNvSpPr/>
          <p:nvPr/>
        </p:nvSpPr>
        <p:spPr>
          <a:xfrm>
            <a:off x="868680" y="3547872"/>
            <a:ext cx="7040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귀사의 질의  </a:t>
            </a:r>
            <a:pPr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"원자재 및 완제품 재고 관리, 매장/B2B 발주 및 회계 연동, AI를 활용한 실무 자동화와 관련해 저희 업장에 맞춘 ERP 도입 현장 컨설팅이 가능한지 궁금합니다."</a:t>
            </a:r>
            <a:endParaRPr lang="en-US" sz="1250" dirty="0"/>
          </a:p>
        </p:txBody>
      </p:sp>
      <p:sp>
        <p:nvSpPr>
          <p:cNvPr id="17" name="Text 10"/>
          <p:cNvSpPr/>
          <p:nvPr/>
        </p:nvSpPr>
        <p:spPr>
          <a:xfrm>
            <a:off x="640080" y="48920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답부터 드립니다 — 가능합니다. 이 제안서가 그 실행 설계도입니다.</a:t>
            </a:r>
            <a:endParaRPr lang="en-US" sz="1500" dirty="0"/>
          </a:p>
        </p:txBody>
      </p:sp>
      <p:sp>
        <p:nvSpPr>
          <p:cNvPr id="18" name="Text 11"/>
          <p:cNvSpPr/>
          <p:nvPr/>
        </p:nvSpPr>
        <p:spPr>
          <a:xfrm>
            <a:off x="640080" y="5486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8C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에이에스씨  ·  『AI ERP 혁명 — Odoo와 지능형 ERP』 저자  ·  부산·영남권 담당 송무준  ·  2026. 9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F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CLIENT UNDERSTANDING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201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태성당의 오늘 — 70년의 빵, 세 개의 채널, 세 개의 도시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5760720" cy="4297680"/>
          </a:xfrm>
          <a:prstGeom prst="roundRect">
            <a:avLst>
              <a:gd name="adj" fmla="val 1915"/>
            </a:avLst>
          </a:prstGeom>
          <a:solidFill>
            <a:srgbClr val="F8F2EA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645920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C52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주식회사 태성당 (매장 브랜드 1950 태성당)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2066544"/>
            <a:ext cx="525780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9525">
            <a:solidFill>
              <a:srgbClr val="DCCDB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2112264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8F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40280" y="2112264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70년 전통 제빵 기술 · 2020.12 법인 설립 (대표 이나겸)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2798064"/>
            <a:ext cx="525780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9525">
            <a:solidFill>
              <a:srgbClr val="DCCD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2843784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8F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본점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240280" y="2843784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부산 동구 초량동 — 빵지순례 필수 코스, '부산 관광 스타 기업'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" y="3529584"/>
            <a:ext cx="525780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9525">
            <a:solidFill>
              <a:srgbClr val="DCCDB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8408" y="3575304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8F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240280" y="3575304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2023.11 부산별빛샌드 · 2024.11 대구별빛샌드 — 유통망 확대 중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77240" y="4261104"/>
            <a:ext cx="525780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9525">
            <a:solidFill>
              <a:srgbClr val="DCCDB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4306824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8F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메뉴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240280" y="4306824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파이만쥬 · 프랑스생크림빵 · 꿀꺽도나스 · 천년주종빵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7240" y="4992624"/>
            <a:ext cx="525780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9525">
            <a:solidFill>
              <a:srgbClr val="DCCDB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" y="5038344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8F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구조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240280" y="5038344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베이커리 제조 + 도소매(B2B) + 전자상거래 — 3채널 운영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37960" y="15544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C52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질의 3요소 → 이 제안서의 답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537960" y="1956816"/>
            <a:ext cx="5166360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0E8F8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0" y="206654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8F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원자재·완제품 재고 관리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766560" y="2377440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품목·로트·유통기한 체계와 다지점 재고 — 5·6장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537960" y="3255264"/>
            <a:ext cx="5166360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714B6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336499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14B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매장/B2B 발주·회계 연동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766560" y="3675888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수주→출고→계산서→수금→자동분개의 O2C — 7장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537960" y="4553712"/>
            <a:ext cx="5166360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466344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AI 실무 자동화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766560" y="4974336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수요예측·영업자동화·재고 최적화를 데이터 파이프라인 → 온톨로지·지식그래프 → AI 에이전트로 — 8~13장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02920" y="5897880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9C52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컨설팅 방식: 초량 본점·지점 현장 진단부터 — 부산·영남권 전담 조직이 상주 수행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1950 태성당 AX 프로젝트 제안 · 에이에스씨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430000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F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OPPORTUNITY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201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태성당의 다섯 가지 특수성 — 그대로 AX의 지렛대가 된다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11201400" cy="786384"/>
          </a:xfrm>
          <a:prstGeom prst="roundRect">
            <a:avLst>
              <a:gd name="adj" fmla="val 10465"/>
            </a:avLst>
          </a:prstGeom>
          <a:solidFill>
            <a:srgbClr val="F8F2EA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600200"/>
            <a:ext cx="512064" cy="512064"/>
          </a:xfrm>
          <a:prstGeom prst="ellipse">
            <a:avLst/>
          </a:prstGeom>
          <a:solidFill>
            <a:srgbClr val="C07F1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065" y="1738457"/>
            <a:ext cx="235549" cy="23554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508760"/>
            <a:ext cx="3977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3채널 판매 (매장·B2B·온라인)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532120" y="1508760"/>
            <a:ext cx="5989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채널별 수요 패턴이 전혀 다르다 → 채널 통합 원장이 서면 채널별 수요예측·손익이 갈라져 보인다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02920" y="2359152"/>
            <a:ext cx="1120140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9525">
            <a:solidFill>
              <a:srgbClr val="DCCDB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49808" y="2496312"/>
            <a:ext cx="512064" cy="512064"/>
          </a:xfrm>
          <a:prstGeom prst="ellipse">
            <a:avLst/>
          </a:prstGeom>
          <a:solidFill>
            <a:srgbClr val="0E8F8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065" y="2634569"/>
            <a:ext cx="235549" cy="23554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63040" y="2404872"/>
            <a:ext cx="3977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다지점 (초량 본점 + 부산·대구 별빛샌드)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5532120" y="2404872"/>
            <a:ext cx="5989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지점 간 재고 이동·배분이 이미 발생 → 지점별 판매 예측 기반 배분 최적화의 즉효 구간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02920" y="3255264"/>
            <a:ext cx="11201400" cy="786384"/>
          </a:xfrm>
          <a:prstGeom prst="roundRect">
            <a:avLst>
              <a:gd name="adj" fmla="val 10465"/>
            </a:avLst>
          </a:prstGeom>
          <a:solidFill>
            <a:srgbClr val="F8F2EA"/>
          </a:solidFill>
          <a:ln/>
        </p:spPr>
      </p:sp>
      <p:sp>
        <p:nvSpPr>
          <p:cNvPr id="15" name="Shape 11"/>
          <p:cNvSpPr/>
          <p:nvPr/>
        </p:nvSpPr>
        <p:spPr>
          <a:xfrm>
            <a:off x="749808" y="3392424"/>
            <a:ext cx="512064" cy="512064"/>
          </a:xfrm>
          <a:prstGeom prst="ellipse">
            <a:avLst/>
          </a:prstGeom>
          <a:solidFill>
            <a:srgbClr val="714B67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065" y="3530681"/>
            <a:ext cx="235549" cy="23554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63040" y="3300984"/>
            <a:ext cx="3977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관광 수요 (빵지순례·주말 피크)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5532120" y="3300984"/>
            <a:ext cx="5989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요일·연휴·크루즈 입항·행사 변수 → 외부 캘린더를 예측 특징량으로 쓰는 수요예측의 최적 사례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02920" y="4151376"/>
            <a:ext cx="1120140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9525">
            <a:solidFill>
              <a:srgbClr val="DCCDBB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49808" y="4288536"/>
            <a:ext cx="512064" cy="51206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065" y="4426793"/>
            <a:ext cx="235549" cy="235549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63040" y="4197096"/>
            <a:ext cx="3977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선물·택배 상품 (파이만쥬 세트)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5532120" y="4197096"/>
            <a:ext cx="5989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신선빵과 보존형 선물세트의 이원 재고 전략 → SKU군별로 다른 재고·생산 정책 필요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502920" y="5047488"/>
            <a:ext cx="11201400" cy="786384"/>
          </a:xfrm>
          <a:prstGeom prst="roundRect">
            <a:avLst>
              <a:gd name="adj" fmla="val 10465"/>
            </a:avLst>
          </a:prstGeom>
          <a:solidFill>
            <a:srgbClr val="F8F2EA"/>
          </a:solidFill>
          <a:ln/>
        </p:spPr>
      </p:sp>
      <p:sp>
        <p:nvSpPr>
          <p:cNvPr id="25" name="Shape 19"/>
          <p:cNvSpPr/>
          <p:nvPr/>
        </p:nvSpPr>
        <p:spPr>
          <a:xfrm>
            <a:off x="749808" y="5184648"/>
            <a:ext cx="512064" cy="512064"/>
          </a:xfrm>
          <a:prstGeom prst="ellipse">
            <a:avLst/>
          </a:prstGeom>
          <a:solidFill>
            <a:srgbClr val="9C5227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065" y="5322905"/>
            <a:ext cx="235549" cy="235549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463040" y="5093208"/>
            <a:ext cx="3977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70년 레시피·운영 암묵지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5532120" y="5093208"/>
            <a:ext cx="5989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장인의 배합·발효 판단과 명절 물량의 감 → 온톨로지로 자산화할 최고 가치의 원석</a:t>
            </a:r>
            <a:endParaRPr lang="en-US" sz="1050" dirty="0"/>
          </a:p>
        </p:txBody>
      </p:sp>
      <p:sp>
        <p:nvSpPr>
          <p:cNvPr id="29" name="Text 22"/>
          <p:cNvSpPr/>
          <p:nvPr/>
        </p:nvSpPr>
        <p:spPr>
          <a:xfrm>
            <a:off x="502920" y="5943600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9C52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결론: 태성당은 '일반 베이커리 + 유통·이커머스 기업'의 복합체 — 단일 원장(Odoo) 없이는 어떤 AI도 전체를 보지 못한다</a:t>
            </a:r>
            <a:endParaRPr lang="en-US" sz="1250" dirty="0"/>
          </a:p>
        </p:txBody>
      </p:sp>
      <p:sp>
        <p:nvSpPr>
          <p:cNvPr id="30" name="Text 23"/>
          <p:cNvSpPr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1950 태성당 AX 프로젝트 제안 · 에이에스씨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11430000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B1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TARGET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201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To-Be 총괄 — 트랜잭션에서 지식그래프, 에이전트까지 한 줄기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9418320" cy="786384"/>
          </a:xfrm>
          <a:prstGeom prst="roundRect">
            <a:avLst>
              <a:gd name="adj" fmla="val 10465"/>
            </a:avLst>
          </a:prstGeom>
          <a:solidFill>
            <a:srgbClr val="3E2C1D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636776"/>
            <a:ext cx="2148840" cy="475488"/>
          </a:xfrm>
          <a:prstGeom prst="roundRect">
            <a:avLst>
              <a:gd name="adj" fmla="val 13462"/>
            </a:avLst>
          </a:prstGeom>
          <a:solidFill>
            <a:srgbClr val="0E8F86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63677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L1 트랜잭션 원천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063240" y="1527048"/>
            <a:ext cx="6720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본점·지점 POS / 이커머스 주문 / B2B 수주 / 구매·입고 / 생산실적 / 재고이동·폐기 / 입금·지급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600200" y="2267712"/>
            <a:ext cx="274320" cy="118872"/>
          </a:xfrm>
          <a:prstGeom prst="downArrow">
            <a:avLst/>
          </a:prstGeom>
          <a:solidFill>
            <a:srgbClr val="D8C6B2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2377440"/>
            <a:ext cx="9418320" cy="786384"/>
          </a:xfrm>
          <a:prstGeom prst="roundRect">
            <a:avLst>
              <a:gd name="adj" fmla="val 10465"/>
            </a:avLst>
          </a:prstGeom>
          <a:solidFill>
            <a:srgbClr val="3E2C1D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2532888"/>
            <a:ext cx="2148840" cy="475488"/>
          </a:xfrm>
          <a:prstGeom prst="roundRect">
            <a:avLst>
              <a:gd name="adj" fmla="val 13462"/>
            </a:avLst>
          </a:prstGeom>
          <a:solidFill>
            <a:srgbClr val="714B67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2532888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L2 Odoo 단일 원장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63240" y="2423160"/>
            <a:ext cx="6720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판매·POS·구매·재고·제조·회계 — 하나의 PostgreSQL에 실시간 기록 (기록하는 ERP)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600200" y="3163824"/>
            <a:ext cx="274320" cy="118872"/>
          </a:xfrm>
          <a:prstGeom prst="downArrow">
            <a:avLst/>
          </a:prstGeom>
          <a:solidFill>
            <a:srgbClr val="D8C6B2"/>
          </a:solidFill>
          <a:ln/>
        </p:spPr>
      </p:sp>
      <p:sp>
        <p:nvSpPr>
          <p:cNvPr id="14" name="Shape 12"/>
          <p:cNvSpPr/>
          <p:nvPr/>
        </p:nvSpPr>
        <p:spPr>
          <a:xfrm>
            <a:off x="502920" y="3273552"/>
            <a:ext cx="9418320" cy="786384"/>
          </a:xfrm>
          <a:prstGeom prst="roundRect">
            <a:avLst>
              <a:gd name="adj" fmla="val 10465"/>
            </a:avLst>
          </a:prstGeom>
          <a:solidFill>
            <a:srgbClr val="3E2C1D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3429000"/>
            <a:ext cx="2148840" cy="475488"/>
          </a:xfrm>
          <a:prstGeom prst="roundRect">
            <a:avLst>
              <a:gd name="adj" fmla="val 13462"/>
            </a:avLst>
          </a:prstGeom>
          <a:solidFill>
            <a:srgbClr val="C07F1E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429000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L3 데이터 파이프라인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063240" y="3319272"/>
            <a:ext cx="6720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스트림(수주·출고·폐기…)과 일 배치 → 정제·특징량 생성 → 예측·학습용 데이터셋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600200" y="4059936"/>
            <a:ext cx="274320" cy="118872"/>
          </a:xfrm>
          <a:prstGeom prst="downArrow">
            <a:avLst/>
          </a:prstGeom>
          <a:solidFill>
            <a:srgbClr val="D8C6B2"/>
          </a:solidFill>
          <a:ln/>
        </p:spPr>
      </p:sp>
      <p:sp>
        <p:nvSpPr>
          <p:cNvPr id="19" name="Shape 17"/>
          <p:cNvSpPr/>
          <p:nvPr/>
        </p:nvSpPr>
        <p:spPr>
          <a:xfrm>
            <a:off x="502920" y="4169664"/>
            <a:ext cx="9418320" cy="786384"/>
          </a:xfrm>
          <a:prstGeom prst="roundRect">
            <a:avLst>
              <a:gd name="adj" fmla="val 10465"/>
            </a:avLst>
          </a:prstGeom>
          <a:solidFill>
            <a:srgbClr val="3E2C1D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4325112"/>
            <a:ext cx="2148840" cy="475488"/>
          </a:xfrm>
          <a:prstGeom prst="roundRect">
            <a:avLst>
              <a:gd name="adj" fmla="val 13462"/>
            </a:avLst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" y="4325112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L4 온톨로지·지식그래프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063240" y="4215384"/>
            <a:ext cx="6720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제품-레시피-원료-로트-매장-거래처-이벤트를 의미로 연결 + 현장의 암묵지를 검증해 편입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600200" y="4956048"/>
            <a:ext cx="274320" cy="118872"/>
          </a:xfrm>
          <a:prstGeom prst="downArrow">
            <a:avLst/>
          </a:prstGeom>
          <a:solidFill>
            <a:srgbClr val="D8C6B2"/>
          </a:solidFill>
          <a:ln/>
        </p:spPr>
      </p:sp>
      <p:sp>
        <p:nvSpPr>
          <p:cNvPr id="24" name="Shape 22"/>
          <p:cNvSpPr/>
          <p:nvPr/>
        </p:nvSpPr>
        <p:spPr>
          <a:xfrm>
            <a:off x="502920" y="5065776"/>
            <a:ext cx="9418320" cy="786384"/>
          </a:xfrm>
          <a:prstGeom prst="roundRect">
            <a:avLst>
              <a:gd name="adj" fmla="val 10465"/>
            </a:avLst>
          </a:prstGeom>
          <a:solidFill>
            <a:srgbClr val="3E2C1D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5221224"/>
            <a:ext cx="2148840" cy="475488"/>
          </a:xfrm>
          <a:prstGeom prst="roundRect">
            <a:avLst>
              <a:gd name="adj" fmla="val 13462"/>
            </a:avLst>
          </a:prstGeom>
          <a:solidFill>
            <a:srgbClr val="9C5227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" y="5221224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L5 AI 에이전트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63240" y="5111496"/>
            <a:ext cx="6720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수요예측·보충·배분·B2B수주·마감 에이전트 — 판단을 제안하고, 사람이 승인하면 원장 파라미터로 환류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10195560" y="1481328"/>
            <a:ext cx="1508760" cy="4370832"/>
          </a:xfrm>
          <a:prstGeom prst="roundRect">
            <a:avLst>
              <a:gd name="adj" fmla="val 5455"/>
            </a:avLst>
          </a:prstGeom>
          <a:solidFill>
            <a:srgbClr val="3E2C1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744200" y="1828800"/>
            <a:ext cx="411480" cy="2103120"/>
          </a:xfrm>
          <a:prstGeom prst="upArrow">
            <a:avLst/>
          </a:prstGeom>
          <a:solidFill>
            <a:srgbClr val="E8A33D"/>
          </a:solidFill>
          <a:ln/>
        </p:spPr>
      </p:sp>
      <p:sp>
        <p:nvSpPr>
          <p:cNvPr id="30" name="Text 28"/>
          <p:cNvSpPr/>
          <p:nvPr/>
        </p:nvSpPr>
        <p:spPr>
          <a:xfrm>
            <a:off x="10287000" y="4069080"/>
            <a:ext cx="1325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환류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(HITL 승인 후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파라미터 갱신)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02920" y="6053328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D8C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데이터는 위로(기록→신호), 판단은 아래로(확정→파라미터) — 이 순환이 '판단하는 ERP'의 정체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8C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1950 태성당 AX 프로젝트 제안 · 에이에스씨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430000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8C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F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INVENTORY 1/2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201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원자재 재고 — 로트·유통기한·역산 발주의 체계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3621024" cy="1975104"/>
          </a:xfrm>
          <a:prstGeom prst="roundRect">
            <a:avLst>
              <a:gd name="adj" fmla="val 4167"/>
            </a:avLst>
          </a:prstGeom>
          <a:solidFill>
            <a:srgbClr val="F8F2EA"/>
          </a:solidFill>
          <a:ln/>
        </p:spPr>
      </p:sp>
      <p:sp>
        <p:nvSpPr>
          <p:cNvPr id="5" name="Shape 3"/>
          <p:cNvSpPr/>
          <p:nvPr/>
        </p:nvSpPr>
        <p:spPr>
          <a:xfrm>
            <a:off x="740664" y="1700784"/>
            <a:ext cx="493776" cy="493776"/>
          </a:xfrm>
          <a:prstGeom prst="ellipse">
            <a:avLst/>
          </a:prstGeom>
          <a:solidFill>
            <a:srgbClr val="0E8F8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984" y="1834104"/>
            <a:ext cx="227137" cy="22713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62456" y="1755648"/>
            <a:ext cx="2615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품목·로트 마스터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40664" y="2350008"/>
            <a:ext cx="3145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밀가루·유지·앙금·포장재의 3계층 코드, 입고 로트마다 유통기한 기록 — HACCP 역추적의 뿌리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325112" y="1481328"/>
            <a:ext cx="3621024" cy="1975104"/>
          </a:xfrm>
          <a:prstGeom prst="roundRect">
            <a:avLst>
              <a:gd name="adj" fmla="val 4167"/>
            </a:avLst>
          </a:prstGeom>
          <a:solidFill>
            <a:srgbClr val="F8F2EA"/>
          </a:solidFill>
          <a:ln/>
        </p:spPr>
      </p:sp>
      <p:sp>
        <p:nvSpPr>
          <p:cNvPr id="10" name="Shape 7"/>
          <p:cNvSpPr/>
          <p:nvPr/>
        </p:nvSpPr>
        <p:spPr>
          <a:xfrm>
            <a:off x="4562856" y="1700784"/>
            <a:ext cx="493776" cy="493776"/>
          </a:xfrm>
          <a:prstGeom prst="ellipse">
            <a:avLst/>
          </a:prstGeom>
          <a:solidFill>
            <a:srgbClr val="714B67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6176" y="1834104"/>
            <a:ext cx="227137" cy="22713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84648" y="1755648"/>
            <a:ext cx="2615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FEFO 강제 출고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4562856" y="2350008"/>
            <a:ext cx="3145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유통기한 빠른 순 자동 지시 + 바코드 스캔 검증 — '뒤에 있던 오래된 포대' 사고의 구조적 차단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147304" y="1481328"/>
            <a:ext cx="3621024" cy="1975104"/>
          </a:xfrm>
          <a:prstGeom prst="roundRect">
            <a:avLst>
              <a:gd name="adj" fmla="val 4167"/>
            </a:avLst>
          </a:prstGeom>
          <a:solidFill>
            <a:srgbClr val="F8F2EA"/>
          </a:solidFill>
          <a:ln/>
        </p:spPr>
      </p:sp>
      <p:sp>
        <p:nvSpPr>
          <p:cNvPr id="15" name="Shape 11"/>
          <p:cNvSpPr/>
          <p:nvPr/>
        </p:nvSpPr>
        <p:spPr>
          <a:xfrm>
            <a:off x="8385048" y="1700784"/>
            <a:ext cx="493776" cy="493776"/>
          </a:xfrm>
          <a:prstGeom prst="ellipse">
            <a:avLst/>
          </a:prstGeom>
          <a:solidFill>
            <a:srgbClr val="9C5227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8368" y="1834104"/>
            <a:ext cx="227137" cy="22713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006840" y="1755648"/>
            <a:ext cx="2615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MRP 역산 소요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8385048" y="2350008"/>
            <a:ext cx="3145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일일 생산계획 × 레시피(BOM) = 원료 소요량 자동 산출 — 감이 아니라 계산으로 발주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02920" y="3630168"/>
            <a:ext cx="3621024" cy="1975104"/>
          </a:xfrm>
          <a:prstGeom prst="roundRect">
            <a:avLst>
              <a:gd name="adj" fmla="val 4167"/>
            </a:avLst>
          </a:prstGeom>
          <a:solidFill>
            <a:srgbClr val="F8F2EA"/>
          </a:solidFill>
          <a:ln/>
        </p:spPr>
      </p:sp>
      <p:sp>
        <p:nvSpPr>
          <p:cNvPr id="20" name="Shape 15"/>
          <p:cNvSpPr/>
          <p:nvPr/>
        </p:nvSpPr>
        <p:spPr>
          <a:xfrm>
            <a:off x="740664" y="3849624"/>
            <a:ext cx="493776" cy="493776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984" y="3982944"/>
            <a:ext cx="227137" cy="227137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62456" y="3904488"/>
            <a:ext cx="2615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발주점(ROP)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740664" y="4498848"/>
            <a:ext cx="3145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리드타임·소비 변동성 반영한 품목별 발주점 — 시세 급등 품목은 가격 추이와 함께 제안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325112" y="3630168"/>
            <a:ext cx="3621024" cy="1975104"/>
          </a:xfrm>
          <a:prstGeom prst="roundRect">
            <a:avLst>
              <a:gd name="adj" fmla="val 4167"/>
            </a:avLst>
          </a:prstGeom>
          <a:solidFill>
            <a:srgbClr val="F8F2EA"/>
          </a:solidFill>
          <a:ln/>
        </p:spPr>
      </p:sp>
      <p:sp>
        <p:nvSpPr>
          <p:cNvPr id="25" name="Shape 19"/>
          <p:cNvSpPr/>
          <p:nvPr/>
        </p:nvSpPr>
        <p:spPr>
          <a:xfrm>
            <a:off x="4562856" y="3849624"/>
            <a:ext cx="493776" cy="493776"/>
          </a:xfrm>
          <a:prstGeom prst="ellipse">
            <a:avLst/>
          </a:prstGeom>
          <a:solidFill>
            <a:srgbClr val="C07F1E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6176" y="3982944"/>
            <a:ext cx="227137" cy="227137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84648" y="3904488"/>
            <a:ext cx="2615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실사·정확도 루프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4562856" y="4498848"/>
            <a:ext cx="3145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 실사와 차이 원인 코드화 — 재고 정확도 95%+ 유지가 모든 지능화의 전제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8147304" y="3630168"/>
            <a:ext cx="3621024" cy="1975104"/>
          </a:xfrm>
          <a:prstGeom prst="roundRect">
            <a:avLst>
              <a:gd name="adj" fmla="val 4167"/>
            </a:avLst>
          </a:prstGeom>
          <a:solidFill>
            <a:srgbClr val="F8F2EA"/>
          </a:solidFill>
          <a:ln/>
        </p:spPr>
      </p:sp>
      <p:sp>
        <p:nvSpPr>
          <p:cNvPr id="30" name="Shape 23"/>
          <p:cNvSpPr/>
          <p:nvPr/>
        </p:nvSpPr>
        <p:spPr>
          <a:xfrm>
            <a:off x="8385048" y="3849624"/>
            <a:ext cx="493776" cy="493776"/>
          </a:xfrm>
          <a:prstGeom prst="ellipse">
            <a:avLst/>
          </a:prstGeom>
          <a:solidFill>
            <a:srgbClr val="A8493B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8368" y="3982944"/>
            <a:ext cx="227137" cy="227137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006840" y="3904488"/>
            <a:ext cx="2615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폐기·손실 계정화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8385048" y="4498848"/>
            <a:ext cx="3145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원료 폐기 사유를 코드로 → 회계 계정과 연결, 보이지 않던 로스가 월 손익에 나타난다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502920" y="5897880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9C52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첫 단계의 주전장 — 여기가 서면 발주 자동화(11장 에이전트)가 바로 올라탄다</a:t>
            </a:r>
            <a:endParaRPr lang="en-US" sz="1250" dirty="0"/>
          </a:p>
        </p:txBody>
      </p:sp>
      <p:sp>
        <p:nvSpPr>
          <p:cNvPr id="35" name="Text 27"/>
          <p:cNvSpPr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1950 태성당 AX 프로젝트 제안 · 에이에스씨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430000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F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INVENTORY 2/2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201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완제품 재고 — 신선빵과 선물세트, 두 개의 시간이 흐른다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5486400" cy="2286000"/>
          </a:xfrm>
          <a:prstGeom prst="roundRect">
            <a:avLst>
              <a:gd name="adj" fmla="val 3600"/>
            </a:avLst>
          </a:prstGeom>
          <a:solidFill>
            <a:srgbClr val="F8F2EA"/>
          </a:solidFill>
          <a:ln/>
        </p:spPr>
      </p:sp>
      <p:sp>
        <p:nvSpPr>
          <p:cNvPr id="5" name="Text 3"/>
          <p:cNvSpPr/>
          <p:nvPr/>
        </p:nvSpPr>
        <p:spPr>
          <a:xfrm>
            <a:off x="758952" y="162763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52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SKU군별 이원 재고 전략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58952" y="2011680"/>
            <a:ext cx="2468880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0E8F8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12140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8F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신선군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2414016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프랑스생크림빵·꿀꺽도나스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당일생산·당일판매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생산량이 곧 재고 정책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83280" y="2011680"/>
            <a:ext cx="2468880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38728" y="212140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보존·선물군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538728" y="2414016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파이만쥬 세트·천년주종빵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택배·B2B 납품 가능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안전재고·ROP 관리 대상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02920" y="3931920"/>
            <a:ext cx="548640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CCDB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" y="40782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C52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선물세트 = 키트 BOM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58952" y="438912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파이만쥬 12입 세트 = 파이만쥬 12 + 상자 + 쇼핑백 — 세트 판매 시 구성품 재고가 자동 차감되고, 세트/낱개 판매가 하나의 가용재고에서 정산된다. 온라인 품절 처리도 이 계산 하나로 정확해진다.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63640" y="1463040"/>
            <a:ext cx="5440680" cy="4297680"/>
          </a:xfrm>
          <a:prstGeom prst="roundRect">
            <a:avLst>
              <a:gd name="adj" fmla="val 1915"/>
            </a:avLst>
          </a:prstGeom>
          <a:solidFill>
            <a:srgbClr val="2B1D12"/>
          </a:solidFill>
          <a:ln/>
        </p:spPr>
      </p:sp>
      <p:sp>
        <p:nvSpPr>
          <p:cNvPr id="16" name="Text 14"/>
          <p:cNvSpPr/>
          <p:nvPr/>
        </p:nvSpPr>
        <p:spPr>
          <a:xfrm>
            <a:off x="6510528" y="162763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다지점·다채널 가용재고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510528" y="2048256"/>
            <a:ext cx="4937760" cy="822960"/>
          </a:xfrm>
          <a:prstGeom prst="roundRect">
            <a:avLst>
              <a:gd name="adj" fmla="val 10000"/>
            </a:avLst>
          </a:prstGeom>
          <a:solidFill>
            <a:srgbClr val="3E2C1D"/>
          </a:solidFill>
          <a:ln/>
        </p:spPr>
      </p:sp>
      <p:sp>
        <p:nvSpPr>
          <p:cNvPr id="18" name="Text 16"/>
          <p:cNvSpPr/>
          <p:nvPr/>
        </p:nvSpPr>
        <p:spPr>
          <a:xfrm>
            <a:off x="6711696" y="21214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창고/매장별 재고 분리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711696" y="238658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본점 공장 · 초량 매장 · 부산별빛샌드 · 대구별빛샌드 · 온라인 출고창고 — 위치별 실시간 수량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510528" y="2980944"/>
            <a:ext cx="4937760" cy="822960"/>
          </a:xfrm>
          <a:prstGeom prst="roundRect">
            <a:avLst>
              <a:gd name="adj" fmla="val 10000"/>
            </a:avLst>
          </a:prstGeom>
          <a:solidFill>
            <a:srgbClr val="3E2C1D"/>
          </a:solidFill>
          <a:ln/>
        </p:spPr>
      </p:sp>
      <p:sp>
        <p:nvSpPr>
          <p:cNvPr id="21" name="Text 19"/>
          <p:cNvSpPr/>
          <p:nvPr/>
        </p:nvSpPr>
        <p:spPr>
          <a:xfrm>
            <a:off x="6711696" y="30540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지점 이동 = 이동 오더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711696" y="33192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본점→지점 배분이 전표로 기록 — '트럭에 실은 만큼'이 아니라 '시스템이 아는 만큼'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510528" y="3913632"/>
            <a:ext cx="4937760" cy="822960"/>
          </a:xfrm>
          <a:prstGeom prst="roundRect">
            <a:avLst>
              <a:gd name="adj" fmla="val 10000"/>
            </a:avLst>
          </a:prstGeom>
          <a:solidFill>
            <a:srgbClr val="3E2C1D"/>
          </a:solidFill>
          <a:ln/>
        </p:spPr>
      </p:sp>
      <p:sp>
        <p:nvSpPr>
          <p:cNvPr id="24" name="Text 22"/>
          <p:cNvSpPr/>
          <p:nvPr/>
        </p:nvSpPr>
        <p:spPr>
          <a:xfrm>
            <a:off x="6711696" y="398678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채널별 가용재고 규칙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711696" y="4251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온라인 판매분 선점(예약), 매장 진열분, B2B 납품분의 우선순위 규칙화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510528" y="4846320"/>
            <a:ext cx="4937760" cy="822960"/>
          </a:xfrm>
          <a:prstGeom prst="roundRect">
            <a:avLst>
              <a:gd name="adj" fmla="val 10000"/>
            </a:avLst>
          </a:prstGeom>
          <a:solidFill>
            <a:srgbClr val="3E2C1D"/>
          </a:solidFill>
          <a:ln/>
        </p:spPr>
      </p:sp>
      <p:sp>
        <p:nvSpPr>
          <p:cNvPr id="27" name="Text 25"/>
          <p:cNvSpPr/>
          <p:nvPr/>
        </p:nvSpPr>
        <p:spPr>
          <a:xfrm>
            <a:off x="6711696" y="491947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반품·미판매 회수 루프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711696" y="51846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지점 마감 미판매의 회수/폐기/할인 처리 코드화 — 다음 날 배분 보정의 입력값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1950 태성당 AX 프로젝트 제안 · 에이에스씨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430000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F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ORDER-TO-CASH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201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매장/B2B 발주와 회계 — 손이 가던 모든 연결을 전표로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2157984" cy="1051560"/>
          </a:xfrm>
          <a:prstGeom prst="roundRect">
            <a:avLst>
              <a:gd name="adj" fmla="val 7826"/>
            </a:avLst>
          </a:prstGeom>
          <a:solidFill>
            <a:srgbClr val="EFE5D8"/>
          </a:solidFill>
          <a:ln/>
        </p:spPr>
      </p:sp>
      <p:sp>
        <p:nvSpPr>
          <p:cNvPr id="5" name="Text 3"/>
          <p:cNvSpPr/>
          <p:nvPr/>
        </p:nvSpPr>
        <p:spPr>
          <a:xfrm>
            <a:off x="630936" y="157276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14B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30936" y="1883664"/>
            <a:ext cx="19019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B2B 수주/매장 보충주문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706624" y="1892808"/>
            <a:ext cx="256032" cy="219456"/>
          </a:xfrm>
          <a:prstGeom prst="rightArrow">
            <a:avLst/>
          </a:prstGeom>
          <a:solidFill>
            <a:srgbClr val="DCCDBB"/>
          </a:solidFill>
          <a:ln/>
        </p:spPr>
      </p:sp>
      <p:sp>
        <p:nvSpPr>
          <p:cNvPr id="8" name="Shape 6"/>
          <p:cNvSpPr/>
          <p:nvPr/>
        </p:nvSpPr>
        <p:spPr>
          <a:xfrm>
            <a:off x="2880360" y="1481328"/>
            <a:ext cx="2157984" cy="1051560"/>
          </a:xfrm>
          <a:prstGeom prst="roundRect">
            <a:avLst>
              <a:gd name="adj" fmla="val 7826"/>
            </a:avLst>
          </a:prstGeom>
          <a:solidFill>
            <a:srgbClr val="EFE5D8"/>
          </a:solidFill>
          <a:ln/>
        </p:spPr>
      </p:sp>
      <p:sp>
        <p:nvSpPr>
          <p:cNvPr id="9" name="Text 7"/>
          <p:cNvSpPr/>
          <p:nvPr/>
        </p:nvSpPr>
        <p:spPr>
          <a:xfrm>
            <a:off x="3008376" y="157276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14B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008376" y="1883664"/>
            <a:ext cx="19019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출고·배송 (FEFO 로트)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84064" y="1892808"/>
            <a:ext cx="256032" cy="219456"/>
          </a:xfrm>
          <a:prstGeom prst="rightArrow">
            <a:avLst/>
          </a:prstGeom>
          <a:solidFill>
            <a:srgbClr val="DCCDBB"/>
          </a:solidFill>
          <a:ln/>
        </p:spPr>
      </p:sp>
      <p:sp>
        <p:nvSpPr>
          <p:cNvPr id="12" name="Shape 10"/>
          <p:cNvSpPr/>
          <p:nvPr/>
        </p:nvSpPr>
        <p:spPr>
          <a:xfrm>
            <a:off x="5257800" y="1481328"/>
            <a:ext cx="2157984" cy="1051560"/>
          </a:xfrm>
          <a:prstGeom prst="roundRect">
            <a:avLst>
              <a:gd name="adj" fmla="val 7826"/>
            </a:avLst>
          </a:prstGeom>
          <a:solidFill>
            <a:srgbClr val="EFE5D8"/>
          </a:solidFill>
          <a:ln/>
        </p:spPr>
      </p:sp>
      <p:sp>
        <p:nvSpPr>
          <p:cNvPr id="13" name="Text 11"/>
          <p:cNvSpPr/>
          <p:nvPr/>
        </p:nvSpPr>
        <p:spPr>
          <a:xfrm>
            <a:off x="5385816" y="157276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14B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385816" y="1883664"/>
            <a:ext cx="19019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세금계산서 자동 발행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461504" y="1892808"/>
            <a:ext cx="256032" cy="219456"/>
          </a:xfrm>
          <a:prstGeom prst="rightArrow">
            <a:avLst/>
          </a:prstGeom>
          <a:solidFill>
            <a:srgbClr val="DCCDBB"/>
          </a:solidFill>
          <a:ln/>
        </p:spPr>
      </p:sp>
      <p:sp>
        <p:nvSpPr>
          <p:cNvPr id="16" name="Shape 14"/>
          <p:cNvSpPr/>
          <p:nvPr/>
        </p:nvSpPr>
        <p:spPr>
          <a:xfrm>
            <a:off x="7635240" y="1481328"/>
            <a:ext cx="2157984" cy="1051560"/>
          </a:xfrm>
          <a:prstGeom prst="roundRect">
            <a:avLst>
              <a:gd name="adj" fmla="val 7826"/>
            </a:avLst>
          </a:prstGeom>
          <a:solidFill>
            <a:srgbClr val="EFE5D8"/>
          </a:solidFill>
          <a:ln/>
        </p:spPr>
      </p:sp>
      <p:sp>
        <p:nvSpPr>
          <p:cNvPr id="17" name="Text 15"/>
          <p:cNvSpPr/>
          <p:nvPr/>
        </p:nvSpPr>
        <p:spPr>
          <a:xfrm>
            <a:off x="7763256" y="157276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14B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763256" y="1883664"/>
            <a:ext cx="19019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수금·미수 관리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838944" y="1892808"/>
            <a:ext cx="256032" cy="219456"/>
          </a:xfrm>
          <a:prstGeom prst="rightArrow">
            <a:avLst/>
          </a:prstGeom>
          <a:solidFill>
            <a:srgbClr val="DCCDBB"/>
          </a:solidFill>
          <a:ln/>
        </p:spPr>
      </p:sp>
      <p:sp>
        <p:nvSpPr>
          <p:cNvPr id="20" name="Shape 18"/>
          <p:cNvSpPr/>
          <p:nvPr/>
        </p:nvSpPr>
        <p:spPr>
          <a:xfrm>
            <a:off x="10012680" y="1481328"/>
            <a:ext cx="2157984" cy="1051560"/>
          </a:xfrm>
          <a:prstGeom prst="roundRect">
            <a:avLst>
              <a:gd name="adj" fmla="val 7826"/>
            </a:avLst>
          </a:prstGeom>
          <a:solidFill>
            <a:srgbClr val="EFE5D8"/>
          </a:solidFill>
          <a:ln/>
        </p:spPr>
      </p:sp>
      <p:sp>
        <p:nvSpPr>
          <p:cNvPr id="21" name="Text 19"/>
          <p:cNvSpPr/>
          <p:nvPr/>
        </p:nvSpPr>
        <p:spPr>
          <a:xfrm>
            <a:off x="10140696" y="157276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14B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140696" y="1883664"/>
            <a:ext cx="19019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분개·일일 손익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02920" y="2788920"/>
            <a:ext cx="3621024" cy="2926080"/>
          </a:xfrm>
          <a:prstGeom prst="roundRect">
            <a:avLst>
              <a:gd name="adj" fmla="val 2813"/>
            </a:avLst>
          </a:prstGeom>
          <a:solidFill>
            <a:srgbClr val="FFFFFF"/>
          </a:solidFill>
          <a:ln w="9525">
            <a:solidFill>
              <a:srgbClr val="714B6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22376" y="2990088"/>
            <a:ext cx="475488" cy="475488"/>
          </a:xfrm>
          <a:prstGeom prst="ellipse">
            <a:avLst/>
          </a:prstGeom>
          <a:solidFill>
            <a:srgbClr val="714B67"/>
          </a:solidFill>
          <a:ln/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758" y="3118470"/>
            <a:ext cx="218724" cy="218724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325880" y="3063240"/>
            <a:ext cx="2660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14B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B2B 도소매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722376" y="3566160"/>
            <a:ext cx="32004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3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거래처별 단가표·여신한도 — 한도 초과 자동 경고</a:t>
            </a:r>
            <a:endParaRPr lang="en-US" sz="1000" dirty="0"/>
          </a:p>
          <a:p>
            <a:pPr marL="127000" indent="-127000">
              <a:lnSpc>
                <a:spcPct val="113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정기 납품처의 재주문 주기 감지 → 수주 제안(9장 에이전트)</a:t>
            </a:r>
            <a:endParaRPr lang="en-US" sz="1000" dirty="0"/>
          </a:p>
          <a:p>
            <a:pPr marL="127000" indent="-127000">
              <a:lnSpc>
                <a:spcPct val="113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마감 일괄 계산서·거래명세서 자동화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325112" y="2788920"/>
            <a:ext cx="3621024" cy="2926080"/>
          </a:xfrm>
          <a:prstGeom prst="roundRect">
            <a:avLst>
              <a:gd name="adj" fmla="val 2813"/>
            </a:avLst>
          </a:prstGeom>
          <a:solidFill>
            <a:srgbClr val="FFFFFF"/>
          </a:solidFill>
          <a:ln w="9525">
            <a:solidFill>
              <a:srgbClr val="0E8F86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44568" y="2990088"/>
            <a:ext cx="475488" cy="475488"/>
          </a:xfrm>
          <a:prstGeom prst="ellipse">
            <a:avLst/>
          </a:prstGeom>
          <a:solidFill>
            <a:srgbClr val="0E8F86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950" y="3118470"/>
            <a:ext cx="218724" cy="218724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148072" y="3063240"/>
            <a:ext cx="2660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8F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매장·지점 발주</a:t>
            </a:r>
            <a:endParaRPr lang="en-US" sz="1350" dirty="0"/>
          </a:p>
        </p:txBody>
      </p:sp>
      <p:sp>
        <p:nvSpPr>
          <p:cNvPr id="32" name="Text 28"/>
          <p:cNvSpPr/>
          <p:nvPr/>
        </p:nvSpPr>
        <p:spPr>
          <a:xfrm>
            <a:off x="4544568" y="3566160"/>
            <a:ext cx="32004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3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지점의 보충 발주 → 본점 생산계획에 자동 합산</a:t>
            </a:r>
            <a:endParaRPr lang="en-US" sz="1000" dirty="0"/>
          </a:p>
          <a:p>
            <a:pPr marL="127000" indent="-127000">
              <a:lnSpc>
                <a:spcPct val="113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예측 기반 '권장 발주량' 제시 — 점장은 조정만</a:t>
            </a:r>
            <a:endParaRPr lang="en-US" sz="1000" dirty="0"/>
          </a:p>
          <a:p>
            <a:pPr marL="127000" indent="-127000">
              <a:lnSpc>
                <a:spcPct val="113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지점간 이동 전표로 재고·손익 자동 정리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8147304" y="2788920"/>
            <a:ext cx="3621024" cy="2926080"/>
          </a:xfrm>
          <a:prstGeom prst="roundRect">
            <a:avLst>
              <a:gd name="adj" fmla="val 2813"/>
            </a:avLst>
          </a:prstGeom>
          <a:solidFill>
            <a:srgbClr val="FFFFFF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8366760" y="2990088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5142" y="3118470"/>
            <a:ext cx="218724" cy="218724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8970264" y="3063240"/>
            <a:ext cx="2660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이커머스·회계 연동</a:t>
            </a:r>
            <a:endParaRPr lang="en-US" sz="1350" dirty="0"/>
          </a:p>
        </p:txBody>
      </p:sp>
      <p:sp>
        <p:nvSpPr>
          <p:cNvPr id="37" name="Text 32"/>
          <p:cNvSpPr/>
          <p:nvPr/>
        </p:nvSpPr>
        <p:spPr>
          <a:xfrm>
            <a:off x="8366760" y="3566160"/>
            <a:ext cx="32004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3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온라인 주문 자동 수집 → 출고·송장·재고 차감 일원화</a:t>
            </a:r>
            <a:endParaRPr lang="en-US" sz="1000" dirty="0"/>
          </a:p>
          <a:p>
            <a:pPr marL="127000" indent="-127000">
              <a:lnSpc>
                <a:spcPct val="113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PG 정산·수수료 자동 대사(對査)</a:t>
            </a:r>
            <a:endParaRPr lang="en-US" sz="1000" dirty="0"/>
          </a:p>
          <a:p>
            <a:pPr marL="127000" indent="-127000">
              <a:lnSpc>
                <a:spcPct val="113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판매·폐기·원가가 계정으로 흘러 일일 손익 마감</a:t>
            </a:r>
            <a:endParaRPr lang="en-US" sz="1000" dirty="0"/>
          </a:p>
        </p:txBody>
      </p:sp>
      <p:sp>
        <p:nvSpPr>
          <p:cNvPr id="38" name="Text 33"/>
          <p:cNvSpPr/>
          <p:nvPr/>
        </p:nvSpPr>
        <p:spPr>
          <a:xfrm>
            <a:off x="502920" y="5897880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9C52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효과: 주문·계산서·수금·분개 사이의 수작업 옮겨적기가 사라진다 — '이중 입력 제로'가 2단계(기반)의 성공 판정 기준</a:t>
            </a:r>
            <a:endParaRPr lang="en-US" sz="1200" dirty="0"/>
          </a:p>
        </p:txBody>
      </p:sp>
      <p:sp>
        <p:nvSpPr>
          <p:cNvPr id="39" name="Text 34"/>
          <p:cNvSpPr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1950 태성당 AX 프로젝트 제안 · 에이에스씨</a:t>
            </a:r>
            <a:endParaRPr lang="en-US" sz="900" dirty="0"/>
          </a:p>
        </p:txBody>
      </p:sp>
      <p:sp>
        <p:nvSpPr>
          <p:cNvPr id="40" name="Text 35"/>
          <p:cNvSpPr/>
          <p:nvPr/>
        </p:nvSpPr>
        <p:spPr>
          <a:xfrm>
            <a:off x="11430000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F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PROJECT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201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수요예측 — "내일 파이만쥬 몇 개?"에 숫자로 답한다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2697480" cy="4023360"/>
          </a:xfrm>
          <a:prstGeom prst="roundRect">
            <a:avLst>
              <a:gd name="adj" fmla="val 3051"/>
            </a:avLst>
          </a:prstGeom>
          <a:solidFill>
            <a:srgbClr val="F8F2EA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645920"/>
            <a:ext cx="2331720" cy="402336"/>
          </a:xfrm>
          <a:prstGeom prst="roundRect">
            <a:avLst>
              <a:gd name="adj" fmla="val 15909"/>
            </a:avLst>
          </a:prstGeom>
          <a:solidFill>
            <a:srgbClr val="0E8F86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645920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데이터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04088" y="2212848"/>
            <a:ext cx="231343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3000"/>
              </a:lnSpc>
              <a:spcAft>
                <a:spcPts val="700"/>
              </a:spcAft>
              <a:buSzPct val="100000"/>
              <a:buChar char="•"/>
            </a:pPr>
            <a:r>
              <a:rPr lang="en-US" sz="98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채널·지점·품목·시간대 판매(POS·온라인·B2B)</a:t>
            </a:r>
            <a:endParaRPr lang="en-US" sz="980" dirty="0"/>
          </a:p>
          <a:p>
            <a:pPr marL="127000" indent="-127000">
              <a:lnSpc>
                <a:spcPct val="113000"/>
              </a:lnSpc>
              <a:spcAft>
                <a:spcPts val="700"/>
              </a:spcAft>
              <a:buSzPct val="100000"/>
              <a:buChar char="•"/>
            </a:pPr>
            <a:r>
              <a:rPr lang="en-US" sz="98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요일·명절·연휴 캘린더</a:t>
            </a:r>
            <a:endParaRPr lang="en-US" sz="980" dirty="0"/>
          </a:p>
          <a:p>
            <a:pPr marL="127000" indent="-127000">
              <a:lnSpc>
                <a:spcPct val="113000"/>
              </a:lnSpc>
              <a:spcAft>
                <a:spcPts val="700"/>
              </a:spcAft>
              <a:buSzPct val="100000"/>
              <a:buChar char="•"/>
            </a:pPr>
            <a:r>
              <a:rPr lang="en-US" sz="98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날씨(기온·강수) 예보</a:t>
            </a:r>
            <a:endParaRPr lang="en-US" sz="980" dirty="0"/>
          </a:p>
          <a:p>
            <a:pPr marL="127000" indent="-127000">
              <a:lnSpc>
                <a:spcPct val="113000"/>
              </a:lnSpc>
              <a:spcAft>
                <a:spcPts val="700"/>
              </a:spcAft>
              <a:buSzPct val="100000"/>
              <a:buChar char="•"/>
            </a:pPr>
            <a:r>
              <a:rPr lang="en-US" sz="98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부산 행사·크루즈 입항 등 관광 캘린더</a:t>
            </a:r>
            <a:endParaRPr lang="en-US" sz="980" dirty="0"/>
          </a:p>
          <a:p>
            <a:pPr marL="127000" indent="-127000">
              <a:lnSpc>
                <a:spcPct val="113000"/>
              </a:lnSpc>
              <a:spcAft>
                <a:spcPts val="700"/>
              </a:spcAft>
              <a:buSzPct val="100000"/>
              <a:buChar char="•"/>
            </a:pPr>
            <a:r>
              <a:rPr lang="en-US" sz="98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프로모션·방송 노출 이력</a:t>
            </a:r>
            <a:endParaRPr lang="en-US" sz="980" dirty="0"/>
          </a:p>
        </p:txBody>
      </p:sp>
      <p:sp>
        <p:nvSpPr>
          <p:cNvPr id="8" name="Shape 6"/>
          <p:cNvSpPr/>
          <p:nvPr/>
        </p:nvSpPr>
        <p:spPr>
          <a:xfrm>
            <a:off x="3218688" y="3310128"/>
            <a:ext cx="182880" cy="237744"/>
          </a:xfrm>
          <a:prstGeom prst="rightArrow">
            <a:avLst/>
          </a:prstGeom>
          <a:solidFill>
            <a:srgbClr val="DCCDBB"/>
          </a:solidFill>
          <a:ln/>
        </p:spPr>
      </p:sp>
      <p:sp>
        <p:nvSpPr>
          <p:cNvPr id="9" name="Shape 7"/>
          <p:cNvSpPr/>
          <p:nvPr/>
        </p:nvSpPr>
        <p:spPr>
          <a:xfrm>
            <a:off x="3392424" y="1481328"/>
            <a:ext cx="2697480" cy="4023360"/>
          </a:xfrm>
          <a:prstGeom prst="roundRect">
            <a:avLst>
              <a:gd name="adj" fmla="val 3051"/>
            </a:avLst>
          </a:prstGeom>
          <a:solidFill>
            <a:srgbClr val="F8F2EA"/>
          </a:solidFill>
          <a:ln/>
        </p:spPr>
      </p:sp>
      <p:sp>
        <p:nvSpPr>
          <p:cNvPr id="10" name="Shape 8"/>
          <p:cNvSpPr/>
          <p:nvPr/>
        </p:nvSpPr>
        <p:spPr>
          <a:xfrm>
            <a:off x="3575304" y="1645920"/>
            <a:ext cx="2331720" cy="402336"/>
          </a:xfrm>
          <a:prstGeom prst="roundRect">
            <a:avLst>
              <a:gd name="adj" fmla="val 15909"/>
            </a:avLst>
          </a:prstGeom>
          <a:solidFill>
            <a:srgbClr val="C07F1E"/>
          </a:solidFill>
          <a:ln/>
        </p:spPr>
      </p:sp>
      <p:sp>
        <p:nvSpPr>
          <p:cNvPr id="11" name="Text 9"/>
          <p:cNvSpPr/>
          <p:nvPr/>
        </p:nvSpPr>
        <p:spPr>
          <a:xfrm>
            <a:off x="3575304" y="1645920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특징량 생성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593592" y="2212848"/>
            <a:ext cx="231343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3000"/>
              </a:lnSpc>
              <a:spcAft>
                <a:spcPts val="700"/>
              </a:spcAft>
              <a:buSzPct val="100000"/>
              <a:buChar char="•"/>
            </a:pPr>
            <a:r>
              <a:rPr lang="en-US" sz="98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품목×지점×요일 프로파일</a:t>
            </a:r>
            <a:endParaRPr lang="en-US" sz="980" dirty="0"/>
          </a:p>
          <a:p>
            <a:pPr marL="127000" indent="-127000">
              <a:lnSpc>
                <a:spcPct val="113000"/>
              </a:lnSpc>
              <a:spcAft>
                <a:spcPts val="700"/>
              </a:spcAft>
              <a:buSzPct val="100000"/>
              <a:buChar char="•"/>
            </a:pPr>
            <a:r>
              <a:rPr lang="en-US" sz="98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관광 피크 지수(주말·연휴 가중)</a:t>
            </a:r>
            <a:endParaRPr lang="en-US" sz="980" dirty="0"/>
          </a:p>
          <a:p>
            <a:pPr marL="127000" indent="-127000">
              <a:lnSpc>
                <a:spcPct val="113000"/>
              </a:lnSpc>
              <a:spcAft>
                <a:spcPts val="700"/>
              </a:spcAft>
              <a:buSzPct val="100000"/>
              <a:buChar char="•"/>
            </a:pPr>
            <a:r>
              <a:rPr lang="en-US" sz="98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세트/낱개 전환 비율</a:t>
            </a:r>
            <a:endParaRPr lang="en-US" sz="980" dirty="0"/>
          </a:p>
          <a:p>
            <a:pPr marL="127000" indent="-127000">
              <a:lnSpc>
                <a:spcPct val="113000"/>
              </a:lnSpc>
              <a:spcAft>
                <a:spcPts val="700"/>
              </a:spcAft>
              <a:buSzPct val="100000"/>
              <a:buChar char="•"/>
            </a:pPr>
            <a:r>
              <a:rPr lang="en-US" sz="98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B2B 정기 주문 주기</a:t>
            </a:r>
            <a:endParaRPr lang="en-US" sz="980" dirty="0"/>
          </a:p>
          <a:p>
            <a:pPr marL="127000" indent="-127000">
              <a:lnSpc>
                <a:spcPct val="113000"/>
              </a:lnSpc>
              <a:spcAft>
                <a:spcPts val="700"/>
              </a:spcAft>
              <a:buSzPct val="100000"/>
              <a:buChar char="•"/>
            </a:pPr>
            <a:r>
              <a:rPr lang="en-US" sz="98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추세·계절성 분해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6108192" y="3310128"/>
            <a:ext cx="182880" cy="237744"/>
          </a:xfrm>
          <a:prstGeom prst="rightArrow">
            <a:avLst/>
          </a:prstGeom>
          <a:solidFill>
            <a:srgbClr val="DCCDBB"/>
          </a:solidFill>
          <a:ln/>
        </p:spPr>
      </p:sp>
      <p:sp>
        <p:nvSpPr>
          <p:cNvPr id="14" name="Shape 12"/>
          <p:cNvSpPr/>
          <p:nvPr/>
        </p:nvSpPr>
        <p:spPr>
          <a:xfrm>
            <a:off x="6281928" y="1481328"/>
            <a:ext cx="2697480" cy="4023360"/>
          </a:xfrm>
          <a:prstGeom prst="roundRect">
            <a:avLst>
              <a:gd name="adj" fmla="val 3051"/>
            </a:avLst>
          </a:prstGeom>
          <a:solidFill>
            <a:srgbClr val="F8F2EA"/>
          </a:solidFill>
          <a:ln/>
        </p:spPr>
      </p:sp>
      <p:sp>
        <p:nvSpPr>
          <p:cNvPr id="15" name="Shape 13"/>
          <p:cNvSpPr/>
          <p:nvPr/>
        </p:nvSpPr>
        <p:spPr>
          <a:xfrm>
            <a:off x="6464808" y="1645920"/>
            <a:ext cx="2331720" cy="402336"/>
          </a:xfrm>
          <a:prstGeom prst="roundRect">
            <a:avLst>
              <a:gd name="adj" fmla="val 15909"/>
            </a:avLst>
          </a:prstGeom>
          <a:solidFill>
            <a:srgbClr val="714B67"/>
          </a:solidFill>
          <a:ln/>
        </p:spPr>
      </p:sp>
      <p:sp>
        <p:nvSpPr>
          <p:cNvPr id="16" name="Text 14"/>
          <p:cNvSpPr/>
          <p:nvPr/>
        </p:nvSpPr>
        <p:spPr>
          <a:xfrm>
            <a:off x="6464808" y="1645920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모델·평가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83096" y="2212848"/>
            <a:ext cx="231343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3000"/>
              </a:lnSpc>
              <a:spcAft>
                <a:spcPts val="700"/>
              </a:spcAft>
              <a:buSzPct val="100000"/>
              <a:buChar char="•"/>
            </a:pPr>
            <a:r>
              <a:rPr lang="en-US" sz="98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품목군별 시계열+회귀 앙상블</a:t>
            </a:r>
            <a:endParaRPr lang="en-US" sz="980" dirty="0"/>
          </a:p>
          <a:p>
            <a:pPr marL="127000" indent="-127000">
              <a:lnSpc>
                <a:spcPct val="113000"/>
              </a:lnSpc>
              <a:spcAft>
                <a:spcPts val="700"/>
              </a:spcAft>
              <a:buSzPct val="100000"/>
              <a:buChar char="•"/>
            </a:pPr>
            <a:r>
              <a:rPr lang="en-US" sz="98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구간(최소~최대) 제시</a:t>
            </a:r>
            <a:endParaRPr lang="en-US" sz="980" dirty="0"/>
          </a:p>
          <a:p>
            <a:pPr marL="127000" indent="-127000">
              <a:lnSpc>
                <a:spcPct val="113000"/>
              </a:lnSpc>
              <a:spcAft>
                <a:spcPts val="700"/>
              </a:spcAft>
              <a:buSzPct val="100000"/>
              <a:buChar char="•"/>
            </a:pPr>
            <a:r>
              <a:rPr lang="en-US" sz="98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MAPE 상시 측정 — 품목별 신뢰도 공개</a:t>
            </a:r>
            <a:endParaRPr lang="en-US" sz="980" dirty="0"/>
          </a:p>
          <a:p>
            <a:pPr marL="127000" indent="-127000">
              <a:lnSpc>
                <a:spcPct val="113000"/>
              </a:lnSpc>
              <a:spcAft>
                <a:spcPts val="700"/>
              </a:spcAft>
              <a:buSzPct val="100000"/>
              <a:buChar char="•"/>
            </a:pPr>
            <a:r>
              <a:rPr lang="en-US" sz="98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저조 품목은 규칙 기반 폴백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8997696" y="3310128"/>
            <a:ext cx="182880" cy="237744"/>
          </a:xfrm>
          <a:prstGeom prst="rightArrow">
            <a:avLst/>
          </a:prstGeom>
          <a:solidFill>
            <a:srgbClr val="DCCDBB"/>
          </a:solidFill>
          <a:ln/>
        </p:spPr>
      </p:sp>
      <p:sp>
        <p:nvSpPr>
          <p:cNvPr id="19" name="Shape 17"/>
          <p:cNvSpPr/>
          <p:nvPr/>
        </p:nvSpPr>
        <p:spPr>
          <a:xfrm>
            <a:off x="9171432" y="1481328"/>
            <a:ext cx="2697480" cy="4023360"/>
          </a:xfrm>
          <a:prstGeom prst="roundRect">
            <a:avLst>
              <a:gd name="adj" fmla="val 3051"/>
            </a:avLst>
          </a:prstGeom>
          <a:solidFill>
            <a:srgbClr val="F8F2EA"/>
          </a:solidFill>
          <a:ln/>
        </p:spPr>
      </p:sp>
      <p:sp>
        <p:nvSpPr>
          <p:cNvPr id="20" name="Shape 18"/>
          <p:cNvSpPr/>
          <p:nvPr/>
        </p:nvSpPr>
        <p:spPr>
          <a:xfrm>
            <a:off x="9354312" y="1645920"/>
            <a:ext cx="2331720" cy="402336"/>
          </a:xfrm>
          <a:prstGeom prst="roundRect">
            <a:avLst>
              <a:gd name="adj" fmla="val 15909"/>
            </a:avLst>
          </a:prstGeom>
          <a:solidFill>
            <a:srgbClr val="9C5227"/>
          </a:solidFill>
          <a:ln/>
        </p:spPr>
      </p:sp>
      <p:sp>
        <p:nvSpPr>
          <p:cNvPr id="21" name="Text 19"/>
          <p:cNvSpPr/>
          <p:nvPr/>
        </p:nvSpPr>
        <p:spPr>
          <a:xfrm>
            <a:off x="9354312" y="1645920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산출·활용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372600" y="2212848"/>
            <a:ext cx="231343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3000"/>
              </a:lnSpc>
              <a:spcAft>
                <a:spcPts val="700"/>
              </a:spcAft>
              <a:buSzPct val="100000"/>
              <a:buChar char="•"/>
            </a:pPr>
            <a:r>
              <a:rPr lang="en-US" sz="98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익일·주간 판매 예측</a:t>
            </a:r>
            <a:endParaRPr lang="en-US" sz="980" dirty="0"/>
          </a:p>
          <a:p>
            <a:pPr marL="127000" indent="-127000">
              <a:lnSpc>
                <a:spcPct val="113000"/>
              </a:lnSpc>
              <a:spcAft>
                <a:spcPts val="700"/>
              </a:spcAft>
              <a:buSzPct val="100000"/>
              <a:buChar char="•"/>
            </a:pPr>
            <a:r>
              <a:rPr lang="en-US" sz="98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일일 생산계획 제안(승인제)</a:t>
            </a:r>
            <a:endParaRPr lang="en-US" sz="980" dirty="0"/>
          </a:p>
          <a:p>
            <a:pPr marL="127000" indent="-127000">
              <a:lnSpc>
                <a:spcPct val="113000"/>
              </a:lnSpc>
              <a:spcAft>
                <a:spcPts val="700"/>
              </a:spcAft>
              <a:buSzPct val="100000"/>
              <a:buChar char="•"/>
            </a:pPr>
            <a:r>
              <a:rPr lang="en-US" sz="98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지점별 배분안</a:t>
            </a:r>
            <a:endParaRPr lang="en-US" sz="980" dirty="0"/>
          </a:p>
          <a:p>
            <a:pPr marL="127000" indent="-127000">
              <a:lnSpc>
                <a:spcPct val="113000"/>
              </a:lnSpc>
              <a:spcAft>
                <a:spcPts val="700"/>
              </a:spcAft>
              <a:buSzPct val="100000"/>
              <a:buChar char="•"/>
            </a:pPr>
            <a:r>
              <a:rPr lang="en-US" sz="98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원자재 소요 역산(MRP 연계)</a:t>
            </a:r>
            <a:endParaRPr lang="en-US" sz="980" dirty="0"/>
          </a:p>
        </p:txBody>
      </p:sp>
      <p:sp>
        <p:nvSpPr>
          <p:cNvPr id="23" name="Text 21"/>
          <p:cNvSpPr/>
          <p:nvPr/>
        </p:nvSpPr>
        <p:spPr>
          <a:xfrm>
            <a:off x="502920" y="5742432"/>
            <a:ext cx="11201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9C52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원칙  </a:t>
            </a:r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예측은 구간으로 제시하고 확정은 사람이(HITL) — 폐기율과 결품률을 함께 감시해 한쪽으로 쏠리면 루프가 스스로 경고한다. 예측이 틀린 날의 오차가 다음 학습의 재료.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1950 태성당 AX 프로젝트 제안 · 에이에스씨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430000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F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PROJECT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201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영업 자동화 — 파이프라인·재주문·정산이 스스로 돈다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5486400" cy="3794760"/>
          </a:xfrm>
          <a:prstGeom prst="roundRect">
            <a:avLst>
              <a:gd name="adj" fmla="val 2169"/>
            </a:avLst>
          </a:prstGeom>
          <a:solidFill>
            <a:srgbClr val="F8F2EA"/>
          </a:solidFill>
          <a:ln/>
        </p:spPr>
      </p:sp>
      <p:sp>
        <p:nvSpPr>
          <p:cNvPr id="5" name="Shape 3"/>
          <p:cNvSpPr/>
          <p:nvPr/>
        </p:nvSpPr>
        <p:spPr>
          <a:xfrm>
            <a:off x="758952" y="1719072"/>
            <a:ext cx="530352" cy="530352"/>
          </a:xfrm>
          <a:prstGeom prst="ellipse">
            <a:avLst/>
          </a:prstGeom>
          <a:solidFill>
            <a:srgbClr val="714B6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147" y="1862267"/>
            <a:ext cx="243962" cy="2439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81051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14B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B2B 영업 (CRM 파이프라인)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58952" y="2395728"/>
            <a:ext cx="497433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30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리드→견적→수주→납품→정산을 CRM 파이프라인으로 — '다음 달 B2B 수주 얼마'에 근거로 답한다</a:t>
            </a:r>
            <a:endParaRPr lang="en-US" sz="1100" dirty="0"/>
          </a:p>
          <a:p>
            <a:pPr marL="127000" indent="-127000">
              <a:lnSpc>
                <a:spcPct val="1130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재주문 감지: 거래처별 주문 주기를 학습, 주기 초과 시 담당자에게 제안 초안 자동 생성</a:t>
            </a:r>
            <a:endParaRPr lang="en-US" sz="1100" dirty="0"/>
          </a:p>
          <a:p>
            <a:pPr marL="127000" indent="-127000">
              <a:lnSpc>
                <a:spcPct val="1130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여신·미수 경보: 한도 접근·연체 발생을 영업과 회계에 동시 알림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17920" y="1481328"/>
            <a:ext cx="5486400" cy="3794760"/>
          </a:xfrm>
          <a:prstGeom prst="roundRect">
            <a:avLst>
              <a:gd name="adj" fmla="val 2169"/>
            </a:avLst>
          </a:prstGeom>
          <a:solidFill>
            <a:srgbClr val="F8F2EA"/>
          </a:solidFill>
          <a:ln/>
        </p:spPr>
      </p:sp>
      <p:sp>
        <p:nvSpPr>
          <p:cNvPr id="10" name="Shape 7"/>
          <p:cNvSpPr/>
          <p:nvPr/>
        </p:nvSpPr>
        <p:spPr>
          <a:xfrm>
            <a:off x="6473952" y="1719072"/>
            <a:ext cx="530352" cy="530352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7147" y="1862267"/>
            <a:ext cx="243962" cy="24396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78040" y="181051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이커머스·매장 마케팅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473952" y="2395728"/>
            <a:ext cx="497433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30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품절·재입고 연동: 가용재고 계산과 온라인 노출이 실시간 동기화 — 품절 주문 사고 차단</a:t>
            </a:r>
            <a:endParaRPr lang="en-US" sz="1100" dirty="0"/>
          </a:p>
          <a:p>
            <a:pPr marL="127000" indent="-127000">
              <a:lnSpc>
                <a:spcPct val="1130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재입고 알림·세트 추천: 구매 이력 기반 재구매 시점 메시지(n8n 자동화 시나리오)</a:t>
            </a:r>
            <a:endParaRPr lang="en-US" sz="1100" dirty="0"/>
          </a:p>
          <a:p>
            <a:pPr marL="127000" indent="-127000">
              <a:lnSpc>
                <a:spcPct val="1130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리뷰·문의 수집: 품질 클레임 키워드는 품질팀 안건으로 자동 등록 — 사각지대 신호의 입구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502920" y="5486400"/>
            <a:ext cx="11201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9C52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자동화의 배관은 n8n·Dify 부스터  </a:t>
            </a:r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Odoo 이벤트(수주 생성·재고 변동·결제 완료)를 트리거로 알림·문서·메시지가 흐른다 — 사람은 예외만 처리한다. 모든 자동 발송은 로그로 남아 감사 가능.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1950 태성당 AX 프로젝트 제안 · 에이에스씨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430000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F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PROJECT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201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 최적화 — 안전재고가 스스로 배우는 구조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2157984" cy="2377440"/>
          </a:xfrm>
          <a:prstGeom prst="roundRect">
            <a:avLst>
              <a:gd name="adj" fmla="val 3814"/>
            </a:avLst>
          </a:prstGeom>
          <a:solidFill>
            <a:srgbClr val="F8F2EA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" y="1682496"/>
            <a:ext cx="457200" cy="457200"/>
          </a:xfrm>
          <a:prstGeom prst="ellipse">
            <a:avLst/>
          </a:prstGeom>
          <a:solidFill>
            <a:srgbClr val="0E8F8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" y="1805940"/>
            <a:ext cx="210312" cy="2103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9304" y="1755648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22376" y="2286000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결품·폐기·리드타임 지연·시세 급등이 이벤트로 수집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688336" y="2487168"/>
            <a:ext cx="164592" cy="219456"/>
          </a:xfrm>
          <a:prstGeom prst="rightArrow">
            <a:avLst/>
          </a:prstGeom>
          <a:solidFill>
            <a:srgbClr val="DCCDBB"/>
          </a:solidFill>
          <a:ln/>
        </p:spPr>
      </p:sp>
      <p:sp>
        <p:nvSpPr>
          <p:cNvPr id="10" name="Shape 7"/>
          <p:cNvSpPr/>
          <p:nvPr/>
        </p:nvSpPr>
        <p:spPr>
          <a:xfrm>
            <a:off x="2880360" y="1481328"/>
            <a:ext cx="2157984" cy="2377440"/>
          </a:xfrm>
          <a:prstGeom prst="roundRect">
            <a:avLst>
              <a:gd name="adj" fmla="val 3814"/>
            </a:avLst>
          </a:prstGeom>
          <a:solidFill>
            <a:srgbClr val="F8F2EA"/>
          </a:solidFill>
          <a:ln/>
        </p:spPr>
      </p:sp>
      <p:sp>
        <p:nvSpPr>
          <p:cNvPr id="11" name="Shape 8"/>
          <p:cNvSpPr/>
          <p:nvPr/>
        </p:nvSpPr>
        <p:spPr>
          <a:xfrm>
            <a:off x="3099816" y="1682496"/>
            <a:ext cx="457200" cy="457200"/>
          </a:xfrm>
          <a:prstGeom prst="ellipse">
            <a:avLst/>
          </a:prstGeom>
          <a:solidFill>
            <a:srgbClr val="C07F1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3260" y="1805940"/>
            <a:ext cx="210312" cy="2103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66744" y="1755648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3099816" y="2286000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품목별 수요 변동성·공급 변동성 분해 — 어느 쪽이 문제인지 구분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5065776" y="2487168"/>
            <a:ext cx="164592" cy="219456"/>
          </a:xfrm>
          <a:prstGeom prst="rightArrow">
            <a:avLst/>
          </a:prstGeom>
          <a:solidFill>
            <a:srgbClr val="DCCDBB"/>
          </a:solidFill>
          <a:ln/>
        </p:spPr>
      </p:sp>
      <p:sp>
        <p:nvSpPr>
          <p:cNvPr id="16" name="Shape 12"/>
          <p:cNvSpPr/>
          <p:nvPr/>
        </p:nvSpPr>
        <p:spPr>
          <a:xfrm>
            <a:off x="5257800" y="1481328"/>
            <a:ext cx="2157984" cy="2377440"/>
          </a:xfrm>
          <a:prstGeom prst="roundRect">
            <a:avLst>
              <a:gd name="adj" fmla="val 3814"/>
            </a:avLst>
          </a:prstGeom>
          <a:solidFill>
            <a:srgbClr val="F8F2EA"/>
          </a:solidFill>
          <a:ln/>
        </p:spPr>
      </p:sp>
      <p:sp>
        <p:nvSpPr>
          <p:cNvPr id="17" name="Shape 13"/>
          <p:cNvSpPr/>
          <p:nvPr/>
        </p:nvSpPr>
        <p:spPr>
          <a:xfrm>
            <a:off x="5477256" y="1682496"/>
            <a:ext cx="457200" cy="457200"/>
          </a:xfrm>
          <a:prstGeom prst="ellipse">
            <a:avLst/>
          </a:prstGeom>
          <a:solidFill>
            <a:srgbClr val="714B67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700" y="1805940"/>
            <a:ext cx="210312" cy="21031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044184" y="1755648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5477256" y="2286000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안전재고·ROP·배분 계수의 조정안 산출 (근거 첨부)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7443216" y="2487168"/>
            <a:ext cx="164592" cy="219456"/>
          </a:xfrm>
          <a:prstGeom prst="rightArrow">
            <a:avLst/>
          </a:prstGeom>
          <a:solidFill>
            <a:srgbClr val="DCCDBB"/>
          </a:solidFill>
          <a:ln/>
        </p:spPr>
      </p:sp>
      <p:sp>
        <p:nvSpPr>
          <p:cNvPr id="22" name="Shape 17"/>
          <p:cNvSpPr/>
          <p:nvPr/>
        </p:nvSpPr>
        <p:spPr>
          <a:xfrm>
            <a:off x="7635240" y="1481328"/>
            <a:ext cx="2157984" cy="2377440"/>
          </a:xfrm>
          <a:prstGeom prst="roundRect">
            <a:avLst>
              <a:gd name="adj" fmla="val 3814"/>
            </a:avLst>
          </a:prstGeom>
          <a:solidFill>
            <a:srgbClr val="F8F2EA"/>
          </a:solidFill>
          <a:ln/>
        </p:spPr>
      </p:sp>
      <p:sp>
        <p:nvSpPr>
          <p:cNvPr id="23" name="Shape 18"/>
          <p:cNvSpPr/>
          <p:nvPr/>
        </p:nvSpPr>
        <p:spPr>
          <a:xfrm>
            <a:off x="7854696" y="1682496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8140" y="1805940"/>
            <a:ext cx="210312" cy="21031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8421624" y="1755648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1350" dirty="0"/>
          </a:p>
        </p:txBody>
      </p:sp>
      <p:sp>
        <p:nvSpPr>
          <p:cNvPr id="26" name="Text 20"/>
          <p:cNvSpPr/>
          <p:nvPr/>
        </p:nvSpPr>
        <p:spPr>
          <a:xfrm>
            <a:off x="7854696" y="2286000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Digital Twin 시뮬레이션 — 폐기·결품·재고일수 동시 확인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9820656" y="2487168"/>
            <a:ext cx="164592" cy="219456"/>
          </a:xfrm>
          <a:prstGeom prst="rightArrow">
            <a:avLst/>
          </a:prstGeom>
          <a:solidFill>
            <a:srgbClr val="DCCDBB"/>
          </a:solidFill>
          <a:ln/>
        </p:spPr>
      </p:sp>
      <p:sp>
        <p:nvSpPr>
          <p:cNvPr id="28" name="Shape 22"/>
          <p:cNvSpPr/>
          <p:nvPr/>
        </p:nvSpPr>
        <p:spPr>
          <a:xfrm>
            <a:off x="10012680" y="1481328"/>
            <a:ext cx="2157984" cy="2377440"/>
          </a:xfrm>
          <a:prstGeom prst="roundRect">
            <a:avLst>
              <a:gd name="adj" fmla="val 3814"/>
            </a:avLst>
          </a:prstGeom>
          <a:solidFill>
            <a:srgbClr val="F8F2EA"/>
          </a:solidFill>
          <a:ln/>
        </p:spPr>
      </p:sp>
      <p:sp>
        <p:nvSpPr>
          <p:cNvPr id="29" name="Shape 23"/>
          <p:cNvSpPr/>
          <p:nvPr/>
        </p:nvSpPr>
        <p:spPr>
          <a:xfrm>
            <a:off x="10232136" y="1682496"/>
            <a:ext cx="457200" cy="457200"/>
          </a:xfrm>
          <a:prstGeom prst="ellipse">
            <a:avLst/>
          </a:prstGeom>
          <a:solidFill>
            <a:srgbClr val="9C5227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55580" y="1805940"/>
            <a:ext cx="210312" cy="210312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10799064" y="1755648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승인·환류</a:t>
            </a:r>
            <a:endParaRPr lang="en-US" sz="1350" dirty="0"/>
          </a:p>
        </p:txBody>
      </p:sp>
      <p:sp>
        <p:nvSpPr>
          <p:cNvPr id="32" name="Text 25"/>
          <p:cNvSpPr/>
          <p:nvPr/>
        </p:nvSpPr>
        <p:spPr>
          <a:xfrm>
            <a:off x="10232136" y="2286000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HITL 승인 → 원장 파라미터 갱신 → 효과를 War Room이 추적</a:t>
            </a:r>
            <a:endParaRPr lang="en-US" sz="1000" dirty="0"/>
          </a:p>
        </p:txBody>
      </p:sp>
      <p:sp>
        <p:nvSpPr>
          <p:cNvPr id="33" name="Shape 26"/>
          <p:cNvSpPr/>
          <p:nvPr/>
        </p:nvSpPr>
        <p:spPr>
          <a:xfrm>
            <a:off x="502920" y="4114800"/>
            <a:ext cx="11201400" cy="1463040"/>
          </a:xfrm>
          <a:prstGeom prst="roundRect">
            <a:avLst>
              <a:gd name="adj" fmla="val 5625"/>
            </a:avLst>
          </a:prstGeom>
          <a:solidFill>
            <a:srgbClr val="2B1D12"/>
          </a:solidFill>
          <a:ln/>
        </p:spPr>
      </p:sp>
      <p:sp>
        <p:nvSpPr>
          <p:cNvPr id="34" name="Text 27"/>
          <p:cNvSpPr/>
          <p:nvPr/>
        </p:nvSpPr>
        <p:spPr>
          <a:xfrm>
            <a:off x="822960" y="4261104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최적화 대상 3계층</a:t>
            </a:r>
            <a:endParaRPr lang="en-US" sz="1350" dirty="0"/>
          </a:p>
        </p:txBody>
      </p:sp>
      <p:sp>
        <p:nvSpPr>
          <p:cNvPr id="35" name="Text 28"/>
          <p:cNvSpPr/>
          <p:nvPr/>
        </p:nvSpPr>
        <p:spPr>
          <a:xfrm>
            <a:off x="822960" y="4590288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원자재  </a:t>
            </a:r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발주점·발주량(시세·리드타임 반영)       </a:t>
            </a:r>
            <a:pPr indent="0" marL="0">
              <a:lnSpc>
                <a:spcPct val="135000"/>
              </a:lnSpc>
              <a:buNone/>
            </a:pPr>
            <a:r>
              <a:rPr lang="en-US" sz="11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완제품(보존군)  </a:t>
            </a:r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세트·낱개 안전재고, 시즌(명절) 선행 생산       </a:t>
            </a:r>
            <a:pPr indent="0" marL="0">
              <a:lnSpc>
                <a:spcPct val="135000"/>
              </a:lnSpc>
              <a:buNone/>
            </a:pPr>
            <a:r>
              <a:rPr lang="en-US" sz="11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지점 배분  </a:t>
            </a:r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본점→별빛샌드 1·2차 배송 물량과 시각</a:t>
            </a:r>
            <a:endParaRPr lang="en-US" sz="1150" dirty="0"/>
          </a:p>
        </p:txBody>
      </p:sp>
      <p:sp>
        <p:nvSpPr>
          <p:cNvPr id="36" name="Text 29"/>
          <p:cNvSpPr/>
          <p:nvPr/>
        </p:nvSpPr>
        <p:spPr>
          <a:xfrm>
            <a:off x="502920" y="5806440"/>
            <a:ext cx="11201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번의 컨설팅 결과가 아니라, 매일 배우는 파라미터 — '지식이 문서가 아니라 파라미터가 되면 지키는 데 의지가 필요 없다'</a:t>
            </a:r>
            <a:endParaRPr lang="en-US" sz="1200" dirty="0"/>
          </a:p>
        </p:txBody>
      </p:sp>
      <p:sp>
        <p:nvSpPr>
          <p:cNvPr id="37" name="Text 30"/>
          <p:cNvSpPr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1950 태성당 AX 프로젝트 제안 · 에이에스씨</a:t>
            </a:r>
            <a:endParaRPr lang="en-US" sz="900" dirty="0"/>
          </a:p>
        </p:txBody>
      </p:sp>
      <p:sp>
        <p:nvSpPr>
          <p:cNvPr id="38" name="Text 31"/>
          <p:cNvSpPr/>
          <p:nvPr/>
        </p:nvSpPr>
        <p:spPr>
          <a:xfrm>
            <a:off x="11430000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F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201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트랜잭션 파이프라인 — 어떤 기록이 어떤 지능이 되는가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44752"/>
            <a:ext cx="2880360" cy="365760"/>
          </a:xfrm>
          <a:prstGeom prst="roundRect">
            <a:avLst>
              <a:gd name="adj" fmla="val 15000"/>
            </a:avLst>
          </a:prstGeom>
          <a:solidFill>
            <a:srgbClr val="6E3A1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44752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트랜잭션 (L1→L2)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520440" y="1444752"/>
            <a:ext cx="2743200" cy="365760"/>
          </a:xfrm>
          <a:prstGeom prst="roundRect">
            <a:avLst>
              <a:gd name="adj" fmla="val 15000"/>
            </a:avLst>
          </a:prstGeom>
          <a:solidFill>
            <a:srgbClr val="6E3A1C"/>
          </a:solidFill>
          <a:ln/>
        </p:spPr>
      </p:sp>
      <p:sp>
        <p:nvSpPr>
          <p:cNvPr id="7" name="Text 5"/>
          <p:cNvSpPr/>
          <p:nvPr/>
        </p:nvSpPr>
        <p:spPr>
          <a:xfrm>
            <a:off x="3520440" y="14447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이벤트화 (L3)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0" y="1444752"/>
            <a:ext cx="2743200" cy="365760"/>
          </a:xfrm>
          <a:prstGeom prst="roundRect">
            <a:avLst>
              <a:gd name="adj" fmla="val 15000"/>
            </a:avLst>
          </a:prstGeom>
          <a:solidFill>
            <a:srgbClr val="6E3A1C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0" y="14447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특징량·학습 (L3)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281160" y="1444752"/>
            <a:ext cx="2423160" cy="365760"/>
          </a:xfrm>
          <a:prstGeom prst="roundRect">
            <a:avLst>
              <a:gd name="adj" fmla="val 15000"/>
            </a:avLst>
          </a:prstGeom>
          <a:solidFill>
            <a:srgbClr val="6E3A1C"/>
          </a:solidFill>
          <a:ln/>
        </p:spPr>
      </p:sp>
      <p:sp>
        <p:nvSpPr>
          <p:cNvPr id="11" name="Text 9"/>
          <p:cNvSpPr/>
          <p:nvPr/>
        </p:nvSpPr>
        <p:spPr>
          <a:xfrm>
            <a:off x="9281160" y="14447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쓰는 지능 (L4·L5)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1883664"/>
            <a:ext cx="2880360" cy="493776"/>
          </a:xfrm>
          <a:prstGeom prst="roundRect">
            <a:avLst>
              <a:gd name="adj" fmla="val 16667"/>
            </a:avLst>
          </a:prstGeom>
          <a:solidFill>
            <a:srgbClr val="F8F2EA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" y="1883664"/>
            <a:ext cx="26609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POS·온라인·B2B 판매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3520440" y="1883664"/>
            <a:ext cx="2743200" cy="493776"/>
          </a:xfrm>
          <a:prstGeom prst="roundRect">
            <a:avLst>
              <a:gd name="adj" fmla="val 16667"/>
            </a:avLst>
          </a:prstGeom>
          <a:solidFill>
            <a:srgbClr val="F8F2EA"/>
          </a:solidFill>
          <a:ln/>
        </p:spPr>
      </p:sp>
      <p:sp>
        <p:nvSpPr>
          <p:cNvPr id="15" name="Text 13"/>
          <p:cNvSpPr/>
          <p:nvPr/>
        </p:nvSpPr>
        <p:spPr>
          <a:xfrm>
            <a:off x="3630168" y="1883664"/>
            <a:ext cx="25237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라인 이벤트(실시간)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6400800" y="1883664"/>
            <a:ext cx="2743200" cy="493776"/>
          </a:xfrm>
          <a:prstGeom prst="roundRect">
            <a:avLst>
              <a:gd name="adj" fmla="val 16667"/>
            </a:avLst>
          </a:prstGeom>
          <a:solidFill>
            <a:srgbClr val="F8F2EA"/>
          </a:solidFill>
          <a:ln/>
        </p:spPr>
      </p:sp>
      <p:sp>
        <p:nvSpPr>
          <p:cNvPr id="17" name="Text 15"/>
          <p:cNvSpPr/>
          <p:nvPr/>
        </p:nvSpPr>
        <p:spPr>
          <a:xfrm>
            <a:off x="6510528" y="1883664"/>
            <a:ext cx="25237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품목×지점×시간대 수요 프로파일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9281160" y="1883664"/>
            <a:ext cx="2423160" cy="493776"/>
          </a:xfrm>
          <a:prstGeom prst="roundRect">
            <a:avLst>
              <a:gd name="adj" fmla="val 16667"/>
            </a:avLst>
          </a:prstGeom>
          <a:solidFill>
            <a:srgbClr val="F8F2EA"/>
          </a:solidFill>
          <a:ln/>
        </p:spPr>
      </p:sp>
      <p:sp>
        <p:nvSpPr>
          <p:cNvPr id="19" name="Text 17"/>
          <p:cNvSpPr/>
          <p:nvPr/>
        </p:nvSpPr>
        <p:spPr>
          <a:xfrm>
            <a:off x="9390888" y="1883664"/>
            <a:ext cx="22037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9C52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수요예측·배분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502920" y="2450592"/>
            <a:ext cx="2880360" cy="49377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CCDB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" y="2450592"/>
            <a:ext cx="26609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생산실적·작업지시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3520440" y="2450592"/>
            <a:ext cx="2743200" cy="49377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CCDB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30168" y="2450592"/>
            <a:ext cx="25237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 완료·수율 이벤트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6400800" y="2450592"/>
            <a:ext cx="2743200" cy="49377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CCDB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10528" y="2450592"/>
            <a:ext cx="25237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품목별 수율·생산 리드타임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9281160" y="2450592"/>
            <a:ext cx="2423160" cy="49377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CCDB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390888" y="2450592"/>
            <a:ext cx="22037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9C52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생산계획·원가</a:t>
            </a:r>
            <a:endParaRPr lang="en-US" sz="930" dirty="0"/>
          </a:p>
        </p:txBody>
      </p:sp>
      <p:sp>
        <p:nvSpPr>
          <p:cNvPr id="28" name="Shape 26"/>
          <p:cNvSpPr/>
          <p:nvPr/>
        </p:nvSpPr>
        <p:spPr>
          <a:xfrm>
            <a:off x="502920" y="3017520"/>
            <a:ext cx="2880360" cy="493776"/>
          </a:xfrm>
          <a:prstGeom prst="roundRect">
            <a:avLst>
              <a:gd name="adj" fmla="val 16667"/>
            </a:avLst>
          </a:prstGeom>
          <a:solidFill>
            <a:srgbClr val="F8F2EA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" y="3017520"/>
            <a:ext cx="26609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구매·입고 (로트)</a:t>
            </a:r>
            <a:endParaRPr lang="en-US" sz="930" dirty="0"/>
          </a:p>
        </p:txBody>
      </p:sp>
      <p:sp>
        <p:nvSpPr>
          <p:cNvPr id="30" name="Shape 28"/>
          <p:cNvSpPr/>
          <p:nvPr/>
        </p:nvSpPr>
        <p:spPr>
          <a:xfrm>
            <a:off x="3520440" y="3017520"/>
            <a:ext cx="2743200" cy="493776"/>
          </a:xfrm>
          <a:prstGeom prst="roundRect">
            <a:avLst>
              <a:gd name="adj" fmla="val 16667"/>
            </a:avLst>
          </a:prstGeom>
          <a:solidFill>
            <a:srgbClr val="F8F2EA"/>
          </a:solidFill>
          <a:ln/>
        </p:spPr>
      </p:sp>
      <p:sp>
        <p:nvSpPr>
          <p:cNvPr id="31" name="Text 29"/>
          <p:cNvSpPr/>
          <p:nvPr/>
        </p:nvSpPr>
        <p:spPr>
          <a:xfrm>
            <a:off x="3630168" y="3017520"/>
            <a:ext cx="25237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입고·단가 이벤트</a:t>
            </a:r>
            <a:endParaRPr lang="en-US" sz="930" dirty="0"/>
          </a:p>
        </p:txBody>
      </p:sp>
      <p:sp>
        <p:nvSpPr>
          <p:cNvPr id="32" name="Shape 30"/>
          <p:cNvSpPr/>
          <p:nvPr/>
        </p:nvSpPr>
        <p:spPr>
          <a:xfrm>
            <a:off x="6400800" y="3017520"/>
            <a:ext cx="2743200" cy="493776"/>
          </a:xfrm>
          <a:prstGeom prst="roundRect">
            <a:avLst>
              <a:gd name="adj" fmla="val 16667"/>
            </a:avLst>
          </a:prstGeom>
          <a:solidFill>
            <a:srgbClr val="F8F2EA"/>
          </a:solidFill>
          <a:ln/>
        </p:spPr>
      </p:sp>
      <p:sp>
        <p:nvSpPr>
          <p:cNvPr id="33" name="Text 31"/>
          <p:cNvSpPr/>
          <p:nvPr/>
        </p:nvSpPr>
        <p:spPr>
          <a:xfrm>
            <a:off x="6510528" y="3017520"/>
            <a:ext cx="25237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공급처 리드타임·단가 추이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9281160" y="3017520"/>
            <a:ext cx="2423160" cy="493776"/>
          </a:xfrm>
          <a:prstGeom prst="roundRect">
            <a:avLst>
              <a:gd name="adj" fmla="val 16667"/>
            </a:avLst>
          </a:prstGeom>
          <a:solidFill>
            <a:srgbClr val="F8F2EA"/>
          </a:solidFill>
          <a:ln/>
        </p:spPr>
      </p:sp>
      <p:sp>
        <p:nvSpPr>
          <p:cNvPr id="35" name="Text 33"/>
          <p:cNvSpPr/>
          <p:nvPr/>
        </p:nvSpPr>
        <p:spPr>
          <a:xfrm>
            <a:off x="9390888" y="3017520"/>
            <a:ext cx="22037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9C52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발주점·시세 경보</a:t>
            </a:r>
            <a:endParaRPr lang="en-US" sz="930" dirty="0"/>
          </a:p>
        </p:txBody>
      </p:sp>
      <p:sp>
        <p:nvSpPr>
          <p:cNvPr id="36" name="Shape 34"/>
          <p:cNvSpPr/>
          <p:nvPr/>
        </p:nvSpPr>
        <p:spPr>
          <a:xfrm>
            <a:off x="502920" y="3584448"/>
            <a:ext cx="2880360" cy="49377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CCDB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2648" y="3584448"/>
            <a:ext cx="26609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재고이동·지점배분</a:t>
            </a:r>
            <a:endParaRPr lang="en-US" sz="930" dirty="0"/>
          </a:p>
        </p:txBody>
      </p:sp>
      <p:sp>
        <p:nvSpPr>
          <p:cNvPr id="38" name="Shape 36"/>
          <p:cNvSpPr/>
          <p:nvPr/>
        </p:nvSpPr>
        <p:spPr>
          <a:xfrm>
            <a:off x="3520440" y="3584448"/>
            <a:ext cx="2743200" cy="49377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CCDB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0168" y="3584448"/>
            <a:ext cx="25237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오더 이벤트</a:t>
            </a:r>
            <a:endParaRPr lang="en-US" sz="930" dirty="0"/>
          </a:p>
        </p:txBody>
      </p:sp>
      <p:sp>
        <p:nvSpPr>
          <p:cNvPr id="40" name="Shape 38"/>
          <p:cNvSpPr/>
          <p:nvPr/>
        </p:nvSpPr>
        <p:spPr>
          <a:xfrm>
            <a:off x="6400800" y="3584448"/>
            <a:ext cx="2743200" cy="49377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CCDB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10528" y="3584448"/>
            <a:ext cx="25237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지점별 소진 속도·회수율</a:t>
            </a:r>
            <a:endParaRPr lang="en-US" sz="930" dirty="0"/>
          </a:p>
        </p:txBody>
      </p:sp>
      <p:sp>
        <p:nvSpPr>
          <p:cNvPr id="42" name="Shape 40"/>
          <p:cNvSpPr/>
          <p:nvPr/>
        </p:nvSpPr>
        <p:spPr>
          <a:xfrm>
            <a:off x="9281160" y="3584448"/>
            <a:ext cx="2423160" cy="49377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CCDB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390888" y="3584448"/>
            <a:ext cx="22037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9C52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배분 최적화</a:t>
            </a:r>
            <a:endParaRPr lang="en-US" sz="930" dirty="0"/>
          </a:p>
        </p:txBody>
      </p:sp>
      <p:sp>
        <p:nvSpPr>
          <p:cNvPr id="44" name="Shape 42"/>
          <p:cNvSpPr/>
          <p:nvPr/>
        </p:nvSpPr>
        <p:spPr>
          <a:xfrm>
            <a:off x="502920" y="4151376"/>
            <a:ext cx="2880360" cy="493776"/>
          </a:xfrm>
          <a:prstGeom prst="roundRect">
            <a:avLst>
              <a:gd name="adj" fmla="val 16667"/>
            </a:avLst>
          </a:prstGeom>
          <a:solidFill>
            <a:srgbClr val="F8F2EA"/>
          </a:solidFill>
          <a:ln/>
        </p:spPr>
      </p:sp>
      <p:sp>
        <p:nvSpPr>
          <p:cNvPr id="45" name="Text 43"/>
          <p:cNvSpPr/>
          <p:nvPr/>
        </p:nvSpPr>
        <p:spPr>
          <a:xfrm>
            <a:off x="612648" y="4151376"/>
            <a:ext cx="26609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반품·폐기 (사유코드)</a:t>
            </a:r>
            <a:endParaRPr lang="en-US" sz="930" dirty="0"/>
          </a:p>
        </p:txBody>
      </p:sp>
      <p:sp>
        <p:nvSpPr>
          <p:cNvPr id="46" name="Shape 44"/>
          <p:cNvSpPr/>
          <p:nvPr/>
        </p:nvSpPr>
        <p:spPr>
          <a:xfrm>
            <a:off x="3520440" y="4151376"/>
            <a:ext cx="2743200" cy="493776"/>
          </a:xfrm>
          <a:prstGeom prst="roundRect">
            <a:avLst>
              <a:gd name="adj" fmla="val 16667"/>
            </a:avLst>
          </a:prstGeom>
          <a:solidFill>
            <a:srgbClr val="F8F2EA"/>
          </a:solidFill>
          <a:ln/>
        </p:spPr>
      </p:sp>
      <p:sp>
        <p:nvSpPr>
          <p:cNvPr id="47" name="Text 45"/>
          <p:cNvSpPr/>
          <p:nvPr/>
        </p:nvSpPr>
        <p:spPr>
          <a:xfrm>
            <a:off x="3630168" y="4151376"/>
            <a:ext cx="25237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로스 이벤트(일 배치)</a:t>
            </a:r>
            <a:endParaRPr lang="en-US" sz="930" dirty="0"/>
          </a:p>
        </p:txBody>
      </p:sp>
      <p:sp>
        <p:nvSpPr>
          <p:cNvPr id="48" name="Shape 46"/>
          <p:cNvSpPr/>
          <p:nvPr/>
        </p:nvSpPr>
        <p:spPr>
          <a:xfrm>
            <a:off x="6400800" y="4151376"/>
            <a:ext cx="2743200" cy="493776"/>
          </a:xfrm>
          <a:prstGeom prst="roundRect">
            <a:avLst>
              <a:gd name="adj" fmla="val 16667"/>
            </a:avLst>
          </a:prstGeom>
          <a:solidFill>
            <a:srgbClr val="F8F2EA"/>
          </a:solidFill>
          <a:ln/>
        </p:spPr>
      </p:sp>
      <p:sp>
        <p:nvSpPr>
          <p:cNvPr id="49" name="Text 47"/>
          <p:cNvSpPr/>
          <p:nvPr/>
        </p:nvSpPr>
        <p:spPr>
          <a:xfrm>
            <a:off x="6510528" y="4151376"/>
            <a:ext cx="25237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품목×지점 폐기율·사유 분포</a:t>
            </a:r>
            <a:endParaRPr lang="en-US" sz="930" dirty="0"/>
          </a:p>
        </p:txBody>
      </p:sp>
      <p:sp>
        <p:nvSpPr>
          <p:cNvPr id="50" name="Shape 48"/>
          <p:cNvSpPr/>
          <p:nvPr/>
        </p:nvSpPr>
        <p:spPr>
          <a:xfrm>
            <a:off x="9281160" y="4151376"/>
            <a:ext cx="2423160" cy="493776"/>
          </a:xfrm>
          <a:prstGeom prst="roundRect">
            <a:avLst>
              <a:gd name="adj" fmla="val 16667"/>
            </a:avLst>
          </a:prstGeom>
          <a:solidFill>
            <a:srgbClr val="F8F2EA"/>
          </a:solidFill>
          <a:ln/>
        </p:spPr>
      </p:sp>
      <p:sp>
        <p:nvSpPr>
          <p:cNvPr id="51" name="Text 49"/>
          <p:cNvSpPr/>
          <p:nvPr/>
        </p:nvSpPr>
        <p:spPr>
          <a:xfrm>
            <a:off x="9390888" y="4151376"/>
            <a:ext cx="22037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9C52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 보정·DMAIC</a:t>
            </a:r>
            <a:endParaRPr lang="en-US" sz="930" dirty="0"/>
          </a:p>
        </p:txBody>
      </p:sp>
      <p:sp>
        <p:nvSpPr>
          <p:cNvPr id="52" name="Shape 50"/>
          <p:cNvSpPr/>
          <p:nvPr/>
        </p:nvSpPr>
        <p:spPr>
          <a:xfrm>
            <a:off x="502920" y="4718304"/>
            <a:ext cx="2880360" cy="49377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CCDB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12648" y="4718304"/>
            <a:ext cx="26609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수금·지급·분개</a:t>
            </a:r>
            <a:endParaRPr lang="en-US" sz="930" dirty="0"/>
          </a:p>
        </p:txBody>
      </p:sp>
      <p:sp>
        <p:nvSpPr>
          <p:cNvPr id="54" name="Shape 52"/>
          <p:cNvSpPr/>
          <p:nvPr/>
        </p:nvSpPr>
        <p:spPr>
          <a:xfrm>
            <a:off x="3520440" y="4718304"/>
            <a:ext cx="2743200" cy="49377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CCDB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30168" y="4718304"/>
            <a:ext cx="25237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회계 전표(일 마감)</a:t>
            </a:r>
            <a:endParaRPr lang="en-US" sz="930" dirty="0"/>
          </a:p>
        </p:txBody>
      </p:sp>
      <p:sp>
        <p:nvSpPr>
          <p:cNvPr id="56" name="Shape 54"/>
          <p:cNvSpPr/>
          <p:nvPr/>
        </p:nvSpPr>
        <p:spPr>
          <a:xfrm>
            <a:off x="6400800" y="4718304"/>
            <a:ext cx="2743200" cy="49377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CCDB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10528" y="4718304"/>
            <a:ext cx="25237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채널·거래처 손익, CCC</a:t>
            </a:r>
            <a:endParaRPr lang="en-US" sz="930" dirty="0"/>
          </a:p>
        </p:txBody>
      </p:sp>
      <p:sp>
        <p:nvSpPr>
          <p:cNvPr id="58" name="Shape 56"/>
          <p:cNvSpPr/>
          <p:nvPr/>
        </p:nvSpPr>
        <p:spPr>
          <a:xfrm>
            <a:off x="9281160" y="4718304"/>
            <a:ext cx="2423160" cy="49377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CCDB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390888" y="4718304"/>
            <a:ext cx="22037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9C52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여신 경보·일일 손익</a:t>
            </a:r>
            <a:endParaRPr lang="en-US" sz="930" dirty="0"/>
          </a:p>
        </p:txBody>
      </p:sp>
      <p:sp>
        <p:nvSpPr>
          <p:cNvPr id="60" name="Text 58"/>
          <p:cNvSpPr/>
          <p:nvPr/>
        </p:nvSpPr>
        <p:spPr>
          <a:xfrm>
            <a:off x="502920" y="5440680"/>
            <a:ext cx="11201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9C52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방식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이벤트(판매·재고)는 즉시 스트림으로, 정산성 데이터(회계·폐기)는 일 배치로 — 모든 특징량은 원장 트랜잭션에서만 생성되어 근거 추적이 가능하다(원장=단일 진실 원천). 이 표의 오른쪽 열이 곧 12·13장의 입력이다.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1950 태성당 AX 프로젝트 제안 · 에이에스씨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1430000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B1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ONTOLOGY · KNOWLEDGE GRAPH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201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태성당 온톨로지 — 데이터가 의미로 연결되는 층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6035040" cy="4297680"/>
          </a:xfrm>
          <a:prstGeom prst="roundRect">
            <a:avLst>
              <a:gd name="adj" fmla="val 1915"/>
            </a:avLst>
          </a:prstGeom>
          <a:solidFill>
            <a:srgbClr val="3E2C1D"/>
          </a:solidFill>
          <a:ln/>
        </p:spPr>
      </p:sp>
      <p:sp>
        <p:nvSpPr>
          <p:cNvPr id="5" name="Text 3"/>
          <p:cNvSpPr/>
          <p:nvPr/>
        </p:nvSpPr>
        <p:spPr>
          <a:xfrm>
            <a:off x="758952" y="162763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클래스와 관계 (발췌)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1051560" y="2286000"/>
            <a:ext cx="1234440" cy="777240"/>
          </a:xfrm>
          <a:prstGeom prst="ellipse">
            <a:avLst/>
          </a:prstGeom>
          <a:solidFill>
            <a:srgbClr val="9C522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28600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(파이만쥬)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43200" y="2011680"/>
            <a:ext cx="1234440" cy="777240"/>
          </a:xfrm>
          <a:prstGeom prst="ellipse">
            <a:avLst/>
          </a:prstGeom>
          <a:solidFill>
            <a:srgbClr val="C07F1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0" y="2011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</a:t>
            </a:r>
            <a:endParaRPr lang="en-US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(BOM)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80560" y="2286000"/>
            <a:ext cx="1234440" cy="777240"/>
          </a:xfrm>
          <a:prstGeom prst="ellipse">
            <a:avLst/>
          </a:prstGeom>
          <a:solidFill>
            <a:srgbClr val="0E8F8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228600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원료 로트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51560" y="3931920"/>
            <a:ext cx="1234440" cy="777240"/>
          </a:xfrm>
          <a:prstGeom prst="ellipse">
            <a:avLst/>
          </a:prstGeom>
          <a:solidFill>
            <a:srgbClr val="714B6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393192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매장·채널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43200" y="4297680"/>
            <a:ext cx="1234440" cy="777240"/>
          </a:xfrm>
          <a:prstGeom prst="ellipse">
            <a:avLst/>
          </a:prstGeom>
          <a:solidFill>
            <a:srgbClr val="E8A33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0" y="4297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이벤트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480560" y="3931920"/>
            <a:ext cx="1234440" cy="777240"/>
          </a:xfrm>
          <a:prstGeom prst="ellipse">
            <a:avLst/>
          </a:prstGeom>
          <a:solidFill>
            <a:srgbClr val="0E8F8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80560" y="393192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거래처(B2B)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0" y="3108960"/>
            <a:ext cx="1234440" cy="777240"/>
          </a:xfrm>
          <a:prstGeom prst="ellipse">
            <a:avLst/>
          </a:prstGeom>
          <a:solidFill>
            <a:srgbClr val="A8493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0" y="310896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판단·규칙</a:t>
            </a:r>
            <a:endParaRPr lang="en-US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(암묵지)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286000" y="2606040"/>
            <a:ext cx="457200" cy="-210312"/>
          </a:xfrm>
          <a:prstGeom prst="line">
            <a:avLst/>
          </a:prstGeom>
          <a:noFill/>
          <a:ln w="15240">
            <a:solidFill>
              <a:srgbClr val="D8C6B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77640" y="2395728"/>
            <a:ext cx="502920" cy="210312"/>
          </a:xfrm>
          <a:prstGeom prst="line">
            <a:avLst/>
          </a:prstGeom>
          <a:noFill/>
          <a:ln w="15240">
            <a:solidFill>
              <a:srgbClr val="D8C6B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4208" y="3063240"/>
            <a:ext cx="0" cy="868680"/>
          </a:xfrm>
          <a:prstGeom prst="line">
            <a:avLst/>
          </a:prstGeom>
          <a:noFill/>
          <a:ln w="15240">
            <a:solidFill>
              <a:srgbClr val="D8C6B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4206240"/>
            <a:ext cx="457200" cy="320040"/>
          </a:xfrm>
          <a:prstGeom prst="line">
            <a:avLst/>
          </a:prstGeom>
          <a:noFill/>
          <a:ln w="15240">
            <a:solidFill>
              <a:srgbClr val="D8C6B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977640" y="4526280"/>
            <a:ext cx="502920" cy="-320040"/>
          </a:xfrm>
          <a:prstGeom prst="line">
            <a:avLst/>
          </a:prstGeom>
          <a:noFill/>
          <a:ln w="15240">
            <a:solidFill>
              <a:srgbClr val="D8C6B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55848" y="2788920"/>
            <a:ext cx="0" cy="320040"/>
          </a:xfrm>
          <a:prstGeom prst="line">
            <a:avLst/>
          </a:prstGeom>
          <a:noFill/>
          <a:ln w="15240">
            <a:solidFill>
              <a:srgbClr val="D8C6B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55848" y="3886200"/>
            <a:ext cx="0" cy="411480"/>
          </a:xfrm>
          <a:prstGeom prst="line">
            <a:avLst/>
          </a:prstGeom>
          <a:noFill/>
          <a:ln w="15240">
            <a:solidFill>
              <a:srgbClr val="D8C6B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58952" y="52578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D8C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hasRecipe · consumesLot · soldAt · orderedBy · governedBy …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812280" y="1463040"/>
            <a:ext cx="4892040" cy="4297680"/>
          </a:xfrm>
          <a:prstGeom prst="roundRect">
            <a:avLst>
              <a:gd name="adj" fmla="val 1915"/>
            </a:avLst>
          </a:prstGeom>
          <a:solidFill>
            <a:srgbClr val="3E2C1D"/>
          </a:solidFill>
          <a:ln/>
        </p:spPr>
      </p:sp>
      <p:sp>
        <p:nvSpPr>
          <p:cNvPr id="29" name="Text 27"/>
          <p:cNvSpPr/>
          <p:nvPr/>
        </p:nvSpPr>
        <p:spPr>
          <a:xfrm>
            <a:off x="7040880" y="162763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지식그래프가 답하는 질문 (GraphRAG)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7040880" y="2048256"/>
            <a:ext cx="4434840" cy="859536"/>
          </a:xfrm>
          <a:prstGeom prst="roundRect">
            <a:avLst>
              <a:gd name="adj" fmla="val 9574"/>
            </a:avLst>
          </a:prstGeom>
          <a:solidFill>
            <a:srgbClr val="2B1D12"/>
          </a:solidFill>
          <a:ln/>
        </p:spPr>
      </p:sp>
      <p:sp>
        <p:nvSpPr>
          <p:cNvPr id="31" name="Text 29"/>
          <p:cNvSpPr/>
          <p:nvPr/>
        </p:nvSpPr>
        <p:spPr>
          <a:xfrm>
            <a:off x="7223760" y="2112264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"지난달 파이만쥬 B2B 반품 3건의 공통 원인은?" → 판매→로트→원료→공정 경로를 거슬러 근거와 함께 답한다</a:t>
            </a:r>
            <a:endParaRPr lang="en-US" sz="980" dirty="0"/>
          </a:p>
        </p:txBody>
      </p:sp>
      <p:sp>
        <p:nvSpPr>
          <p:cNvPr id="32" name="Shape 30"/>
          <p:cNvSpPr/>
          <p:nvPr/>
        </p:nvSpPr>
        <p:spPr>
          <a:xfrm>
            <a:off x="7040880" y="3008376"/>
            <a:ext cx="4434840" cy="859536"/>
          </a:xfrm>
          <a:prstGeom prst="roundRect">
            <a:avLst>
              <a:gd name="adj" fmla="val 9574"/>
            </a:avLst>
          </a:prstGeom>
          <a:solidFill>
            <a:srgbClr val="2B1D12"/>
          </a:solidFill>
          <a:ln/>
        </p:spPr>
      </p:sp>
      <p:sp>
        <p:nvSpPr>
          <p:cNvPr id="33" name="Text 31"/>
          <p:cNvSpPr/>
          <p:nvPr/>
        </p:nvSpPr>
        <p:spPr>
          <a:xfrm>
            <a:off x="7223760" y="3072384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"명절 세트 물량, 작년 대비 어떻게 잡을까?" → 판매 이벤트+관광 캘린더+베테랑 규칙을 연결해 제안한다</a:t>
            </a:r>
            <a:endParaRPr lang="en-US" sz="980" dirty="0"/>
          </a:p>
        </p:txBody>
      </p:sp>
      <p:sp>
        <p:nvSpPr>
          <p:cNvPr id="34" name="Shape 32"/>
          <p:cNvSpPr/>
          <p:nvPr/>
        </p:nvSpPr>
        <p:spPr>
          <a:xfrm>
            <a:off x="7040880" y="3968496"/>
            <a:ext cx="4434840" cy="859536"/>
          </a:xfrm>
          <a:prstGeom prst="roundRect">
            <a:avLst>
              <a:gd name="adj" fmla="val 9574"/>
            </a:avLst>
          </a:prstGeom>
          <a:solidFill>
            <a:srgbClr val="2B1D12"/>
          </a:solidFill>
          <a:ln/>
        </p:spPr>
      </p:sp>
      <p:sp>
        <p:nvSpPr>
          <p:cNvPr id="35" name="Text 33"/>
          <p:cNvSpPr/>
          <p:nvPr/>
        </p:nvSpPr>
        <p:spPr>
          <a:xfrm>
            <a:off x="7223760" y="4032504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"비 오는 주말, 별빛샌드 배분은?" → 확정된 암묵지 규칙(날씨 감축률)이 배분 계수로 반영되어 있다</a:t>
            </a:r>
            <a:endParaRPr lang="en-US" sz="980" dirty="0"/>
          </a:p>
        </p:txBody>
      </p:sp>
      <p:sp>
        <p:nvSpPr>
          <p:cNvPr id="36" name="Text 34"/>
          <p:cNvSpPr/>
          <p:nvPr/>
        </p:nvSpPr>
        <p:spPr>
          <a:xfrm>
            <a:off x="7040880" y="498348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D8C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구축 순서: Odoo 코드체계가 어휘가 되고(1단계부터 준비), 현장 인터뷰의 암묵지가 검증(확신도 70%·3회)을 거쳐 '판단·규칙' 노드로 편입된다 — Neo4j GraphRAG 부스터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8C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1950 태성당 AX 프로젝트 제안 · 에이에스씨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430000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8C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F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201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포트폴리오 — 다섯 개의 일꾼, 하나의 관제탑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621024" cy="1627632"/>
          </a:xfrm>
          <a:prstGeom prst="roundRect">
            <a:avLst>
              <a:gd name="adj" fmla="val 5056"/>
            </a:avLst>
          </a:prstGeom>
          <a:solidFill>
            <a:srgbClr val="F8F2EA"/>
          </a:solidFill>
          <a:ln/>
        </p:spPr>
      </p:sp>
      <p:sp>
        <p:nvSpPr>
          <p:cNvPr id="5" name="Text 3"/>
          <p:cNvSpPr/>
          <p:nvPr/>
        </p:nvSpPr>
        <p:spPr>
          <a:xfrm>
            <a:off x="704088" y="1572768"/>
            <a:ext cx="3218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8F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수요예측 Agent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04088" y="1901952"/>
            <a:ext cx="3236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밤 마감 후
</a:t>
            </a:r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익일·주간 예측 갱신 → 생산계획 초안 제출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25112" y="1463040"/>
            <a:ext cx="3621024" cy="1627632"/>
          </a:xfrm>
          <a:prstGeom prst="roundRect">
            <a:avLst>
              <a:gd name="adj" fmla="val 5056"/>
            </a:avLst>
          </a:prstGeom>
          <a:solidFill>
            <a:srgbClr val="F8F2EA"/>
          </a:solidFill>
          <a:ln/>
        </p:spPr>
      </p:sp>
      <p:sp>
        <p:nvSpPr>
          <p:cNvPr id="8" name="Text 6"/>
          <p:cNvSpPr/>
          <p:nvPr/>
        </p:nvSpPr>
        <p:spPr>
          <a:xfrm>
            <a:off x="4526280" y="1572768"/>
            <a:ext cx="3218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원자재보충 Agent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26280" y="1901952"/>
            <a:ext cx="3236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ROP 도달·시세 급등
</a:t>
            </a:r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발주 초안+근거(소요·리드타임·단가 추이) 생성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147304" y="1463040"/>
            <a:ext cx="3621024" cy="1627632"/>
          </a:xfrm>
          <a:prstGeom prst="roundRect">
            <a:avLst>
              <a:gd name="adj" fmla="val 5056"/>
            </a:avLst>
          </a:prstGeom>
          <a:solidFill>
            <a:srgbClr val="F8F2EA"/>
          </a:solidFill>
          <a:ln/>
        </p:spPr>
      </p:sp>
      <p:sp>
        <p:nvSpPr>
          <p:cNvPr id="11" name="Text 9"/>
          <p:cNvSpPr/>
          <p:nvPr/>
        </p:nvSpPr>
        <p:spPr>
          <a:xfrm>
            <a:off x="8348472" y="1572768"/>
            <a:ext cx="3218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14B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지점배분 Agent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348472" y="1901952"/>
            <a:ext cx="3236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새벽 배송 전
</a:t>
            </a:r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지점·채널별 배분안 — 전일 폐기·결품 반영 보정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3246120"/>
            <a:ext cx="3621024" cy="1627632"/>
          </a:xfrm>
          <a:prstGeom prst="roundRect">
            <a:avLst>
              <a:gd name="adj" fmla="val 5056"/>
            </a:avLst>
          </a:prstGeom>
          <a:solidFill>
            <a:srgbClr val="F8F2EA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3355848"/>
            <a:ext cx="3218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B2B수주 Agent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04088" y="3685032"/>
            <a:ext cx="3236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재주문 주기 도래
</a:t>
            </a:r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거래처별 수주 제안 초안 — 여신·단가 검증 포함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25112" y="3246120"/>
            <a:ext cx="3621024" cy="1627632"/>
          </a:xfrm>
          <a:prstGeom prst="roundRect">
            <a:avLst>
              <a:gd name="adj" fmla="val 5056"/>
            </a:avLst>
          </a:prstGeom>
          <a:solidFill>
            <a:srgbClr val="F8F2EA"/>
          </a:solidFill>
          <a:ln/>
        </p:spPr>
      </p:sp>
      <p:sp>
        <p:nvSpPr>
          <p:cNvPr id="17" name="Text 15"/>
          <p:cNvSpPr/>
          <p:nvPr/>
        </p:nvSpPr>
        <p:spPr>
          <a:xfrm>
            <a:off x="4526280" y="3355848"/>
            <a:ext cx="3218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C52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마감분개 Agent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26280" y="3685032"/>
            <a:ext cx="3236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마감
</a:t>
            </a:r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판매·폐기·정산 자동 분개, 이상 전표만 사람에게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147304" y="3246120"/>
            <a:ext cx="3621024" cy="1627632"/>
          </a:xfrm>
          <a:prstGeom prst="roundRect">
            <a:avLst>
              <a:gd name="adj" fmla="val 5056"/>
            </a:avLst>
          </a:prstGeom>
          <a:solidFill>
            <a:srgbClr val="2B1D12"/>
          </a:solidFill>
          <a:ln/>
        </p:spPr>
      </p:sp>
      <p:sp>
        <p:nvSpPr>
          <p:cNvPr id="20" name="Text 18"/>
          <p:cNvSpPr/>
          <p:nvPr/>
        </p:nvSpPr>
        <p:spPr>
          <a:xfrm>
            <a:off x="8348472" y="33558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규율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348472" y="3666744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에이전트는 제안까지 — 실제 값 변경은 HITL 승인 순간에만. 제안·근거·승인·효과가 전부 기록된다.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2920" y="5120640"/>
            <a:ext cx="11201400" cy="658368"/>
          </a:xfrm>
          <a:prstGeom prst="roundRect">
            <a:avLst>
              <a:gd name="adj" fmla="val 12500"/>
            </a:avLst>
          </a:prstGeom>
          <a:solidFill>
            <a:srgbClr val="3E2C1D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5193792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War Room(관제탑)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에이전트의 제안·승인율·효과(폐기율·결품률·MAPE)를 한 화면에서 감시 — 이상 신호는 재진단 인터뷰로, 반복 확인된 판단은 그래프의 새 규칙으로. DMAIC 무한 루프의 실장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2920" y="5925312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직원을 줄이는 도구가 아니라, 매일 반복되는 '옮겨적기와 계산'을 걷어내 사람이 빵과 고객에 집중하게 하는 도구다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1950 태성당 AX 프로젝트 제안 · 에이에스씨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30000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F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201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태성당 맞춤 5단계 — 본점에서 검증하고 별빛샌드로 확장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2157984" cy="3108960"/>
          </a:xfrm>
          <a:prstGeom prst="roundRect">
            <a:avLst>
              <a:gd name="adj" fmla="val 3814"/>
            </a:avLst>
          </a:prstGeom>
          <a:solidFill>
            <a:srgbClr val="F8F2EA"/>
          </a:solidFill>
          <a:ln/>
        </p:spPr>
      </p:sp>
      <p:sp>
        <p:nvSpPr>
          <p:cNvPr id="5" name="Shape 3"/>
          <p:cNvSpPr/>
          <p:nvPr/>
        </p:nvSpPr>
        <p:spPr>
          <a:xfrm>
            <a:off x="704088" y="1664208"/>
            <a:ext cx="457200" cy="457200"/>
          </a:xfrm>
          <a:prstGeom prst="ellipse">
            <a:avLst/>
          </a:prstGeom>
          <a:solidFill>
            <a:srgbClr val="0E8F86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664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682496"/>
            <a:ext cx="1289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80160" y="1975104"/>
            <a:ext cx="128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8F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2~4주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04088" y="2377440"/>
            <a:ext cx="17556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본점·지점 현장 진단(동선·데이터 흐름) · 경영 질문 10개 문장화 · KGI 기준선 서명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2688336" y="2852928"/>
            <a:ext cx="164592" cy="219456"/>
          </a:xfrm>
          <a:prstGeom prst="rightArrow">
            <a:avLst/>
          </a:prstGeom>
          <a:solidFill>
            <a:srgbClr val="DCCDBB"/>
          </a:solidFill>
          <a:ln/>
        </p:spPr>
      </p:sp>
      <p:sp>
        <p:nvSpPr>
          <p:cNvPr id="11" name="Shape 9"/>
          <p:cNvSpPr/>
          <p:nvPr/>
        </p:nvSpPr>
        <p:spPr>
          <a:xfrm>
            <a:off x="2880360" y="1481328"/>
            <a:ext cx="2157984" cy="3108960"/>
          </a:xfrm>
          <a:prstGeom prst="roundRect">
            <a:avLst>
              <a:gd name="adj" fmla="val 3814"/>
            </a:avLst>
          </a:prstGeom>
          <a:solidFill>
            <a:srgbClr val="F8F2EA"/>
          </a:solidFill>
          <a:ln/>
        </p:spPr>
      </p:sp>
      <p:sp>
        <p:nvSpPr>
          <p:cNvPr id="12" name="Shape 10"/>
          <p:cNvSpPr/>
          <p:nvPr/>
        </p:nvSpPr>
        <p:spPr>
          <a:xfrm>
            <a:off x="3081528" y="1664208"/>
            <a:ext cx="457200" cy="457200"/>
          </a:xfrm>
          <a:prstGeom prst="ellipse">
            <a:avLst/>
          </a:prstGeom>
          <a:solidFill>
            <a:srgbClr val="714B67"/>
          </a:solidFill>
          <a:ln/>
        </p:spPr>
      </p:sp>
      <p:sp>
        <p:nvSpPr>
          <p:cNvPr id="13" name="Text 11"/>
          <p:cNvSpPr/>
          <p:nvPr/>
        </p:nvSpPr>
        <p:spPr>
          <a:xfrm>
            <a:off x="3081528" y="1664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657600" y="1682496"/>
            <a:ext cx="1289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기반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57600" y="1975104"/>
            <a:ext cx="128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14B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2~3개월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081528" y="2377440"/>
            <a:ext cx="17556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Odoo 1차: POS·판매·구매·재고·회계 · 품목/레시피/로트/폐기사유 코드체계 · 이중 입력 제거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5065776" y="2852928"/>
            <a:ext cx="164592" cy="219456"/>
          </a:xfrm>
          <a:prstGeom prst="rightArrow">
            <a:avLst/>
          </a:prstGeom>
          <a:solidFill>
            <a:srgbClr val="DCCDBB"/>
          </a:solidFill>
          <a:ln/>
        </p:spPr>
      </p:sp>
      <p:sp>
        <p:nvSpPr>
          <p:cNvPr id="18" name="Shape 16"/>
          <p:cNvSpPr/>
          <p:nvPr/>
        </p:nvSpPr>
        <p:spPr>
          <a:xfrm>
            <a:off x="5257800" y="1481328"/>
            <a:ext cx="2157984" cy="3108960"/>
          </a:xfrm>
          <a:prstGeom prst="roundRect">
            <a:avLst>
              <a:gd name="adj" fmla="val 3814"/>
            </a:avLst>
          </a:prstGeom>
          <a:solidFill>
            <a:srgbClr val="F8F2EA"/>
          </a:solidFill>
          <a:ln/>
        </p:spPr>
      </p:sp>
      <p:sp>
        <p:nvSpPr>
          <p:cNvPr id="19" name="Shape 17"/>
          <p:cNvSpPr/>
          <p:nvPr/>
        </p:nvSpPr>
        <p:spPr>
          <a:xfrm>
            <a:off x="5458968" y="1664208"/>
            <a:ext cx="457200" cy="457200"/>
          </a:xfrm>
          <a:prstGeom prst="ellipse">
            <a:avLst/>
          </a:prstGeom>
          <a:solidFill>
            <a:srgbClr val="9C5227"/>
          </a:solidFill>
          <a:ln/>
        </p:spPr>
      </p:sp>
      <p:sp>
        <p:nvSpPr>
          <p:cNvPr id="20" name="Text 18"/>
          <p:cNvSpPr/>
          <p:nvPr/>
        </p:nvSpPr>
        <p:spPr>
          <a:xfrm>
            <a:off x="5458968" y="1664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035040" y="1682496"/>
            <a:ext cx="1289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적재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035040" y="1975104"/>
            <a:ext cx="128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52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2~3개월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58968" y="2377440"/>
            <a:ext cx="17556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3채널 판매·생산·폐기 데이터 축적 · 재고 정확도 95%+ · 베테랑 인터뷰로 암묵지 씨앗 수집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7443216" y="2852928"/>
            <a:ext cx="164592" cy="219456"/>
          </a:xfrm>
          <a:prstGeom prst="rightArrow">
            <a:avLst/>
          </a:prstGeom>
          <a:solidFill>
            <a:srgbClr val="DCCDBB"/>
          </a:solidFill>
          <a:ln/>
        </p:spPr>
      </p:sp>
      <p:sp>
        <p:nvSpPr>
          <p:cNvPr id="25" name="Shape 23"/>
          <p:cNvSpPr/>
          <p:nvPr/>
        </p:nvSpPr>
        <p:spPr>
          <a:xfrm>
            <a:off x="7635240" y="1481328"/>
            <a:ext cx="2157984" cy="3108960"/>
          </a:xfrm>
          <a:prstGeom prst="roundRect">
            <a:avLst>
              <a:gd name="adj" fmla="val 3814"/>
            </a:avLst>
          </a:prstGeom>
          <a:solidFill>
            <a:srgbClr val="F8F2EA"/>
          </a:solidFill>
          <a:ln/>
        </p:spPr>
      </p:sp>
      <p:sp>
        <p:nvSpPr>
          <p:cNvPr id="26" name="Shape 24"/>
          <p:cNvSpPr/>
          <p:nvPr/>
        </p:nvSpPr>
        <p:spPr>
          <a:xfrm>
            <a:off x="7836408" y="166420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7" name="Text 25"/>
          <p:cNvSpPr/>
          <p:nvPr/>
        </p:nvSpPr>
        <p:spPr>
          <a:xfrm>
            <a:off x="7836408" y="1664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412480" y="1682496"/>
            <a:ext cx="1289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지능화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412480" y="1975104"/>
            <a:ext cx="128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3~6개월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836408" y="2377440"/>
            <a:ext cx="17556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수요예측 가동 → 보충·배분·B2B 에이전트 순차 투입 · 지식그래프 구축 · 첫 HITL 승인</a:t>
            </a:r>
            <a:endParaRPr lang="en-US" sz="980" dirty="0"/>
          </a:p>
        </p:txBody>
      </p:sp>
      <p:sp>
        <p:nvSpPr>
          <p:cNvPr id="31" name="Shape 29"/>
          <p:cNvSpPr/>
          <p:nvPr/>
        </p:nvSpPr>
        <p:spPr>
          <a:xfrm>
            <a:off x="9820656" y="2852928"/>
            <a:ext cx="164592" cy="219456"/>
          </a:xfrm>
          <a:prstGeom prst="rightArrow">
            <a:avLst/>
          </a:prstGeom>
          <a:solidFill>
            <a:srgbClr val="DCCDBB"/>
          </a:solidFill>
          <a:ln/>
        </p:spPr>
      </p:sp>
      <p:sp>
        <p:nvSpPr>
          <p:cNvPr id="32" name="Shape 30"/>
          <p:cNvSpPr/>
          <p:nvPr/>
        </p:nvSpPr>
        <p:spPr>
          <a:xfrm>
            <a:off x="10012680" y="1481328"/>
            <a:ext cx="2157984" cy="3108960"/>
          </a:xfrm>
          <a:prstGeom prst="roundRect">
            <a:avLst>
              <a:gd name="adj" fmla="val 3814"/>
            </a:avLst>
          </a:prstGeom>
          <a:solidFill>
            <a:srgbClr val="F8F2EA"/>
          </a:solidFill>
          <a:ln/>
        </p:spPr>
      </p:sp>
      <p:sp>
        <p:nvSpPr>
          <p:cNvPr id="33" name="Shape 31"/>
          <p:cNvSpPr/>
          <p:nvPr/>
        </p:nvSpPr>
        <p:spPr>
          <a:xfrm>
            <a:off x="10213848" y="1664208"/>
            <a:ext cx="457200" cy="457200"/>
          </a:xfrm>
          <a:prstGeom prst="ellipse">
            <a:avLst/>
          </a:prstGeom>
          <a:solidFill>
            <a:srgbClr val="C07F1E"/>
          </a:solidFill>
          <a:ln/>
        </p:spPr>
      </p:sp>
      <p:sp>
        <p:nvSpPr>
          <p:cNvPr id="34" name="Text 32"/>
          <p:cNvSpPr/>
          <p:nvPr/>
        </p:nvSpPr>
        <p:spPr>
          <a:xfrm>
            <a:off x="10213848" y="1664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0789920" y="1682496"/>
            <a:ext cx="1289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환류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0789920" y="1975104"/>
            <a:ext cx="128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상시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10213848" y="2377440"/>
            <a:ext cx="17556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아침 브리핑 정착 · War Room 월간 리뷰 · 확정 규칙의 그래프 편입 — 대구 지점·신규 지점 복제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502920" y="4937760"/>
            <a:ext cx="11201400" cy="822960"/>
          </a:xfrm>
          <a:prstGeom prst="roundRect">
            <a:avLst>
              <a:gd name="adj" fmla="val 10000"/>
            </a:avLst>
          </a:prstGeom>
          <a:solidFill>
            <a:srgbClr val="2B1D12"/>
          </a:solidFill>
          <a:ln/>
        </p:spPr>
      </p:sp>
      <p:sp>
        <p:nvSpPr>
          <p:cNvPr id="39" name="Text 37"/>
          <p:cNvSpPr/>
          <p:nvPr/>
        </p:nvSpPr>
        <p:spPr>
          <a:xfrm>
            <a:off x="822960" y="502920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파일럿 범위 제안 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본점 + 별빛샌드 1개 지점 · 주력 SKU 20개(파이만쥬 세트 포함) · B2B 상위 거래처 10곳 — 첫 승인(첫 환류)까지 6개월 이내, 전체 표준 9~15개월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02920" y="5943600"/>
            <a:ext cx="11201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파일럿을 지점 복제하는 구조 — 지점이 늘수록 도입 비용은 줄고 데이터 가치는 커진다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1950 태성당 AX 프로젝트 제안 · 에이에스씨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430000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F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EXPECTED OUTCOMES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201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달라지는가 — 판정 KPI와 기대효과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3621024" cy="1298448"/>
          </a:xfrm>
          <a:prstGeom prst="roundRect">
            <a:avLst>
              <a:gd name="adj" fmla="val 6338"/>
            </a:avLst>
          </a:prstGeom>
          <a:solidFill>
            <a:srgbClr val="F8F2EA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" y="1700784"/>
            <a:ext cx="237744" cy="237744"/>
          </a:xfrm>
          <a:prstGeom prst="ellipse">
            <a:avLst/>
          </a:prstGeom>
          <a:solidFill>
            <a:srgbClr val="A8493B"/>
          </a:solidFill>
          <a:ln/>
        </p:spPr>
      </p:sp>
      <p:sp>
        <p:nvSpPr>
          <p:cNvPr id="6" name="Text 4"/>
          <p:cNvSpPr/>
          <p:nvPr/>
        </p:nvSpPr>
        <p:spPr>
          <a:xfrm>
            <a:off x="1069848" y="1609344"/>
            <a:ext cx="2889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폐기율 · 결품률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22376" y="2103120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관리 — 생산·배분 보정의 직접 효과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25112" y="1481328"/>
            <a:ext cx="3621024" cy="1298448"/>
          </a:xfrm>
          <a:prstGeom prst="roundRect">
            <a:avLst>
              <a:gd name="adj" fmla="val 6338"/>
            </a:avLst>
          </a:prstGeom>
          <a:solidFill>
            <a:srgbClr val="F8F2EA"/>
          </a:solidFill>
          <a:ln/>
        </p:spPr>
      </p:sp>
      <p:sp>
        <p:nvSpPr>
          <p:cNvPr id="9" name="Shape 7"/>
          <p:cNvSpPr/>
          <p:nvPr/>
        </p:nvSpPr>
        <p:spPr>
          <a:xfrm>
            <a:off x="4544568" y="1700784"/>
            <a:ext cx="237744" cy="237744"/>
          </a:xfrm>
          <a:prstGeom prst="ellipse">
            <a:avLst/>
          </a:prstGeom>
          <a:solidFill>
            <a:srgbClr val="0E8F86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1609344"/>
            <a:ext cx="2889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정확도 MAPE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44568" y="2103120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루프가 돌수록 개선 — 매월 공개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47304" y="1481328"/>
            <a:ext cx="3621024" cy="1298448"/>
          </a:xfrm>
          <a:prstGeom prst="roundRect">
            <a:avLst>
              <a:gd name="adj" fmla="val 6338"/>
            </a:avLst>
          </a:prstGeom>
          <a:solidFill>
            <a:srgbClr val="F8F2EA"/>
          </a:solidFill>
          <a:ln/>
        </p:spPr>
      </p:sp>
      <p:sp>
        <p:nvSpPr>
          <p:cNvPr id="13" name="Shape 11"/>
          <p:cNvSpPr/>
          <p:nvPr/>
        </p:nvSpPr>
        <p:spPr>
          <a:xfrm>
            <a:off x="8366760" y="1700784"/>
            <a:ext cx="237744" cy="237744"/>
          </a:xfrm>
          <a:prstGeom prst="ellipse">
            <a:avLst/>
          </a:prstGeom>
          <a:solidFill>
            <a:srgbClr val="714B67"/>
          </a:solidFill>
          <a:ln/>
        </p:spPr>
      </p:sp>
      <p:sp>
        <p:nvSpPr>
          <p:cNvPr id="14" name="Text 12"/>
          <p:cNvSpPr/>
          <p:nvPr/>
        </p:nvSpPr>
        <p:spPr>
          <a:xfrm>
            <a:off x="8714232" y="1609344"/>
            <a:ext cx="2889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 정확도 95%+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66760" y="2103120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실사 차이 소멸 — 지능화의 관문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2944368"/>
            <a:ext cx="3621024" cy="1298448"/>
          </a:xfrm>
          <a:prstGeom prst="roundRect">
            <a:avLst>
              <a:gd name="adj" fmla="val 6338"/>
            </a:avLst>
          </a:prstGeom>
          <a:solidFill>
            <a:srgbClr val="F8F2EA"/>
          </a:solidFill>
          <a:ln/>
        </p:spPr>
      </p:sp>
      <p:sp>
        <p:nvSpPr>
          <p:cNvPr id="17" name="Shape 15"/>
          <p:cNvSpPr/>
          <p:nvPr/>
        </p:nvSpPr>
        <p:spPr>
          <a:xfrm>
            <a:off x="722376" y="3163824"/>
            <a:ext cx="237744" cy="237744"/>
          </a:xfrm>
          <a:prstGeom prst="ellipse">
            <a:avLst/>
          </a:prstGeom>
          <a:solidFill>
            <a:srgbClr val="C07F1E"/>
          </a:solidFill>
          <a:ln/>
        </p:spPr>
      </p:sp>
      <p:sp>
        <p:nvSpPr>
          <p:cNvPr id="18" name="Text 16"/>
          <p:cNvSpPr/>
          <p:nvPr/>
        </p:nvSpPr>
        <p:spPr>
          <a:xfrm>
            <a:off x="1069848" y="3072384"/>
            <a:ext cx="2889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B2B 수주 리드타임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22376" y="3566160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재주문 제안·자동 계산서로 단축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25112" y="2944368"/>
            <a:ext cx="3621024" cy="1298448"/>
          </a:xfrm>
          <a:prstGeom prst="roundRect">
            <a:avLst>
              <a:gd name="adj" fmla="val 6338"/>
            </a:avLst>
          </a:prstGeom>
          <a:solidFill>
            <a:srgbClr val="F8F2EA"/>
          </a:solidFill>
          <a:ln/>
        </p:spPr>
      </p:sp>
      <p:sp>
        <p:nvSpPr>
          <p:cNvPr id="21" name="Shape 19"/>
          <p:cNvSpPr/>
          <p:nvPr/>
        </p:nvSpPr>
        <p:spPr>
          <a:xfrm>
            <a:off x="4544568" y="3163824"/>
            <a:ext cx="237744" cy="237744"/>
          </a:xfrm>
          <a:prstGeom prst="ellipse">
            <a:avLst/>
          </a:prstGeom>
          <a:solidFill>
            <a:srgbClr val="9C5227"/>
          </a:solidFill>
          <a:ln/>
        </p:spPr>
      </p:sp>
      <p:sp>
        <p:nvSpPr>
          <p:cNvPr id="22" name="Text 20"/>
          <p:cNvSpPr/>
          <p:nvPr/>
        </p:nvSpPr>
        <p:spPr>
          <a:xfrm>
            <a:off x="4892040" y="3072384"/>
            <a:ext cx="2889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 소요 시간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44568" y="3566160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일일 손익 자동화 — 월말 마감의 일상화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47304" y="2944368"/>
            <a:ext cx="3621024" cy="1298448"/>
          </a:xfrm>
          <a:prstGeom prst="roundRect">
            <a:avLst>
              <a:gd name="adj" fmla="val 6338"/>
            </a:avLst>
          </a:prstGeom>
          <a:solidFill>
            <a:srgbClr val="F8F2EA"/>
          </a:solidFill>
          <a:ln/>
        </p:spPr>
      </p:sp>
      <p:sp>
        <p:nvSpPr>
          <p:cNvPr id="25" name="Shape 23"/>
          <p:cNvSpPr/>
          <p:nvPr/>
        </p:nvSpPr>
        <p:spPr>
          <a:xfrm>
            <a:off x="8366760" y="3163824"/>
            <a:ext cx="237744" cy="23774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6" name="Text 24"/>
          <p:cNvSpPr/>
          <p:nvPr/>
        </p:nvSpPr>
        <p:spPr>
          <a:xfrm>
            <a:off x="8714232" y="3072384"/>
            <a:ext cx="2889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이중 입력 건수 제로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366760" y="3566160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옮겨적기 소멸 — 2단계 성공 판정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02920" y="4526280"/>
            <a:ext cx="11201400" cy="1188720"/>
          </a:xfrm>
          <a:prstGeom prst="roundRect">
            <a:avLst>
              <a:gd name="adj" fmla="val 6923"/>
            </a:avLst>
          </a:prstGeom>
          <a:solidFill>
            <a:srgbClr val="2B1D12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4645152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정직한 약속 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수치는 진단 단계에서 귀사 기준선을 재고 함께 서명합니다. 참고로 정부 스마트공장 공개 성과(중기부 5,003개사)는 원가 −15.9% · 생산성 +30% · 납기준수 +15.5% — 업종·모수가 다르므로 태성당의 숫자는 태성당의 데이터로 증명하겠습니다.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02920" y="5897880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9C52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큰 자산: 70년의 감이 시스템의 규칙이 되어 — 사람이 바뀌어도, 지점이 늘어도 남는다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1950 태성당 AX 프로젝트 제안 · 에이에스씨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430000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B1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ANSWER &amp; NEXT STEP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네, 가능합니다 — 초량에서 시작하겠습니다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7223760" cy="786384"/>
          </a:xfrm>
          <a:prstGeom prst="roundRect">
            <a:avLst>
              <a:gd name="adj" fmla="val 10465"/>
            </a:avLst>
          </a:prstGeom>
          <a:solidFill>
            <a:srgbClr val="3E2C1D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74520"/>
            <a:ext cx="1737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 관리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2651760" y="1874520"/>
            <a:ext cx="5074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원자재 로트·FEFO·MRP 역산과 완제품 이원 전략, 다지점 가용재고 — Odoo 표준 위 데이터 정비로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2724912"/>
            <a:ext cx="7223760" cy="786384"/>
          </a:xfrm>
          <a:prstGeom prst="roundRect">
            <a:avLst>
              <a:gd name="adj" fmla="val 10465"/>
            </a:avLst>
          </a:prstGeom>
          <a:solidFill>
            <a:srgbClr val="3E2C1D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770632"/>
            <a:ext cx="1737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발주·회계 연동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651760" y="2770632"/>
            <a:ext cx="5074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3채널 O2C 자동화, 세금계산서·자동분개 — '이중 입력 제로'를 판정 기준으로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621024"/>
            <a:ext cx="7223760" cy="786384"/>
          </a:xfrm>
          <a:prstGeom prst="roundRect">
            <a:avLst>
              <a:gd name="adj" fmla="val 10465"/>
            </a:avLst>
          </a:prstGeom>
          <a:solidFill>
            <a:srgbClr val="3E2C1D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666744"/>
            <a:ext cx="1737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실무 자동화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651760" y="3666744"/>
            <a:ext cx="5074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수요예측·영업자동화·재고 최적화를 파이프라인→지식그래프→5개 에이전트로, 승인은 언제나 사람이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92440" y="1828800"/>
            <a:ext cx="3611880" cy="2578608"/>
          </a:xfrm>
          <a:prstGeom prst="roundRect">
            <a:avLst>
              <a:gd name="adj" fmla="val 3191"/>
            </a:avLst>
          </a:prstGeom>
          <a:solidFill>
            <a:srgbClr val="3E2C1D"/>
          </a:solidFill>
          <a:ln/>
        </p:spPr>
      </p:sp>
      <p:sp>
        <p:nvSpPr>
          <p:cNvPr id="14" name="Text 12"/>
          <p:cNvSpPr/>
          <p:nvPr/>
        </p:nvSpPr>
        <p:spPr>
          <a:xfrm>
            <a:off x="8321040" y="195681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21040" y="2304288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초량 본점 현장 진단 워크숍 (무상 1일)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3중 진단 보고와 KGI 기준선 합의 (2~4주)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파일럿 착수 — 본점+지점 1곳, SKU 20개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0080" y="480060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b="1" i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"70년의 빵 굽는 기술이 1st Brain을 만들었습니다.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600" b="1" i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그 곁에, 기록하는 두 번째 뇌와 판단하는 세 번째 뇌를 세울 차례입니다."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8C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에이에스씨 · 부산·영남권 담당 송무준 · 『AI ERP 혁명 — Odoo와 지능형 ERP』 · 감사합니다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8C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1950 태성당 AX 프로젝트 제안 · 에이에스씨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430000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8C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2026-09-08T04:28:18Z</dcterms:created>
  <dcterms:modified xsi:type="dcterms:W3CDTF">2026-09-08T04:28:18Z</dcterms:modified>
</cp:coreProperties>
</file>