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TAESUNGDANG AX PLATFORM — OPERATIONS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매뉴얼 &amp; 시스템 전체 그림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판단의 공장을 매일 돌리는 법 — 일·주·분기 운영 절차와 화면 안내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3611880"/>
            <a:ext cx="27432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977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3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매뉴얼의 화면은 전부 실제 구동 화면입니다. </a:t>
            </a:r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거래 수치는 태성당 구조로 만든 합성 샘플</a:t>
            </a:r>
            <a:pPr indent="0" marL="0">
              <a:buNone/>
            </a:pPr>
            <a:r>
              <a:rPr lang="en-US" sz="1400" dirty="0">
                <a:solidFill>
                  <a:srgbClr val="EDE3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실데이터 연결 즉시 같은 화면이 실제 수치로 돕니다.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에이에스씨(ASC) · 이형근 · v1.0 · 2026. 9.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PICTURE 1/2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그림 ① — 시스템은 여섯 층으로 되어 있습니다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481328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9C522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8132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수집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67328" y="1481328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0208" y="1481328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정합 동기화 · 엑셀 업로더 · 현장 장표 폼 3종 · 설비 신호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231136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9C522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표준 데이터셋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67328" y="2231136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2231136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사전(현장 어휘→표준 코드) · 격리 큐 · 품질 게이트 · 특징량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980944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C07F1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98094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M3·M4 분석·학습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67328" y="2980944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2980944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6종 · 야간 4M 마이닝 · 수요예측(구간 포함) · 이상탐지 · 재고 Twin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730752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C07F1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73075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 지식그래프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67328" y="3730752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0208" y="3730752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후보의 확신도 관리(70%×3회 재현 시 승격) · 근거 사다리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480560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0E8F86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48056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 판단 카드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67328" y="4480560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0208" y="4480560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수치+구간+근거+대안 한 장 — 근거 없는 문장은 생성 불가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230368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0E8F86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523036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M7 승인·환류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767328" y="5230368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0208" y="5230368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승인함(HITL) · 감사 로그 · 파라미터 환류 · War Room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6035040"/>
            <a:ext cx="11055096" cy="457200"/>
          </a:xfrm>
          <a:prstGeom prst="rect">
            <a:avLst/>
          </a:prstGeom>
          <a:solidFill>
            <a:srgbClr val="FD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받침(M0) — </a:t>
            </a:r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대장 · 반출 게이트(승인 없는 외부 전송 차단) · 데이터 계약. 여섯 층 전부가 이 위에서만 동작합니다.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PICTURE 2/2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그림 ② — 하루가 이렇게 돌아갑니다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17904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9C522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517904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01:00 야간 자동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081528" y="1517904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517904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동기화→표준화→품질 게이트→학습→마이닝→에이전트→브리핑 — 18단계 무인 실행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13848" y="1627632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EFE5D8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3848" y="162763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2128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450592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9C522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45059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07:00 아침 브리핑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081528" y="2450592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2450592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유의 변화만 한 장으로 — 아침 회의는 현장 보드 순서대로 15분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213848" y="2560320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13848" y="25603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31455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383280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C07F1E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83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품질 조치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081528" y="3383280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33832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리포트의 격리 건 확정(새 어휘 매핑) — 하루 5분이면 충분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213848" y="349300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13848" y="349300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스튜어드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7320" y="40782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4315968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0E8F86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43159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수시 승인함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3081528" y="4315968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4315968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발주·생산계획·정비 제안 카드 검토 — 승인 또는 사유와 함께 반려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213848" y="4425696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13848" y="442569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승인자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17320" y="5010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248656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0E8F86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5248656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즉시 환류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3081528" y="5248656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5248656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로그 기록 · 파라미터 반영 · 반려 사유는 다음 학습의 재료로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0213848" y="5358384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EFE5D8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13848" y="535838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6928" y="6199632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매일 쓰는 시간: 스튜어드 약 30분 + 승인자 약 20분 — 나머지는 시스템이 돕니다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PRINCIPLES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운영의 세 원칙 — 이것만 지키면 안전합니다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00200"/>
            <a:ext cx="1105509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00200"/>
            <a:ext cx="128016" cy="1389888"/>
          </a:xfrm>
          <a:prstGeom prst="rect">
            <a:avLst/>
          </a:prstGeom>
          <a:solidFill>
            <a:srgbClr val="9C5227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72821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제안은 AI가, 결정은 사람이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1488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값은 승인 순간에만 바뀝니다. 급해도 승인함을 건너뛰는 지름길은 없습니다 — 지름길이 없다는 것이 이 시스템의 안전장치입니다.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200400"/>
            <a:ext cx="1105509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200400"/>
            <a:ext cx="128016" cy="1389888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332841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수치에는 근거가 붙습니다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" y="3749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카드의 모든 문장에 〔근거〕 표기가 있고, '왜?' 버튼으로 원본 데이터까지 역추적됩니다. 근거 표기가 없는 화면을 보면 그것이 곧 장애 신고 대상입니다.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800600"/>
            <a:ext cx="1105509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4800600"/>
            <a:ext cx="128016" cy="1389888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92861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우회하지 말고 고치세요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6968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큐 강제 매핑 · 승인 없는 파라미터 변경 · 게이트 없는 외부 전송은 전부 코드가 막습니다. 막힌 것을 우회하려는 순간이 사고의 입구 — 대신 계약(규칙)을 고쳐 주세요.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1/7 — 아침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브리핑 — 하루는 이 한 장으로 시작합니다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/s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07:00 자동 발행 — 아침 회의 시작 전 1분 훑기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'유의 변화'만 · 원인은 단정하지 않고 동반 관찰만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항목을 아침 회의 안건으로 — 상세는 분석 스튜디오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열람 · 진행은 현장 리더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2/7 — 분석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스튜디오 — 어디가, 언제부터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/s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설비·교대·자재 로트별로 쪼개 '어디가 다른가'를 봅니다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붉은 점 = 통계적 이탈 — '언제부터'가 특정됩니다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구간은 야간 마이닝이 자동 분석 — 다음날 원인 후보로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스튜어드 · 품질 담당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3/7 — 근거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역추적 — '왜?'에 끝까지 답합니다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/s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사다리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→ 원인 후보 → 통계 검정 → 원본 데이터 4단 역추적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 이상 · 3회 재현된 원인만 규칙으로 승격됩니다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승격 시 SOP 개정안이 자동 기안 — 승인은 사람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담당 · 공장장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4/7 — 승인함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승인함 — 오늘의 제안들이 기다립니다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/s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구성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+ 구간(P10~P90) + 〔근거〕 + 대안이 한 장에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'승인 → 환류' 클릭 — 그 순간에만 시스템 값이 바뀝니다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 필수(현장 사정·시점 부적절 등) — 다음 학습의 재료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승인자 · 하루 20분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5/7 — 기록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승인의 순간 — 기록되고, 반영되고, 남습니다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/s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로그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누가·언제·무엇을 — 전 결정이 자동 기록, 수정 불가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값만 반영 · 이전 값 보존 — 언제든 되돌릴 수 있음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승급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저위험 카드는 상한 안에서 자동 실행 승급(위반 시 자동 강등)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— 관리자는 주 1회 로그 훑기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6/7 — 생산계획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생산계획 카드 — 용량까지 아는 제안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/s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새벽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날 수요예측 × 라인 용량으로 품목별 생산량 기안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초과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경고와 함께 감축안 제시 — 유통기한 제약도 반영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문장마다 〔근거〕 — 근거 없는 문장은 생성 자체가 불가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공장장 승인 후 당일 계획 확정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7/7 — 경영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 Room — 경영이 보는 한 화면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/s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리뷰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→ 반려 사유 → 에이전트 오류 → 드리프트 → 승급 결정 순 15분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신호등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리스크 녹/황/적 — 적신호는 당일 조치 원칙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사항만 남깁니다 — 수치는 화면이 이미 기록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· 공장장 · 주 1회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역할과 책임 — 네 사람이면 돌아갑니다 (겸직 가능)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577840"/>
                <a:gridCol w="1188720"/>
                <a:gridCol w="2459736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스튜어드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격리 큐 확정(새 어휘 매핑) · 품질 리포트 조치 · 데이터 반입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30분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리포트 · 격리 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승인자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카드 승인/반려 — 발주·생산계획·정비·SOP 개정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20분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승인함(/inbox)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리더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 회의 진행 · 장표 폼 입력 관리(생산일지·점검표·폐기)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15분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 브리핑 · 현장 보드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관리자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 배치 확인 · 백업 확인 · 계정 관리 — ASC가 원격 지원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1시간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 Room · 로그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074920"/>
            <a:ext cx="11055096" cy="502920"/>
          </a:xfrm>
          <a:prstGeom prst="rect">
            <a:avLst/>
          </a:prstGeom>
          <a:solidFill>
            <a:srgbClr val="FD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인원 제안 — </a:t>
            </a:r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스튜어드·현장 리더 겸직 1명 + 승인자 1명, 총 2명으로 시작할 수 있습니다. 관리자 몫은 도입 초기 ASC가 대행합니다.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DAILY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단위 운영 — 하루 체크리스트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08760"/>
          <a:ext cx="11055096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14800"/>
                <a:gridCol w="4206240"/>
                <a:gridCol w="1545336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정합 배치 + 표준화 + 학습 + 마이닝 (18단계)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스케줄러 자동 — 아침에 실패 알림만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07:00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 브리핑 발행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발행 → 메신저 수신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07:30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 회의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보드 순서대로 15분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리더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리포트 조치 — 격리 건 확정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격리 큐에서 새 어휘 표준 코드 지정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스튜어드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승인함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카드 검토 — 승인 / 사유와 함께 반려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승인자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장표 입력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생산일지 · 오븐 점검표 · 마감 폐기 장부(태블릿)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리더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3492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알림이 없고 브리핑이 도착했다면 — 어젯밤 시스템은 정상입니다. 그게 확인의 전부입니다.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단위 운영 — 모델과 경영의 리듬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110550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128016" cy="1371600"/>
          </a:xfrm>
          <a:prstGeom prst="rect">
            <a:avLst/>
          </a:prstGeom>
          <a:solidFill>
            <a:srgbClr val="9C5227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691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재학습·드리프트 점검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86968" y="2103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드리프트(PSI) 경보 2건 이상 또는 예측 정확도 하한 초과 시 → 새 버전 학습 → 그림자 운영 1주 → 좋을 때만 승격. 자동 절차이며 승격 승인만 사람이 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145536"/>
            <a:ext cx="110550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145536"/>
            <a:ext cx="128016" cy="137160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32644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 Room 리뷰 (주 1회 15분)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86968" y="367588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→ 반려 사유 분포 → 에이전트 오류 → 드리프트 → 자동실행 승급/강등 결정. 회의록에는 결정만 남깁니다.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718304"/>
            <a:ext cx="110550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4718304"/>
            <a:ext cx="128016" cy="137160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83717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확인 (주 1회 육안)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86968" y="524865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3본(일·주·월) 로그 확인. 실패 경보가 없어도 주 1회는 눈으로 봅니다.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BIWEEKLY · QUARTERLY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격주·분기 — 리스크 점검과 복구 시험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675120"/>
                <a:gridCol w="3191256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 5 점검 — 신규 양식 무단 유입 · 요구서 없는 기능 · 검증 밖 학습 흔적 · 회귀 질의 10선 · 스튜어드 단독 수행 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 / 황 / 적 — 적신호는 War Room 안건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복구 시험 — 백업에서 실제 복원 리허설(절차서 그대로), 소요 시간 기록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필수 — 미실시 = 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점검 — 계정·승인권·반출 게이트 승인자 목록 재확인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퇴사·이동 반영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754880"/>
            <a:ext cx="11055096" cy="502920"/>
          </a:xfrm>
          <a:prstGeom prst="rect">
            <a:avLst/>
          </a:prstGeom>
          <a:solidFill>
            <a:srgbClr val="FD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— </a:t>
            </a:r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"백업이 있다"와 "복구가 된다"는 다른 말입니다. 복구 시험을 건너뛴 분기는 리스크 황색으로 기록됩니다.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HOW-TO — STEWARD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스튜어드 실무 — 격리 큐 처리 3단계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110550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8249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아침에 열기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093976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리포트의 '격리' 건수 확인 — 새 상품명·매장 호칭·자재 별칭이 들어오면 여기 모입니다. 격리는 오류가 아니라 시스템이 '이건 처음 보는 말'이라고 손을 든 것입니다.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145536"/>
            <a:ext cx="110550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25526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표준 코드 지정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" y="3666744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목록에서 건별로 올바른 표준 코드를 지정합니다(예: '초량점 만쥬' → S-CHORYANG × P-PIE). 확신이 없으면 추측하지 말고 현장에 물어보세요 — 잘못된 확정은 예측 전체를 오염시킵니다.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718304"/>
            <a:ext cx="110550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4828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확정하면 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" y="5239512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확정한 어휘는 코드 사전에 등록되어 다음부터 자동 매핑됩니다. 처리 이력은 전부 기록되며, 잘못 확정한 경우 재지정하면 다음 배치에서 소급 반영됩니다.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HOW-TO — APPROVER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승인자 실무 — 카드 읽는 법과 자동 실행 정책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카드에서 반드시 볼 네 가지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56692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6634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보는 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값 — 직전 실적과 나란히 표시됩니다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P10~P90 — 구간이 넓으면 불확실하다는 뜻, 신중히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〔근거〕 태그 — '왜?' 버튼으로 원본까지 역추적 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기각된 대안과 그 이유 — 왜 이 값인지의 반대편 증거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556248" y="1463040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실행 승급·강등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56248" y="1874520"/>
            <a:ext cx="5065776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57416" y="20574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승급 조건 (모두 충족 시 제안됨)
</a:t>
            </a:r>
            <a:pPr indent="0" marL="0">
              <a:buNone/>
            </a:pPr>
            <a:r>
              <a:rPr lang="en-US" sz="12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같은 유형 카드 승인율이 충분히 높고
· 금액·수량이 안전 상한 이내이며
· 최근 반려·오류 이력이 없을 것
</a:t>
            </a:r>
            <a:pPr indent="0" marL="0">
              <a:buNone/>
            </a:pPr>
            <a:r>
              <a:rPr lang="en-US" sz="1300" b="1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강등 (자동)
</a:t>
            </a:r>
            <a:pPr indent="0" marL="0">
              <a:buNone/>
            </a:pPr>
            <a:r>
              <a:rPr lang="en-US" sz="12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상한 초과 시도 · 승인율 하락 · 드리프트 경보 시 즉시 사람 승인으로 복귀
</a:t>
            </a:r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승급 여부의 최종 결정도 War Room에서 사람이 합니다.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54864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반려에는 반드시 사유를 — 사유는 벌점이 아니라 다음 제안을 더 낫게 만드는 학습 재료입니다.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 요람 — 관리자를 위한 한 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0"/>
                <a:gridCol w="300837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 / 주소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승인함 열기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http://서버주소/inbox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선택 후 카드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 Room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artifacts/boards/war_room.html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리뷰 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카드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-m core.axp.cli cards --status proposed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터미널에서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승인/반려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-m core.axp.cli approve &lt;번호&gt; · reject &lt;번호&gt;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사유 입력 필수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격리 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-m core.axp.cli quarantine · confirm &lt;번호&gt;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스튜어드 일과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재발행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-m core.axp.cli briefing &lt;날짜&gt;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놓친 날 다시 보기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 배치 수동 실행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-m core.axp.scheduler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복구 후 재실행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-m core.axp.cli ask "질문"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딸린 답변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8064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초기에는 전부 ASC가 대행합니다 — 이 장은 인수인계 후를 위한 참고입니다.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· HANDOVER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말 것 다섯 가지, 그리고 인수인계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463040"/>
            <a:ext cx="557784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A84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말 것 5 — 전부 코드가 막지만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0574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격리 큐를 우회한 강제 매핑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모델 카드 없는 모델 배포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승인 없는 파라미터 변경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반출 게이트 없는 외부 전송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회귀 시험 없는 모델·LLM 교체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4343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것을 우회하려는 순간이 사고의 입구입니다.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우회 대신 규칙 개정을 요청하세요 — 하루면 반영됩니다.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10528" y="1463040"/>
            <a:ext cx="5111496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600200"/>
            <a:ext cx="4654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인수인계 검수 — 스튜어드 단독 수행 4종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39128" y="2057400"/>
            <a:ext cx="46542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재학습 1회 — 새 버전 학습·그림자·승격까지
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카드 승인 1회 — 근거 확인·승인·환류 확인까지
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자산 대장 갱신 1회 — 신규 데이터 등록
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백업 복구 1회 — 복원 리허설 완주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39128" y="4160520"/>
            <a:ext cx="46542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4종을 ASC 없이 완주하면 시스템은 태성당의 손으로 넘어갑니다.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 반출 게이트 승인자와 레지스트리 승인권도 함께 교체합니다.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58064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문의: 에이에스씨(ASC) 이형근 · asclhg@gmail.com — 도입 초기 전 절차 동행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2026-09-10T22:15:50Z</dcterms:created>
  <dcterms:modified xsi:type="dcterms:W3CDTF">2026-09-10T22:15:50Z</dcterms:modified>
</cp:coreProperties>
</file>