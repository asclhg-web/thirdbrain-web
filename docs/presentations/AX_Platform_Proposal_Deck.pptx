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 핵심 한 줄: 방법론이 문서에 있으면 사람이 지켜야 하지만, 플랫폼이 되면 구조가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백서 2부의 4대 지능화가 이 플랫폼의 첫 애플리케이션. 플랫폼과 앱의 분리가 C3 AI에게서 배운 사상.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사 공개 자료 기준 대표 사상 요약 — 구매 제안이 아니라 사상 학습.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국내 제품 특성은 공개 자료 기준. KAMP는 데이터셋·실증 창구로 활용하되 원본은 사내에.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M1→M7 데이터 흐름, M0 공통기반(커스터디 포함), 상단 4대 지능화 앱. 판단 카드가 앱에 공급되고 실적·승인이 재학습 재료로 내려온다.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서랍: 시계열·회귀/분류/이상탐지/강화학습. 공통 규율 3 — 단순한 것부터, 미래로 시험, 근거 없는 제안은 그래프에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371600"/>
            <a:ext cx="731520" cy="731520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7150" y="1569110"/>
            <a:ext cx="336499" cy="3364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012680" y="2267712"/>
            <a:ext cx="731520" cy="7315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90" y="2465222"/>
            <a:ext cx="336499" cy="33649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49640" y="3163824"/>
            <a:ext cx="731520" cy="731520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3361334"/>
            <a:ext cx="336499" cy="33649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012680" y="4059936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190" y="4257446"/>
            <a:ext cx="336499" cy="33649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549640" y="4956048"/>
            <a:ext cx="731520" cy="731520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150" y="5153558"/>
            <a:ext cx="336499" cy="33649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008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 &amp; EXECUTION PLAN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</a:t>
            </a:r>
            <a:endParaRPr lang="en-US" sz="4400" dirty="0"/>
          </a:p>
        </p:txBody>
      </p:sp>
      <p:sp>
        <p:nvSpPr>
          <p:cNvPr id="14" name="Text 7"/>
          <p:cNvSpPr/>
          <p:nvPr/>
        </p:nvSpPr>
        <p:spPr>
          <a:xfrm>
            <a:off x="640080" y="2331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단위 설계 M0~M7 — 오픈소스로 짓는 판단의 공장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640080" y="3108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엑셀·수작업 장표·Odoo 스키마  →  표준 데이터셋  →  ML·딥러닝·강화학습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온톨로지-지식그래프  →  LLM 추론·판단  →  AI 에이전트(HITL)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4008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방법론(부록·백서)을 소프트웨어로 굳혀, 성공을 복제 가능하게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40080" y="5303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 · 『AI ERP 혁명 — Odoo와 지능형 ERP』 · 2026. 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개요 — 방법론을 소프트웨어로 굳힌다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질문에서 출발해 — 엑셀·수작업 장표·Odoo 원장의 데이터를 표준 데이터셋으로 모으고, 여러 알고리즘으로 마이닝하며, 지식그래프에 의미로 연결해, LLM이 근거와 함께 추론하고, 에이전트가 제안하되 사람이 승인한다.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방법론을 여덟 개의 모듈(M0~M7)로 굳혀, 한 회사의 성공을 다음 회사·다음 라인에 복제 가능하게 만든다.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다섯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956816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28816" y="2075688"/>
            <a:ext cx="457200" cy="457200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260" y="2199132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0" y="20025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우선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052560" y="200253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전 계층 무종속 — 상용은 어댑터로만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55080" y="2743200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28816" y="2862072"/>
            <a:ext cx="457200" cy="45720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98551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27889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커스터디 내장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052560" y="278892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대장·레지스트리·반출 게이트가 기반(M0)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55080" y="3529584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28816" y="3648456"/>
            <a:ext cx="457200" cy="457200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3771900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5753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카드 표준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052560" y="35753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수치+근거+대안+승인의 한 형식으로 수렴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55080" y="4315968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28816" y="4434840"/>
            <a:ext cx="457200" cy="457200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4558284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36168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기본값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052560" y="436168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값 변경은 승인 순간에만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355080" y="5102352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28816" y="522122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5344668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51480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수직 완주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052560" y="514807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유스케이스가 M1→M7을 관통하며 함께 성장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·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거인에게 배운다 — 가져올 것과 버릴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6E3A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481328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6E3A1C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481328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6E3A1C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481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06840" y="1481328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6E3A1C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1481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버릴 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193852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 Foundry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88920" y="1938528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2916936" y="1938528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온톨로지 객체로 올려 운영 액션과 결합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938528"/>
            <a:ext cx="301752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938528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온톨로지가 심장이라는 구조(M5)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1938528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1938528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 생태계·고비용 종속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724912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272491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 AI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88920" y="2724912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72491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기반 엔터프라이즈 AI 앱 수트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724912"/>
            <a:ext cx="30175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2724912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앱(4대 지능화)과 플랫폼의 분리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724912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856" y="27249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스위트 일괄 도입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511296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351129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Dataiku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88920" y="3511296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31" name="Text 29"/>
          <p:cNvSpPr/>
          <p:nvPr/>
        </p:nvSpPr>
        <p:spPr>
          <a:xfrm>
            <a:off x="2916936" y="3511296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비주얼 파이프라인, 현업-DS 협업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511296"/>
            <a:ext cx="301752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33" name="Text 31"/>
          <p:cNvSpPr/>
          <p:nvPr/>
        </p:nvSpPr>
        <p:spPr>
          <a:xfrm>
            <a:off x="6117336" y="3511296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 보는 파이프라인(M3)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06840" y="3511296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35" name="Text 33"/>
          <p:cNvSpPr/>
          <p:nvPr/>
        </p:nvSpPr>
        <p:spPr>
          <a:xfrm>
            <a:off x="9134856" y="3511296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코어의 상용 의존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297680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297680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Databricks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88920" y="42976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4297680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레이크하우스 + MLflow 실험·모델 관리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4297680"/>
            <a:ext cx="301752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4297680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실험추적·모델 카드 규율(M4)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297680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34856" y="4297680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중심 배치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084064"/>
            <a:ext cx="22860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" y="5084064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Siemens Insights Hub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88920" y="5084064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47" name="Text 45"/>
          <p:cNvSpPr/>
          <p:nvPr/>
        </p:nvSpPr>
        <p:spPr>
          <a:xfrm>
            <a:off x="2916936" y="5084064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IoT의 자산 모델링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5084064"/>
            <a:ext cx="301752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49" name="Text 47"/>
          <p:cNvSpPr/>
          <p:nvPr/>
        </p:nvSpPr>
        <p:spPr>
          <a:xfrm>
            <a:off x="6117336" y="5084064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설비-신호 자산 트리(M1)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06840" y="5084064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F8F2EA"/>
          </a:solidFill>
          <a:ln/>
        </p:spPr>
      </p:sp>
      <p:sp>
        <p:nvSpPr>
          <p:cNvPr id="51" name="Text 49"/>
          <p:cNvSpPr/>
          <p:nvPr/>
        </p:nvSpPr>
        <p:spPr>
          <a:xfrm>
            <a:off x="9134856" y="5084064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벤더 종속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뼈대는 넷 — 연결·표준화·학습·운영 결합. 이 넷을 오픈소스로 다시 짓고, 커스터디와 판단 카드를 우리가 더한다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· KOREA &amp; OSS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이웃과의 거리, 그리고 오픈소스 대응 지도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89204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642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벤치마크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" y="2066544"/>
            <a:ext cx="4389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마키나락스 Runway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24505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통합→모델→MLOps·LLMOps, 제조 버티컬 특화 — 지향점이 가장 가까운 국내 상용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3273552"/>
            <a:ext cx="4389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364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삼성SDS Brightics AI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3657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라이프사이클 통합 — M3 스튜디오의 UX 벤치마크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4480560"/>
            <a:ext cx="4389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KAMP(중기부)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41832" y="486460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데이터셋·실증·솔루션 장터 — 종속 없이 참조·연계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1554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거인의 기능 → 오픈소스 대응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95681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EFE5D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9568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커넥터·수집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0" y="19568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CDC · 장표 디지타이저 · MQTT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18520" y="19568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50545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5054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06640" y="25054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Parquet/MinIO + 레지스트리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18520" y="25054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05409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EFE5D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0540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분석·협업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0" y="30540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JupyterLab + Superset + EDA 템플릿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18520" y="30540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360273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602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06640" y="360273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TensorFlow·XGBoost·RLlib + MLflow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18520" y="36027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415137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EFE5D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415137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41513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Neo4j + 트리플 생성기 + 확신도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18520" y="41513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470001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7000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LLM·RAG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47000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+ GraphRAG(자체) + 승인 반출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18520" y="47000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5248656"/>
            <a:ext cx="5943600" cy="475488"/>
          </a:xfrm>
          <a:prstGeom prst="roundRect">
            <a:avLst>
              <a:gd name="adj" fmla="val 17308"/>
            </a:avLst>
          </a:prstGeom>
          <a:solidFill>
            <a:srgbClr val="EFE5D8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0" y="52486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액션·관제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06640" y="52486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런타임 + n8n + 판단 카드 UI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18520" y="52486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모듈의 지도 — 데이터는 흐르고, 판단은 올라간다</a:t>
            </a:r>
            <a:endParaRPr lang="en-US" sz="2600" dirty="0"/>
          </a:p>
        </p:txBody>
      </p:sp>
      <p:pic>
        <p:nvPicPr>
          <p:cNvPr id="4" name="Image 0" descr="figp_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371600"/>
            <a:ext cx="950976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MODULES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기반과 입구 — M0 공통기반 · M1 수집 · M2 표준 데이터셋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719072"/>
            <a:ext cx="548640" cy="548640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86720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17373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0664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폐쇄망 코어 + 하이브리드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SSO·권한, 3-2-1 백업·복구 시험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커스터디 3장치: 레지스트리·자산 대장·반출 게이트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7주 — 복구 시험 통과가 완료 판정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25112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719072"/>
            <a:ext cx="548640" cy="548640"/>
          </a:xfrm>
          <a:prstGeom prst="ellipse">
            <a:avLst/>
          </a:prstGeom>
          <a:solidFill>
            <a:srgbClr val="0E8F8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1867205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925312" y="17373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수집·인제스트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62856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업로더 — 매핑 1회 저장, 이후 자동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장표 → 태블릿 폼(1순위)+OCR 보조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CDC 커넥터(6계열)·MQTT, 원본 불변 보존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62856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9" name="Text 15"/>
          <p:cNvSpPr/>
          <p:nvPr/>
        </p:nvSpPr>
        <p:spPr>
          <a:xfrm>
            <a:off x="4709160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 — '현업 3인이 도움 없이 업로드'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47304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21" name="Shape 17"/>
          <p:cNvSpPr/>
          <p:nvPr/>
        </p:nvSpPr>
        <p:spPr>
          <a:xfrm>
            <a:off x="8385048" y="1719072"/>
            <a:ext cx="548640" cy="54864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1867205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61704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9747504" y="17373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데이터셋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385048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사실 테이블 6계열(4M 차원 키)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매핑 엔진 — 미매핑은 격리 큐로</a:t>
            </a:r>
            <a:endParaRPr lang="en-US" sz="110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게이트·특징량 저장소·데이터 계약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385048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27" name="Text 22"/>
          <p:cNvSpPr/>
          <p:nvPr/>
        </p:nvSpPr>
        <p:spPr>
          <a:xfrm>
            <a:off x="8531352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 — 미매핑률 5% 미만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02920" y="592531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"정리하고 가져오라"가 아니라 "가져와서 정리한다" — 엑셀과 장표를 조건 없이 받는 문이 수집의 성패다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MODULES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작업대와 서랍장 — M3 분석 스튜디오 · M4 학습 엔진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37360"/>
            <a:ext cx="566928" cy="566928"/>
          </a:xfrm>
          <a:prstGeom prst="ellipse">
            <a:avLst/>
          </a:prstGeom>
          <a:solidFill>
            <a:srgbClr val="C07F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189043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 분석 스튜디오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487168"/>
            <a:ext cx="49743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EDA 팩 — 층별·파레토·관리도 자동 생성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마이닝 배치 → '어제의 변화' 아침 브리핑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Superset 보드(현장·경영) + JupyterLab(계약 접근만)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8952" y="5001768"/>
            <a:ext cx="49743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0" name="Text 7"/>
          <p:cNvSpPr/>
          <p:nvPr/>
        </p:nvSpPr>
        <p:spPr>
          <a:xfrm>
            <a:off x="923544" y="500176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— 현업 리더가 스스로 층별 조회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1481328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737360"/>
            <a:ext cx="566928" cy="566928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23" y="189043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 학습 엔진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73952" y="2487168"/>
            <a:ext cx="49743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카탈로그: 통계 → ML(XGBoost) → 딥러닝(TensorFlow) → 강화학습(RL)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실험추적 — 모델 카드 의무화, 시계열 분할 검증 강제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 Serving 배포·드리프트 경보 · RL은 Digital Twin 안에서만, 산출은 카드로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73952" y="5001768"/>
            <a:ext cx="49743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7" name="Text 13"/>
          <p:cNvSpPr/>
          <p:nvPr/>
        </p:nvSpPr>
        <p:spPr>
          <a:xfrm>
            <a:off x="6638544" y="500176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 — 기본기 2종 + 이상탐지 + RL 파일럿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2920" y="592531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마이닝의 8할은 모델 이전, M3의 작업대에서 끝난다 — 서랍은 언제나 단순한 것부터 연다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ALGORITHM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선택 지도 — 문제의 질문이 서랍을 고른다</a:t>
            </a:r>
            <a:endParaRPr lang="en-US" sz="2600" dirty="0"/>
          </a:p>
        </p:txBody>
      </p:sp>
      <p:pic>
        <p:nvPicPr>
          <p:cNvPr id="4" name="Image 0" descr="figp_al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808" y="1371600"/>
            <a:ext cx="9784080" cy="5258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MODULES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의미와 실행 — M5 지식그래프 · M6 LLM 판단 · M7 에이전트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719072"/>
            <a:ext cx="548640" cy="548640"/>
          </a:xfrm>
          <a:prstGeom prst="ellipse">
            <a:avLst/>
          </a:prstGeom>
          <a:solidFill>
            <a:srgbClr val="9C5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86720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170078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온톨로지·지식그래프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4M 스키마(DefectEvent 허브+Rule)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자동 적재 + 원인 후보(확신도)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임계(70%·3회)→승인→Rule 승격, 근거 API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0664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— 첫 Rule 승격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25112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71907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1867205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925312" y="170078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추론·판단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62856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 — 검색된 사실로만 답, 경로 인용 필수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카드 조립(수치+근거+대안)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기본 + 승인 반출 클라우드 · 수치 생성 금지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62856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19" name="Text 15"/>
          <p:cNvSpPr/>
          <p:nvPr/>
        </p:nvSpPr>
        <p:spPr>
          <a:xfrm>
            <a:off x="4709160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— 질의 10선 회귀 통과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47304" y="1481328"/>
            <a:ext cx="3621024" cy="4251960"/>
          </a:xfrm>
          <a:prstGeom prst="roundRect">
            <a:avLst>
              <a:gd name="adj" fmla="val 2273"/>
            </a:avLst>
          </a:prstGeom>
          <a:solidFill>
            <a:srgbClr val="F8F2EA"/>
          </a:solidFill>
          <a:ln/>
        </p:spPr>
      </p:sp>
      <p:sp>
        <p:nvSpPr>
          <p:cNvPr id="21" name="Shape 17"/>
          <p:cNvSpPr/>
          <p:nvPr/>
        </p:nvSpPr>
        <p:spPr>
          <a:xfrm>
            <a:off x="8385048" y="1719072"/>
            <a:ext cx="548640" cy="548640"/>
          </a:xfrm>
          <a:prstGeom prst="ellipse">
            <a:avLst/>
          </a:prstGeom>
          <a:solidFill>
            <a:srgbClr val="A8493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1867205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61704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9747504" y="170078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에이전트·관제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85048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+ 기본 에이전트 5종(4대 지능화+지식검증)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승인함(Odoo 내장) — 승인만이 원장을 바꾼다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+ 저위험 자동실행 승급 절차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385048" y="5001768"/>
            <a:ext cx="3145536" cy="548640"/>
          </a:xfrm>
          <a:prstGeom prst="roundRect">
            <a:avLst>
              <a:gd name="adj" fmla="val 11667"/>
            </a:avLst>
          </a:prstGeom>
          <a:solidFill>
            <a:srgbClr val="2B1D12"/>
          </a:solidFill>
          <a:ln/>
        </p:spPr>
      </p:sp>
      <p:sp>
        <p:nvSpPr>
          <p:cNvPr id="27" name="Text 22"/>
          <p:cNvSpPr/>
          <p:nvPr/>
        </p:nvSpPr>
        <p:spPr>
          <a:xfrm>
            <a:off x="8531352" y="50017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 — 첫 승인→환류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02920" y="592531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Foundry의 교훈 그대로 — 온톨로지는 곁가지가 아니라 심장이다. 그리고 심장의 출력은 언제나 판단 카드 한 형식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플랫폼의 최종 산출 — 판단 카드와 다섯 박자</a:t>
            </a:r>
            <a:endParaRPr lang="en-US" sz="2600" dirty="0"/>
          </a:p>
        </p:txBody>
      </p:sp>
      <p:pic>
        <p:nvPicPr>
          <p:cNvPr id="4" name="Image 0" descr="figb_judge_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10241280" cy="3968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43251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오차의 환류 — 판단이 반복될수록 정확해진다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580644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모듈의 산출이 이 한 형식으로 수렴한다 — {제안, 수치, 구간, 근거 경로, 대안, 승인자, 상태}. M7만이 원장 파라미터를 쓴다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×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지능화 × 모듈 매핑 — 앱이 플랫폼을 증명한다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788920" cy="402336"/>
          </a:xfrm>
          <a:prstGeom prst="roundRect">
            <a:avLst>
              <a:gd name="adj" fmla="val 13636"/>
            </a:avLst>
          </a:prstGeom>
          <a:solidFill>
            <a:srgbClr val="6E3A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6E3A1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수요예측·영업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49240" y="1463040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6E3A1C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재고·생산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463040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6E3A1C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설비예지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64040" y="1463040"/>
            <a:ext cx="2240280" cy="402336"/>
          </a:xfrm>
          <a:prstGeom prst="roundRect">
            <a:avLst>
              <a:gd name="adj" fmla="val 13636"/>
            </a:avLst>
          </a:prstGeom>
          <a:solidFill>
            <a:srgbClr val="6E3A1C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14630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지식센터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1938528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193852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수집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93852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9385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판매·CRM·달력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93852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19" name="Text 17"/>
          <p:cNvSpPr/>
          <p:nvPr/>
        </p:nvSpPr>
        <p:spPr>
          <a:xfrm>
            <a:off x="5458968" y="19385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재고·BOM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93852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19385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센서·정비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64040" y="1938528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23" name="Text 21"/>
          <p:cNvSpPr/>
          <p:nvPr/>
        </p:nvSpPr>
        <p:spPr>
          <a:xfrm>
            <a:off x="9573768" y="193852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장표·말 카드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450592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450592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표준 데이터셋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45059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45059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판매 사실·특징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245059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8968" y="245059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이동·소요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245059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245059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설비 사실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450592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73768" y="245059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텍스트 원천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2962656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2962656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분석 스튜디오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2962656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2962656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프로파일·계절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2962656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39" name="Text 37"/>
          <p:cNvSpPr/>
          <p:nvPr/>
        </p:nvSpPr>
        <p:spPr>
          <a:xfrm>
            <a:off x="5458968" y="2962656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재고일수·결품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2962656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41" name="Text 39"/>
          <p:cNvSpPr/>
          <p:nvPr/>
        </p:nvSpPr>
        <p:spPr>
          <a:xfrm>
            <a:off x="7516368" y="2962656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관리도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64040" y="2962656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43" name="Text 41"/>
          <p:cNvSpPr/>
          <p:nvPr/>
        </p:nvSpPr>
        <p:spPr>
          <a:xfrm>
            <a:off x="9573768" y="2962656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키워드 추이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3474720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347472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학습 엔진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3474720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347472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시계열·스코어링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3474720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58968" y="347472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RL 정책·GBDT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06640" y="3474720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347472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오토인코더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64040" y="3474720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73768" y="347472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태깅 분류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3986784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55" name="Text 53"/>
          <p:cNvSpPr/>
          <p:nvPr/>
        </p:nvSpPr>
        <p:spPr>
          <a:xfrm>
            <a:off x="612648" y="3986784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지식그래프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91840" y="3986784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57" name="Text 55"/>
          <p:cNvSpPr/>
          <p:nvPr/>
        </p:nvSpPr>
        <p:spPr>
          <a:xfrm>
            <a:off x="3401568" y="398678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규칙·이벤트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49240" y="3986784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59" name="Text 57"/>
          <p:cNvSpPr/>
          <p:nvPr/>
        </p:nvSpPr>
        <p:spPr>
          <a:xfrm>
            <a:off x="5458968" y="398678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규칙·로트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06640" y="3986784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61" name="Text 59"/>
          <p:cNvSpPr/>
          <p:nvPr/>
        </p:nvSpPr>
        <p:spPr>
          <a:xfrm>
            <a:off x="7516368" y="398678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Machine 이력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464040" y="3986784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63" name="Text 61"/>
          <p:cNvSpPr/>
          <p:nvPr/>
        </p:nvSpPr>
        <p:spPr>
          <a:xfrm>
            <a:off x="9573768" y="3986784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Rule의 본진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4498848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" y="449884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LLM 판단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91840" y="449884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01568" y="449884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카드 문장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349240" y="449884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58968" y="449884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카드 문장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06640" y="4498848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16368" y="449884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경보 해설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464040" y="4498848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73768" y="449884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질의응답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2920" y="5010912"/>
            <a:ext cx="278892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75" name="Text 73"/>
          <p:cNvSpPr/>
          <p:nvPr/>
        </p:nvSpPr>
        <p:spPr>
          <a:xfrm>
            <a:off x="612648" y="5010912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 에이전트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91840" y="501091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77" name="Text 75"/>
          <p:cNvSpPr/>
          <p:nvPr/>
        </p:nvSpPr>
        <p:spPr>
          <a:xfrm>
            <a:off x="340156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예측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349240" y="501091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79" name="Text 77"/>
          <p:cNvSpPr/>
          <p:nvPr/>
        </p:nvSpPr>
        <p:spPr>
          <a:xfrm>
            <a:off x="545896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보충·배분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406640" y="5010912"/>
            <a:ext cx="205740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81" name="Text 79"/>
          <p:cNvSpPr/>
          <p:nvPr/>
        </p:nvSpPr>
        <p:spPr>
          <a:xfrm>
            <a:off x="751636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설비경보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464040" y="5010912"/>
            <a:ext cx="2240280" cy="438912"/>
          </a:xfrm>
          <a:prstGeom prst="roundRect">
            <a:avLst>
              <a:gd name="adj" fmla="val 18750"/>
            </a:avLst>
          </a:prstGeom>
          <a:solidFill>
            <a:srgbClr val="F8F2EA"/>
          </a:solidFill>
          <a:ln/>
        </p:spPr>
      </p:sp>
      <p:sp>
        <p:nvSpPr>
          <p:cNvPr id="83" name="Text 81"/>
          <p:cNvSpPr/>
          <p:nvPr/>
        </p:nvSpPr>
        <p:spPr>
          <a:xfrm>
            <a:off x="9573768" y="501091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지식검증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02920" y="57607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함의 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수요예측이 전 모듈을 가장 고르게 관통한다 → 1단계 수직 완주 유스케이스로 수요예측을 선정 (● 핵심 사용 · ○ 보조 사용)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작업실행 계획 — 세 단계, 32주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8F2EA"/>
          </a:solidFill>
          <a:ln w="9525">
            <a:solidFill>
              <a:srgbClr val="0E8F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60934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수직 완주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22376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2376" y="2249424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지반 + 수요예측이 M1→M7을 얇게 관통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3017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판정: 첫 판단 카드 승인·환류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81328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8F2EA"/>
          </a:solidFill>
          <a:ln w="9525">
            <a:solidFill>
              <a:srgbClr val="C07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0934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수평 확장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2249424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재고·생산 + 설비예지 앱 탑재, RL·이상탐지 가동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44568" y="3017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판정: 4대 중 3앱 카드 가동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7304" y="1481328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8F2EA"/>
          </a:solidFill>
          <a:ln w="9525">
            <a:solidFill>
              <a:srgbClr val="9C5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0934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지능 심화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66760" y="2249424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지식센터·확신도 루프·승급 절차·War Room 완성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판정: Rule 승격 3건, 자동 승급 1건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11201400" cy="1234440"/>
          </a:xfrm>
          <a:prstGeom prst="roundRect">
            <a:avLst>
              <a:gd name="adj" fmla="val 6667"/>
            </a:avLst>
          </a:prstGeom>
          <a:solidFill>
            <a:srgbClr val="2B1D1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40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12주의 네 개 게이트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187952"/>
            <a:ext cx="2514600" cy="621792"/>
          </a:xfrm>
          <a:prstGeom prst="roundRect">
            <a:avLst>
              <a:gd name="adj" fmla="val 11765"/>
            </a:avLst>
          </a:prstGeom>
          <a:solidFill>
            <a:srgbClr val="3E2C1D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 (2주차)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헌장·CTQ 서명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92424" y="4407408"/>
            <a:ext cx="182880" cy="18288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1880" y="4187952"/>
            <a:ext cx="2514600" cy="621792"/>
          </a:xfrm>
          <a:prstGeom prst="roundRect">
            <a:avLst>
              <a:gd name="adj" fmla="val 11765"/>
            </a:avLst>
          </a:prstGeom>
          <a:solidFill>
            <a:srgbClr val="3E2C1D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 (6주차)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스키마 승인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35624" y="4407408"/>
            <a:ext cx="182880" cy="18288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4187952"/>
            <a:ext cx="2514600" cy="621792"/>
          </a:xfrm>
          <a:prstGeom prst="roundRect">
            <a:avLst>
              <a:gd name="adj" fmla="val 11765"/>
            </a:avLst>
          </a:prstGeom>
          <a:solidFill>
            <a:srgbClr val="3E2C1D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 (10주차)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지표 합의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78824" y="4407408"/>
            <a:ext cx="182880" cy="18288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8280" y="4187952"/>
            <a:ext cx="2514600" cy="621792"/>
          </a:xfrm>
          <a:prstGeom prst="roundRect">
            <a:avLst>
              <a:gd name="adj" fmla="val 11765"/>
            </a:avLst>
          </a:prstGeom>
          <a:solidFill>
            <a:srgbClr val="3E2C1D"/>
          </a:solidFill>
          <a:ln/>
        </p:spPr>
      </p:sp>
      <p:sp>
        <p:nvSpPr>
          <p:cNvPr id="31" name="Text 29"/>
          <p:cNvSpPr/>
          <p:nvPr/>
        </p:nvSpPr>
        <p:spPr>
          <a:xfrm>
            <a:off x="918972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 (12주차)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승인·환류 완주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521208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체제(5역할)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리드 1 · 데이터 엔지니어 1~2 · ML 엔지니어 1 · Odoo 앱 엔지니어 1 · 고객사 스튜어드 1(자립의 씨앗) — 산출물 전부 발주사 자산(커스터디 헌장), 종료 시 W9 인수인계 검수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ACCEPTANCE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검수하고, 무엇을 조심하는가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8F2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5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시험 기준 6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 — 원장 대비 표준 데이터셋 일 정합 오차 0건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— 미매핑률 5% 미만, 품질 리포트 자동 발행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합의 지표(MAPE·AUC) 달성 + 모델 카드 완비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— 카드 생성→승인→환류→감사 로그 전 구간 시연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커스터디 — 자산 대장 최신·복구 시험·반출 로그 일치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 — 고객사 스튜어드의 단독 운영(재학습·승인·대장)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81328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C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682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5와 대응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10528" y="210312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엑셀·장표의 무한 다양성 → 매핑 저장소로 양식별 1회 학습, 표준 폼 전환 병행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병(과설계) → 1단계는 수요예측 완주에 필요한 최소 기능만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RL의 과속 → 시뮬레이터 밖 학습 금지, 정책은 카드로만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환각 → 인용 강제·수치 생성 금지, 질의 10선 회귀 시험</a:t>
            </a:r>
            <a:endParaRPr lang="en-US" sz="1150" dirty="0"/>
          </a:p>
          <a:p>
            <a:pPr marL="127000" indent="-127000">
              <a:lnSpc>
                <a:spcPct val="113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 종속 → 스튜어드 동석·실시간 인계, W9 최종 검수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방법론이 제품이 될 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DMAIC는 M3와 게이트로, 3정5S는 M2의 품질 게이트로, 커스터디 헌장은 M0의 반출 게이트로,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카드는 M6·M7의 스키마로 — 문서의 방법론이 구조로 굳는다.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"문서에 있으면 사람이 지켜야 하지만, 플랫폼이 되면 구조가 지킨다.</a:t>
            </a:r>
            <a:endParaRPr lang="en-US" sz="2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00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 지키는 회사는 — 담당자가 바뀌어도, 지원이 끝나도, 다시 시작하지 않는다."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3E2C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63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워크숍(1주) — 질문·CTQ·커스터디 헌장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46634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3E2C1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4663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수직 완주 12주 — 수요예측 첫 카드 승인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46634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3E2C1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4663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1540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 완주 판정 후 2단계 범위 확정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 · 『AI ERP 혁명 — Odoo와 지능형 ERP』 · 감사합니다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플랫폼 구축 제안 · 에이에스씨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2026-09-10T02:11:41Z</dcterms:created>
  <dcterms:modified xsi:type="dcterms:W3CDTF">2026-09-10T02:11:41Z</dcterms:modified>
</cp:coreProperties>
</file>