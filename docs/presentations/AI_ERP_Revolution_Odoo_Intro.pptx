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후: 이 책은 30년 현장 컨설팅(형식지)과 온톨로지 AX 방법론(암묵지)을 Odoo 플랫폼 위에서 결합한 실행서입니다. 오늘은 특히 3부 — AI 에이전트로 ERP 혁신을 완성하는 JEDAIX 방법론을 중심으로 소개합니다.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책 전체 구조: 1부 방법론, 2부 Odoo 실행, 3부 온톨로지 완성. 경영자 독자는 프롤로그·1부·3부를 권장. 오늘은 3부를 깊게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Odoo가 2nd Brain(형식지 원장)이라는 위치 규정이 이 책의 차별점. 부스터는 '질문이 요구할 때만' 다는 것이 원칙 — 병립 시스템 난립의 함정을 피함.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1부의 핵심: 일본 생산관리 고전(3정5S, 눈으로 보는 관리, 동기ERP)의 원리를 데이터와 AI로 번역. 5단계는 50인 이하 제조 기준 9~15개월. 3부의 JEDAIX는 이 중 4단계 '지능화'의 제품 구현으로 들어간다.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3부의 출발점. A정밀부품㈜ 사례(가상): 검사 데이터는 전부 정상인데 클레임이 반복 — '납기가 급하면 품질 이의가 눌린다'는 판단은 ERP 어디에도 기록되지 않는다. 이것이 온톨로지가 필요한 이유.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Odoo 컨설턴트에게 중요한 포인트: JEDAIX는 ERP를 대체하지 않고 연결한다. ERP 데이터가 깨끗할수록(3정5S) 암묵지 발굴이 잘 된다 — 두 세계는 상호 보완.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파이프라인: 발화 → Frame → 6 Station 대화 → PTGDA → OWL 온톨로지 → Agent·Workflow → 실행 → War Room 환류. GraphRAG와의 차별점: 입력이 문서가 아니라 발화이고, 끝이 답변이 아니라 실행.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 10종의 실명·판정 기준은 JEDAIX 핵심 기술로 책 부록에 봉인, 본문 공개는 TA06(KPI 충돌)뿐. 임계값 70%·3회는 유의수준과 표본 하한의 온톨로지 버전 — 슈하트 관리도와 같은 정신.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삼분법이 3난문(표준화·비용·증명)의 답: 생성은 기계라 빠르고, 검증은 통계라 재현되고, 결정은 사람이라 안전하다. 모든 확정은 감사 가능한 기록을 남긴다.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빌더의 슬롯 결정론이 '표준화 난문'의 답. 소상공인은 O2C·P2P 표준 템플릿 자동생성으로 시작(DX를 건너뛰는 leapfrog — MIS New Normal).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자동화의 경계선: 설비 증설·납기 재협상처럼 계산기가 결론 못 내는 사안은 6 Station 경영 안건으로 자동 등록 — 자동 조정형과 경영 판단형의 분리(23장 사례에서 재등장).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미팅의 핵심 슬라이드. Odoo를 대체하는 것이 아니라 Odoo의 단일 원장을 전제로 그 위에 판단 계층을 얹는 구조 — Odoo 생태계와의 시너지 포인트. 1st Brain(현장)까지 합치면 3뇌 구조 완성.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1부 6장의 5단계 로드맵과의 관계: JEDAIX의 정위치는 4단계 '지능화'이지만 접점은 전 단계. 명시 데이터의 3정5S가 암묵지 발굴의 전제 — Odoo 구축 품질이 곧 AX 품질.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정직한 평가도 함께: JEDAIX 사례 수치는 가상 예시이며 부문별 실측치는 공개된 스마트공장·기록 통합 성과 — 책은 이 둘을 섞지 말 것을 명시. 중소 제조 AI 도입률 1% 수준 = 선점의 여백.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마무리: 세 가지 당부 — 작게 시작하되 코드체계(온톨로지)는 첫날부터 / 현장의 말을 흘려보내지 말라 / 사람을 루프 안에 남겨두라. 이후 Q&amp;A와 협력 논의로 전환.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051560"/>
            <a:ext cx="3108960" cy="3108960"/>
          </a:xfrm>
          <a:prstGeom prst="ellipse">
            <a:avLst/>
          </a:prstGeom>
          <a:solidFill>
            <a:srgbClr val="714B67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2743200"/>
            <a:ext cx="2286000" cy="2286000"/>
          </a:xfrm>
          <a:prstGeom prst="ellipse">
            <a:avLst/>
          </a:prstGeom>
          <a:solidFill>
            <a:srgbClr val="00A09D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35240" y="3291840"/>
            <a:ext cx="1600200" cy="1600200"/>
          </a:xfrm>
          <a:prstGeom prst="ellipse">
            <a:avLst/>
          </a:prstGeom>
          <a:solidFill>
            <a:srgbClr val="E8A33D">
              <a:alpha val="6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549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1st Brain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92640" y="3429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2nd Brain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26680" y="36118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 INTRODUCTION  ·  ODOO HONG KONG MEETING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ERP 혁명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40080" y="254203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Odoo와 지능형 ERP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기록하는 ERP에서 판단하는 ERP로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3정5S와 눈으로 보는 관리에서 온톨로지 예측 플랫폼까지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이형근 · 정인호 지음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1389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제3부 「온톨로지 메커니즘으로 완성하는 AX — JEDAIX 방법론과 성공사례」 중심 소개  ·  2026. 8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권에 담은 세 개의 여정 — 방법론 · 플랫폼 · 온톨로지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621024" cy="416052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755648"/>
            <a:ext cx="566928" cy="566928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23" y="1908719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제1부 · 1~7장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463040" y="203911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플랫폼으로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지능형 ERP 컨설팅 방법론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8952" y="2962656"/>
            <a:ext cx="31638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3정5S와 눈으로 보는 관리를 데이터의 세계로 번역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6시그마 DMAIC를 LLM이 상시로 돌리는 무한 루프로 재설계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컨설팅 5단계 로드맵: 진단 → 기반 → 적재 → 지능화 → 환류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5112" y="1481328"/>
            <a:ext cx="3621024" cy="416052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81144" y="1755648"/>
            <a:ext cx="566928" cy="566928"/>
          </a:xfrm>
          <a:prstGeom prst="ellipse">
            <a:avLst/>
          </a:prstGeom>
          <a:solidFill>
            <a:srgbClr val="00A09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215" y="1908719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85232" y="17830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제2부 · 8~17장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285232" y="203911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 플랫폼의 적용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81144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모듈별 경영컨설팅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81144" y="2962656"/>
            <a:ext cx="31638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PostgreSQL 원장 위 70개 앱 — 데이터 정위치의 플랫폼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웹사이트·CRM·구매·재고·제조·회계를 같은 8절 구조로 해부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부족한 부분은 부스터로: frePPLe · n8n · Dify · Neo4j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47304" y="1481328"/>
            <a:ext cx="3621024" cy="4160520"/>
          </a:xfrm>
          <a:prstGeom prst="roundRect">
            <a:avLst>
              <a:gd name="adj" fmla="val 2273"/>
            </a:avLst>
          </a:prstGeom>
          <a:solidFill>
            <a:srgbClr val="F5F0F4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03336" y="1755648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407" y="1908719"/>
            <a:ext cx="260787" cy="2607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07424" y="17830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제3부 · 18~23장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9107424" y="203911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온톨로지로 완성하는 AX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403336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JEDAIX 방법론과 성공사례 — 오늘의 중심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403336" y="2962656"/>
            <a:ext cx="31638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ERP가 비추지 못하는 '경영 사각지대'를 AI 에이전트로 발굴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Space × 6 Station 아키텍처, PTGDA 암묵지 발굴 알고리즘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온톨로지에서 실행으로 — Agent Workflow와 성과 사례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02920" y="585216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관통 메시지  </a:t>
            </a:r>
            <a:pPr indent="0" marL="0">
              <a:buNone/>
            </a:pPr>
            <a:r>
              <a:rPr lang="en-US" sz="1300" i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"경영의 모든 질문에 예측과 시뮬레이션으로 답하는 플랫폼 — 중소기업이 감당할 수 있는 오픈소스의 길이어야 혁명이라 부를 수 있다."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『AI ERP 혁명 — Odoo와 지능형 ERP』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서드브레인 기업 — 원플랫폼 Odoo + 쓰리부스터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594360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892808"/>
            <a:ext cx="566928" cy="566928"/>
          </a:xfrm>
          <a:prstGeom prst="ellipse">
            <a:avLst/>
          </a:prstGeom>
          <a:solidFill>
            <a:srgbClr val="6E607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23" y="2045879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190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1st Brain — 현장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029968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작업자의 경험 · 설비 · 센서 · POP. 모든 데이터와 암묵지가 태어나는 곳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962656"/>
            <a:ext cx="594360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8952" y="3282696"/>
            <a:ext cx="566928" cy="566928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23" y="3435767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108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2nd Brain — Odoo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508760" y="341985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형식지의 원장이자 실행의 손발. 판매·구매·재고·제조·회계가 단일 PostgreSQL 위에서 하나의 진실 원천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4352544"/>
            <a:ext cx="5943600" cy="1207008"/>
          </a:xfrm>
          <a:prstGeom prst="roundRect">
            <a:avLst>
              <a:gd name="adj" fmla="val 6818"/>
            </a:avLst>
          </a:prstGeom>
          <a:solidFill>
            <a:srgbClr val="F5F0F4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8952" y="4672584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023" y="4825655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4988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3rd Brain — 온톨로지 판단 계층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08760" y="4809744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암묵지의 발굴·의미·판단. 기록을 넘어 '왜 반복되는가'에 답하는 지능 (3부 JEDAIX)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720840" y="1572768"/>
            <a:ext cx="4983480" cy="4169664"/>
          </a:xfrm>
          <a:prstGeom prst="roundRect">
            <a:avLst>
              <a:gd name="adj" fmla="val 1974"/>
            </a:avLst>
          </a:prstGeom>
          <a:solidFill>
            <a:srgbClr val="241722"/>
          </a:solidFill>
          <a:ln/>
        </p:spPr>
      </p:sp>
      <p:sp>
        <p:nvSpPr>
          <p:cNvPr id="20" name="Text 15"/>
          <p:cNvSpPr/>
          <p:nvPr/>
        </p:nvSpPr>
        <p:spPr>
          <a:xfrm>
            <a:off x="7040880" y="18288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원플랫폼 + 쓰리부스터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040880" y="21762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Odoo를 베이스로, 질문이 요구할 때만 부스터를 단다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040880" y="2596896"/>
            <a:ext cx="4343400" cy="658368"/>
          </a:xfrm>
          <a:prstGeom prst="roundRect">
            <a:avLst>
              <a:gd name="adj" fmla="val 9722"/>
            </a:avLst>
          </a:prstGeom>
          <a:solidFill>
            <a:srgbClr val="352230"/>
          </a:solidFill>
          <a:ln/>
        </p:spPr>
      </p:sp>
      <p:sp>
        <p:nvSpPr>
          <p:cNvPr id="23" name="Shape 18"/>
          <p:cNvSpPr/>
          <p:nvPr/>
        </p:nvSpPr>
        <p:spPr>
          <a:xfrm>
            <a:off x="7205472" y="2825496"/>
            <a:ext cx="201168" cy="201168"/>
          </a:xfrm>
          <a:prstGeom prst="ellipse">
            <a:avLst/>
          </a:prstGeom>
          <a:solidFill>
            <a:srgbClr val="00A09D"/>
          </a:solidFill>
          <a:ln/>
        </p:spPr>
      </p:sp>
      <p:sp>
        <p:nvSpPr>
          <p:cNvPr id="24" name="Text 19"/>
          <p:cNvSpPr/>
          <p:nvPr/>
        </p:nvSpPr>
        <p:spPr>
          <a:xfrm>
            <a:off x="7525512" y="267004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부스터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9098280" y="267004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frePPLe — 유한능력 스케줄링(APS)의 세계로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7040880" y="3364992"/>
            <a:ext cx="4343400" cy="658368"/>
          </a:xfrm>
          <a:prstGeom prst="roundRect">
            <a:avLst>
              <a:gd name="adj" fmla="val 9722"/>
            </a:avLst>
          </a:prstGeom>
          <a:solidFill>
            <a:srgbClr val="352230"/>
          </a:solidFill>
          <a:ln/>
        </p:spPr>
      </p:sp>
      <p:sp>
        <p:nvSpPr>
          <p:cNvPr id="27" name="Shape 22"/>
          <p:cNvSpPr/>
          <p:nvPr/>
        </p:nvSpPr>
        <p:spPr>
          <a:xfrm>
            <a:off x="7205472" y="3593592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3"/>
          <p:cNvSpPr/>
          <p:nvPr/>
        </p:nvSpPr>
        <p:spPr>
          <a:xfrm>
            <a:off x="7525512" y="343814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부스터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9098280" y="34381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 · Dify — 자동화의 배관과 AI 작업대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7040880" y="4133088"/>
            <a:ext cx="4343400" cy="658368"/>
          </a:xfrm>
          <a:prstGeom prst="roundRect">
            <a:avLst>
              <a:gd name="adj" fmla="val 9722"/>
            </a:avLst>
          </a:prstGeom>
          <a:solidFill>
            <a:srgbClr val="352230"/>
          </a:solidFill>
          <a:ln/>
        </p:spPr>
      </p:sp>
      <p:sp>
        <p:nvSpPr>
          <p:cNvPr id="31" name="Shape 26"/>
          <p:cNvSpPr/>
          <p:nvPr/>
        </p:nvSpPr>
        <p:spPr>
          <a:xfrm>
            <a:off x="7205472" y="4361688"/>
            <a:ext cx="201168" cy="201168"/>
          </a:xfrm>
          <a:prstGeom prst="ellipse">
            <a:avLst/>
          </a:prstGeom>
          <a:solidFill>
            <a:srgbClr val="714B67"/>
          </a:solidFill>
          <a:ln/>
        </p:spPr>
      </p:sp>
      <p:sp>
        <p:nvSpPr>
          <p:cNvPr id="32" name="Text 27"/>
          <p:cNvSpPr/>
          <p:nvPr/>
        </p:nvSpPr>
        <p:spPr>
          <a:xfrm>
            <a:off x="7525512" y="420624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부스터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9098280" y="42062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Neo4j GraphRAG — 서드브레인의 본체, 지식그래프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7040880" y="4901184"/>
            <a:ext cx="4343400" cy="658368"/>
          </a:xfrm>
          <a:prstGeom prst="roundRect">
            <a:avLst>
              <a:gd name="adj" fmla="val 9722"/>
            </a:avLst>
          </a:prstGeom>
          <a:solidFill>
            <a:srgbClr val="352230"/>
          </a:solidFill>
          <a:ln/>
        </p:spPr>
      </p:sp>
      <p:sp>
        <p:nvSpPr>
          <p:cNvPr id="35" name="Shape 30"/>
          <p:cNvSpPr/>
          <p:nvPr/>
        </p:nvSpPr>
        <p:spPr>
          <a:xfrm>
            <a:off x="7205472" y="5129784"/>
            <a:ext cx="201168" cy="201168"/>
          </a:xfrm>
          <a:prstGeom prst="ellipse">
            <a:avLst/>
          </a:prstGeom>
          <a:solidFill>
            <a:srgbClr val="017C79"/>
          </a:solidFill>
          <a:ln/>
        </p:spPr>
      </p:sp>
      <p:sp>
        <p:nvSpPr>
          <p:cNvPr id="36" name="Text 31"/>
          <p:cNvSpPr/>
          <p:nvPr/>
        </p:nvSpPr>
        <p:spPr>
          <a:xfrm>
            <a:off x="7525512" y="49743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이중화</a:t>
            </a:r>
            <a:endParaRPr lang="en-US" sz="1150" dirty="0"/>
          </a:p>
        </p:txBody>
      </p:sp>
      <p:sp>
        <p:nvSpPr>
          <p:cNvPr id="37" name="Text 32"/>
          <p:cNvSpPr/>
          <p:nvPr/>
        </p:nvSpPr>
        <p:spPr>
          <a:xfrm>
            <a:off x="9098280" y="497433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Ollama(데이터 주권) × Claude(성능)의 분업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502920" y="594360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Odoo인가  </a:t>
            </a:r>
            <a:pPr indent="0" marL="0">
              <a:buNone/>
            </a:pPr>
            <a:r>
              <a:rPr lang="en-US" sz="13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 비용 없이 시작해 모듈로 확장하는 오픈소스 — 중소기업이 감당할 수 있는 지능형 ERP의 출발점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『AI ERP 혁명 — Odoo와 지능형 ERP』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컨설팅 5단계 로드맵 — 진단에서 환류까지 9~15개월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157984" cy="2834640"/>
          </a:xfrm>
          <a:prstGeom prst="roundRect">
            <a:avLst>
              <a:gd name="adj" fmla="val 3814"/>
            </a:avLst>
          </a:prstGeom>
          <a:solidFill>
            <a:srgbClr val="F5F0F4"/>
          </a:solidFill>
          <a:ln/>
        </p:spPr>
      </p:sp>
      <p:sp>
        <p:nvSpPr>
          <p:cNvPr id="5" name="Shape 3"/>
          <p:cNvSpPr/>
          <p:nvPr/>
        </p:nvSpPr>
        <p:spPr>
          <a:xfrm>
            <a:off x="722376" y="1819656"/>
            <a:ext cx="512064" cy="512064"/>
          </a:xfrm>
          <a:prstGeom prst="ellipse">
            <a:avLst/>
          </a:prstGeom>
          <a:solidFill>
            <a:srgbClr val="714B67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819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62456" y="1837944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62456" y="2148840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2~4주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2376" y="2560320"/>
            <a:ext cx="1719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 질문 정의 · 데이터 성숙도와 현장 5S 진단 · KGI-질문-KPI 트리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79192" y="2834640"/>
            <a:ext cx="182880" cy="237744"/>
          </a:xfrm>
          <a:prstGeom prst="rightArrow">
            <a:avLst/>
          </a:prstGeom>
          <a:solidFill>
            <a:srgbClr val="D9CCD6"/>
          </a:solidFill>
          <a:ln/>
        </p:spPr>
      </p:sp>
      <p:sp>
        <p:nvSpPr>
          <p:cNvPr id="11" name="Shape 9"/>
          <p:cNvSpPr/>
          <p:nvPr/>
        </p:nvSpPr>
        <p:spPr>
          <a:xfrm>
            <a:off x="2880360" y="1600200"/>
            <a:ext cx="2157984" cy="2834640"/>
          </a:xfrm>
          <a:prstGeom prst="roundRect">
            <a:avLst>
              <a:gd name="adj" fmla="val 3814"/>
            </a:avLst>
          </a:prstGeom>
          <a:solidFill>
            <a:srgbClr val="F5F0F4"/>
          </a:solidFill>
          <a:ln/>
        </p:spPr>
      </p:sp>
      <p:sp>
        <p:nvSpPr>
          <p:cNvPr id="12" name="Shape 10"/>
          <p:cNvSpPr/>
          <p:nvPr/>
        </p:nvSpPr>
        <p:spPr>
          <a:xfrm>
            <a:off x="3099816" y="1819656"/>
            <a:ext cx="512064" cy="512064"/>
          </a:xfrm>
          <a:prstGeom prst="ellipse">
            <a:avLst/>
          </a:prstGeom>
          <a:solidFill>
            <a:srgbClr val="4A3143"/>
          </a:solidFill>
          <a:ln/>
        </p:spPr>
      </p:sp>
      <p:sp>
        <p:nvSpPr>
          <p:cNvPr id="13" name="Text 11"/>
          <p:cNvSpPr/>
          <p:nvPr/>
        </p:nvSpPr>
        <p:spPr>
          <a:xfrm>
            <a:off x="3099816" y="1819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39896" y="1837944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39896" y="2148840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31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2~3개월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99816" y="2560320"/>
            <a:ext cx="1719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 단일 플랫폼 구축 · 코드체계 정비 — 디지털 정돈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56632" y="2834640"/>
            <a:ext cx="182880" cy="237744"/>
          </a:xfrm>
          <a:prstGeom prst="rightArrow">
            <a:avLst/>
          </a:prstGeom>
          <a:solidFill>
            <a:srgbClr val="D9CCD6"/>
          </a:solidFill>
          <a:ln/>
        </p:spPr>
      </p:sp>
      <p:sp>
        <p:nvSpPr>
          <p:cNvPr id="18" name="Shape 16"/>
          <p:cNvSpPr/>
          <p:nvPr/>
        </p:nvSpPr>
        <p:spPr>
          <a:xfrm>
            <a:off x="5257800" y="1600200"/>
            <a:ext cx="2157984" cy="2834640"/>
          </a:xfrm>
          <a:prstGeom prst="roundRect">
            <a:avLst>
              <a:gd name="adj" fmla="val 3814"/>
            </a:avLst>
          </a:prstGeom>
          <a:solidFill>
            <a:srgbClr val="F5F0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77256" y="1819656"/>
            <a:ext cx="512064" cy="512064"/>
          </a:xfrm>
          <a:prstGeom prst="ellipse">
            <a:avLst/>
          </a:prstGeom>
          <a:solidFill>
            <a:srgbClr val="017C79"/>
          </a:solidFill>
          <a:ln/>
        </p:spPr>
      </p:sp>
      <p:sp>
        <p:nvSpPr>
          <p:cNvPr id="20" name="Text 18"/>
          <p:cNvSpPr/>
          <p:nvPr/>
        </p:nvSpPr>
        <p:spPr>
          <a:xfrm>
            <a:off x="5477256" y="1819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17336" y="1837944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17336" y="2148840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2~3개월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77256" y="2560320"/>
            <a:ext cx="1719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트랜잭션·지식문서·암묵지 축적 · 재고 정확도 95%+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34072" y="2834640"/>
            <a:ext cx="182880" cy="237744"/>
          </a:xfrm>
          <a:prstGeom prst="rightArrow">
            <a:avLst/>
          </a:prstGeom>
          <a:solidFill>
            <a:srgbClr val="D9CCD6"/>
          </a:solidFill>
          <a:ln/>
        </p:spPr>
      </p:sp>
      <p:sp>
        <p:nvSpPr>
          <p:cNvPr id="25" name="Shape 23"/>
          <p:cNvSpPr/>
          <p:nvPr/>
        </p:nvSpPr>
        <p:spPr>
          <a:xfrm>
            <a:off x="7635240" y="1600200"/>
            <a:ext cx="2157984" cy="2834640"/>
          </a:xfrm>
          <a:prstGeom prst="roundRect">
            <a:avLst>
              <a:gd name="adj" fmla="val 3814"/>
            </a:avLst>
          </a:prstGeom>
          <a:solidFill>
            <a:srgbClr val="F5F0F4"/>
          </a:solidFill>
          <a:ln/>
        </p:spPr>
      </p:sp>
      <p:sp>
        <p:nvSpPr>
          <p:cNvPr id="26" name="Shape 24"/>
          <p:cNvSpPr/>
          <p:nvPr/>
        </p:nvSpPr>
        <p:spPr>
          <a:xfrm>
            <a:off x="7854696" y="1819656"/>
            <a:ext cx="512064" cy="512064"/>
          </a:xfrm>
          <a:prstGeom prst="ellipse">
            <a:avLst/>
          </a:prstGeom>
          <a:solidFill>
            <a:srgbClr val="00A09D"/>
          </a:solidFill>
          <a:ln/>
        </p:spPr>
      </p:sp>
      <p:sp>
        <p:nvSpPr>
          <p:cNvPr id="27" name="Text 25"/>
          <p:cNvSpPr/>
          <p:nvPr/>
        </p:nvSpPr>
        <p:spPr>
          <a:xfrm>
            <a:off x="7854696" y="1819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94776" y="1837944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지능화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94776" y="2148840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3~6개월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854696" y="2560320"/>
            <a:ext cx="1719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온톨로지 · GraphRAG · 에이전트 · DMAIC 루프 가동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811512" y="2834640"/>
            <a:ext cx="182880" cy="237744"/>
          </a:xfrm>
          <a:prstGeom prst="rightArrow">
            <a:avLst/>
          </a:prstGeom>
          <a:solidFill>
            <a:srgbClr val="D9CCD6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12680" y="1600200"/>
            <a:ext cx="2157984" cy="2834640"/>
          </a:xfrm>
          <a:prstGeom prst="roundRect">
            <a:avLst>
              <a:gd name="adj" fmla="val 3814"/>
            </a:avLst>
          </a:prstGeom>
          <a:solidFill>
            <a:srgbClr val="F5F0F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232136" y="1819656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/>
          <p:nvPr/>
        </p:nvSpPr>
        <p:spPr>
          <a:xfrm>
            <a:off x="10232136" y="1819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872216" y="1837944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환류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872216" y="2148840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232136" y="2560320"/>
            <a:ext cx="1719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판단을 현장으로 — 승인 워크플로와 학습 루프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4709160"/>
            <a:ext cx="11201400" cy="1051560"/>
          </a:xfrm>
          <a:prstGeom prst="roundRect">
            <a:avLst>
              <a:gd name="adj" fmla="val 7826"/>
            </a:avLst>
          </a:prstGeom>
          <a:solidFill>
            <a:srgbClr val="241722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4837176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방법론의 뿌리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물리의 3정5S → 데이터의 3정5S (5S 없이 AI 없다)  ·  눈으로 보는 관리 → 데이터로 보는 관리  ·  사람이 분기마다 돌리던 DMAIC 개선 사이클 → LLM이 상시로 돌리는 무한 루프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02920" y="594360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단계는 폭포수가 아니라 나선형 반복 — 경영자가 AI의 판단을 처음 목격하는 '첫 환류'까지 6개월 이내가 목표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『AI ERP 혁명 — Odoo와 지능형 ERP』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 ·  제18장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 사각지대 — AX의 마지막 관문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실재하며 손익에 영향을 주지만, 공식 시스템의 데이터와 규칙으로는 포착되지 않는 객체·관계·판단의 영역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35223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986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검사 기록은 전부 '합격'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42336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결백하다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07408" y="2697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352230"/>
          </a:solidFill>
          <a:ln/>
        </p:spPr>
      </p:sp>
      <p:sp>
        <p:nvSpPr>
          <p:cNvPr id="10" name="Text 8"/>
          <p:cNvSpPr/>
          <p:nvPr/>
        </p:nvSpPr>
        <p:spPr>
          <a:xfrm>
            <a:off x="4681728" y="28986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3건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81728" y="3657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두 달간 반복된 클레임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81728" y="42336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기록될 자리가 없던 사건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74736" y="2697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352230"/>
          </a:solidFill>
          <a:ln/>
        </p:spPr>
      </p:sp>
      <p:sp>
        <p:nvSpPr>
          <p:cNvPr id="14" name="Text 12"/>
          <p:cNvSpPr/>
          <p:nvPr/>
        </p:nvSpPr>
        <p:spPr>
          <a:xfrm>
            <a:off x="8449056" y="28986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6천만 원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49056" y="3657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사각지대 1건의 연환산 손실 추정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49056" y="42336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결산서 어느 계정에도 없다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 메커니즘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발생(원인이 안 보인다) → 대응(베테랑의 감으로 임기응변, 근거는 기록되지 않는다) → 소멸(베테랑 퇴사와 함께 대응 능력도 사라진다)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5623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DX가 형식지화한 범위까지만 AI가 본다 — AX 성과의 상한을 깨려면, AI에게 보여줄 수 있는 세계를 넓혀야 한다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『AI ERP 혁명 — Odoo와 지능형 ERP』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제18장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"ERP가 있는데 왜 필요한가" — 대체가 아니라 연결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F5F0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DX 다음의 AX는 어려운가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128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3난문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48716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표준화(같은 입력, 같은 결과의 보장 없음) · 투입 비용(설계 역량 희소) · 편익 증명(정량 근거 부재)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3분기 사이클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1분기 데모 성공 → 2분기 실무 저항 → 3분기 파일럿 동결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5537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명제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82803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"LLM 프롬프트로 자동 생성하는 Agent는 결국 부품이며, 전체 운영 구도는 사람이 설계한다"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536192"/>
            <a:ext cx="27432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714B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00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형식지의 세계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· MES의 명시적 데이터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"무엇이 일어났는가"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418320" y="1536192"/>
            <a:ext cx="27432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0" y="1700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암묵지의 세계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0" y="20116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속 판단 · 관행 · 노하우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"왜 그렇게 되는가"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41080" y="2313432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00A09D"/>
          </a:solidFill>
          <a:ln/>
        </p:spPr>
      </p:sp>
      <p:sp>
        <p:nvSpPr>
          <p:cNvPr id="19" name="Text 17"/>
          <p:cNvSpPr/>
          <p:nvPr/>
        </p:nvSpPr>
        <p:spPr>
          <a:xfrm>
            <a:off x="8641080" y="23134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794760"/>
            <a:ext cx="5897880" cy="548640"/>
          </a:xfrm>
          <a:prstGeom prst="roundRect">
            <a:avLst>
              <a:gd name="adj" fmla="val 15000"/>
            </a:avLst>
          </a:prstGeom>
          <a:solidFill>
            <a:srgbClr val="F5F0F4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→ 사전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549640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패턴을 3회 시점에 포착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4453128"/>
            <a:ext cx="5897880" cy="548640"/>
          </a:xfrm>
          <a:prstGeom prst="roundRect">
            <a:avLst>
              <a:gd name="adj" fmla="val 15000"/>
            </a:avLst>
          </a:prstGeom>
          <a:solidFill>
            <a:srgbClr val="F5F0F4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498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→ 시스템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549640" y="44988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베테랑의 판단을 조직 자산으로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5111496"/>
            <a:ext cx="5897880" cy="548640"/>
          </a:xfrm>
          <a:prstGeom prst="roundRect">
            <a:avLst>
              <a:gd name="adj" fmla="val 15000"/>
            </a:avLst>
          </a:prstGeom>
          <a:solidFill>
            <a:srgbClr val="F5F0F4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51572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감(感) → 근거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549640" y="51572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확정에 추적 가능한 이력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594360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 신호 3가지: 반복 문제의 원인 불명 · 지식의 속인화 · 데이터 파편화 — 베테랑 은퇴 전, 미루면 원본이 소실되는 아카이빙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『AI ERP 혁명 — Odoo와 지능형 ERP』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제19장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JEDAIX 온톨로지 아키텍처 — 5 Space × 6 Station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4709160" cy="3547872"/>
          </a:xfrm>
          <a:prstGeom prst="roundRect">
            <a:avLst>
              <a:gd name="adj" fmla="val 2320"/>
            </a:avLst>
          </a:prstGeom>
          <a:solidFill>
            <a:srgbClr val="F5F0F4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70078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Space — 업무가 일어나는 다섯 개의 공간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04672" y="2221992"/>
            <a:ext cx="182880" cy="182880"/>
          </a:xfrm>
          <a:prstGeom prst="ellipse">
            <a:avLst/>
          </a:prstGeom>
          <a:solidFill>
            <a:srgbClr val="714B6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031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GovernSpace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52928" y="21031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경영·의사결정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4672" y="2825496"/>
            <a:ext cx="182880" cy="182880"/>
          </a:xfrm>
          <a:prstGeom prst="ellipse">
            <a:avLst/>
          </a:prstGeom>
          <a:solidFill>
            <a:srgbClr val="00A09D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70662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FlowSpace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52928" y="270662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 → 생산 → 출하의 물리적 흐름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" y="3429000"/>
            <a:ext cx="182880" cy="1828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31012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QualitySpace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52928" y="33101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검증·품질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" y="4032504"/>
            <a:ext cx="182880" cy="182880"/>
          </a:xfrm>
          <a:prstGeom prst="ellipse">
            <a:avLst/>
          </a:prstGeom>
          <a:solidFill>
            <a:srgbClr val="017C79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91363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ResourceSpace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852928" y="391363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자원·재고·조달 (SCM·구매)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" y="4636008"/>
            <a:ext cx="182880" cy="182880"/>
          </a:xfrm>
          <a:prstGeom prst="ellipse">
            <a:avLst/>
          </a:prstGeom>
          <a:solidFill>
            <a:srgbClr val="4A3143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51713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ValueSpace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852928" y="45171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손익·재무 환류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8952" y="519379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사각지대는 여러 Space를 가로지른다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(발화는 Quality → 원인은 Flow → 손실은 Value → 판단은 Govern)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0" y="1517904"/>
            <a:ext cx="621792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166420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 — Universal Metadata 9속성 (정적 뼈대)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715000" y="2011680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ECE3EA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20116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85432" y="2011680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ECE3EA"/>
          </a:solidFill>
          <a:ln/>
        </p:spPr>
      </p:sp>
      <p:sp>
        <p:nvSpPr>
          <p:cNvPr id="27" name="Text 25"/>
          <p:cNvSpPr/>
          <p:nvPr/>
        </p:nvSpPr>
        <p:spPr>
          <a:xfrm>
            <a:off x="6885432" y="20116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직무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55864" y="2011680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ECE3EA"/>
          </a:solidFill>
          <a:ln/>
        </p:spPr>
      </p:sp>
      <p:sp>
        <p:nvSpPr>
          <p:cNvPr id="29" name="Text 27"/>
          <p:cNvSpPr/>
          <p:nvPr/>
        </p:nvSpPr>
        <p:spPr>
          <a:xfrm>
            <a:off x="8055864" y="20116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Method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226296" y="2011680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ECE3EA"/>
          </a:solidFill>
          <a:ln/>
        </p:spPr>
      </p:sp>
      <p:sp>
        <p:nvSpPr>
          <p:cNvPr id="31" name="Text 29"/>
          <p:cNvSpPr/>
          <p:nvPr/>
        </p:nvSpPr>
        <p:spPr>
          <a:xfrm>
            <a:off x="9226296" y="20116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단위(UoM)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396728" y="2011680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ECE3EA"/>
          </a:solidFill>
          <a:ln/>
        </p:spPr>
      </p:sp>
      <p:sp>
        <p:nvSpPr>
          <p:cNvPr id="33" name="Text 31"/>
          <p:cNvSpPr/>
          <p:nvPr/>
        </p:nvSpPr>
        <p:spPr>
          <a:xfrm>
            <a:off x="10396728" y="20116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Cycle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715000" y="2487168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ECE3EA"/>
          </a:solidFill>
          <a:ln/>
        </p:spPr>
      </p:sp>
      <p:sp>
        <p:nvSpPr>
          <p:cNvPr id="35" name="Text 33"/>
          <p:cNvSpPr/>
          <p:nvPr/>
        </p:nvSpPr>
        <p:spPr>
          <a:xfrm>
            <a:off x="5715000" y="248716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85432" y="2487168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ECE3EA"/>
          </a:solidFill>
          <a:ln/>
        </p:spPr>
      </p:sp>
      <p:sp>
        <p:nvSpPr>
          <p:cNvPr id="37" name="Text 35"/>
          <p:cNvSpPr/>
          <p:nvPr/>
        </p:nvSpPr>
        <p:spPr>
          <a:xfrm>
            <a:off x="6885432" y="248716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55864" y="2487168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ECE3EA"/>
          </a:solidFill>
          <a:ln/>
        </p:spPr>
      </p:sp>
      <p:sp>
        <p:nvSpPr>
          <p:cNvPr id="39" name="Text 37"/>
          <p:cNvSpPr/>
          <p:nvPr/>
        </p:nvSpPr>
        <p:spPr>
          <a:xfrm>
            <a:off x="8055864" y="248716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226296" y="2487168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ECE3EA"/>
          </a:solidFill>
          <a:ln/>
        </p:spPr>
      </p:sp>
      <p:sp>
        <p:nvSpPr>
          <p:cNvPr id="41" name="Text 39"/>
          <p:cNvSpPr/>
          <p:nvPr/>
        </p:nvSpPr>
        <p:spPr>
          <a:xfrm>
            <a:off x="9226296" y="248716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Duration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0" y="3310128"/>
            <a:ext cx="6217920" cy="1911096"/>
          </a:xfrm>
          <a:prstGeom prst="roundRect">
            <a:avLst>
              <a:gd name="adj" fmla="val 4306"/>
            </a:avLst>
          </a:prstGeom>
          <a:solidFill>
            <a:srgbClr val="241722"/>
          </a:solidFill>
          <a:ln/>
        </p:spPr>
      </p:sp>
      <p:sp>
        <p:nvSpPr>
          <p:cNvPr id="43" name="Text 41"/>
          <p:cNvSpPr/>
          <p:nvPr/>
        </p:nvSpPr>
        <p:spPr>
          <a:xfrm>
            <a:off x="5715000" y="34564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Station — 말이 코드가 되는 여섯 정거장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5715000" y="3840480"/>
            <a:ext cx="841248" cy="457200"/>
          </a:xfrm>
          <a:prstGeom prst="roundRect">
            <a:avLst>
              <a:gd name="adj" fmla="val 14000"/>
            </a:avLst>
          </a:prstGeom>
          <a:solidFill>
            <a:srgbClr val="00A09D"/>
          </a:solidFill>
          <a:ln/>
        </p:spPr>
      </p:sp>
      <p:sp>
        <p:nvSpPr>
          <p:cNvPr id="45" name="Text 43"/>
          <p:cNvSpPr/>
          <p:nvPr/>
        </p:nvSpPr>
        <p:spPr>
          <a:xfrm>
            <a:off x="5715000" y="384048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519672" y="3858768"/>
            <a:ext cx="201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693408" y="3840480"/>
            <a:ext cx="841248" cy="457200"/>
          </a:xfrm>
          <a:prstGeom prst="roundRect">
            <a:avLst>
              <a:gd name="adj" fmla="val 14000"/>
            </a:avLst>
          </a:prstGeom>
          <a:solidFill>
            <a:srgbClr val="00A09D"/>
          </a:solidFill>
          <a:ln/>
        </p:spPr>
      </p:sp>
      <p:sp>
        <p:nvSpPr>
          <p:cNvPr id="48" name="Text 46"/>
          <p:cNvSpPr/>
          <p:nvPr/>
        </p:nvSpPr>
        <p:spPr>
          <a:xfrm>
            <a:off x="6693408" y="384048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498080" y="3858768"/>
            <a:ext cx="201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671816" y="3840480"/>
            <a:ext cx="841248" cy="457200"/>
          </a:xfrm>
          <a:prstGeom prst="roundRect">
            <a:avLst>
              <a:gd name="adj" fmla="val 14000"/>
            </a:avLst>
          </a:prstGeom>
          <a:solidFill>
            <a:srgbClr val="00A09D"/>
          </a:solidFill>
          <a:ln/>
        </p:spPr>
      </p:sp>
      <p:sp>
        <p:nvSpPr>
          <p:cNvPr id="51" name="Text 49"/>
          <p:cNvSpPr/>
          <p:nvPr/>
        </p:nvSpPr>
        <p:spPr>
          <a:xfrm>
            <a:off x="7671816" y="384048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476488" y="3858768"/>
            <a:ext cx="201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8650224" y="3840480"/>
            <a:ext cx="841248" cy="457200"/>
          </a:xfrm>
          <a:prstGeom prst="roundRect">
            <a:avLst>
              <a:gd name="adj" fmla="val 14000"/>
            </a:avLst>
          </a:prstGeom>
          <a:solidFill>
            <a:srgbClr val="E8A33D"/>
          </a:solidFill>
          <a:ln/>
        </p:spPr>
      </p:sp>
      <p:sp>
        <p:nvSpPr>
          <p:cNvPr id="54" name="Text 52"/>
          <p:cNvSpPr/>
          <p:nvPr/>
        </p:nvSpPr>
        <p:spPr>
          <a:xfrm>
            <a:off x="8650224" y="384048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454896" y="3858768"/>
            <a:ext cx="201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9628632" y="3840480"/>
            <a:ext cx="841248" cy="457200"/>
          </a:xfrm>
          <a:prstGeom prst="roundRect">
            <a:avLst>
              <a:gd name="adj" fmla="val 14000"/>
            </a:avLst>
          </a:prstGeom>
          <a:solidFill>
            <a:srgbClr val="E8A33D"/>
          </a:solidFill>
          <a:ln/>
        </p:spPr>
      </p:sp>
      <p:sp>
        <p:nvSpPr>
          <p:cNvPr id="57" name="Text 55"/>
          <p:cNvSpPr/>
          <p:nvPr/>
        </p:nvSpPr>
        <p:spPr>
          <a:xfrm>
            <a:off x="9628632" y="384048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0433304" y="3858768"/>
            <a:ext cx="201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10607040" y="3840480"/>
            <a:ext cx="841248" cy="457200"/>
          </a:xfrm>
          <a:prstGeom prst="roundRect">
            <a:avLst>
              <a:gd name="adj" fmla="val 14000"/>
            </a:avLst>
          </a:prstGeom>
          <a:solidFill>
            <a:srgbClr val="E8A33D"/>
          </a:solidFill>
          <a:ln/>
        </p:spPr>
      </p:sp>
      <p:sp>
        <p:nvSpPr>
          <p:cNvPr id="60" name="Text 58"/>
          <p:cNvSpPr/>
          <p:nvPr/>
        </p:nvSpPr>
        <p:spPr>
          <a:xfrm>
            <a:off x="10607040" y="384048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업무논리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715000" y="4407408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셋은 '아는 것'(신호 → 원인 → 의사결정), 뒤의 셋은 '만드는 것'(방향 → 조건-결과 → 프로세스·Agent 이식)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숫자(WMS·JIT 이벤트)가 이상을 알리고, 대화가 이유를 밝힌다 — Explicit-Implicit Bridge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02920" y="5870448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철학  </a:t>
            </a:r>
            <a:pPr indent="0" marL="0">
              <a:buNone/>
            </a:pPr>
            <a:r>
              <a:rPr lang="en-US" sz="12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"온톨로지는 목적지가 아니라 매개다" — 첫 입력은 현장의 발화, 종착점은 실행(재고 차감·전표). Gruber 계보의 '지식 획득 병목'에 대한 알고리즘적 답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『AI ERP 혁명 — Odoo와 지능형 ERP』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제20장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암묵지 발굴의 알고리즘 — TA 10종과 PTGDA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TA(Tacit Anomaly) 10종 — 사각지대에 이름을 붙이는 예비 스키마, 4개의 경계에서 발생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F5F0F4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89280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RoleBoundary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514600" y="189280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역할·책임의 경계 — 승인 속도 vs 통제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847088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F5F0F4"/>
          </a:solidFill>
          <a:ln/>
        </p:spPr>
      </p:sp>
      <p:sp>
        <p:nvSpPr>
          <p:cNvPr id="9" name="Text 7"/>
          <p:cNvSpPr/>
          <p:nvPr/>
        </p:nvSpPr>
        <p:spPr>
          <a:xfrm>
            <a:off x="6419088" y="189280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NormBoundary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0" y="189280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규범 vs 비공식 관행 (예: TA06 KPI 충돌 — 납기가 품질 이의를 누른다)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F5F0F4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60604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SystemBoundary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14600" y="260604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ERP·MES·엑셀 혼재, 비공식 구매 경로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F5F0F4"/>
          </a:solidFill>
          <a:ln/>
        </p:spPr>
      </p:sp>
      <p:sp>
        <p:nvSpPr>
          <p:cNvPr id="15" name="Text 13"/>
          <p:cNvSpPr/>
          <p:nvPr/>
        </p:nvSpPr>
        <p:spPr>
          <a:xfrm>
            <a:off x="6419088" y="260604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KnowledgeBoundary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60604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퇴사와 함께 사라지는 노하우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310128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TA = 트리거 조건 + Loop 전략(긴급 3일 · 보통 7일 · 여유 14일) + 표준 영향추정치 — "진단명이자 처방의 골격"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3730752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PTGDA (Progressive Tacit-to-Governed Discovery &amp; Adoption) — 씨앗에서 통치까지 5개의 상태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114800"/>
            <a:ext cx="21579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017C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7512" y="44622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씨앗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" y="4718304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대화·이벤트에서 TA 신호 축적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88336" y="4681728"/>
            <a:ext cx="164592" cy="219456"/>
          </a:xfrm>
          <a:prstGeom prst="rightArrow">
            <a:avLst/>
          </a:prstGeom>
          <a:solidFill>
            <a:srgbClr val="D9CCD6"/>
          </a:solidFill>
          <a:ln/>
        </p:spPr>
      </p:sp>
      <p:sp>
        <p:nvSpPr>
          <p:cNvPr id="24" name="Shape 22"/>
          <p:cNvSpPr/>
          <p:nvPr/>
        </p:nvSpPr>
        <p:spPr>
          <a:xfrm>
            <a:off x="2880360" y="4114800"/>
            <a:ext cx="21579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00A09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44952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Hypothesis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044952" y="44622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44952" y="4718304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신호가 가설로 승격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65776" y="4681728"/>
            <a:ext cx="164592" cy="219456"/>
          </a:xfrm>
          <a:prstGeom prst="rightArrow">
            <a:avLst/>
          </a:prstGeom>
          <a:solidFill>
            <a:srgbClr val="D9CCD6"/>
          </a:solidFill>
          <a:ln/>
        </p:spPr>
      </p:sp>
      <p:sp>
        <p:nvSpPr>
          <p:cNvPr id="29" name="Shape 27"/>
          <p:cNvSpPr/>
          <p:nvPr/>
        </p:nvSpPr>
        <p:spPr>
          <a:xfrm>
            <a:off x="5257800" y="4114800"/>
            <a:ext cx="21579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22392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22392" y="44622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22392" y="4718304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Station 인터뷰로 확인·반박 교대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43216" y="4681728"/>
            <a:ext cx="164592" cy="219456"/>
          </a:xfrm>
          <a:prstGeom prst="rightArrow">
            <a:avLst/>
          </a:prstGeom>
          <a:solidFill>
            <a:srgbClr val="D9CCD6"/>
          </a:solidFill>
          <a:ln/>
        </p:spPr>
      </p:sp>
      <p:sp>
        <p:nvSpPr>
          <p:cNvPr id="34" name="Shape 32"/>
          <p:cNvSpPr/>
          <p:nvPr/>
        </p:nvSpPr>
        <p:spPr>
          <a:xfrm>
            <a:off x="7635240" y="4114800"/>
            <a:ext cx="21579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714B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99832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Confirmed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799832" y="44622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99832" y="4718304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확신도 70%+ · 최소 3회 → '입자화'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820656" y="4681728"/>
            <a:ext cx="164592" cy="219456"/>
          </a:xfrm>
          <a:prstGeom prst="rightArrow">
            <a:avLst/>
          </a:prstGeom>
          <a:solidFill>
            <a:srgbClr val="D9CCD6"/>
          </a:solidFill>
          <a:ln/>
        </p:spPr>
      </p:sp>
      <p:sp>
        <p:nvSpPr>
          <p:cNvPr id="39" name="Shape 37"/>
          <p:cNvSpPr/>
          <p:nvPr/>
        </p:nvSpPr>
        <p:spPr>
          <a:xfrm>
            <a:off x="10012680" y="4114800"/>
            <a:ext cx="21579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4A314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77272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31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Governed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0177272" y="44622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통치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177272" y="4718304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 손실계정 반영 · Agent 승격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2920" y="5760720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wave / particle 이중 표현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전에는 연속 확신도(0~100%)의 파동으로, 사람이 승인하는 순간에만 입자로 확정 — 응답이 엇갈리면 확신도가 내려간다. "오류가 아니라, 판단이 아직 일관되지 않았다는 뜻"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『AI ERP 혁명 — Odoo와 지능형 ERP』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제20장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기계가 발굴하고, 사람이 통치한다 — 삼분법과 HITL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62102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792224"/>
            <a:ext cx="548640" cy="548640"/>
          </a:xfrm>
          <a:prstGeom prst="ellipse">
            <a:avLst/>
          </a:prstGeom>
          <a:solidFill>
            <a:srgbClr val="00A09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7" y="1940357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83664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기계가 생성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40664" y="2468880"/>
            <a:ext cx="3145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번역 계층 — 발화의 Chunk 분해, TA 후보 분류, OWL·SWRL 규칙 초안까지. 판단의 주체가 아니다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554480"/>
            <a:ext cx="362102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62856" y="1792224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989" y="1940357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9512" y="1883664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검증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62856" y="2468880"/>
            <a:ext cx="3145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확정은 통계가 한다 — confirm/refute 누적, 확신도 70% 이상 + 최소 3회 일관 응답이라는 결정론적 임계값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47304" y="1554480"/>
            <a:ext cx="3621024" cy="1965960"/>
          </a:xfrm>
          <a:prstGeom prst="roundRect">
            <a:avLst>
              <a:gd name="adj" fmla="val 4186"/>
            </a:avLst>
          </a:prstGeom>
          <a:solidFill>
            <a:srgbClr val="F5F0F4"/>
          </a:solidFill>
          <a:ln w="9525">
            <a:solidFill>
              <a:srgbClr val="714B6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85048" y="1792224"/>
            <a:ext cx="548640" cy="548640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181" y="1940357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61704" y="1883664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결정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85048" y="2468880"/>
            <a:ext cx="3145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전 실제 시스템 값은 불변. Digital Twin 시뮬레이션을 본 뒤의 HITL 승인만이 파라미터를 바꾼다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3749040"/>
            <a:ext cx="11201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 성장 사슬 — 한 문장이 온톨로지가 되기까지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02920" y="41605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5F0F4"/>
          </a:solidFill>
          <a:ln/>
        </p:spPr>
      </p:sp>
      <p:sp>
        <p:nvSpPr>
          <p:cNvPr id="21" name="Text 16"/>
          <p:cNvSpPr/>
          <p:nvPr/>
        </p:nvSpPr>
        <p:spPr>
          <a:xfrm>
            <a:off x="685800" y="427024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Linguistic Seed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85800" y="4727448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"지난달 C라인에서 두 번 있었습니다" — 시간·장소·빈도 태깅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200400" y="4709160"/>
            <a:ext cx="182880" cy="237744"/>
          </a:xfrm>
          <a:prstGeom prst="rightArrow">
            <a:avLst/>
          </a:prstGeom>
          <a:solidFill>
            <a:srgbClr val="D9CCD6"/>
          </a:solidFill>
          <a:ln/>
        </p:spPr>
      </p:sp>
      <p:sp>
        <p:nvSpPr>
          <p:cNvPr id="24" name="Shape 19"/>
          <p:cNvSpPr/>
          <p:nvPr/>
        </p:nvSpPr>
        <p:spPr>
          <a:xfrm>
            <a:off x="3392424" y="41605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5F0F4"/>
          </a:solidFill>
          <a:ln/>
        </p:spPr>
      </p:sp>
      <p:sp>
        <p:nvSpPr>
          <p:cNvPr id="25" name="Text 20"/>
          <p:cNvSpPr/>
          <p:nvPr/>
        </p:nvSpPr>
        <p:spPr>
          <a:xfrm>
            <a:off x="3575304" y="427024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Semantic Seed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3575304" y="4727448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기대의 충돌 좌표 — 납기 vs 품질 (루만의 기대 개념)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089904" y="4709160"/>
            <a:ext cx="182880" cy="237744"/>
          </a:xfrm>
          <a:prstGeom prst="rightArrow">
            <a:avLst/>
          </a:prstGeom>
          <a:solidFill>
            <a:srgbClr val="D9CCD6"/>
          </a:solidFill>
          <a:ln/>
        </p:spPr>
      </p:sp>
      <p:sp>
        <p:nvSpPr>
          <p:cNvPr id="28" name="Shape 23"/>
          <p:cNvSpPr/>
          <p:nvPr/>
        </p:nvSpPr>
        <p:spPr>
          <a:xfrm>
            <a:off x="6281928" y="41605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5F0F4"/>
          </a:solidFill>
          <a:ln/>
        </p:spPr>
      </p:sp>
      <p:sp>
        <p:nvSpPr>
          <p:cNvPr id="29" name="Text 24"/>
          <p:cNvSpPr/>
          <p:nvPr/>
        </p:nvSpPr>
        <p:spPr>
          <a:xfrm>
            <a:off x="6464808" y="427024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Ontological Seed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6464808" y="4727448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시간·공간·자원·인과·정책의 축 — 스키마 후보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8979408" y="4709160"/>
            <a:ext cx="182880" cy="237744"/>
          </a:xfrm>
          <a:prstGeom prst="rightArrow">
            <a:avLst/>
          </a:prstGeom>
          <a:solidFill>
            <a:srgbClr val="D9CCD6"/>
          </a:solidFill>
          <a:ln/>
        </p:spPr>
      </p:sp>
      <p:sp>
        <p:nvSpPr>
          <p:cNvPr id="32" name="Shape 27"/>
          <p:cNvSpPr/>
          <p:nvPr/>
        </p:nvSpPr>
        <p:spPr>
          <a:xfrm>
            <a:off x="9171432" y="41605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5F0F4"/>
          </a:solidFill>
          <a:ln/>
        </p:spPr>
      </p:sp>
      <p:sp>
        <p:nvSpPr>
          <p:cNvPr id="33" name="Text 28"/>
          <p:cNvSpPr/>
          <p:nvPr/>
        </p:nvSpPr>
        <p:spPr>
          <a:xfrm>
            <a:off x="9354312" y="427024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Logical Execution Seed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9354312" y="4727448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OWL Class · SWRL Rule · Agent 능력 · Workflow 분기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502920" y="5779008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MDR-X 등록 = 정식 Ontology Class 승격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Agent 역할과 Workflow 분기 Rule이 자동 생성된다. 사전 설계된 대성당이 아니라, 운영하며 자라는 '정원의 온톨로지'(Progressive Ontology)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『AI ERP 혁명 — Odoo와 지능형 ERP』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제21장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온톨로지에서 실행으로 — Agent Workflow 3종 세트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3657600" cy="4206240"/>
          </a:xfrm>
          <a:prstGeom prst="roundRect">
            <a:avLst>
              <a:gd name="adj" fmla="val 2250"/>
            </a:avLst>
          </a:prstGeom>
          <a:solidFill>
            <a:srgbClr val="F5F0F4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007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 · Loop · Harness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확정된 지식을 업무 논리로 바꾸는 세 가지 결핍의 처방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" y="2560320"/>
            <a:ext cx="316382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633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32688" y="28895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로직 — 계산 능력을 가진 Agent (예: InventoryBufferAgent)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" y="3602736"/>
            <a:ext cx="316382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675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3931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생애주기와 기한 — DTF 긴급 3일 · 보통 7일 · 여유 14일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" y="4645152"/>
            <a:ext cx="316382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718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Harness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2688" y="497433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통제 — 역할·조직 기준의 자격 검증 (HITL 위에)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0" y="1517904"/>
            <a:ext cx="3657600" cy="420624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17007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빌더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90288" y="2011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슬롯을 채우면 프로세스가 된다 — 6단계 슬롯 결정론: 같은 입력이면 같은 결과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90288" y="2633472"/>
            <a:ext cx="3163824" cy="438912"/>
          </a:xfrm>
          <a:prstGeom prst="roundRect">
            <a:avLst>
              <a:gd name="adj" fmla="val 14583"/>
            </a:avLst>
          </a:prstGeom>
          <a:solidFill>
            <a:srgbClr val="ECE3EA"/>
          </a:solidFill>
          <a:ln/>
        </p:spPr>
      </p:sp>
      <p:sp>
        <p:nvSpPr>
          <p:cNvPr id="20" name="Text 18"/>
          <p:cNvSpPr/>
          <p:nvPr/>
        </p:nvSpPr>
        <p:spPr>
          <a:xfrm>
            <a:off x="4791456" y="263347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O2C  수주 → 수금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90288" y="3182112"/>
            <a:ext cx="3163824" cy="438912"/>
          </a:xfrm>
          <a:prstGeom prst="roundRect">
            <a:avLst>
              <a:gd name="adj" fmla="val 14583"/>
            </a:avLst>
          </a:prstGeom>
          <a:solidFill>
            <a:srgbClr val="ECE3EA"/>
          </a:solidFill>
          <a:ln/>
        </p:spPr>
      </p:sp>
      <p:sp>
        <p:nvSpPr>
          <p:cNvPr id="22" name="Text 20"/>
          <p:cNvSpPr/>
          <p:nvPr/>
        </p:nvSpPr>
        <p:spPr>
          <a:xfrm>
            <a:off x="4791456" y="318211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P2P  발주 → 지급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90288" y="3730752"/>
            <a:ext cx="3163824" cy="438912"/>
          </a:xfrm>
          <a:prstGeom prst="roundRect">
            <a:avLst>
              <a:gd name="adj" fmla="val 14583"/>
            </a:avLst>
          </a:prstGeom>
          <a:solidFill>
            <a:srgbClr val="ECE3EA"/>
          </a:solidFill>
          <a:ln/>
        </p:spPr>
      </p:sp>
      <p:sp>
        <p:nvSpPr>
          <p:cNvPr id="24" name="Text 22"/>
          <p:cNvSpPr/>
          <p:nvPr/>
        </p:nvSpPr>
        <p:spPr>
          <a:xfrm>
            <a:off x="4791456" y="373075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Pl2P  계획 → 생산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90288" y="4279392"/>
            <a:ext cx="3163824" cy="438912"/>
          </a:xfrm>
          <a:prstGeom prst="roundRect">
            <a:avLst>
              <a:gd name="adj" fmla="val 14583"/>
            </a:avLst>
          </a:prstGeom>
          <a:solidFill>
            <a:srgbClr val="ECE3EA"/>
          </a:solidFill>
          <a:ln/>
        </p:spPr>
      </p:sp>
      <p:sp>
        <p:nvSpPr>
          <p:cNvPr id="26" name="Text 24"/>
          <p:cNvSpPr/>
          <p:nvPr/>
        </p:nvSpPr>
        <p:spPr>
          <a:xfrm>
            <a:off x="4791456" y="427939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R2R  기록 → 재무보고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90288" y="48920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고정 → 담당 조직 → 흐름 정의 → 승인 게이트 → TA 개선활동 연계 → 컴파일·검증 (반려 시 해당 슬롯만 국소 수정)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83880" y="1517904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241722"/>
          </a:solidFill>
          <a:ln/>
        </p:spPr>
      </p:sp>
      <p:sp>
        <p:nvSpPr>
          <p:cNvPr id="29" name="Text 27"/>
          <p:cNvSpPr/>
          <p:nvPr/>
        </p:nvSpPr>
        <p:spPr>
          <a:xfrm>
            <a:off x="8430768" y="170078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 Room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430768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 루프의 관제탑 — 본질은 감시가 아니라 환류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430768" y="25420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빌더에서 설계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430768" y="305409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등록·배포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430768" y="3566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Workspace 실행 (재고 차감·전표·회계)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430768" y="407822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War Room 모니터링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430768" y="45902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이상 신호 → 6 Station 재진단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30768" y="51206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DMAIC 대응 — War Room=Define · 6 Station=Measure·Analyze · 채택=Improve · 상시 감시=Control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5장의 'LLM 무한 루프'가 제품으로 실장된 모습 — 루프의 이상은 스키마(Frame) 개정으로까지 환류된다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『AI ERP 혁명 — Odoo와 지능형 ERP』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제21장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알림으로 끝나지 않는 실행 — 에이전트와 SCM Backbone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5212080" cy="4251960"/>
          </a:xfrm>
          <a:prstGeom prst="roundRect">
            <a:avLst>
              <a:gd name="adj" fmla="val 1935"/>
            </a:avLst>
          </a:prstGeom>
          <a:solidFill>
            <a:srgbClr val="F5F0F4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7007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InventoryBufferAgent — 4단계 실행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6384" y="2194560"/>
            <a:ext cx="402336" cy="402336"/>
          </a:xfrm>
          <a:prstGeom prst="ellipse">
            <a:avLst/>
          </a:prstGeom>
          <a:solidFill>
            <a:srgbClr val="00A09D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35024" y="21214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정량화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35024" y="23957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Station 확인 이력에서 신호 빈도를 수치로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6384" y="2907792"/>
            <a:ext cx="402336" cy="402336"/>
          </a:xfrm>
          <a:prstGeom prst="ellipse">
            <a:avLst/>
          </a:prstGeom>
          <a:solidFill>
            <a:srgbClr val="00A09D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35024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보정계수 계산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35024" y="31089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안전재고·ROP 조정치 산출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" y="3621024"/>
            <a:ext cx="402336" cy="402336"/>
          </a:xfrm>
          <a:prstGeom prst="ellipse">
            <a:avLst/>
          </a:prstGeom>
          <a:solidFill>
            <a:srgbClr val="00A09D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621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35024" y="3547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Twin 시뮬레이션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335024" y="38221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시스템 값은 그대로 둔 가상 실험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" y="4334256"/>
            <a:ext cx="402336" cy="402336"/>
          </a:xfrm>
          <a:prstGeom prst="ellipse">
            <a:avLst/>
          </a:prstGeom>
          <a:solidFill>
            <a:srgbClr val="714B67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4334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35024" y="42611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승인 (HITL)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335024" y="453542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순간에만 실제 파라미터 갱신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" y="502920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241722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02920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안전재고 100 → 115개   ·   ROP 150 → 173개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후 모든 O2C에 자동 반영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89320" y="16276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SCM Backbone — 여덟 개의 계산기, 하나의 사슬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989320" y="2057400"/>
            <a:ext cx="272491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21031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7960" y="210312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기간손익 프로젝션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869680" y="2057400"/>
            <a:ext cx="272491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97696" y="21031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418320" y="210312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안전재고 · ROP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89320" y="2807208"/>
            <a:ext cx="272491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17336" y="285292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37960" y="285292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EOQ · MOQ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69680" y="2807208"/>
            <a:ext cx="272491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97696" y="285292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418320" y="285292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MRP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89320" y="3557016"/>
            <a:ext cx="272491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17336" y="360273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37960" y="360273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JIT · 생산평준화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869680" y="3557016"/>
            <a:ext cx="272491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97696" y="360273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418320" y="360273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수요예측 정확도 MAPE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989320" y="4306824"/>
            <a:ext cx="272491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17336" y="435254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37960" y="4352544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큐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869680" y="4306824"/>
            <a:ext cx="272491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97696" y="435254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418320" y="4352544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가치사슬 KPI 스코어카드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989320" y="5138928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기여는 발명이 아니라 연동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수요예측 → MPS → MRP·ROP → MOQ → 안전재고 → TOC 제약 → 출하·배송. 불량률 같은 변수는 사람이 추측 입력하지 않고 6 Station 확인 이력에서 자동 산출된다.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02920" y="5961888"/>
            <a:ext cx="11201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"지식이 문서가 아니라 파라미터가 되면, 지키는 데 의지가 필요 없다"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『AI ERP 혁명 — Odoo와 지능형 ERP』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제21장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 × JEDAIX — 형식지의 원장과 암묵지의 판단 계층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892040" cy="3246120"/>
          </a:xfrm>
          <a:prstGeom prst="roundRect">
            <a:avLst>
              <a:gd name="adj" fmla="val 2535"/>
            </a:avLst>
          </a:prstGeom>
          <a:solidFill>
            <a:srgbClr val="F5F0F4"/>
          </a:solidFill>
          <a:ln w="9525">
            <a:solidFill>
              <a:srgbClr val="714B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0512"/>
            <a:ext cx="548640" cy="548640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958645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019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 — 2nd Brain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251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형식지의 원장, 실행의 손발</a:t>
            </a:r>
            <a:endParaRPr lang="en-US" sz="12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"무엇이 일어났는가"를 기록</a:t>
            </a:r>
            <a:endParaRPr lang="en-US" sz="12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PostgreSQL — 하나의 진실 원천</a:t>
            </a:r>
            <a:endParaRPr lang="en-US" sz="12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레코드와 파라미터의 세계</a:t>
            </a:r>
            <a:endParaRPr lang="en-US" sz="12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DMAIC의 D · M · C 담당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12280" y="1554480"/>
            <a:ext cx="4892040" cy="3246120"/>
          </a:xfrm>
          <a:prstGeom prst="roundRect">
            <a:avLst>
              <a:gd name="adj" fmla="val 2535"/>
            </a:avLst>
          </a:prstGeom>
          <a:solidFill>
            <a:srgbClr val="F5F0F4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0" y="181051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733" y="1958645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0" y="19019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JEDAIX — 3rd Brain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132320" y="2514600"/>
            <a:ext cx="4251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암묵지의 발굴 · 의미 · 판단 계층</a:t>
            </a:r>
            <a:endParaRPr lang="en-US" sz="12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"왜 반복되는가"를 추론</a:t>
            </a:r>
            <a:endParaRPr lang="en-US" sz="12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OWL Class · SWRL Rule의 세계</a:t>
            </a:r>
            <a:endParaRPr lang="en-US" sz="12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확신도 wave와 HITL의 통치</a:t>
            </a:r>
            <a:endParaRPr lang="en-US" sz="12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DMAIC의 A · I 담당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0" y="2240280"/>
            <a:ext cx="1234440" cy="502920"/>
          </a:xfrm>
          <a:prstGeom prst="rightArrow">
            <a:avLst/>
          </a:prstGeom>
          <a:solidFill>
            <a:srgbClr val="00A09D"/>
          </a:solidFill>
          <a:ln/>
        </p:spPr>
      </p:sp>
      <p:sp>
        <p:nvSpPr>
          <p:cNvPr id="15" name="Text 11"/>
          <p:cNvSpPr/>
          <p:nvPr/>
        </p:nvSpPr>
        <p:spPr>
          <a:xfrm>
            <a:off x="5413248" y="1847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위로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13248" y="27706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→ 신호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486400" y="3566160"/>
            <a:ext cx="1234440" cy="502920"/>
          </a:xfrm>
          <a:prstGeom prst="leftArrow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5413248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아래로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376672" y="40965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→ 파라미터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02920" y="5029200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31520" y="5102352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보유 기업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Odoo(원장·실행)와 JEDAIX(발굴·판단)의 병행 구조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217920" y="5029200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46520" y="5102352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없는 소상공인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→ 데이터 매핑 마법사(5단계) → 표준 프로세스, 이후 Odoo로 확장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『AI ERP 혁명 — Odoo와 지능형 ERP』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제22장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성공 방법론 — 관통하는 문제해결 5단계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157984" cy="1572768"/>
          </a:xfrm>
          <a:prstGeom prst="roundRect">
            <a:avLst>
              <a:gd name="adj" fmla="val 5233"/>
            </a:avLst>
          </a:prstGeom>
          <a:solidFill>
            <a:srgbClr val="F5F0F4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68249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6 Station 진단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7512" y="2212848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위화감의 언어화 — Linguistic Seed, TA 후보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88336" y="2194560"/>
            <a:ext cx="164592" cy="219456"/>
          </a:xfrm>
          <a:prstGeom prst="rightArrow">
            <a:avLst/>
          </a:prstGeom>
          <a:solidFill>
            <a:srgbClr val="D9CCD6"/>
          </a:solidFill>
          <a:ln/>
        </p:spPr>
      </p:sp>
      <p:sp>
        <p:nvSpPr>
          <p:cNvPr id="8" name="Shape 6"/>
          <p:cNvSpPr/>
          <p:nvPr/>
        </p:nvSpPr>
        <p:spPr>
          <a:xfrm>
            <a:off x="2880360" y="1554480"/>
            <a:ext cx="2157984" cy="1572768"/>
          </a:xfrm>
          <a:prstGeom prst="roundRect">
            <a:avLst>
              <a:gd name="adj" fmla="val 5233"/>
            </a:avLst>
          </a:prstGeom>
          <a:solidFill>
            <a:srgbClr val="F5F0F4"/>
          </a:solidFill>
          <a:ln/>
        </p:spPr>
      </p:sp>
      <p:sp>
        <p:nvSpPr>
          <p:cNvPr id="9" name="Text 7"/>
          <p:cNvSpPr/>
          <p:nvPr/>
        </p:nvSpPr>
        <p:spPr>
          <a:xfrm>
            <a:off x="3044952" y="168249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문제 확정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44952" y="2212848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PTGDA 확신도 축적 → GL 반영 · 손실 금액화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65776" y="2194560"/>
            <a:ext cx="164592" cy="219456"/>
          </a:xfrm>
          <a:prstGeom prst="rightArrow">
            <a:avLst/>
          </a:prstGeom>
          <a:solidFill>
            <a:srgbClr val="D9CCD6"/>
          </a:solidFill>
          <a:ln/>
        </p:spPr>
      </p:sp>
      <p:sp>
        <p:nvSpPr>
          <p:cNvPr id="12" name="Shape 10"/>
          <p:cNvSpPr/>
          <p:nvPr/>
        </p:nvSpPr>
        <p:spPr>
          <a:xfrm>
            <a:off x="5257800" y="1554480"/>
            <a:ext cx="2157984" cy="1572768"/>
          </a:xfrm>
          <a:prstGeom prst="roundRect">
            <a:avLst>
              <a:gd name="adj" fmla="val 5233"/>
            </a:avLst>
          </a:prstGeom>
          <a:solidFill>
            <a:srgbClr val="F5F0F4"/>
          </a:solidFill>
          <a:ln/>
        </p:spPr>
      </p:sp>
      <p:sp>
        <p:nvSpPr>
          <p:cNvPr id="13" name="Text 11"/>
          <p:cNvSpPr/>
          <p:nvPr/>
        </p:nvSpPr>
        <p:spPr>
          <a:xfrm>
            <a:off x="5422392" y="168249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실행 대안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22392" y="2212848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시뮬레이션 또는 경영 안건 등록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43216" y="2194560"/>
            <a:ext cx="164592" cy="219456"/>
          </a:xfrm>
          <a:prstGeom prst="rightArrow">
            <a:avLst/>
          </a:prstGeom>
          <a:solidFill>
            <a:srgbClr val="D9CCD6"/>
          </a:solidFill>
          <a:ln/>
        </p:spPr>
      </p:sp>
      <p:sp>
        <p:nvSpPr>
          <p:cNvPr id="16" name="Shape 14"/>
          <p:cNvSpPr/>
          <p:nvPr/>
        </p:nvSpPr>
        <p:spPr>
          <a:xfrm>
            <a:off x="7635240" y="1554480"/>
            <a:ext cx="2157984" cy="1572768"/>
          </a:xfrm>
          <a:prstGeom prst="roundRect">
            <a:avLst>
              <a:gd name="adj" fmla="val 5233"/>
            </a:avLst>
          </a:prstGeom>
          <a:solidFill>
            <a:srgbClr val="F5F0F4"/>
          </a:solidFill>
          <a:ln/>
        </p:spPr>
      </p:sp>
      <p:sp>
        <p:nvSpPr>
          <p:cNvPr id="17" name="Text 15"/>
          <p:cNvSpPr/>
          <p:nvPr/>
        </p:nvSpPr>
        <p:spPr>
          <a:xfrm>
            <a:off x="7799832" y="168249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사람의 결정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99832" y="2212848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HITL 승인·반려 — 근거가 함께 기록된다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820656" y="2194560"/>
            <a:ext cx="164592" cy="219456"/>
          </a:xfrm>
          <a:prstGeom prst="rightArrow">
            <a:avLst/>
          </a:prstGeom>
          <a:solidFill>
            <a:srgbClr val="D9CCD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12680" y="1554480"/>
            <a:ext cx="2157984" cy="1572768"/>
          </a:xfrm>
          <a:prstGeom prst="roundRect">
            <a:avLst>
              <a:gd name="adj" fmla="val 5233"/>
            </a:avLst>
          </a:prstGeom>
          <a:solidFill>
            <a:srgbClr val="F5F0F4"/>
          </a:solidFill>
          <a:ln/>
        </p:spPr>
      </p:sp>
      <p:sp>
        <p:nvSpPr>
          <p:cNvPr id="21" name="Text 19"/>
          <p:cNvSpPr/>
          <p:nvPr/>
        </p:nvSpPr>
        <p:spPr>
          <a:xfrm>
            <a:off x="10177272" y="168249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A31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표준 흐름 반영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177272" y="2212848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O2C 등 표준 프로세스·BPMN 자동 갱신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21868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③→④의 분기가 '안전핀' — 자동화와 경영 판단의 경계가 방법론 안에 내장되어 있다. 산출물이 전부 데이터라 감사 가능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365760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7673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1 — ERP 없는 소상공인 · 10인 이하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1520" y="4069080"/>
            <a:ext cx="5074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JEDAIX 단독 시작 → Odoo 확장  ·  총 3~6개월, 상시 인력 2명 이내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편입(1~2주) → O2C·P2P 템플릿 가동(2~4주) → 대화 축적·첫 TA 확정(1~3개월) → 첫 HITL 승인(3~6개월) → 온톨로지 자산을 승계하며 Odoo 확장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365760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714B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7673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2 — ERP 보유 중소기업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46520" y="4069080"/>
            <a:ext cx="5074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 병행 구조  ·  총 6~12개월, 4역할 체제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결합(2~4주, 핵심 부서 2곳) → 데이터 연계(1~2개월, 명시 이벤트 자동 등록) → 발굴 사이클(2~3개월, 확정 3건+GL 반영) → 실행·통치(3~6개월, War Room 가동·KGI 개선)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5623560"/>
            <a:ext cx="11201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원칙 "작게 시작해 얇게 완주"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두 곳·질문 몇 개로 시작, 첫 확정·첫 승인까지 6개월 이내  ·  KPI: 확정 건수, 연환산 손실 총액, Agent 승인율, DTF 준수율 — 성패는 "담당자가 불리한 사실을 시스템 앞에서 말할 수 있는가"라는 조직 문화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『AI ERP 혁명 — Odoo와 지능형 ERP』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제23장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성공사례 — 사각지대에서 성과로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5486400" cy="2395728"/>
          </a:xfrm>
          <a:prstGeom prst="roundRect">
            <a:avLst>
              <a:gd name="adj" fmla="val 3435"/>
            </a:avLst>
          </a:prstGeom>
          <a:solidFill>
            <a:srgbClr val="F5F0F4"/>
          </a:solidFill>
          <a:ln w="9525">
            <a:solidFill>
              <a:srgbClr val="00A0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7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1 · 자동 조정형 — 품질 클레임과 안전재고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975104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3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기록 전부 '합격'인데 클레임 반복 — "지난달 C라인에서 두 번 있었습니다"라는 발화에서 시작</a:t>
            </a:r>
            <a:endParaRPr lang="en-US" sz="1050" dirty="0"/>
          </a:p>
          <a:p>
            <a:pPr marL="127000" indent="-127000">
              <a:lnSpc>
                <a:spcPct val="113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TA06(KPI 충돌) 확정: 납기 압박이 품질 이의를 누른다 → 품질손실비 계정, 연 6천만 원 금액화</a:t>
            </a:r>
            <a:endParaRPr lang="en-US" sz="1050" dirty="0"/>
          </a:p>
          <a:p>
            <a:pPr marL="127000" indent="-127000">
              <a:lnSpc>
                <a:spcPct val="113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InventoryBufferAgent 실행: 안전재고 100→115 · ROP 150→173, 승인 후 O2C 전체 자동 반영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0" y="1517904"/>
            <a:ext cx="5486400" cy="2395728"/>
          </a:xfrm>
          <a:prstGeom prst="roundRect">
            <a:avLst>
              <a:gd name="adj" fmla="val 3435"/>
            </a:avLst>
          </a:prstGeom>
          <a:solidFill>
            <a:srgbClr val="F5F0F4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45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2 · 경영 판단형 — 조립 공정의 병목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1975104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3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"가동률은 정상인데 납기가 늦는다" → TOC 분석으로 병목=조립 100개/일, 계획 초과 설정을 정량화</a:t>
            </a:r>
            <a:endParaRPr lang="en-US" sz="1050" dirty="0"/>
          </a:p>
          <a:p>
            <a:pPr marL="127000" indent="-127000">
              <a:lnSpc>
                <a:spcPct val="113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증설·인력·납기 재협상은 계산기의 몫이 아니다 → 경영진 안건 자동 등록, '임시 인력 배치' 결정</a:t>
            </a:r>
            <a:endParaRPr lang="en-US" sz="1050" dirty="0"/>
          </a:p>
          <a:p>
            <a:pPr marL="127000" indent="-127000">
              <a:lnSpc>
                <a:spcPct val="113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후 병목 능력·MPS 재산출, War Room이 새 기준을 감시 — 미해소 시 재진단으로 환류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4069080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부문별 성과 메커니즘 — 국내외 공개 사례 실측치 (기록 통합·스마트공장 성과)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434840"/>
            <a:ext cx="26974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5262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4736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+23.7%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5800" y="5221224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중기중앙회 상생형 매출 — 고객·기회·활동 그래프와 리드 스코어링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92424" y="4434840"/>
            <a:ext cx="26974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5304" y="45262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구매·재고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75304" y="4736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−15.9%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575304" y="5221224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중기부 5,003개사 원가 — 안전재고·ROP·EOQ에 암묵 보정계수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81928" y="4434840"/>
            <a:ext cx="26974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45262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64808" y="4736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+30%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464808" y="5221224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중기부 생산성(10인 미만 +39%) — TOC·OEE 분해로 병목 가시화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71432" y="4434840"/>
            <a:ext cx="26974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D9CC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54312" y="45262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54312" y="4736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14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−50%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354312" y="5221224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 불량률 — 로트 역추적과 TA 분류, 손실의 계정화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589788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성공요인 4 — 작게 시작 · HITL(감축이 아닌 증강) · 경영자 관여(KPI 충돌의 재정 권한) · 코드체계("코드는 온톨로지의 어휘")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『AI ERP 혁명 — Odoo와 지능형 ERP』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4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기록하는 ERP에서, 판단하는 ERP로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b="1" i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"AI가 기업을 대체하지 않는다.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b="1" i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서드브레인을 가진 기업이, 그렇지 않은 기업을 대체한다."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아침에 시작하는 사람을 위하여 — 첫 90일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401568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35223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511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1~2주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813048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 질문 10개의 문장화 · 물리/데이터 5S 진단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56432" y="3401568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352230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3511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3~6주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39312" y="3813048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코드체계 정비 · Odoo 첫 모듈 가동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2784" y="3401568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3522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55664" y="3511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7~10주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55664" y="3813048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바코드·태블릿 실시간 수집 · 첫 대시보드와 자동 경보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89136" y="3401568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352230"/>
          </a:solidFill>
          <a:ln/>
        </p:spPr>
      </p:sp>
      <p:sp>
        <p:nvSpPr>
          <p:cNvPr id="16" name="Text 14"/>
          <p:cNvSpPr/>
          <p:nvPr/>
        </p:nvSpPr>
        <p:spPr>
          <a:xfrm>
            <a:off x="9272016" y="3511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11~13주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72016" y="3813048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KPI 하나로 첫 DMAIC 루프 · 현장의 말 10개를 온톨로지 씨앗으로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Odoo와 함께 그리는 다음 그림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중소 제조 시장을 위한 Odoo 기반 지능형 ERP 컨설팅 방법론 · CE로 시작하는 낮은 진입 장벽 · 온톨로지 부스터로 확장하는 생태계 — 이 책이 그 실행 교본이 되기를 바랍니다.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『AI ERP 혁명 — Odoo와 지능형 ERP』  ·  이형근 · 정인호 지음  ·  감사합니다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2026-08-11T01:34:26Z</dcterms:created>
  <dcterms:modified xsi:type="dcterms:W3CDTF">2026-08-11T01:34:26Z</dcterms:modified>
</cp:coreProperties>
</file>