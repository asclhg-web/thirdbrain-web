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1D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500" kern="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BAKERY T — AX PLATFORM OPERATIONS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914400" y="1874520"/>
            <a:ext cx="103327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매뉴얼 &amp; 시스템 전체 그림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914400" y="2880360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8F2E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판단의 공장을 매일 돌리는 법 — 일·주·분기 운영 절차와 화면 안내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914400" y="3611880"/>
            <a:ext cx="2743200" cy="4572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397764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DE3D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 매뉴얼의 화면은 전부 실제 구동 화면입니다. </a:t>
            </a:r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다만 거래 수치는 고객사(제빵업체 T사) 구조로 만든 합성 샘플</a:t>
            </a:r>
            <a:pPr indent="0" marL="0">
              <a:buNone/>
            </a:pPr>
            <a:r>
              <a:rPr lang="en-US" sz="1400" dirty="0">
                <a:solidFill>
                  <a:srgbClr val="EDE3D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이며, 실데이터 연결 즉시 같은 화면이 실제 수치로 돕니다.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580644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9A7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에이에스씨(ASC) · 이형근 · v1.0 · 2026. 9.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68603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BIG PICTURE 1/2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그림 ① — 시스템은 여섯 층으로 되어 있습니다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207008"/>
            <a:ext cx="1051560" cy="4114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481328"/>
            <a:ext cx="3017520" cy="658368"/>
          </a:xfrm>
          <a:prstGeom prst="roundRect">
            <a:avLst>
              <a:gd name="adj" fmla="val 8333"/>
            </a:avLst>
          </a:prstGeom>
          <a:solidFill>
            <a:srgbClr val="9C5227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481328"/>
            <a:ext cx="3017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M1 수집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767328" y="1481328"/>
            <a:ext cx="781812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950208" y="1481328"/>
            <a:ext cx="7543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Odoo 정합 동기화 · 엑셀 업로더 · 현장 장표 폼 3종 · 설비 신호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2231136"/>
            <a:ext cx="3017520" cy="658368"/>
          </a:xfrm>
          <a:prstGeom prst="roundRect">
            <a:avLst>
              <a:gd name="adj" fmla="val 8333"/>
            </a:avLst>
          </a:prstGeom>
          <a:solidFill>
            <a:srgbClr val="9C5227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231136"/>
            <a:ext cx="3017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M2 표준 데이터셋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3767328" y="2231136"/>
            <a:ext cx="781812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950208" y="2231136"/>
            <a:ext cx="7543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사전(현장 어휘→표준 코드) · 격리 큐 · 품질 게이트 · 특징량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66928" y="2980944"/>
            <a:ext cx="3017520" cy="658368"/>
          </a:xfrm>
          <a:prstGeom prst="roundRect">
            <a:avLst>
              <a:gd name="adj" fmla="val 8333"/>
            </a:avLst>
          </a:prstGeom>
          <a:solidFill>
            <a:srgbClr val="C07F1E"/>
          </a:solidFill>
          <a:ln/>
        </p:spPr>
      </p:sp>
      <p:sp>
        <p:nvSpPr>
          <p:cNvPr id="15" name="Text 13"/>
          <p:cNvSpPr/>
          <p:nvPr/>
        </p:nvSpPr>
        <p:spPr>
          <a:xfrm>
            <a:off x="566928" y="2980944"/>
            <a:ext cx="3017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M3·M4 분석·학습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767328" y="2980944"/>
            <a:ext cx="781812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950208" y="2980944"/>
            <a:ext cx="7543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EDA 6종 · 야간 4M 마이닝 · 수요예측(구간 포함) · 이상탐지 · 재고 Twin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66928" y="3730752"/>
            <a:ext cx="3017520" cy="658368"/>
          </a:xfrm>
          <a:prstGeom prst="roundRect">
            <a:avLst>
              <a:gd name="adj" fmla="val 8333"/>
            </a:avLst>
          </a:prstGeom>
          <a:solidFill>
            <a:srgbClr val="C07F1E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3730752"/>
            <a:ext cx="3017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M5 지식그래프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3767328" y="3730752"/>
            <a:ext cx="781812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950208" y="3730752"/>
            <a:ext cx="7543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 후보의 확신도 관리(70%×3회 재현 시 승격) · 근거 사다리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66928" y="4480560"/>
            <a:ext cx="3017520" cy="658368"/>
          </a:xfrm>
          <a:prstGeom prst="roundRect">
            <a:avLst>
              <a:gd name="adj" fmla="val 8333"/>
            </a:avLst>
          </a:prstGeom>
          <a:solidFill>
            <a:srgbClr val="0E8F86"/>
          </a:solidFill>
          <a:ln/>
        </p:spPr>
      </p:sp>
      <p:sp>
        <p:nvSpPr>
          <p:cNvPr id="23" name="Text 21"/>
          <p:cNvSpPr/>
          <p:nvPr/>
        </p:nvSpPr>
        <p:spPr>
          <a:xfrm>
            <a:off x="566928" y="4480560"/>
            <a:ext cx="3017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M6 판단 카드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3767328" y="4480560"/>
            <a:ext cx="781812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950208" y="4480560"/>
            <a:ext cx="7543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수치+구간+근거+대안 한 장 — 근거 없는 문장은 생성 불가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566928" y="5230368"/>
            <a:ext cx="3017520" cy="658368"/>
          </a:xfrm>
          <a:prstGeom prst="roundRect">
            <a:avLst>
              <a:gd name="adj" fmla="val 8333"/>
            </a:avLst>
          </a:prstGeom>
          <a:solidFill>
            <a:srgbClr val="0E8F86"/>
          </a:solidFill>
          <a:ln/>
        </p:spPr>
      </p:sp>
      <p:sp>
        <p:nvSpPr>
          <p:cNvPr id="27" name="Text 25"/>
          <p:cNvSpPr/>
          <p:nvPr/>
        </p:nvSpPr>
        <p:spPr>
          <a:xfrm>
            <a:off x="566928" y="5230368"/>
            <a:ext cx="3017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M7 승인·환류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3767328" y="5230368"/>
            <a:ext cx="781812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950208" y="5230368"/>
            <a:ext cx="7543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승인함(HITL) · 감사 로그 · 파라미터 환류 · War Room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566928" y="6035040"/>
            <a:ext cx="11055096" cy="457200"/>
          </a:xfrm>
          <a:prstGeom prst="rect">
            <a:avLst/>
          </a:prstGeom>
          <a:solidFill>
            <a:srgbClr val="FDF3E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받침(M0) — </a:t>
            </a:r>
            <a:pPr indent="0" marL="0">
              <a:buNone/>
            </a:pPr>
            <a:r>
              <a:rPr lang="en-US" sz="130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자산 대장 · 반출 게이트(승인 없는 외부 전송 차단) · 데이터 계약. 여섯 층 전부가 이 위에서만 동작합니다.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68603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BIG PICTURE 2/2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그림 ② — 하루가 이렇게 돌아갑니다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207008"/>
            <a:ext cx="1051560" cy="4114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517904"/>
            <a:ext cx="2331720" cy="731520"/>
          </a:xfrm>
          <a:prstGeom prst="roundRect">
            <a:avLst>
              <a:gd name="adj" fmla="val 7500"/>
            </a:avLst>
          </a:prstGeom>
          <a:solidFill>
            <a:srgbClr val="9C5227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517904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01:00 야간 자동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3081528" y="1517904"/>
            <a:ext cx="694944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64408" y="1517904"/>
            <a:ext cx="6675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동기화→표준화→품질 게이트→학습→마이닝→에이전트→브리핑 — 18단계 무인 실행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10213848" y="1627632"/>
            <a:ext cx="1371600" cy="512064"/>
          </a:xfrm>
          <a:prstGeom prst="roundRect">
            <a:avLst>
              <a:gd name="adj" fmla="val 50000"/>
            </a:avLst>
          </a:prstGeom>
          <a:solidFill>
            <a:srgbClr val="EFE5D8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13848" y="1627632"/>
            <a:ext cx="13716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417320" y="2212848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▼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66928" y="2450592"/>
            <a:ext cx="2331720" cy="731520"/>
          </a:xfrm>
          <a:prstGeom prst="roundRect">
            <a:avLst>
              <a:gd name="adj" fmla="val 7500"/>
            </a:avLst>
          </a:prstGeom>
          <a:solidFill>
            <a:srgbClr val="9C5227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2450592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07:00 아침 브리핑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081528" y="2450592"/>
            <a:ext cx="694944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264408" y="2450592"/>
            <a:ext cx="6675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어제의 유의 변화만 한 장으로 — 아침 회의는 현장 보드 순서대로 15분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10213848" y="2560320"/>
            <a:ext cx="1371600" cy="512064"/>
          </a:xfrm>
          <a:prstGeom prst="roundRect">
            <a:avLst>
              <a:gd name="adj" fmla="val 50000"/>
            </a:avLst>
          </a:prstGeom>
          <a:solidFill>
            <a:srgbClr val="FDF3E0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213848" y="2560320"/>
            <a:ext cx="13716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전원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417320" y="314553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▼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66928" y="3383280"/>
            <a:ext cx="2331720" cy="731520"/>
          </a:xfrm>
          <a:prstGeom prst="roundRect">
            <a:avLst>
              <a:gd name="adj" fmla="val 7500"/>
            </a:avLst>
          </a:prstGeom>
          <a:solidFill>
            <a:srgbClr val="C07F1E"/>
          </a:solidFill>
          <a:ln/>
        </p:spPr>
      </p:sp>
      <p:sp>
        <p:nvSpPr>
          <p:cNvPr id="21" name="Text 19"/>
          <p:cNvSpPr/>
          <p:nvPr/>
        </p:nvSpPr>
        <p:spPr>
          <a:xfrm>
            <a:off x="566928" y="3383280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오전 품질 조치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3081528" y="3383280"/>
            <a:ext cx="694944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264408" y="3383280"/>
            <a:ext cx="6675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품질 리포트의 격리 건 확정(새 어휘 매핑) — 하루 5분이면 충분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10213848" y="3493008"/>
            <a:ext cx="1371600" cy="512064"/>
          </a:xfrm>
          <a:prstGeom prst="roundRect">
            <a:avLst>
              <a:gd name="adj" fmla="val 50000"/>
            </a:avLst>
          </a:prstGeom>
          <a:solidFill>
            <a:srgbClr val="FDF3E0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213848" y="3493008"/>
            <a:ext cx="13716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스튜어드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417320" y="407822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▼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66928" y="4315968"/>
            <a:ext cx="2331720" cy="731520"/>
          </a:xfrm>
          <a:prstGeom prst="roundRect">
            <a:avLst>
              <a:gd name="adj" fmla="val 7500"/>
            </a:avLst>
          </a:prstGeom>
          <a:solidFill>
            <a:srgbClr val="0E8F86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4315968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수시 승인함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3081528" y="4315968"/>
            <a:ext cx="694944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64408" y="4315968"/>
            <a:ext cx="6675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발주·생산계획·정비 제안 카드 검토 — 승인 또는 사유와 함께 반려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10213848" y="4425696"/>
            <a:ext cx="1371600" cy="512064"/>
          </a:xfrm>
          <a:prstGeom prst="roundRect">
            <a:avLst>
              <a:gd name="adj" fmla="val 50000"/>
            </a:avLst>
          </a:prstGeom>
          <a:solidFill>
            <a:srgbClr val="FDF3E0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213848" y="4425696"/>
            <a:ext cx="13716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 승인자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1417320" y="501091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▼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66928" y="5248656"/>
            <a:ext cx="2331720" cy="731520"/>
          </a:xfrm>
          <a:prstGeom prst="roundRect">
            <a:avLst>
              <a:gd name="adj" fmla="val 7500"/>
            </a:avLst>
          </a:prstGeom>
          <a:solidFill>
            <a:srgbClr val="0E8F86"/>
          </a:solidFill>
          <a:ln/>
        </p:spPr>
      </p:sp>
      <p:sp>
        <p:nvSpPr>
          <p:cNvPr id="35" name="Text 33"/>
          <p:cNvSpPr/>
          <p:nvPr/>
        </p:nvSpPr>
        <p:spPr>
          <a:xfrm>
            <a:off x="566928" y="5248656"/>
            <a:ext cx="2331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즉시 환류</a:t>
            </a:r>
            <a:endParaRPr lang="en-US" sz="1350" dirty="0"/>
          </a:p>
        </p:txBody>
      </p:sp>
      <p:sp>
        <p:nvSpPr>
          <p:cNvPr id="36" name="Shape 34"/>
          <p:cNvSpPr/>
          <p:nvPr/>
        </p:nvSpPr>
        <p:spPr>
          <a:xfrm>
            <a:off x="3081528" y="5248656"/>
            <a:ext cx="694944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264408" y="5248656"/>
            <a:ext cx="6675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 로그 기록 · 파라미터 반영 · 반려 사유는 다음 학습의 재료로</a:t>
            </a:r>
            <a:endParaRPr lang="en-US" sz="1250" dirty="0"/>
          </a:p>
        </p:txBody>
      </p:sp>
      <p:sp>
        <p:nvSpPr>
          <p:cNvPr id="38" name="Shape 36"/>
          <p:cNvSpPr/>
          <p:nvPr/>
        </p:nvSpPr>
        <p:spPr>
          <a:xfrm>
            <a:off x="10213848" y="5358384"/>
            <a:ext cx="1371600" cy="512064"/>
          </a:xfrm>
          <a:prstGeom prst="roundRect">
            <a:avLst>
              <a:gd name="adj" fmla="val 50000"/>
            </a:avLst>
          </a:prstGeom>
          <a:solidFill>
            <a:srgbClr val="EFE5D8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0213848" y="5358384"/>
            <a:ext cx="13716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566928" y="6199632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8F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매일 쓰는 시간: 스튜어드 약 30분 + 승인자 약 20분 — 나머지는 시스템이 돕니다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68603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PRINCIPLES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운영의 세 원칙 — 이것만 지키면 안전합니다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207008"/>
            <a:ext cx="1051560" cy="4114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600200"/>
            <a:ext cx="11055096" cy="1389888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600200"/>
            <a:ext cx="128016" cy="1389888"/>
          </a:xfrm>
          <a:prstGeom prst="rect">
            <a:avLst/>
          </a:prstGeom>
          <a:solidFill>
            <a:srgbClr val="9C5227"/>
          </a:solidFill>
          <a:ln/>
        </p:spPr>
      </p:sp>
      <p:sp>
        <p:nvSpPr>
          <p:cNvPr id="8" name="Text 6"/>
          <p:cNvSpPr/>
          <p:nvPr/>
        </p:nvSpPr>
        <p:spPr>
          <a:xfrm>
            <a:off x="886968" y="1728216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제안은 AI가, 결정은 사람이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86968" y="2148840"/>
            <a:ext cx="10607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값은 승인 순간에만 바뀝니다. 급해도 승인함을 건너뛰는 지름길은 없습니다 — 지름길이 없다는 것이 이 시스템의 안전장치입니다.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3200400"/>
            <a:ext cx="11055096" cy="1389888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6928" y="3200400"/>
            <a:ext cx="128016" cy="1389888"/>
          </a:xfrm>
          <a:prstGeom prst="rect">
            <a:avLst/>
          </a:prstGeom>
          <a:solidFill>
            <a:srgbClr val="C07F1E"/>
          </a:solidFill>
          <a:ln/>
        </p:spPr>
      </p:sp>
      <p:sp>
        <p:nvSpPr>
          <p:cNvPr id="12" name="Text 10"/>
          <p:cNvSpPr/>
          <p:nvPr/>
        </p:nvSpPr>
        <p:spPr>
          <a:xfrm>
            <a:off x="886968" y="3328416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수치에는 근거가 붙습니다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886968" y="3749040"/>
            <a:ext cx="10607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카드의 모든 문장에 〔근거〕 표기가 있고, '왜?' 버튼으로 원본 데이터까지 역추적됩니다. 근거 표기가 없는 화면을 보면 그것이 곧 장애 신고 대상입니다.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66928" y="4800600"/>
            <a:ext cx="11055096" cy="1389888"/>
          </a:xfrm>
          <a:prstGeom prst="roundRect">
            <a:avLst>
              <a:gd name="adj" fmla="val 4605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66928" y="4800600"/>
            <a:ext cx="128016" cy="1389888"/>
          </a:xfrm>
          <a:prstGeom prst="rect">
            <a:avLst/>
          </a:prstGeom>
          <a:solidFill>
            <a:srgbClr val="A8493B"/>
          </a:solidFill>
          <a:ln/>
        </p:spPr>
      </p:sp>
      <p:sp>
        <p:nvSpPr>
          <p:cNvPr id="16" name="Text 14"/>
          <p:cNvSpPr/>
          <p:nvPr/>
        </p:nvSpPr>
        <p:spPr>
          <a:xfrm>
            <a:off x="886968" y="4928616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막히면 우회하지 말고 고치세요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86968" y="5349240"/>
            <a:ext cx="10607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격리 큐 강제 매핑 · 승인 없는 파라미터 변경 · 게이트 없는 외부 전송은 전부 코드가 막습니다. 막힌 것을 우회하려는 순간이 사고의 입구 — 대신 계약(규칙)을 고쳐 주세요.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68603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SCREEN 1/7 — 아침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아침 브리핑 — 하루는 이 한 장으로 시작합니다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207008"/>
            <a:ext cx="1051560" cy="41148"/>
          </a:xfrm>
          <a:prstGeom prst="rect">
            <a:avLst/>
          </a:prstGeom>
          <a:solidFill>
            <a:srgbClr val="E8A33D"/>
          </a:solidFill>
          <a:ln/>
        </p:spPr>
      </p:sp>
      <p:pic>
        <p:nvPicPr>
          <p:cNvPr id="6" name="Image 0" descr="/tmp/claude-0/-home-user-thirdbrain-web/bc639c69-a342-56eb-af6c-6a89fd170e25/scratchpad/demo_video_anon/s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71600"/>
            <a:ext cx="8138160" cy="4577715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3a2a1a">
                <a:alpha val="35000"/>
              </a:srgbClr>
            </a:outerShdw>
          </a:effectLst>
        </p:spPr>
      </p:pic>
      <p:sp>
        <p:nvSpPr>
          <p:cNvPr id="7" name="Text 4"/>
          <p:cNvSpPr/>
          <p:nvPr/>
        </p:nvSpPr>
        <p:spPr>
          <a:xfrm>
            <a:off x="8906256" y="1371600"/>
            <a:ext cx="29626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포인트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906256" y="1874520"/>
            <a:ext cx="2962656" cy="950976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997696" y="1920240"/>
            <a:ext cx="2779776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언제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 07:00 자동 발행 — 아침 회의 시작 전 1분 훑기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8906256" y="2935224"/>
            <a:ext cx="2962656" cy="950976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997696" y="2980944"/>
            <a:ext cx="2779776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보나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어제의 '유의 변화'만 · 원인은 단정하지 않고 동반 관찰만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906256" y="3995928"/>
            <a:ext cx="2962656" cy="950976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997696" y="4041648"/>
            <a:ext cx="2779776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조치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변화 항목을 아침 회의 안건으로 — 상세는 분석 스튜디오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906256" y="5056632"/>
            <a:ext cx="2962656" cy="950976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997696" y="5102352"/>
            <a:ext cx="2779776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전원 열람 · 진행은 현장 리더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68603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SCREEN 2/7 — 분석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스튜디오 — 어디가, 언제부터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207008"/>
            <a:ext cx="1051560" cy="41148"/>
          </a:xfrm>
          <a:prstGeom prst="rect">
            <a:avLst/>
          </a:prstGeom>
          <a:solidFill>
            <a:srgbClr val="E8A33D"/>
          </a:solidFill>
          <a:ln/>
        </p:spPr>
      </p:sp>
      <p:pic>
        <p:nvPicPr>
          <p:cNvPr id="6" name="Image 0" descr="/tmp/claude-0/-home-user-thirdbrain-web/bc639c69-a342-56eb-af6c-6a89fd170e25/scratchpad/demo_video_anon/s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71600"/>
            <a:ext cx="8138160" cy="4577715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3a2a1a">
                <a:alpha val="35000"/>
              </a:srgbClr>
            </a:outerShdw>
          </a:effectLst>
        </p:spPr>
      </p:pic>
      <p:sp>
        <p:nvSpPr>
          <p:cNvPr id="7" name="Text 4"/>
          <p:cNvSpPr/>
          <p:nvPr/>
        </p:nvSpPr>
        <p:spPr>
          <a:xfrm>
            <a:off x="8906256" y="1371600"/>
            <a:ext cx="29626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포인트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906256" y="1874520"/>
            <a:ext cx="2962656" cy="950976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997696" y="1920240"/>
            <a:ext cx="2779776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층별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설비·교대·자재 로트별로 쪼개 '어디가 다른가'를 봅니다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8906256" y="2935224"/>
            <a:ext cx="2962656" cy="950976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997696" y="2980944"/>
            <a:ext cx="2779776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관리도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붉은 점 = 통계적 이탈 — '언제부터'가 특정됩니다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906256" y="3995928"/>
            <a:ext cx="2962656" cy="950976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997696" y="4041648"/>
            <a:ext cx="2779776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조치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이탈 구간은 야간 마이닝이 자동 분석 — 다음날 원인 후보로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906256" y="5056632"/>
            <a:ext cx="2962656" cy="950976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997696" y="5102352"/>
            <a:ext cx="2779776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스튜어드 · 품질 담당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68603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SCREEN 3/7 — 근거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 역추적 — '왜?'에 끝까지 답합니다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207008"/>
            <a:ext cx="1051560" cy="41148"/>
          </a:xfrm>
          <a:prstGeom prst="rect">
            <a:avLst/>
          </a:prstGeom>
          <a:solidFill>
            <a:srgbClr val="E8A33D"/>
          </a:solidFill>
          <a:ln/>
        </p:spPr>
      </p:sp>
      <p:pic>
        <p:nvPicPr>
          <p:cNvPr id="6" name="Image 0" descr="/tmp/claude-0/-home-user-thirdbrain-web/bc639c69-a342-56eb-af6c-6a89fd170e25/scratchpad/demo_video_anon/s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71600"/>
            <a:ext cx="8138160" cy="4577715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3a2a1a">
                <a:alpha val="35000"/>
              </a:srgbClr>
            </a:outerShdw>
          </a:effectLst>
        </p:spPr>
      </p:pic>
      <p:sp>
        <p:nvSpPr>
          <p:cNvPr id="7" name="Text 4"/>
          <p:cNvSpPr/>
          <p:nvPr/>
        </p:nvSpPr>
        <p:spPr>
          <a:xfrm>
            <a:off x="8906256" y="1371600"/>
            <a:ext cx="29626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포인트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906256" y="1874520"/>
            <a:ext cx="2962656" cy="950976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997696" y="1920240"/>
            <a:ext cx="2779776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 사다리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 → 원인 후보 → 통계 검정 → 원본 데이터 4단 역추적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8906256" y="2935224"/>
            <a:ext cx="2962656" cy="950976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997696" y="2980944"/>
            <a:ext cx="2779776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확신도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70% 이상 · 3회 재현된 원인만 규칙으로 승격됩니다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906256" y="3995928"/>
            <a:ext cx="2962656" cy="950976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997696" y="4041648"/>
            <a:ext cx="2779776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조치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 승격 시 SOP 개정안이 자동 기안 — 승인은 사람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906256" y="5056632"/>
            <a:ext cx="2962656" cy="950976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997696" y="5102352"/>
            <a:ext cx="2779776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품질 담당 · 공장장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68603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SCREEN 4/7 — 승인함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승인함 — 오늘의 제안들이 기다립니다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207008"/>
            <a:ext cx="1051560" cy="41148"/>
          </a:xfrm>
          <a:prstGeom prst="rect">
            <a:avLst/>
          </a:prstGeom>
          <a:solidFill>
            <a:srgbClr val="E8A33D"/>
          </a:solidFill>
          <a:ln/>
        </p:spPr>
      </p:sp>
      <p:pic>
        <p:nvPicPr>
          <p:cNvPr id="6" name="Image 0" descr="/tmp/claude-0/-home-user-thirdbrain-web/bc639c69-a342-56eb-af6c-6a89fd170e25/scratchpad/demo_video_anon/s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71600"/>
            <a:ext cx="8732520" cy="4912043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3a2a1a">
                <a:alpha val="35000"/>
              </a:srgbClr>
            </a:outerShdw>
          </a:effectLst>
        </p:spPr>
      </p:pic>
      <p:sp>
        <p:nvSpPr>
          <p:cNvPr id="7" name="Text 4"/>
          <p:cNvSpPr/>
          <p:nvPr/>
        </p:nvSpPr>
        <p:spPr>
          <a:xfrm>
            <a:off x="9500616" y="1371600"/>
            <a:ext cx="236829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포인트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9500616" y="1773936"/>
            <a:ext cx="2368296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592056" y="1819656"/>
            <a:ext cx="2185416" cy="9875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 구성
</a:t>
            </a:r>
            <a:pPr indent="0" marL="0">
              <a:buNone/>
            </a:pPr>
            <a:r>
              <a:rPr lang="en-US" sz="100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수치 + 구간(P10~P90) + 〔근거〕 + 대안이 한 장에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9500616" y="2962656"/>
            <a:ext cx="2368296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592056" y="3008376"/>
            <a:ext cx="2185416" cy="9875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
</a:t>
            </a:r>
            <a:pPr indent="0" marL="0">
              <a:buNone/>
            </a:pPr>
            <a:r>
              <a:rPr lang="en-US" sz="100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'승인 → 환류' 클릭 — 그 순간에만 시스템 값이 바뀝니다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9500616" y="4151376"/>
            <a:ext cx="2368296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592056" y="4197096"/>
            <a:ext cx="2185416" cy="9875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
</a:t>
            </a:r>
            <a:pPr indent="0" marL="0">
              <a:buNone/>
            </a:pPr>
            <a:r>
              <a:rPr lang="en-US" sz="100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사유 필수(현장 사정·시점 부적절 등) — 다음 학습의 재료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9500616" y="5340096"/>
            <a:ext cx="2368296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592056" y="5385816"/>
            <a:ext cx="2185416" cy="9875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
</a:t>
            </a:r>
            <a:pPr indent="0" marL="0">
              <a:buNone/>
            </a:pPr>
            <a:r>
              <a:rPr lang="en-US" sz="100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 승인자 · 하루 20분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68603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SCREEN 5/7 — 기록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승인의 순간 — 기록되고, 반영되고, 남습니다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207008"/>
            <a:ext cx="1051560" cy="41148"/>
          </a:xfrm>
          <a:prstGeom prst="rect">
            <a:avLst/>
          </a:prstGeom>
          <a:solidFill>
            <a:srgbClr val="E8A33D"/>
          </a:solidFill>
          <a:ln/>
        </p:spPr>
      </p:sp>
      <p:pic>
        <p:nvPicPr>
          <p:cNvPr id="6" name="Image 0" descr="/tmp/claude-0/-home-user-thirdbrain-web/bc639c69-a342-56eb-af6c-6a89fd170e25/scratchpad/demo_video_anon/s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71600"/>
            <a:ext cx="8138160" cy="4577715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3a2a1a">
                <a:alpha val="35000"/>
              </a:srgbClr>
            </a:outerShdw>
          </a:effectLst>
        </p:spPr>
      </p:pic>
      <p:sp>
        <p:nvSpPr>
          <p:cNvPr id="7" name="Text 4"/>
          <p:cNvSpPr/>
          <p:nvPr/>
        </p:nvSpPr>
        <p:spPr>
          <a:xfrm>
            <a:off x="8906256" y="1371600"/>
            <a:ext cx="29626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포인트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906256" y="1874520"/>
            <a:ext cx="2962656" cy="950976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997696" y="1920240"/>
            <a:ext cx="2779776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 로그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누가·언제·무엇을 — 전 결정이 자동 기록, 수정 불가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8906256" y="2935224"/>
            <a:ext cx="2962656" cy="950976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997696" y="2980944"/>
            <a:ext cx="2779776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파라미터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승인된 값만 반영 · 이전 값 보존 — 언제든 되돌릴 수 있음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906256" y="3995928"/>
            <a:ext cx="2962656" cy="950976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997696" y="4041648"/>
            <a:ext cx="2779776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승급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저위험 카드는 상한 안에서 자동 실행 승급(위반 시 자동 강등)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906256" y="5056632"/>
            <a:ext cx="2962656" cy="950976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997696" y="5102352"/>
            <a:ext cx="2779776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— 관리자는 주 1회 로그 훑기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68603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SCREEN 6/7 — 생산계획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생산계획 카드 — 용량까지 아는 제안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207008"/>
            <a:ext cx="1051560" cy="41148"/>
          </a:xfrm>
          <a:prstGeom prst="rect">
            <a:avLst/>
          </a:prstGeom>
          <a:solidFill>
            <a:srgbClr val="E8A33D"/>
          </a:solidFill>
          <a:ln/>
        </p:spPr>
      </p:sp>
      <p:pic>
        <p:nvPicPr>
          <p:cNvPr id="6" name="Image 0" descr="/tmp/claude-0/-home-user-thirdbrain-web/bc639c69-a342-56eb-af6c-6a89fd170e25/scratchpad/demo_video_anon/s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71600"/>
            <a:ext cx="8138160" cy="4577715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3a2a1a">
                <a:alpha val="35000"/>
              </a:srgbClr>
            </a:outerShdw>
          </a:effectLst>
        </p:spPr>
      </p:pic>
      <p:sp>
        <p:nvSpPr>
          <p:cNvPr id="7" name="Text 4"/>
          <p:cNvSpPr/>
          <p:nvPr/>
        </p:nvSpPr>
        <p:spPr>
          <a:xfrm>
            <a:off x="8906256" y="1371600"/>
            <a:ext cx="29626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포인트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906256" y="1874520"/>
            <a:ext cx="2962656" cy="950976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997696" y="1920240"/>
            <a:ext cx="2779776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 새벽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날 수요예측 × 라인 용량으로 품목별 생산량 기안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8906256" y="2935224"/>
            <a:ext cx="2962656" cy="950976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997696" y="2980944"/>
            <a:ext cx="2779776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용량 초과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경고와 함께 감축안 제시 — 유통기한 제약도 반영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906256" y="3995928"/>
            <a:ext cx="2962656" cy="950976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997696" y="4041648"/>
            <a:ext cx="2779776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문장마다 〔근거〕 — 근거 없는 문장은 생성 자체가 불가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906256" y="5056632"/>
            <a:ext cx="2962656" cy="950976"/>
          </a:xfrm>
          <a:prstGeom prst="roundRect">
            <a:avLst>
              <a:gd name="adj" fmla="val 5769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997696" y="5102352"/>
            <a:ext cx="2779776" cy="8595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
</a:t>
            </a:r>
            <a:pPr indent="0" marL="0">
              <a:buNone/>
            </a:pPr>
            <a:r>
              <a:rPr lang="en-US" sz="10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공장장 승인 후 당일 계획 확정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68603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SCREEN 7/7 — 경영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War Room — 경영이 보는 한 화면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207008"/>
            <a:ext cx="1051560" cy="41148"/>
          </a:xfrm>
          <a:prstGeom prst="rect">
            <a:avLst/>
          </a:prstGeom>
          <a:solidFill>
            <a:srgbClr val="E8A33D"/>
          </a:solidFill>
          <a:ln/>
        </p:spPr>
      </p:sp>
      <p:pic>
        <p:nvPicPr>
          <p:cNvPr id="6" name="Image 0" descr="/tmp/claude-0/-home-user-thirdbrain-web/bc639c69-a342-56eb-af6c-6a89fd170e25/scratchpad/demo_video_anon/s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71600"/>
            <a:ext cx="8732520" cy="4912043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3a2a1a">
                <a:alpha val="35000"/>
              </a:srgbClr>
            </a:outerShdw>
          </a:effectLst>
        </p:spPr>
      </p:pic>
      <p:sp>
        <p:nvSpPr>
          <p:cNvPr id="7" name="Text 4"/>
          <p:cNvSpPr/>
          <p:nvPr/>
        </p:nvSpPr>
        <p:spPr>
          <a:xfrm>
            <a:off x="9500616" y="1371600"/>
            <a:ext cx="236829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포인트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9500616" y="1773936"/>
            <a:ext cx="2368296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592056" y="1819656"/>
            <a:ext cx="2185416" cy="9875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주간 리뷰
</a:t>
            </a:r>
            <a:pPr indent="0" marL="0">
              <a:buNone/>
            </a:pPr>
            <a:r>
              <a:rPr lang="en-US" sz="100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KPI → 반려 사유 → 에이전트 오류 → 드리프트 → 승급 결정 순 15분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9500616" y="2962656"/>
            <a:ext cx="2368296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592056" y="3008376"/>
            <a:ext cx="2185416" cy="9875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리스크 신호등
</a:t>
            </a:r>
            <a:pPr indent="0" marL="0">
              <a:buNone/>
            </a:pPr>
            <a:r>
              <a:rPr lang="en-US" sz="100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5개 리스크 녹/황/적 — 적신호는 당일 조치 원칙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9500616" y="4151376"/>
            <a:ext cx="2368296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592056" y="4197096"/>
            <a:ext cx="2185416" cy="9875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회의록
</a:t>
            </a:r>
            <a:pPr indent="0" marL="0">
              <a:buNone/>
            </a:pPr>
            <a:r>
              <a:rPr lang="en-US" sz="100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사항만 남깁니다 — 수치는 화면이 이미 기록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9500616" y="5340096"/>
            <a:ext cx="2368296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592056" y="5385816"/>
            <a:ext cx="2185416" cy="9875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
</a:t>
            </a:r>
            <a:pPr indent="0" marL="0">
              <a:buNone/>
            </a:pPr>
            <a:r>
              <a:rPr lang="en-US" sz="100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 · 공장장 · 주 1회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68603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ROLES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역할과 책임 — 네 사람이면 돌아갑니다 (겸직 가능)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207008"/>
            <a:ext cx="1051560" cy="41148"/>
          </a:xfrm>
          <a:prstGeom prst="rect">
            <a:avLst/>
          </a:prstGeom>
          <a:solidFill>
            <a:srgbClr val="E8A33D"/>
          </a:solidFill>
          <a:ln/>
        </p:spPr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00200"/>
          <a:ext cx="11055096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5394960"/>
                <a:gridCol w="1280160"/>
                <a:gridCol w="2459736"/>
              </a:tblGrid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역할</a:t>
                      </a:r>
                      <a:endParaRPr lang="en-US" sz="1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3A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하는 일</a:t>
                      </a:r>
                      <a:endParaRPr lang="en-US" sz="1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3A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시간</a:t>
                      </a:r>
                      <a:endParaRPr lang="en-US" sz="1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3A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 화면</a:t>
                      </a:r>
                      <a:endParaRPr lang="en-US" sz="1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3A1C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6E3A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스튜어드</a:t>
                      </a:r>
                      <a:endParaRPr lang="en-US" sz="1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격리 큐 확정(새 어휘 매핑) · 품질 리포트 조치 · 데이터 반입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 30분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품질 리포트 · 격리 큐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6E3A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카드 승인자</a:t>
                      </a:r>
                      <a:endParaRPr lang="en-US" sz="1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 카드 승인/반려 — 발주·생산계획·정비·SOP 개정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 20분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승인함(/inbox)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6E3A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현장 리더</a:t>
                      </a:r>
                      <a:endParaRPr lang="en-US" sz="1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아침 회의 진행 · 장표 폼 입력 관리(생산일지·점검표·폐기)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 15분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아침 브리핑 · 현장 보드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6E3A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시스템 관리자</a:t>
                      </a:r>
                      <a:endParaRPr lang="en-US" sz="16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야간 배치 확인 · 백업 확인 · 계정 관리 — ASC가 원격 지원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 1시간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War Room · 로그</a:t>
                      </a:r>
                      <a:endParaRPr lang="en-US" sz="15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5806440"/>
            <a:ext cx="11055096" cy="548640"/>
          </a:xfrm>
          <a:prstGeom prst="rect">
            <a:avLst/>
          </a:prstGeom>
          <a:solidFill>
            <a:srgbClr val="FDF3E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 인원 제안 — </a:t>
            </a:r>
            <a:pPr indent="0" marL="0">
              <a:buNone/>
            </a:pPr>
            <a:r>
              <a:rPr lang="en-US" sz="14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스튜어드·현장 리더 겸직 1명 + 승인자 1명, 총 2명으로 시작할 수 있습니다. 관리자 몫은 도입 초기 ASC가 대행합니다.</a:t>
            </a:r>
            <a:endParaRPr lang="en-US" sz="14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68603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DAILY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 단위 운영 — 하루 체크리스트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207008"/>
            <a:ext cx="1051560" cy="41148"/>
          </a:xfrm>
          <a:prstGeom prst="rect">
            <a:avLst/>
          </a:prstGeom>
          <a:solidFill>
            <a:srgbClr val="E8A33D"/>
          </a:solidFill>
          <a:ln/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508760"/>
          <a:ext cx="11055096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4114800"/>
                <a:gridCol w="4206240"/>
                <a:gridCol w="1545336"/>
              </a:tblGrid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시각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3A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3A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어떻게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3A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담당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3A1C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E3A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야간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정합 배치 + 표준화 + 학습 + 마이닝 (18단계)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스케줄러 자동 — 아침에 실패 알림만 확인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자동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E3A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07:00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아침 브리핑 발행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자동 발행 → 메신저 수신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자동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E3A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07:30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아침 회의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현장 보드 순서대로 15분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현장 리더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E3A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오전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품질 리포트 조치 — 격리 건 확정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격리 큐에서 새 어휘 표준 코드 지정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스튜어드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E3A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수시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승인함 처리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대기 카드 검토 — 승인 / 사유와 함께 반려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카드 승인자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E3A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마감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현장 장표 입력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생산일지 · 오븐 점검표 · 마감 폐기 장부(태블릿)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현장 리더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5349240"/>
            <a:ext cx="110550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8F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 알림이 없고 브리핑이 도착했다면 — 어젯밤 시스템은 정상입니다. 그게 확인의 전부입니다.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68603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WEEKLY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단위 운영 — 모델과 경영의 리듬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207008"/>
            <a:ext cx="1051560" cy="4114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572768"/>
            <a:ext cx="11055096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72768"/>
            <a:ext cx="128016" cy="1371600"/>
          </a:xfrm>
          <a:prstGeom prst="rect">
            <a:avLst/>
          </a:prstGeom>
          <a:solidFill>
            <a:srgbClr val="9C5227"/>
          </a:solidFill>
          <a:ln/>
        </p:spPr>
      </p:sp>
      <p:sp>
        <p:nvSpPr>
          <p:cNvPr id="8" name="Text 6"/>
          <p:cNvSpPr/>
          <p:nvPr/>
        </p:nvSpPr>
        <p:spPr>
          <a:xfrm>
            <a:off x="886968" y="16916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재학습·드리프트 점검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886968" y="2103120"/>
            <a:ext cx="10607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드리프트(PSI) 경보 2건 이상 또는 예측 정확도 하한 초과 시 → 새 버전 학습 → 그림자 운영 1주 → 좋을 때만 승격. 자동 절차이며 승격 승인만 사람이 합니다.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3145536"/>
            <a:ext cx="11055096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6928" y="3145536"/>
            <a:ext cx="128016" cy="1371600"/>
          </a:xfrm>
          <a:prstGeom prst="rect">
            <a:avLst/>
          </a:prstGeom>
          <a:solidFill>
            <a:srgbClr val="C07F1E"/>
          </a:solidFill>
          <a:ln/>
        </p:spPr>
      </p:sp>
      <p:sp>
        <p:nvSpPr>
          <p:cNvPr id="12" name="Text 10"/>
          <p:cNvSpPr/>
          <p:nvPr/>
        </p:nvSpPr>
        <p:spPr>
          <a:xfrm>
            <a:off x="886968" y="3264408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War Room 리뷰 (주 1회 15분)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886968" y="3675888"/>
            <a:ext cx="10607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KPI → 반려 사유 분포 → 에이전트 오류 → 드리프트 → 자동실행 승급/강등 결정. 회의록에는 결정만 남깁니다.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66928" y="4718304"/>
            <a:ext cx="11055096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66928" y="4718304"/>
            <a:ext cx="128016" cy="1371600"/>
          </a:xfrm>
          <a:prstGeom prst="rect">
            <a:avLst/>
          </a:prstGeom>
          <a:solidFill>
            <a:srgbClr val="0E8F86"/>
          </a:solidFill>
          <a:ln/>
        </p:spPr>
      </p:sp>
      <p:sp>
        <p:nvSpPr>
          <p:cNvPr id="16" name="Text 14"/>
          <p:cNvSpPr/>
          <p:nvPr/>
        </p:nvSpPr>
        <p:spPr>
          <a:xfrm>
            <a:off x="886968" y="4837176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백업 확인 (주 1회 육안)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886968" y="5248656"/>
            <a:ext cx="10607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백업 3본(일·주·월) 로그 확인. 실패 경보가 없어도 주 1회는 눈으로 봅니다.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68603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BIWEEKLY · QUARTERLY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격주·분기 — 리스크 점검과 복구 시험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207008"/>
            <a:ext cx="1051560" cy="41148"/>
          </a:xfrm>
          <a:prstGeom prst="rect">
            <a:avLst/>
          </a:prstGeom>
          <a:solidFill>
            <a:srgbClr val="E8A33D"/>
          </a:solidFill>
          <a:ln/>
        </p:spPr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554480"/>
          <a:ext cx="11055096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6675120"/>
                <a:gridCol w="3191256"/>
              </a:tblGrid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주기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3A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점검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3A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판정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3A1C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E3A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격주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리스크 5 점검 — 신규 양식 무단 유입 · 요구서 없는 기능 · 검증 밖 학습 흔적 · 회귀 질의 10선 · 스튜어드 단독 수행 수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녹 / 황 / 적 — 적신호는 War Room 안건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E3A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분기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복구 시험 — 백업에서 실제 복원 리허설(절차서 그대로), 소요 시간 기록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기록 필수 — 미실시 = 황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E3A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분기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권한 점검 — 계정·승인권·반출 게이트 승인자 목록 재확인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퇴사·이동 반영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4754880"/>
            <a:ext cx="11055096" cy="502920"/>
          </a:xfrm>
          <a:prstGeom prst="rect">
            <a:avLst/>
          </a:prstGeom>
          <a:solidFill>
            <a:srgbClr val="FDF3E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4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 — </a:t>
            </a:r>
            <a:pPr indent="0" marL="0">
              <a:buNone/>
            </a:pPr>
            <a:r>
              <a:rPr lang="en-US" sz="130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"백업이 있다"와 "복구가 된다"는 다른 말입니다. 복구 시험을 건너뛴 분기는 리스크 황색으로 기록됩니다.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68603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HOW-TO — STEWARD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스튜어드 실무 — 격리 큐 처리 3단계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207008"/>
            <a:ext cx="1051560" cy="4114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572768"/>
            <a:ext cx="11055096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82496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C52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아침에 열기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95528" y="2093976"/>
            <a:ext cx="1069848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품질 리포트의 '격리' 건수 확인 — 새 상품명·매장 호칭·자재 별칭이 들어오면 여기 모입니다. 격리는 오류가 아니라 시스템이 '이건 처음 보는 말'이라고 손을 든 것입니다.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66928" y="3145536"/>
            <a:ext cx="11055096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95528" y="3255264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C52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표준 코드 지정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95528" y="3666744"/>
            <a:ext cx="1069848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격리 목록에서 건별로 올바른 표준 코드를 지정합니다(예: '초량점 만쥬' → S-CHORYANG × P-PIE). 확신이 없으면 추측하지 말고 현장에 물어보세요 — 잘못된 확정은 예측 전체를 오염시킵니다.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66928" y="4718304"/>
            <a:ext cx="11055096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" y="482803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C52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확정하면 끝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95528" y="5239512"/>
            <a:ext cx="1069848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 확정한 어휘는 코드 사전에 등록되어 다음부터 자동 매핑됩니다. 처리 이력은 전부 기록되며, 잘못 확정한 경우 재지정하면 다음 배치에서 소급 반영됩니다.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68603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HOW-TO — APPROVER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승인자 실무 — 카드 읽는 법과 자동 실행 정책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207008"/>
            <a:ext cx="1051560" cy="4114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4630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카드에서 반드시 볼 네 가지</a:t>
            </a:r>
            <a:endParaRPr lang="en-US" sz="15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874520"/>
          <a:ext cx="566928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466344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3A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보는 법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3A1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6E3A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제안 값 — 직전 실적과 나란히 표시됩니다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6E3A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P10~P90 — 구간이 넓으면 불확실하다는 뜻, 신중히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6E3A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〔근거〕 태그 — '왜?' 버튼으로 원본까지 역추적 가능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6E3A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기각된 대안과 그 이유 — 왜 이 값인지의 반대편 증거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556248" y="1463040"/>
            <a:ext cx="506577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실행 승급·강등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556248" y="1874520"/>
            <a:ext cx="5065776" cy="3291840"/>
          </a:xfrm>
          <a:prstGeom prst="roundRect">
            <a:avLst>
              <a:gd name="adj" fmla="val 1944"/>
            </a:avLst>
          </a:prstGeom>
          <a:solidFill>
            <a:srgbClr val="FFFFFF"/>
          </a:solidFill>
          <a:ln w="12700">
            <a:solidFill>
              <a:srgbClr val="DCCDB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757416" y="2057400"/>
            <a:ext cx="466344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E8F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승급 조건 (모두 충족 시 제안됨)
</a:t>
            </a:r>
            <a:pPr indent="0" marL="0">
              <a:buNone/>
            </a:pPr>
            <a:r>
              <a:rPr lang="en-US" sz="120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같은 유형 카드 승인율이 충분히 높고
· 금액·수량이 안전 상한 이내이며
· 최근 반려·오류 이력이 없을 것
</a:t>
            </a:r>
            <a:pPr indent="0" marL="0">
              <a:buNone/>
            </a:pPr>
            <a:r>
              <a:rPr lang="en-US" sz="1300" b="1" dirty="0">
                <a:solidFill>
                  <a:srgbClr val="A84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강등 (자동)
</a:t>
            </a:r>
            <a:pPr indent="0" marL="0">
              <a:buNone/>
            </a:pPr>
            <a:r>
              <a:rPr lang="en-US" sz="120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상한 초과 시도 · 승인율 하락 · 드리프트 경보 시 즉시 사람 승인으로 복귀
</a:t>
            </a:r>
            <a:pPr indent="0" marL="0">
              <a:buNone/>
            </a:pPr>
            <a:r>
              <a:rPr lang="en-US" sz="12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승급 여부의 최종 결정도 War Room에서 사람이 합니다.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566928" y="5486400"/>
            <a:ext cx="110550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반려에는 반드시 사유를 — 사유는 벌점이 아니라 다음 제안을 더 낫게 만드는 학습 재료입니다.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68603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REFERENCE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명령어 요람 — 관리자를 위한 한 장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207008"/>
            <a:ext cx="1051560" cy="41148"/>
          </a:xfrm>
          <a:prstGeom prst="rect">
            <a:avLst/>
          </a:prstGeom>
          <a:solidFill>
            <a:srgbClr val="E8A33D"/>
          </a:solidFill>
          <a:ln/>
        </p:spPr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63040"/>
          <a:ext cx="11055096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5943600"/>
                <a:gridCol w="3008376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무엇을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3A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명령 / 주소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3A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비고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3A1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E3A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승인함 열기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241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http://서버주소/inbox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역할 선택 후 카드 처리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E3A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War Room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241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artifacts/boards/war_room.html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주간 리뷰 화면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E3A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대기 카드 목록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241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python -m core.axp.cli cards --status proposed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터미널에서 확인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E3A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카드 승인/반려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241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python -m core.axp.cli approve &lt;번호&gt; · reject &lt;번호&gt;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사유 입력 필수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E3A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격리 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241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python -m core.axp.cli quarantine · confirm &lt;번호&gt;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스튜어드 일과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E3A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브리핑 재발행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241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python -m core.axp.cli briefing &lt;날짜&gt;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놓친 날 다시 보기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E3A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야간 배치 수동 실행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241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python -m core.axp.scheduler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장애 복구 후 재실행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E3A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질문하기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E241C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python -m core.axp.cli ask "질문"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E241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 딸린 답변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82296" marR="82296" marT="45720" marB="45720" anchor="ctr">
                    <a:lnL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CD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5806440"/>
            <a:ext cx="110550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도입 초기에는 전부 ASC가 대행합니다 — 이 장은 인수인계 후를 위한 참고입니다.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686032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07F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SAFETY · HANDOVER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566928"/>
            <a:ext cx="1105509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하지 말 것 다섯 가지, 그리고 인수인계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66928" y="1207008"/>
            <a:ext cx="1051560" cy="4114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463040"/>
            <a:ext cx="5577840" cy="3977640"/>
          </a:xfrm>
          <a:prstGeom prst="roundRect">
            <a:avLst>
              <a:gd name="adj" fmla="val 1609"/>
            </a:avLst>
          </a:prstGeom>
          <a:solidFill>
            <a:srgbClr val="FFFFFF"/>
          </a:solidFill>
          <a:ln w="12700">
            <a:solidFill>
              <a:srgbClr val="A849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0020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84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하지 말 것 5 — 전부 코드가 막지만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95528" y="2057400"/>
            <a:ext cx="512064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350" b="1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격리 큐를 우회한 강제 매핑
</a:t>
            </a:r>
            <a:pPr indent="0" marL="0">
              <a:lnSpc>
                <a:spcPts val="2600"/>
              </a:lnSpc>
              <a:buNone/>
            </a:pPr>
            <a:r>
              <a:rPr lang="en-US" sz="1350" b="1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모델 카드 없는 모델 배포
</a:t>
            </a:r>
            <a:pPr indent="0" marL="0">
              <a:lnSpc>
                <a:spcPts val="2600"/>
              </a:lnSpc>
              <a:buNone/>
            </a:pPr>
            <a:r>
              <a:rPr lang="en-US" sz="1350" b="1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승인 없는 파라미터 변경
</a:t>
            </a:r>
            <a:pPr indent="0" marL="0">
              <a:lnSpc>
                <a:spcPts val="2600"/>
              </a:lnSpc>
              <a:buNone/>
            </a:pPr>
            <a:r>
              <a:rPr lang="en-US" sz="1350" b="1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 반출 게이트 없는 외부 전송
</a:t>
            </a:r>
            <a:pPr indent="0" marL="0">
              <a:lnSpc>
                <a:spcPts val="2600"/>
              </a:lnSpc>
              <a:buNone/>
            </a:pPr>
            <a:r>
              <a:rPr lang="en-US" sz="1350" b="1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5. 회귀 시험 없는 모델·LLM 교체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4343400"/>
            <a:ext cx="51206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막힌 것을 우회하려는 순간이 사고의 입구입니다.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우회 대신 규칙 개정을 요청하세요 — 하루면 반영됩니다.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510528" y="1463040"/>
            <a:ext cx="5111496" cy="3977640"/>
          </a:xfrm>
          <a:prstGeom prst="roundRect">
            <a:avLst>
              <a:gd name="adj" fmla="val 1609"/>
            </a:avLst>
          </a:prstGeom>
          <a:solidFill>
            <a:srgbClr val="FFFFFF"/>
          </a:solidFill>
          <a:ln w="12700">
            <a:solidFill>
              <a:srgbClr val="0E8F8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739128" y="1600200"/>
            <a:ext cx="46542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8F8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인수인계 검수 — 스튜어드 단독 수행 4종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739128" y="2057400"/>
            <a:ext cx="4654296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 재학습 1회 — 새 버전 학습·그림자·승격까지
</a:t>
            </a:r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 카드 승인 1회 — 근거 확인·승인·환류 확인까지
</a:t>
            </a:r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 자산 대장 갱신 1회 — 신규 데이터 등록
</a:t>
            </a:r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2E24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 백업 복구 1회 — 복원 리허설 완주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739128" y="4160520"/>
            <a:ext cx="4654296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4종을 ASC 없이 완주하면 시스템은 T사의 손으로 넘어갑니다.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667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그때 반출 게이트 승인자와 레지스트리 승인권도 함께 교체합니다.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66928" y="5806440"/>
            <a:ext cx="110550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E3A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문의: 에이에스씨(ASC) 이형근 · asclhg@gmail.com — 도입 초기 전 절차 동행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2026-09-11T01:41:16Z</dcterms:created>
  <dcterms:modified xsi:type="dcterms:W3CDTF">2026-09-11T01:41:16Z</dcterms:modified>
</cp:coreProperties>
</file>