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C0B8"/>
                </a:solidFill>
                <a:latin typeface="맑은 고딕"/>
              </a:rPr>
              <a:t>서드브레인 프로젝트 · 사업 제안 발표자료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8E4DC"/>
                </a:solidFill>
                <a:latin typeface="맑은 고딕"/>
              </a:rPr>
              <a:t>제4브레인의 탄생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0A04A"/>
                </a:solidFill>
                <a:latin typeface="맑은 고딕"/>
              </a:rPr>
              <a:t>움직이는 뇌 — 온톨로지 지식그래프로 나를 아는 피지컬 AI 로봇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3B0"/>
                </a:solidFill>
                <a:latin typeface="맑은 고딕"/>
              </a:rPr>
              <a:t>몸(1st) × 지식(2nd) × AI(3rd) × 로봇(4th) = 확장된 인간</a:t>
            </a:r>
          </a:p>
          <a:p>
            <a:pPr algn="l"/>
            <a:r>
              <a:rPr sz="1500" b="0">
                <a:solidFill>
                  <a:srgbClr val="9AA3B0"/>
                </a:solidFill>
                <a:latin typeface="맑은 고딕"/>
              </a:rPr>
              <a:t>2026. 7. · 발표: 서드브레인 저자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문제 — 행동 간극(Action Gap)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E8E4DC"/>
                </a:solidFill>
                <a:latin typeface="맑은 고딕"/>
              </a:rPr>
              <a:t>• 완벽한 노트가 있었다: "아버지 혈압약 — 아침 식전 30분, 자몽주스 금지"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E0A04A"/>
                </a:solidFill>
                <a:latin typeface="맑은 고딕"/>
              </a:rPr>
              <a:t>• 그 노트는 3년간 단 한 번도 스스로 약을 챙겨 드리지 못했다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E8E4DC"/>
                </a:solidFill>
                <a:latin typeface="맑은 고딕"/>
              </a:rPr>
              <a:t>• 만성질환 복약 순응도 ~50% (WHO 2003) — 지식·의지가 아니라 시스템의 문제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E8E4DC"/>
                </a:solidFill>
                <a:latin typeface="맑은 고딕"/>
              </a:rPr>
              <a:t>• 제2브레인(지식)은 기억하지만 움직이지 못하고, 제3브레인(AI)은 화면 안에 산다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4FC0B8"/>
                </a:solidFill>
                <a:latin typeface="맑은 고딕"/>
              </a:rPr>
              <a:t>결론: 지식은 저장되는 것만으로는 아무도 살리지 못한다. 지식은 배달되어야 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명제 — 제4브레인 선언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28800"/>
          <a:ext cx="104241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브레인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정체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할 수 있는 것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제1브레인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몸(생물학적 뇌)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행동한다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잊고, 지친다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제2브레인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지식(옵시디언·노션)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기억한다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움직이지 못한다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제3브레인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AI(LLM)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생각한다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화면 안에 산다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제4브레인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피지컬 로봇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행동을 배달한다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'나'를 알아야 한다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A04A"/>
                </a:solidFill>
                <a:latin typeface="맑은 고딕"/>
              </a:rPr>
              <a:t>곱셈의 법칙: 어느 항이든 0이면 전체가 0 — 가장 비싼 휴머노이드도 '나'를 모르면 잘 걷는 스피커일 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TIMING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왜 지금인가 — 세 개의 문이 동시에 열렸다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① 오픈소스가 로봇에 도착 — LeRobot: 수십만 원대 로봇팔 + 모방학습 공개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② AI 두뇌의 소형화 — 젯슨급 엣지 컴퓨터로 로컬 AI 실행(수십만 원대)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③ 감각기관의 보급 — 스마트워치·혈압계·CGM이 매일의 건강 데이터를 생산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0A04A"/>
                </a:solidFill>
                <a:latin typeface="맑은 고딕"/>
              </a:rPr>
              <a:t>• 그리고 결정타: 중국 휴머노이드 가격 붕괴(수억 원 → 중형차 값 이하), 가정용 휴머노이드 선주문 개시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4FC0B8"/>
                </a:solidFill>
                <a:latin typeface="맑은 고딕"/>
              </a:rPr>
              <a:t>하드웨어는 상품이 되었다. 병목이자 기회는 '로봇에게 줄 나'를 만드는 소프트웨어다.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솔루션 — 우리는 로봇이 아니라 '뇌'를 판다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4FC0B8"/>
                </a:solidFill>
                <a:latin typeface="맑은 고딕"/>
              </a:rPr>
              <a:t>피지컬 브레인: 어떤 로봇에든 이식되는 개인화 지능 플랫폼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E8E4DC"/>
                </a:solidFill>
                <a:latin typeface="맑은 고딕"/>
              </a:rPr>
              <a:t>• 입력: 건강 데이터(6신호) + 개인 지식(옵시디언) + 사업 데이터(1인 기업)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E8E4DC"/>
                </a:solidFill>
                <a:latin typeface="맑은 고딕"/>
              </a:rPr>
              <a:t>• 두뇌: 온톨로지 지식그래프 + 그래프 RAG 사서 + 규칙 오케스트레이터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E8E4DC"/>
                </a:solidFill>
                <a:latin typeface="맑은 고딕"/>
              </a:rPr>
              <a:t>• 출력: 말(음성)·행동(로봇 팔/주행)·기록(그래프 이벤트)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E0A04A"/>
                </a:solidFill>
                <a:latin typeface="맑은 고딕"/>
              </a:rPr>
              <a:t>• 차별점 3가지: 개인 온톨로지 이식 · 로컬 퍼스트(데이터 주권) · 하드웨어 비종속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제품 구조 — 3층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920240"/>
          <a:ext cx="1042415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572000"/>
                <a:gridCol w="3749039"/>
              </a:tblGrid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층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역할·비즈니스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① 앱(조종석)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모바일/웹 — 그래프 편집·대시보드·시나리오 편집기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사용자 접점, 가족·직원 권한 관리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② 브레인 서버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홈서버 SW: Neo4j+로컬LLM+오케스트레이터+파이프라인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구독의 본체 · 로컬 퍼스트 철학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③ 로봇 어댑터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명령 3종(이동·조작·말하기)/보고 3종 표준 인터페이스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데스크톱 팔→매니퓰레이터→휴머노이드 비종속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206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A04A"/>
                </a:solidFill>
                <a:latin typeface="맑은 고딕"/>
              </a:rPr>
              <a:t>"몸을 갈아타도 기억은 이어진다" — 기종 교체가 폰 기변처럼 가벼워지는 구조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시스템 아키텍처 — 4층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83080"/>
          <a:ext cx="1042416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486400"/>
                <a:gridCol w="3291840"/>
              </a:tblGrid>
              <a:tr h="65836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층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구성 요소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흐름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감지층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스마트워치·혈압계·CGM·EEG·카메라/마이크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데이터는 위로 ↑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수집층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Home Assistant + n8n 자동 수집(매일 밤)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결측도 기록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이해층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지식그래프(Neo4j) + 그래프 RAG(로컬 LLM) + 오케스트레이터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판단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행동층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로봇: 음성·내비(Nav2)·조작·안전·상태 5노드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명령은 아래로 ↓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FC0B8"/>
                </a:solidFill>
                <a:latin typeface="맑은 고딕"/>
              </a:rPr>
              <a:t>설계 4원칙: 좁은 인터페이스 · 판단(서버)/반사(로봇) 분리 · 장소는 그래프가 안다 · 안전은 온보드 완결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CORE 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핵심 기술 ① 서드브레인 표준 개인 온톨로지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2880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58368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노드 6종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예시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사람 · 약 · 복약규칙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아버지 · 혈압약 · '아침 식전 30분, 자몽주스 금지'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측정값 · 활동 · 이벤트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혈압 128/84 · 30분 걷기 · 복약 완료/어지럼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(증축) 장소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부엌 약 선반 → 좌표 → 로봇 이동 명령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6634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E8E4DC"/>
                </a:solidFill>
                <a:latin typeface="맑은 고딕"/>
              </a:rPr>
              <a:t>• 원칙: 온톨로지는 성이 아니라 증축하는 집 — 역량 질문으로 최소 설계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8E4DC"/>
                </a:solidFill>
                <a:latin typeface="맑은 고딕"/>
              </a:rPr>
              <a:t>• 진실의 원본은 옵시디언(사람), 질의 엔진은 Neo4j(기계) — 노트만 쓰면 그래프가 자란다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E0A04A"/>
                </a:solidFill>
                <a:latin typeface="맑은 고딕"/>
              </a:rPr>
              <a:t>• 책 7장 = 공개 표준 명세 → 커뮤니티·템플릿 생태계의 씨앗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CORE 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핵심 기술 ② 그래프 RAG 사서 + 이중 안전망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환각 차단: 그래프에서 조회한 사실만으로 답한다 — '지어낸 문장'이 아니라 '조회된 문장'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관계 질의: "혈압 높은 날과 약 거른 날의 겹침" — 문서 검색으론 불가능, 선을 따라가야 나온다</a:t>
            </a:r>
          </a:p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이중 안전망(스위스 치즈 모델): 1층 규칙(임계값 고정문구) + 2층 AI(맥락 관찰)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0A04A"/>
                </a:solidFill>
                <a:latin typeface="맑은 고딕"/>
              </a:rPr>
              <a:t>• 4대 금지: 진단 ✕ · 처방 ✕ · 응급판단 ✕ · 불안조장 ✕ — 시스템 프롬프트에 명문화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전부 로컬 실행(Ollama) — 건강 질문은 집 밖으로 나가지 않는다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CORE TECH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핵심 기술 ③ 로봇 어댑터 — 하드웨어 비종속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92024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  <a:gridCol w="365760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방향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메시지 3종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예시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서버→로봇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이동(장소ID) · 조작(스킬명) · 말하기(문장)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이동(부엌선반) → Nav2 주행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로봇→서버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완료/실패(사유) · 상태(위치·배터리) · 이벤트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복약 확인 → 그래프 기록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2062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E8E4DC"/>
                </a:solidFill>
                <a:latin typeface="맑은 고딕"/>
              </a:rPr>
              <a:t>• 인터페이스가 좁을수록: 어떤 로봇으로도 갈아탈 수 있고, 디버깅이 단순해진다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E8E4DC"/>
                </a:solidFill>
                <a:latin typeface="맑은 고딕"/>
              </a:rPr>
              <a:t>• 지원 로드맵: SO-101 데스크톱 팔 → LeKiwi 매니퓰레이터 → 유니트리급 휴머노이드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E0A04A"/>
                </a:solidFill>
                <a:latin typeface="맑은 고딕"/>
              </a:rPr>
              <a:t>• 어댑터 인증 프로그램 = 로봇 제조사와 경쟁하지 않는 '뇌 공급자' 포지션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시나리오 ① 개인 건강관리 — 하루를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035040"/>
                <a:gridCol w="256032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시각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로봇의 행동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기록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06:50 아침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기상 감지 → 혈압 안내 → 약 트레이 서빙 → "먹었어" 확인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복약 완료 이벤트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13:40 낮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혈당 스파이크 감지 → 산책 넛지(딱 1회)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활동 노드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21:00 저녁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하루 브리핑 + 내일 아침 약 미리 준비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일일 리포트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FC0B8"/>
                </a:solidFill>
                <a:latin typeface="맑은 고딕"/>
              </a:rPr>
              <a:t>습관 과학 적용: 신호(다층)–루틴(무마찰)–보상(즉시) · 66일 습관 형성의 '외부 기저핵'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시나리오 ② 부모님 댁 원격 케어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로봇은 부모님 댁에, 뇌(그래프)는 로컬에, 자녀는 VPN으로 상태만 확인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아침: 약 서빙 + 혈압 측정 → 무응답 시 1회 재알림 → '미확인'도 정직하게 기록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0A04A"/>
                </a:solidFill>
                <a:latin typeface="맑은 고딕"/>
              </a:rPr>
              <a:t>• 복약 완료 순간, 서울의 자녀 폰에 조용한 알림: "아버지 복약 완료 07:31 ✓"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주간 리포트가 대화 소재가 된다: "아버지, 이번 주 걷기 1등이시던데요?"</a:t>
            </a:r>
          </a:p>
          <a:p>
            <a:pPr>
              <a:spcAft>
                <a:spcPts val="1500"/>
              </a:spcAft>
            </a:pPr>
            <a:r>
              <a:rPr sz="1900" b="1">
                <a:solidFill>
                  <a:srgbClr val="4FC0B8"/>
                </a:solidFill>
                <a:latin typeface="맑은 고딕"/>
              </a:rPr>
              <a:t>원칙: 로봇은 전화를 대체하지 않는다 — 전화할 거리를 만든다 (가족 지지 ↑ = 순응도 ↑)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SCENARIO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시나리오 ③ 1인 창업자 비서 — 기업 그래프 구동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아침 브리핑: "오늘 마감 3건 — A사 납품(17시 전), 세금계산서 2건, 원두 재고 발주점 도달"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물리 보조: 발송분 상자 피킹→포장대 적재, 택배 기사 방문 시 현관 인계 대기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고객 기억: 수신 전화에 고객 노드 요약 — 지난 주문·문의 이력 즉시 표시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0A04A"/>
                </a:solidFill>
                <a:latin typeface="맑은 고딕"/>
              </a:rPr>
              <a:t>• 마감 수호자: 부가세·계약 갱신을 복약규칙과 같은 문법으로 — '1인 기업의 기저핵'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건강 연동(선택): 마감 주간 과로 패턴 감지 → 일정 재배치 제안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이중 그래프 연합 — 개인 그래프 × 기업 그래프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28800"/>
          <a:ext cx="104241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개인 그래프 v1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4FC0B8"/>
                          </a:solidFill>
                          <a:latin typeface="맑은 고딕"/>
                        </a:rPr>
                        <a:t>기업 그래프 v2 (확장)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사람 · 약 · 복약규칙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고객 · 상품/서비스 · 업무(규칙+마감)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측정값 · 활동 · 이벤트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재고/자산 · 거래 · 이벤트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4DC"/>
                          </a:solidFill>
                          <a:latin typeface="맑은 고딕"/>
                        </a:rPr>
                        <a:t>장소(집)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4DC"/>
                          </a:solidFill>
                          <a:latin typeface="맑은 고딕"/>
                        </a:rPr>
                        <a:t>장소(작업실 선반·접수대)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4805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E8E4DC"/>
                </a:solidFill>
                <a:latin typeface="맑은 고딕"/>
              </a:rPr>
              <a:t>• 분리 저장 · 선택 연결: 건강 데이터는 기업 질의에 기본 비노출, 허용된 통찰만 다리를 건넌다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E0A04A"/>
                </a:solidFill>
                <a:latin typeface="맑은 고딕"/>
              </a:rPr>
              <a:t>• 연결의 사업 논리: 1인 창업자는 몸이 곧 회사 — 대표의 건강이 유일한 단일 장애점(SPOF)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하드웨어 로드맵 — 같은 뇌, 자라는 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1042416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566160"/>
                <a:gridCol w="2194560"/>
                <a:gridCol w="3200400"/>
              </a:tblGrid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몸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신규 예산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가능해지는 일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1단계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SO-101 데스크톱 팔+젯슨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100~150만 원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책상 위 약 서빙·음성 비서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2단계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LeKiwi 모바일 매니퓰레이터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+80~120만 원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집 안 이동 서빙 (WBS 25태스크·12주)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3단계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휴머노이드(유니트리급)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기종별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계단·복잡 조작 (시뮬레이션 선검증)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0292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A04A"/>
                </a:solidFill>
                <a:latin typeface="맑은 고딕"/>
              </a:rPr>
              <a:t>모든 단계에서 뇌는 동일 — 1단계의 노력이 3단계까지 100% 이월된다 (버려지는 투자 없음)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글로벌 벤치마킹 TOP3 vs 제4브레인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37360"/>
          <a:ext cx="10424160" cy="3182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  <a:gridCol w="2103120"/>
              </a:tblGrid>
              <a:tr h="5303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축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Astro(아마존)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ElliQ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1X NEO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제4브레인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물리 조작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◎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○ 팔/주행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개인화 깊이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계정 수준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대화 이력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미지수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◎ 온톨로지 이식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데이터 주권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클라우드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클라우드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클라우드+원격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◎ 로컬 퍼스트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HW 독립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자사 전용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자사 전용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자사 전용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◎ 어댑터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3035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완성도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◎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◎ 시니어UX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△ DIY 출발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206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C0B8"/>
                </a:solidFill>
                <a:latin typeface="맑은 고딕"/>
              </a:rPr>
              <a:t>세 사례 모두 '개인 지식그래프 이식 층'이 비어 있다 — 그 빈칸이 우리의 자리. 그들의 몸이 팔릴수록 뇌 공급자의 가치가 커진다.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사업 모델과 12개월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783080"/>
          <a:ext cx="104241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120640"/>
                <a:gridCol w="420624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분기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마일스톤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FC0B8"/>
                          </a:solidFill>
                          <a:latin typeface="맑은 고딕"/>
                        </a:rPr>
                        <a:t>산출물</a:t>
                      </a:r>
                    </a:p>
                  </a:txBody>
                  <a:tcPr anchor="ctr">
                    <a:solidFill>
                      <a:srgbClr val="0F34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MVP: 온톨로지 앱+건강 파이프라인+브리핑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클로즈드 베타(독자 100인)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로봇 어댑터 v1 + 시나리오 편집기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오픈 베타 · 책 출간 연동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기업 그래프 v2 + 1인 창업자 패키지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유료 구독 개시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8E4DC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휴머노이드 어댑터 + 템플릿 마켓 알파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E4DC"/>
                          </a:solidFill>
                          <a:latin typeface="맑은 고딕"/>
                        </a:rPr>
                        <a:t>파트너 3사 · 사례집</a:t>
                      </a:r>
                    </a:p>
                  </a:txBody>
                  <a:tcPr anchor="ctr">
                    <a:solidFill>
                      <a:srgbClr val="1E24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75488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3B0"/>
                </a:solidFill>
                <a:latin typeface="맑은 고딕"/>
              </a:rPr>
              <a:t>수익원 5종: 브레인 서버 구독 · 온톨로지 템플릿 마켓 · 도서/교육 · DIY 키트 제휴 · B2B(시니어 케어)</a:t>
            </a:r>
          </a:p>
          <a:p>
            <a:pPr algn="l"/>
            <a:r>
              <a:rPr sz="1400" b="0">
                <a:solidFill>
                  <a:srgbClr val="9AA3B0"/>
                </a:solidFill>
                <a:latin typeface="맑은 고딕"/>
              </a:rPr>
              <a:t>전략: 책이 곧 최초 시장 — 콘텐츠 → 소프트웨어 → 하드웨어 제휴 순으로 자본 부담 최소화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안전·윤리·데이터 주권 — 신뢰가 제품이다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물리 3중 방어: 설계로 막고(힘·구역 제한) → 감지로 멈추고 → 사람이 끊는다(비상정지)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의료 경계: 기록·알림·준비·보고 4기능 한정 — '더 좋은 진료실 문턱'이 야심의 전부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데이터 주권 5조: 원본은 집에 · 이동은 내 결정 · 가족 동의 · 떠날 자유 · 상속 설계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0A04A"/>
                </a:solidFill>
                <a:latin typeface="맑은 고딕"/>
              </a:rPr>
              <a:t>• 점감 프로토콜: 준수율 안정 시 개입을 스스로 낮춘다 — 목적은 의존이 아니라 자립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4FC0B8"/>
                </a:solidFill>
                <a:latin typeface="맑은 고딕"/>
              </a:rPr>
              <a:t>실패 원칙: 못 하면 멈추고 알린다 — 신뢰는 성공률이 아니라 실패의 품질에서 온다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92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C0B8"/>
                </a:solidFill>
                <a:latin typeface="맑은 고딕"/>
              </a:rPr>
              <a:t>ASSETS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005840" cy="64008"/>
          </a:xfrm>
          <a:prstGeom prst="rect">
            <a:avLst/>
          </a:prstGeom>
          <a:solidFill>
            <a:srgbClr val="4FC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4DC"/>
                </a:solidFill>
                <a:latin typeface="맑은 고딕"/>
              </a:rPr>
              <a:t>이미 만들어진 것들 — 검증 자산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AA3B0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1">
                <a:solidFill>
                  <a:srgbClr val="E8E4DC"/>
                </a:solidFill>
                <a:latin typeface="맑은 고딕"/>
              </a:rPr>
              <a:t>• 도서 원고 v0.2 완성: 19개 장 + 미주 102건 + 통합 참고문헌 (조판 280~320p)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서드브레인 표준 개인 온톨로지 v1 명세 (공개 표준화 준비)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모바일 매니퓰레이터 상세 설계: 아키텍처 + WBS 25태스크 + 리스크 관리표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8E4DC"/>
                </a:solidFill>
                <a:latin typeface="맑은 고딕"/>
              </a:rPr>
              <a:t>• 가상 시연 데모(웹 애니메이션 4장면) + 실사풍 비주얼 10컷 스토리보드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E0A04A"/>
                </a:solidFill>
                <a:latin typeface="맑은 고딕"/>
              </a:rPr>
              <a:t>• 출간과 동시에: 독자 = 베타 사용자 = 커뮤니티 = 사례 공급원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0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C0B8"/>
                </a:solidFill>
                <a:latin typeface="맑은 고딕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4DC"/>
                </a:solidFill>
                <a:latin typeface="맑은 고딕"/>
              </a:rPr>
              <a:t>움직이는 제4브레인.</a:t>
            </a:r>
          </a:p>
          <a:p>
            <a:pPr algn="l"/>
            <a:r>
              <a:rPr sz="4000" b="1">
                <a:solidFill>
                  <a:srgbClr val="E8E4DC"/>
                </a:solidFill>
                <a:latin typeface="맑은 고딕"/>
              </a:rPr>
              <a:t>나를 아는 단 하나의 로봇.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3B0"/>
                </a:solidFill>
                <a:latin typeface="맑은 고딕"/>
              </a:rPr>
              <a:t>3개년: 독자 1천 → 유료 구독 5천 → 구독 2만 + 공공 파일럿</a:t>
            </a:r>
          </a:p>
          <a:p>
            <a:pPr algn="l"/>
            <a:r>
              <a:rPr sz="1600" b="0">
                <a:solidFill>
                  <a:srgbClr val="9AA3B0"/>
                </a:solidFill>
                <a:latin typeface="맑은 고딕"/>
              </a:rPr>
              <a:t>KPI: 주간 활성 그래프 · 시나리오 무인 완주율 · 복약 준수율 개선 · 창업자 절감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A04A"/>
                </a:solidFill>
                <a:latin typeface="맑은 고딕"/>
              </a:rPr>
              <a:t>"하드웨어는 상품이다. 지식그래프는 나 자신이다."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